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23.0</c:v>
                </c:pt>
                <c:pt idx="1">
                  <c:v>22.0</c:v>
                </c:pt>
                <c:pt idx="2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19.0</c:v>
                </c:pt>
                <c:pt idx="1">
                  <c:v>16.0</c:v>
                </c:pt>
                <c:pt idx="2">
                  <c:v>16.0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2.002,3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1.624,5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1.543,5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719,4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710,6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Utara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-29,8%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-17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-33,3%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57   Δ -19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31   Δ -31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-100,0%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379   Δ -379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SF/DJP Level Branch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" y="2505456"/>
            <a:ext cx="11548872" cy="65836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2679192"/>
            <a:ext cx="111556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0" i="0">
                <a:solidFill>
                  <a:srgbClr val="20252B"/>
                </a:solidFill>
                <a:latin typeface="Arial"/>
              </a:rPr>
              <a:t>Detail WOK SF tidak ditampilkan pada PPT selama ownership 12 WOK masih dalam masa transisi.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3383280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20040" y="3657600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320040" y="5111496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 / 9 (11,1%)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-66,7%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 / 143 (23,1%)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-35,3%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38 / 156 (24,4%)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-34,5%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5778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64008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SF Class pada PPT Branch ditampilkan pada level Branch sampai ownership 12 WOK resmi tersedia.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594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Trend SF ditampilkan pada level Branch selama masa transisi ownership 12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82549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118103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383279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2.418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9.986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167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730,0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40 | MoM -29,8%
PS: 38 | MoM -33,3%
• Junior
  RE: 34 | Active 23,8% | MoM -32,0%
  PS: 33 | Active 23,1% | MoM -34,0%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2 | Active 22,2% | MoM -33,3%
  PS: 1 | Active 11,1% | MoM -66,7%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N/A, Gap 1
• Grapari Kefamenanu: PS +100,0%, Gap 1
• Grapari Kupang: PS -50,0%, Gap -1
• Grapari Malaka: PS -100,0%,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Soe: PS N/A, Gap 1
• Grapari Waikabubak: PS N/A, Gap 1
• Grapari Waingapu: PS -50,0%,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-27 (-62,8%), PS -15 (-46,9%)
• Kupang Rote: RE 2 (+5,0%), PS -13 (-30,2%)
• Sumba: RE -14 (-45,2%), PS -9 (-34,6%)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1 (N/A), PS -1 (-100,0%)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19,2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6,0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SPXRYN88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SPSKU99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SPSKU99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SPLIS04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SPXXMD19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SPWSI90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SPUYL51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JOE4357109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SPSKU99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SPSKU99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SPNII66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SPNII66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SPTUN00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01–03 Oct 2026 vs MTD-1 01–03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SPUUE13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SPEIA79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SPEIA79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COR5804367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CHR2660088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MIS1468588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SPNUT73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SPHYZ89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ZEL9504682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ZEF3712155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SPFEE84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SPFEE84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ANI1534039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KUPANG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Branch C3MR 24.93%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694944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95.83% | Gap -70.90 pp | M-1 28.89%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4747"/>
                <a:gridCol w="763658"/>
                <a:gridCol w="763658"/>
                <a:gridCol w="822401"/>
                <a:gridCol w="1233602"/>
                <a:gridCol w="1233602"/>
                <a:gridCol w="845899"/>
                <a:gridCol w="845899"/>
                <a:gridCol w="845899"/>
                <a:gridCol w="963385"/>
                <a:gridCol w="1116116"/>
              </a:tblGrid>
              <a:tr h="505206"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WOK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Rp330.594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Rp320.397</a:t>
                      </a:r>
                    </a:p>
                  </a:txBody>
                  <a:tcPr/>
                </a:tc>
              </a:tr>
              <a:tr h="505206">
                <a:tc>
                  <a:txBody>
                    <a:bodyPr/>
                    <a:lstStyle/>
                    <a:p>
                      <a:pPr algn="l">
                        <a:defRPr sz="819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19">
                          <a:latin typeface="Arial"/>
                        </a:defRPr>
                      </a:pPr>
                      <a:r>
                        <a:t>Rp327.529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LOS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4507992"/>
          <a:ext cx="557783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3503"/>
                <a:gridCol w="1138334"/>
                <a:gridCol w="1366001"/>
              </a:tblGrid>
              <a:tr h="195942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42.53%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-10.60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-1.04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20.49%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-3.67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21.29%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-2.06 pp</a:t>
                      </a:r>
                    </a:p>
                  </a:txBody>
                  <a:tcPr/>
                </a:tc>
              </a:tr>
              <a:tr h="195942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19.02%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-3.13 pp</a:t>
                      </a:r>
                    </a:p>
                  </a:txBody>
                  <a:tcPr/>
                </a:tc>
              </a:tr>
              <a:tr h="195948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27.04%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-4.54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