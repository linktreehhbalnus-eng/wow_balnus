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Sheet1!$A$2:$A$29</c:f>
              <c:strCache>
                <c:ptCount val="2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</c:strCache>
            </c: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59.0</c:v>
                </c:pt>
                <c:pt idx="1">
                  <c:v>59.0</c:v>
                </c:pt>
                <c:pt idx="2">
                  <c:v>50.0</c:v>
                </c:pt>
                <c:pt idx="3">
                  <c:v>46.0</c:v>
                </c:pt>
                <c:pt idx="4">
                  <c:v>57.0</c:v>
                </c:pt>
                <c:pt idx="5">
                  <c:v>52.0</c:v>
                </c:pt>
                <c:pt idx="6">
                  <c:v>50.0</c:v>
                </c:pt>
                <c:pt idx="7">
                  <c:v>62.0</c:v>
                </c:pt>
                <c:pt idx="8">
                  <c:v>40.0</c:v>
                </c:pt>
                <c:pt idx="9">
                  <c:v>45.0</c:v>
                </c:pt>
                <c:pt idx="10">
                  <c:v>35.0</c:v>
                </c:pt>
                <c:pt idx="11">
                  <c:v>55.0</c:v>
                </c:pt>
                <c:pt idx="12">
                  <c:v>44.0</c:v>
                </c:pt>
                <c:pt idx="13">
                  <c:v>38.0</c:v>
                </c:pt>
                <c:pt idx="14">
                  <c:v>41.0</c:v>
                </c:pt>
                <c:pt idx="15">
                  <c:v>43.0</c:v>
                </c:pt>
                <c:pt idx="16">
                  <c:v>35.0</c:v>
                </c:pt>
                <c:pt idx="17">
                  <c:v>43.0</c:v>
                </c:pt>
                <c:pt idx="18">
                  <c:v>52.0</c:v>
                </c:pt>
                <c:pt idx="19">
                  <c:v>60.0</c:v>
                </c:pt>
                <c:pt idx="20">
                  <c:v>48.0</c:v>
                </c:pt>
                <c:pt idx="21">
                  <c:v>49.0</c:v>
                </c:pt>
                <c:pt idx="22">
                  <c:v>40.0</c:v>
                </c:pt>
                <c:pt idx="23">
                  <c:v>43.0</c:v>
                </c:pt>
                <c:pt idx="24">
                  <c:v>48.0</c:v>
                </c:pt>
                <c:pt idx="25">
                  <c:v>44.0</c:v>
                </c:pt>
                <c:pt idx="26">
                  <c:v>44.0</c:v>
                </c:pt>
                <c:pt idx="27">
                  <c:v>46.0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Sheet1!$A$2:$A$29</c:f>
              <c:strCache>
                <c:ptCount val="2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</c:strCache>
            </c:strRef>
          </c:cat>
          <c:val>
            <c:numRef>
              <c:f>Sheet1!$C$2:$C$29</c:f>
              <c:numCache>
                <c:formatCode>General</c:formatCode>
                <c:ptCount val="28"/>
                <c:pt idx="0">
                  <c:v>15.0</c:v>
                </c:pt>
                <c:pt idx="1">
                  <c:v>16.0</c:v>
                </c:pt>
                <c:pt idx="2">
                  <c:v>13.0</c:v>
                </c:pt>
                <c:pt idx="3">
                  <c:v>14.0</c:v>
                </c:pt>
                <c:pt idx="4">
                  <c:v>15.0</c:v>
                </c:pt>
                <c:pt idx="5">
                  <c:v>15.0</c:v>
                </c:pt>
                <c:pt idx="6">
                  <c:v>13.0</c:v>
                </c:pt>
                <c:pt idx="7">
                  <c:v>18.0</c:v>
                </c:pt>
                <c:pt idx="8">
                  <c:v>13.0</c:v>
                </c:pt>
                <c:pt idx="9">
                  <c:v>17.0</c:v>
                </c:pt>
                <c:pt idx="10">
                  <c:v>10.0</c:v>
                </c:pt>
                <c:pt idx="11">
                  <c:v>11.0</c:v>
                </c:pt>
                <c:pt idx="12">
                  <c:v>13.0</c:v>
                </c:pt>
                <c:pt idx="13">
                  <c:v>11.0</c:v>
                </c:pt>
                <c:pt idx="14">
                  <c:v>12.0</c:v>
                </c:pt>
                <c:pt idx="15">
                  <c:v>10.0</c:v>
                </c:pt>
                <c:pt idx="16">
                  <c:v>11.0</c:v>
                </c:pt>
                <c:pt idx="17">
                  <c:v>14.0</c:v>
                </c:pt>
                <c:pt idx="18">
                  <c:v>19.0</c:v>
                </c:pt>
                <c:pt idx="19">
                  <c:v>22.0</c:v>
                </c:pt>
                <c:pt idx="20">
                  <c:v>15.0</c:v>
                </c:pt>
                <c:pt idx="21">
                  <c:v>16.0</c:v>
                </c:pt>
                <c:pt idx="22">
                  <c:v>11.0</c:v>
                </c:pt>
                <c:pt idx="23">
                  <c:v>12.0</c:v>
                </c:pt>
                <c:pt idx="24">
                  <c:v>15.0</c:v>
                </c:pt>
                <c:pt idx="25">
                  <c:v>10.0</c:v>
                </c:pt>
                <c:pt idx="26">
                  <c:v>13.0</c:v>
                </c:pt>
                <c:pt idx="27">
                  <c:v>13.0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Sheet1!$A$2:$A$29</c:f>
              <c:strCache>
                <c:ptCount val="2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</c:strCache>
            </c:strRef>
          </c:cat>
          <c:val>
            <c:numRef>
              <c:f>Sheet1!$D$2:$D$29</c:f>
              <c:numCache>
                <c:formatCode>General</c:formatCode>
                <c:ptCount val="28"/>
                <c:pt idx="0">
                  <c:v>34.0</c:v>
                </c:pt>
                <c:pt idx="1">
                  <c:v>34.0</c:v>
                </c:pt>
                <c:pt idx="2">
                  <c:v>31.0</c:v>
                </c:pt>
                <c:pt idx="3">
                  <c:v>22.0</c:v>
                </c:pt>
                <c:pt idx="4">
                  <c:v>33.0</c:v>
                </c:pt>
                <c:pt idx="5">
                  <c:v>25.0</c:v>
                </c:pt>
                <c:pt idx="6">
                  <c:v>32.0</c:v>
                </c:pt>
                <c:pt idx="7">
                  <c:v>34.0</c:v>
                </c:pt>
                <c:pt idx="8">
                  <c:v>19.0</c:v>
                </c:pt>
                <c:pt idx="9">
                  <c:v>24.0</c:v>
                </c:pt>
                <c:pt idx="10">
                  <c:v>18.0</c:v>
                </c:pt>
                <c:pt idx="11">
                  <c:v>31.0</c:v>
                </c:pt>
                <c:pt idx="12">
                  <c:v>22.0</c:v>
                </c:pt>
                <c:pt idx="13">
                  <c:v>17.0</c:v>
                </c:pt>
                <c:pt idx="14">
                  <c:v>23.0</c:v>
                </c:pt>
                <c:pt idx="15">
                  <c:v>23.0</c:v>
                </c:pt>
                <c:pt idx="16">
                  <c:v>16.0</c:v>
                </c:pt>
                <c:pt idx="17">
                  <c:v>20.0</c:v>
                </c:pt>
                <c:pt idx="18">
                  <c:v>24.0</c:v>
                </c:pt>
                <c:pt idx="19">
                  <c:v>27.0</c:v>
                </c:pt>
                <c:pt idx="20">
                  <c:v>23.0</c:v>
                </c:pt>
                <c:pt idx="21">
                  <c:v>25.0</c:v>
                </c:pt>
                <c:pt idx="22">
                  <c:v>23.0</c:v>
                </c:pt>
                <c:pt idx="23">
                  <c:v>19.0</c:v>
                </c:pt>
                <c:pt idx="24">
                  <c:v>20.0</c:v>
                </c:pt>
                <c:pt idx="25">
                  <c:v>25.0</c:v>
                </c:pt>
                <c:pt idx="26">
                  <c:v>22.0</c:v>
                </c:pt>
                <c:pt idx="27">
                  <c:v>23.0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Sheet1!$A$2:$A$29</c:f>
              <c:strCache>
                <c:ptCount val="2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</c:strCache>
            </c:strRef>
          </c:cat>
          <c:val>
            <c:numRef>
              <c:f>Sheet1!$E$2:$E$29</c:f>
              <c:numCache>
                <c:formatCode>General</c:formatCode>
                <c:ptCount val="28"/>
                <c:pt idx="0">
                  <c:v>12.0</c:v>
                </c:pt>
                <c:pt idx="1">
                  <c:v>11.0</c:v>
                </c:pt>
                <c:pt idx="2">
                  <c:v>9.0</c:v>
                </c:pt>
                <c:pt idx="3">
                  <c:v>10.0</c:v>
                </c:pt>
                <c:pt idx="4">
                  <c:v>11.0</c:v>
                </c:pt>
                <c:pt idx="5">
                  <c:v>13.0</c:v>
                </c:pt>
                <c:pt idx="6">
                  <c:v>8.0</c:v>
                </c:pt>
                <c:pt idx="7">
                  <c:v>13.0</c:v>
                </c:pt>
                <c:pt idx="8">
                  <c:v>8.0</c:v>
                </c:pt>
                <c:pt idx="9">
                  <c:v>8.0</c:v>
                </c:pt>
                <c:pt idx="10">
                  <c:v>8.0</c:v>
                </c:pt>
                <c:pt idx="11">
                  <c:v>13.0</c:v>
                </c:pt>
                <c:pt idx="12">
                  <c:v>11.0</c:v>
                </c:pt>
                <c:pt idx="13">
                  <c:v>10.0</c:v>
                </c:pt>
                <c:pt idx="14">
                  <c:v>7.0</c:v>
                </c:pt>
                <c:pt idx="15">
                  <c:v>10.0</c:v>
                </c:pt>
                <c:pt idx="16">
                  <c:v>8.0</c:v>
                </c:pt>
                <c:pt idx="17">
                  <c:v>10.0</c:v>
                </c:pt>
                <c:pt idx="18">
                  <c:v>9.0</c:v>
                </c:pt>
                <c:pt idx="19">
                  <c:v>11.0</c:v>
                </c:pt>
                <c:pt idx="20">
                  <c:v>10.0</c:v>
                </c:pt>
                <c:pt idx="21">
                  <c:v>8.0</c:v>
                </c:pt>
                <c:pt idx="22">
                  <c:v>6.0</c:v>
                </c:pt>
                <c:pt idx="23">
                  <c:v>12.0</c:v>
                </c:pt>
                <c:pt idx="24">
                  <c:v>13.0</c:v>
                </c:pt>
                <c:pt idx="25">
                  <c:v>9.0</c:v>
                </c:pt>
                <c:pt idx="26">
                  <c:v>9.0</c:v>
                </c:pt>
                <c:pt idx="27">
                  <c:v>10.0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Sheet1!$A$2:$A$29</c:f>
              <c:strCache>
                <c:ptCount val="2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</c:strCache>
            </c:strRef>
          </c:cat>
          <c:val>
            <c:numRef>
              <c:f>Sheet1!$F$2:$F$29</c:f>
              <c:numCache>
                <c:formatCode>General</c:formatCode>
                <c:ptCount val="28"/>
                <c:pt idx="0">
                  <c:v>1.0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Sheet1!$A$2:$A$29</c:f>
              <c:strCache>
                <c:ptCount val="2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</c:strCache>
            </c: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53.0</c:v>
                </c:pt>
                <c:pt idx="1">
                  <c:v>53.0</c:v>
                </c:pt>
                <c:pt idx="2">
                  <c:v>57.0</c:v>
                </c:pt>
                <c:pt idx="3">
                  <c:v>41.0</c:v>
                </c:pt>
                <c:pt idx="4">
                  <c:v>42.0</c:v>
                </c:pt>
                <c:pt idx="5">
                  <c:v>45.0</c:v>
                </c:pt>
                <c:pt idx="6">
                  <c:v>57.0</c:v>
                </c:pt>
                <c:pt idx="7">
                  <c:v>56.0</c:v>
                </c:pt>
                <c:pt idx="8">
                  <c:v>43.0</c:v>
                </c:pt>
                <c:pt idx="9">
                  <c:v>41.0</c:v>
                </c:pt>
                <c:pt idx="10">
                  <c:v>32.0</c:v>
                </c:pt>
                <c:pt idx="11">
                  <c:v>42.0</c:v>
                </c:pt>
                <c:pt idx="12">
                  <c:v>43.0</c:v>
                </c:pt>
                <c:pt idx="13">
                  <c:v>34.0</c:v>
                </c:pt>
                <c:pt idx="14">
                  <c:v>31.0</c:v>
                </c:pt>
                <c:pt idx="15">
                  <c:v>40.0</c:v>
                </c:pt>
                <c:pt idx="16">
                  <c:v>43.0</c:v>
                </c:pt>
                <c:pt idx="17">
                  <c:v>35.0</c:v>
                </c:pt>
                <c:pt idx="18">
                  <c:v>50.0</c:v>
                </c:pt>
                <c:pt idx="19">
                  <c:v>44.0</c:v>
                </c:pt>
                <c:pt idx="20">
                  <c:v>46.0</c:v>
                </c:pt>
                <c:pt idx="21">
                  <c:v>40.0</c:v>
                </c:pt>
                <c:pt idx="22">
                  <c:v>36.0</c:v>
                </c:pt>
                <c:pt idx="23">
                  <c:v>45.0</c:v>
                </c:pt>
                <c:pt idx="24">
                  <c:v>37.0</c:v>
                </c:pt>
                <c:pt idx="25">
                  <c:v>43.0</c:v>
                </c:pt>
                <c:pt idx="26">
                  <c:v>33.0</c:v>
                </c:pt>
                <c:pt idx="27">
                  <c:v>43.0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Sheet1!$A$2:$A$29</c:f>
              <c:strCache>
                <c:ptCount val="2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</c:strCache>
            </c:strRef>
          </c:cat>
          <c:val>
            <c:numRef>
              <c:f>Sheet1!$C$2:$C$29</c:f>
              <c:numCache>
                <c:formatCode>General</c:formatCode>
                <c:ptCount val="28"/>
                <c:pt idx="0">
                  <c:v>11.0</c:v>
                </c:pt>
                <c:pt idx="1">
                  <c:v>15.0</c:v>
                </c:pt>
                <c:pt idx="2">
                  <c:v>13.0</c:v>
                </c:pt>
                <c:pt idx="3">
                  <c:v>9.0</c:v>
                </c:pt>
                <c:pt idx="4">
                  <c:v>11.0</c:v>
                </c:pt>
                <c:pt idx="5">
                  <c:v>8.0</c:v>
                </c:pt>
                <c:pt idx="6">
                  <c:v>19.0</c:v>
                </c:pt>
                <c:pt idx="7">
                  <c:v>15.0</c:v>
                </c:pt>
                <c:pt idx="8">
                  <c:v>11.0</c:v>
                </c:pt>
                <c:pt idx="9">
                  <c:v>14.0</c:v>
                </c:pt>
                <c:pt idx="10">
                  <c:v>12.0</c:v>
                </c:pt>
                <c:pt idx="11">
                  <c:v>11.0</c:v>
                </c:pt>
                <c:pt idx="12">
                  <c:v>12.0</c:v>
                </c:pt>
                <c:pt idx="13">
                  <c:v>6.0</c:v>
                </c:pt>
                <c:pt idx="14">
                  <c:v>9.0</c:v>
                </c:pt>
                <c:pt idx="15">
                  <c:v>7.0</c:v>
                </c:pt>
                <c:pt idx="16">
                  <c:v>15.0</c:v>
                </c:pt>
                <c:pt idx="17">
                  <c:v>9.0</c:v>
                </c:pt>
                <c:pt idx="18">
                  <c:v>18.0</c:v>
                </c:pt>
                <c:pt idx="19">
                  <c:v>16.0</c:v>
                </c:pt>
                <c:pt idx="20">
                  <c:v>18.0</c:v>
                </c:pt>
                <c:pt idx="21">
                  <c:v>10.0</c:v>
                </c:pt>
                <c:pt idx="22">
                  <c:v>12.0</c:v>
                </c:pt>
                <c:pt idx="23">
                  <c:v>12.0</c:v>
                </c:pt>
                <c:pt idx="24">
                  <c:v>12.0</c:v>
                </c:pt>
                <c:pt idx="25">
                  <c:v>13.0</c:v>
                </c:pt>
                <c:pt idx="26">
                  <c:v>11.0</c:v>
                </c:pt>
                <c:pt idx="27">
                  <c:v>12.0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Sheet1!$A$2:$A$29</c:f>
              <c:strCache>
                <c:ptCount val="2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</c:strCache>
            </c:strRef>
          </c:cat>
          <c:val>
            <c:numRef>
              <c:f>Sheet1!$D$2:$D$29</c:f>
              <c:numCache>
                <c:formatCode>General</c:formatCode>
                <c:ptCount val="28"/>
                <c:pt idx="0">
                  <c:v>31.0</c:v>
                </c:pt>
                <c:pt idx="1">
                  <c:v>30.0</c:v>
                </c:pt>
                <c:pt idx="2">
                  <c:v>36.0</c:v>
                </c:pt>
                <c:pt idx="3">
                  <c:v>26.0</c:v>
                </c:pt>
                <c:pt idx="4">
                  <c:v>23.0</c:v>
                </c:pt>
                <c:pt idx="5">
                  <c:v>31.0</c:v>
                </c:pt>
                <c:pt idx="6">
                  <c:v>30.0</c:v>
                </c:pt>
                <c:pt idx="7">
                  <c:v>28.0</c:v>
                </c:pt>
                <c:pt idx="8">
                  <c:v>23.0</c:v>
                </c:pt>
                <c:pt idx="9">
                  <c:v>15.0</c:v>
                </c:pt>
                <c:pt idx="10">
                  <c:v>19.0</c:v>
                </c:pt>
                <c:pt idx="11">
                  <c:v>24.0</c:v>
                </c:pt>
                <c:pt idx="12">
                  <c:v>23.0</c:v>
                </c:pt>
                <c:pt idx="13">
                  <c:v>22.0</c:v>
                </c:pt>
                <c:pt idx="14">
                  <c:v>16.0</c:v>
                </c:pt>
                <c:pt idx="15">
                  <c:v>26.0</c:v>
                </c:pt>
                <c:pt idx="16">
                  <c:v>21.0</c:v>
                </c:pt>
                <c:pt idx="17">
                  <c:v>19.0</c:v>
                </c:pt>
                <c:pt idx="18">
                  <c:v>20.0</c:v>
                </c:pt>
                <c:pt idx="19">
                  <c:v>22.0</c:v>
                </c:pt>
                <c:pt idx="20">
                  <c:v>23.0</c:v>
                </c:pt>
                <c:pt idx="21">
                  <c:v>18.0</c:v>
                </c:pt>
                <c:pt idx="22">
                  <c:v>21.0</c:v>
                </c:pt>
                <c:pt idx="23">
                  <c:v>26.0</c:v>
                </c:pt>
                <c:pt idx="24">
                  <c:v>17.0</c:v>
                </c:pt>
                <c:pt idx="25">
                  <c:v>18.0</c:v>
                </c:pt>
                <c:pt idx="26">
                  <c:v>19.0</c:v>
                </c:pt>
                <c:pt idx="27">
                  <c:v>19.0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Sheet1!$A$2:$A$29</c:f>
              <c:strCache>
                <c:ptCount val="2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</c:strCache>
            </c:strRef>
          </c:cat>
          <c:val>
            <c:numRef>
              <c:f>Sheet1!$E$2:$E$29</c:f>
              <c:numCache>
                <c:formatCode>General</c:formatCode>
                <c:ptCount val="28"/>
                <c:pt idx="0">
                  <c:v>12.0</c:v>
                </c:pt>
                <c:pt idx="1">
                  <c:v>8.0</c:v>
                </c:pt>
                <c:pt idx="2">
                  <c:v>9.0</c:v>
                </c:pt>
                <c:pt idx="3">
                  <c:v>6.0</c:v>
                </c:pt>
                <c:pt idx="4">
                  <c:v>12.0</c:v>
                </c:pt>
                <c:pt idx="5">
                  <c:v>7.0</c:v>
                </c:pt>
                <c:pt idx="6">
                  <c:v>12.0</c:v>
                </c:pt>
                <c:pt idx="7">
                  <c:v>14.0</c:v>
                </c:pt>
                <c:pt idx="8">
                  <c:v>9.0</c:v>
                </c:pt>
                <c:pt idx="9">
                  <c:v>12.0</c:v>
                </c:pt>
                <c:pt idx="10">
                  <c:v>3.0</c:v>
                </c:pt>
                <c:pt idx="11">
                  <c:v>8.0</c:v>
                </c:pt>
                <c:pt idx="12">
                  <c:v>8.0</c:v>
                </c:pt>
                <c:pt idx="13">
                  <c:v>6.0</c:v>
                </c:pt>
                <c:pt idx="14">
                  <c:v>7.0</c:v>
                </c:pt>
                <c:pt idx="15">
                  <c:v>7.0</c:v>
                </c:pt>
                <c:pt idx="16">
                  <c:v>7.0</c:v>
                </c:pt>
                <c:pt idx="17">
                  <c:v>7.0</c:v>
                </c:pt>
                <c:pt idx="18">
                  <c:v>12.0</c:v>
                </c:pt>
                <c:pt idx="19">
                  <c:v>6.0</c:v>
                </c:pt>
                <c:pt idx="20">
                  <c:v>6.0</c:v>
                </c:pt>
                <c:pt idx="21">
                  <c:v>12.0</c:v>
                </c:pt>
                <c:pt idx="22">
                  <c:v>3.0</c:v>
                </c:pt>
                <c:pt idx="23">
                  <c:v>7.0</c:v>
                </c:pt>
                <c:pt idx="24">
                  <c:v>8.0</c:v>
                </c:pt>
                <c:pt idx="25">
                  <c:v>12.0</c:v>
                </c:pt>
                <c:pt idx="26">
                  <c:v>3.0</c:v>
                </c:pt>
                <c:pt idx="27">
                  <c:v>12.0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Sheet1!$A$2:$A$29</c:f>
              <c:strCache>
                <c:ptCount val="2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</c:strCache>
            </c:strRef>
          </c:cat>
          <c:val>
            <c:numRef>
              <c:f>Sheet1!$F$2:$F$29</c:f>
              <c:numCache>
                <c:formatCode>General</c:formatCode>
                <c:ptCount val="28"/>
                <c:pt idx="0">
                  <c:v>0</c:v>
                </c:pt>
                <c:pt idx="1">
                  <c:v>1.0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Oct 2026 vs MTD-1 01–28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3.499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2.870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5.139,5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55,8%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2.269,5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2.873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2.311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4.174,0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55,4%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1.863,0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-1,6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52,2%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656,2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52,7%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527,5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1.630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57,2%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1.217,3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57,0%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994,4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55,9%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53,7%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346,1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Klaten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Tabanan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Buleleng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Badung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Oct 2026 vs MTD-1 01–28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351 → 364  (+3,7%)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192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-17,6%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233   Δ -41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187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-16,1%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223   Δ -36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227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6.782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6.782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1.886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3.565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1.331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Oct 2026 vs MTD-1 01–28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 / 28 (67,9%)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148 / 315 (47,0%)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-18,7% | Turun 111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187 / 364 (51,4%)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-15,4% | Turun 137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7 (71,4%)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38 / 69 (55,1%)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-15,6% | Turun 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48 / 82 (58,5%)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-12,7% | Turun 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11 (81,8%)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71 / 165 (43,0%)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-23,7% | Turun 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92 / 188 (48,9%)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-19,3% | Turun 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10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39 / 81 (48,1%)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-11,4% | Turun 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47 / 94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-9,6% | Turun 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134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-28,3%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930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-22,9%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142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199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-27,9%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604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-12,8%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2.009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274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162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558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445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390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1.120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211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331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 / 28 (17,9%)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-37,5% | Turun 12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29 / 315 (9,2%)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-23,7% | Turun 111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-16,7%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53 / 364 (14,6%)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-19,7% | Turun 137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7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 / 69 (13,0%)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-40,0% | Turun 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14 / 82 (17,1%)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-36,4% | Turun 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11 (45,5%)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13 / 165 (7,9%)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-18,8% | Turun 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29 / 188 (15,4%)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-12,1% | Turun 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10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81 (8,6%)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 / 94 (10,6%)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 | Turun 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Oct 2026 vs MTD-1 01–28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Oct 2026 vs MTD-1 01–28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3.004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2.428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2.516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2.009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7.254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21.308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15.534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47.411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15,3%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3.285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671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Oct 2026 vs MTD-1 01–28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3.491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2.847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2.869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2.295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478,3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3.004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2.428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2.516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2.009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403,7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192 | MoM -17,6%
PS: 187 | MoM -16,1%
• Elite
  RE: 10 | Active 100,0% | MoM 0,0%
  PS: 10 | Active 100,0% | MoM 0,0%
• Performer
  RE: 6 | Active 100,0% | MoM 0,0%
  PS: 6 | Active 100,0% | MoM 0,0%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Junior
  RE: 153 | Active 48,6% | MoM -21,1%
  PS: 148 | Active 47,0% | MoM -19,6%
• Greenfield
  RE: 19 | Active 67,9% | MoM 0,0%
  PS: 19 | Active 67,9% | MoM 0,0%
• Junior Plus
  RE: 4 | Active 80,0% | MoM 0,0%
  PS: 4 | Active 80,0%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Amlapura: PS -66,7%, Gap -2
• Grapari Gatsu Tengah: PS -60,0%, Gap -3
• Grapari Jimbaran: PS -50,0%, Gap -11
• Grapari Kuta: PS +12,5%, Gap 1
• Grapari Negara: PS -60,0%, Gap -3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Renon: PS -48,8%, Gap -21
• Grapari Singaraja: PS -20,0%, Gap -1
• Grapari Tabanan: PS -16,7%, Gap -1
• Grapari Ubud: PS -25,0%, Gap -4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Barat: RE -253 (-28,0%), PS -241 (-30,5%)
• Bali Tengah: RE -208 (-13,2%), PS -198 (-14,9%)
• Bali Timur: RE -116 (-22,2%), PS -69 (-17,2%)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Tengah: RE -13 (-7,4%), PS -8 (-6,3%)
• Bali Timur: RE 10 (+18,9%), PS -7 (-17,1%)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Tengah: RE -14 (-25,5%), PS -9 (-24,3%)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Tengah: RE 0 (0,0%), PS -3 (-60,0%)
• Bali Timur: RE -1 (-16,7%), PS -2 (-40,0%)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Oct 2026 vs MTD-1 01–28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1.168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2.873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2.311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Oct 2026 vs MTD-1 01–28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100,9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295,0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576,9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482,3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136,0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104,1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343,8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293,6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97,1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Oct 2026 vs MTD-1 01–28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HAIDAR EL JAWAS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SPEDA24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ARDIANSYAH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ARD6855279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EKA PANDI ASTAWAN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IGE5979988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pinky priyantini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IDA9238809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HAYAT ANSORI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SPOAA27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nengah semara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INE6371994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EKA PUTU WIGUNA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SPXPW93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Anak Agung Istri Agung Ari Damayanti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ANA8921119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BERTHA GANTI ROULI SILABAN AMKG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SPXBRT80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MADE JONI LASTIAWAN. SH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SPNJL26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HAIDAR EL JAWAS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SPEDA24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EKA PANDI ASTAWAN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IGE5979988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pinky priyantini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IDA9238809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ARDIANSYAH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ARD6855279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SYAFII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SPYYF18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Naufal Mascaty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NAU5578143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nengah semara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INE6371994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HAYAT ANSORI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SPOAA27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Novi Rohmatul hazijah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NOV2302500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Gede staria utama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GED6635775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Oct 2026 vs MTD-1 01–28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Indra syah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IND7163324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IRMA NUR 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SPIRN91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Made Sri Pradnya 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IDA4047575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Marselinus Supardi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MAR4586447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MUHAZAM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SPXZM15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Vira dwi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VIR7434347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Suriantini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NIK5337350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Kadek Putra Adhi Prasetya Arintama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IKA8469114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Luh Madina Vera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NIL7530759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WYN ARYANITI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SPAYT27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WINDA SAPUTRI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SPXXYW93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Marselinus Supardi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MAR4586447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MUHAZAM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SPXZM15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Vira dwi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VIR7434347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PUTU NGURAH UPHADANA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SPNGU91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WYN ARYANITI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SPAYT27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AYU DWI APRILIANI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SPRNA41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DEVI PREDIYANI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SPRPN60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BAGUS ANOM PURWA KENITEN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SPEAB78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GST NGURAH PT WIDIYADANA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SPXWDY77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Performance — DENPASAR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10/28/2026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96.18%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96.23% | MoM -0.05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97.58%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-1.40 pp | Rp-788.4 Jt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95.73%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95.59% | MoM +0.14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Rp54.09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Rp53.96 M | MoM +0.3%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Rp56.24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+0.3%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664208"/>
          <a:ext cx="1154886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9479"/>
                <a:gridCol w="898939"/>
                <a:gridCol w="898939"/>
                <a:gridCol w="973850"/>
                <a:gridCol w="898939"/>
                <a:gridCol w="1310953"/>
                <a:gridCol w="898939"/>
                <a:gridCol w="898939"/>
                <a:gridCol w="898939"/>
                <a:gridCol w="1310953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DENPASAR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96.18%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-0.05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95.73%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Rp54.09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+0.3%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-1.40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Rp-788.4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95.27%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-0.23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94.75%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-0.06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Rp10.58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+0.3%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-2.31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Rp-257.1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96.34%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+0.04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95.86%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+0.24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Rp30.46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+0.4%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-1.24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Rp-393.2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96.56%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96.29%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+0.06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Rp13.05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-1.02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Rp-138.1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20040" y="39136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BILCO by LOS — Branch &amp; WOK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4187952"/>
          <a:ext cx="11548868" cy="1668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580"/>
                <a:gridCol w="2299322"/>
                <a:gridCol w="2299322"/>
                <a:gridCol w="2299322"/>
                <a:gridCol w="2299322"/>
              </a:tblGrid>
              <a:tr h="238397"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BALI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BALI TENGAH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BALI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98.45% / -0.61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96.71% / -2.86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99.36% / +0.79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98.19% / -1.81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94.29% / +0.48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92.47% / -1.79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94.53% / +1.95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95.88% / -1.47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88.61% / -0.21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88.41% / -0.31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87.71% / -0.33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91.72% / +0.39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92.65% / -0.06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91.64% / -0.27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92.70% / +0.18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93.59% / -0.55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94.32% / -0.08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93.39% / -0.15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latin typeface="Arial"/>
                        </a:defRPr>
                      </a:pPr>
                      <a:r>
                        <a:t>94.21% / +0.00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95.59% / -0.19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8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97.25% / -0.05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96.60% / -0.13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97.53% / -0.02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97.11% / -0.05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Performance — DENPASAR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10/27/2026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532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M-1 515 | MoM +3.3%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531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+1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+17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64208"/>
          <a:ext cx="11548871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23408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DENPASAR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+4</a:t>
                      </a:r>
                    </a:p>
                  </a:txBody>
                  <a:tcPr/>
                </a:tc>
              </a:tr>
              <a:tr h="23408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299923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3310128"/>
          <a:ext cx="1154886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740"/>
                <a:gridCol w="2298282"/>
                <a:gridCol w="2298282"/>
                <a:gridCol w="2298282"/>
                <a:gridCol w="2298282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TENGAH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 / +800.0%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 / +800.0%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81 / +5.2%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11 / -8.3%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52 / -10.3%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18 / +157.1%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440 / +0.7%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66 / -2.9%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289 / +5.9%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85 / -11.5%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DENPASAR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29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80,711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57,922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71.8%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22,789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3,106 / 98.5%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3,306 / 97.5%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3,354 / 90.4%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2,988 / 86.5%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3,398 / 82.8%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3,325 / 80.4%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958 / 97.1%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895 / 94.4%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875 / 90.6%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767 / 88.0%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922 / 85.0%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821 / 79.3%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1,638 / 99.4%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1,853 / 99.1%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1,865 / 88.9%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1,693 / 84.6%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1,878 / 80.3%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1,896 / 78.6%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510 / 98.6%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558 / 97.1%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614 / 94.5%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528 / 90.5%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598 / 87.3%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608 / 87.7%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3,413 / 79.9%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2,962 / 78.4%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3,103 / 76.6%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3,350 / 73.9%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2,790 / 72.7%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3,773 / 67.6%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765 / 78.8%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666 / 78.4%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742 / 73.7%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855 / 71.2%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612 / 72.4%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869 / 65.4%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1,929 / 78.3%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1,632 / 76.6%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1,801 / 75.7%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1,942 / 72.5%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1,719 / 70.7%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2,235 / 65.7%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719 / 85.3%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664 / 82.8%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560 / 83.0%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553 / 82.8%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459 / 80.2%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669 / 76.7%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3,134 / 66.2%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3,494 / 67.3%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3,969 / 65.9%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3,612 / 63.8%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3,772 / 61.0%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3,480 / 61.6%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756 / 63.6%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868 / 65.8%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1,014 / 62.0%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1,044 / 61.9%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1,011 / 58.6%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961 / 58.6%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1,817 / 64.6%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1,975 / 64.4%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2,246 / 64.2%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1,895 / 60.6%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2,049 / 58.4%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1,871 / 58.5%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561 / 75.0%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651 / 78.2%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709 / 76.6%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673 / 75.6%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712 / 71.6%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648 / 75.2%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3,403 / 64.2%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3,381 / 62.3%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3,839 / 61.2%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3,450 / 58.7%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3,102 / 58.9%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3,207 / 55.4%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871 / 63.6%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879 / 62.7%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1,062 / 58.3%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970 / 53.9%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794 / 58.6%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822 / 52.3%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1,879 / 61.5%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1,842 / 58.1%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2,058 / 58.7%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1,848 / 56.8%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1,682 / 54.0%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1,806 / 53.0%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653 / 72.4%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660 / 73.6%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719 / 72.9%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632 / 71.8%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626 / 72.4%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579 / 67.2%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