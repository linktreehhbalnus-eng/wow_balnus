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60.0</c:v>
                </c:pt>
                <c:pt idx="1">
                  <c:v>61.0</c:v>
                </c:pt>
                <c:pt idx="2">
                  <c:v>50.0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54.0</c:v>
                </c:pt>
                <c:pt idx="1">
                  <c:v>53.0</c:v>
                </c:pt>
                <c:pt idx="2">
                  <c:v>57.0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01–03 Oct 2026 vs MTD-1 01–03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5.105,7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4.701,7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4.142,2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3.852,2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Denpasar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1.176,4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965,1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2.628,2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2.153,8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897,1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733,3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Bangli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Karang Asem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Buleleng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-47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Jembrana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Gianyar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01–03 Oct 2026 vs MTD-1 01–03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347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106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-13,1%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122   Δ -16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-1,9%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106   Δ -2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-100,0%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61   Δ -61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-100,0%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769   Δ -769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SF/DJP Level Branch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0040" y="2505456"/>
            <a:ext cx="11548872" cy="65836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2679192"/>
            <a:ext cx="111556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0" i="0">
                <a:solidFill>
                  <a:srgbClr val="20252B"/>
                </a:solidFill>
                <a:latin typeface="Arial"/>
              </a:rPr>
              <a:t>Detail WOK SF tidak ditampilkan pada PPT selama ownership 12 WOK masih dalam masa transisi.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" y="3383280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Denpasar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20040" y="3657600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320040" y="5111496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01–03 Oct 2026 vs MTD-1 01–03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6400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6400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11 / 20 (55,0%)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+37,5% | Turun 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73 / 306 (23,9%)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-6,4% | Turun 57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104 / 347 (30,0%)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-1,9% | Turun 75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55778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55778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114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-36,3%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-35,7%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-17,6%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68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-32,7%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254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-29,8%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6400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6400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20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 / 306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 | Turun 57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5 (20,0%)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6 (16,7%)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N/A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 / 10 (30,0%)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-25,0% | Turun 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5 / 347 (1,4%)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-28,6% | Turun 75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SF Class pada PPT Branch ditampilkan pada level Branch sampai ownership 12 WOK resmi tersedia.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01–03 Oct 2026 vs MTD-1 01–03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594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594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Trend SF ditampilkan pada level Branch selama masa transisi ownership 12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01–03 Oct 2026 vs MTD-1 01–03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-39,2%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82549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Denpasar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118103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383279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118103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383279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7.639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21.209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15.163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3.251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47.292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16,2%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3.251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569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01–03 Oct 2026 vs MTD-1 01–03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59,8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50,2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+69,2%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+67,6%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704,4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230,0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106 | MoM -13,1%
PS: 104 | MoM -1,9%
• Elite
  RE: 10 | Active 100,0% | MoM 0,0%
  PS: 10 | Active 100,0% | MoM 0,0%
• Performer
  RE: 6 | Active 100,0% | MoM 0,0%
  PS: 6 | Active 100,0% | MoM 0,0%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Junior
  RE: 75 | Active 24,5% | MoM -12,8%
  PS: 73 | Active 23,9% | MoM -6,4%
• Greenfield
  RE: 11 | Active 55,0% | MoM -31,2%
  PS: 11 | Active 55,0% | MoM +37,5%
• Junior Plus
  RE: 4 | Active 80,0% | MoM 0,0%
  PS: 4 | Active 80,0%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Amlapura: PS -100,0%, Gap -1
• Grapari Gatsu Tengah: PS N/A, Gap 1
• Grapari Jimbaran: PS -80,0%, Gap -4
• Grapari Kuta: PS +100,0%, Gap 1
• Grapari Negara: PS -100,0%, Gap -1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Renon: PS 0,0%, Gap 0
• Grapari Singaraja: PS 0,0%, Gap 0
• Grapari Tabanan: PS 0,0%, Gap 0
• Grapari Ubud: PS -100,0%, Gap -1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Barat: RE -56 (-39,2%), PS -71 (-53,0%)
• Bali Tengah: RE -10 (-4,7%), PS -22 (-12,5%)
• Bali Timur: RE -27 (-38,6%), PS -15 (-28,8%)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Tengah: RE -1 (-12,5%), PS -2 (-50,0%)
• Bali Timur: RE -2 (-50,0%), PS -1 (-100,0%)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Timur: RE -1 (-100,0%), PS -1 (-100,0%)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01–03 Oct 2026 vs MTD-1 01–03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01–03 Oct 2026 vs MTD-1 01–03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690,0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460,0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355,6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+913,2%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74,8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60,0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20,0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42,7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38,5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01–03 Oct 2026 vs MTD-1 01–03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SPDAR84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SPDAR84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SPXYM59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SPXYM59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DOD4949153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DOD4949153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HAR9686163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HAR9686163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SEP6298129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SEP6298129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USA9339079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USA9339079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SPARH69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SPARH69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SPSNS18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SPSNS18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SPXKAR75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SPXKAR75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SPXYH91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SPXYH91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DOD4949153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DOD4949153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IGN7412146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IGN7412146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BAM8870058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BAM8870058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SPXYM59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SPXYM59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SPARH69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SPARH69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SPSSG22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SPSSG22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SPDEW79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SPDEW79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ALL3716833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ALL3716833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SPXJRO75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SPXJRO75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USA9339079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USA9339079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01–03 Oct 2026 vs MTD-1 01–03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IND7163324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IND7163324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KAD9367254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KAD9367254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SPIRN91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SPIRN91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IDA4047575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IDA4047575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KUN6555115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KUN6555115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SPNRU39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SPNRU39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SUM8202596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SUM8202596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EDY7689399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EDY7689399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SPXDWI69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SPXDWI69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DIA5635104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DIA5635104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SPNRU39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SPNRU39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SUM8202596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SUM8202596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EDY7689399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EDY7689399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SPXDWI69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SPXDWI69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SPXXYW93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SPXXYW93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SPRNF95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SPRNF95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DIA5635104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DIA5635104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MUH9585099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MUH9585099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REN8141561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REN8141561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MUH5235053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MUH5235053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C3MR Performance — DENPASAR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Arial"/>
              </a:defRPr>
            </a:pPr>
            <a:r>
              <a:t>Branch C3MR 37.39%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694944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Target 97.58% | Gap -60.19 pp | M-1 42.77%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143000"/>
          <a:ext cx="11548866" cy="2020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4747"/>
                <a:gridCol w="763658"/>
                <a:gridCol w="763658"/>
                <a:gridCol w="822401"/>
                <a:gridCol w="1233602"/>
                <a:gridCol w="1233602"/>
                <a:gridCol w="845899"/>
                <a:gridCol w="845899"/>
                <a:gridCol w="845899"/>
                <a:gridCol w="963385"/>
                <a:gridCol w="1116116"/>
              </a:tblGrid>
              <a:tr h="505206"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WOK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SSL All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SSL Paid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Paid Rate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Billing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C3MR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Avg 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42.264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13.867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32.81%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Rp11.11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Rp3.75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39.30%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33.81%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-63.77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Rp270.743</a:t>
                      </a:r>
                    </a:p>
                  </a:txBody>
                  <a:tcPr/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113.620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45.875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40.38%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Rp31.61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Rp12.65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45.23%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40.01%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-57.57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Rp275.691</a:t>
                      </a:r>
                    </a:p>
                  </a:txBody>
                  <a:tcPr/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46.509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15.671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33.69%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Rp13.52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Rp4.62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39.85%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34.19%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-63.39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Rp294.910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" y="425196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LOS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4507992"/>
          <a:ext cx="557783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3503"/>
                <a:gridCol w="1138334"/>
                <a:gridCol w="1366001"/>
              </a:tblGrid>
              <a:tr h="195942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Progress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55.03%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-8.17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38.11%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-5.69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32.38%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-4.66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33.16%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-2.78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31.07%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-4.34 pp</a:t>
                      </a:r>
                    </a:p>
                  </a:txBody>
                  <a:tcPr/>
                </a:tc>
              </a:tr>
              <a:tr h="195948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38.88%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-5.77 pp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CAPS Performance — DENPASAR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260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M-1 244 | MoM +6.6%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32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531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064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-271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+16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508760"/>
          <a:ext cx="11548871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0300"/>
                <a:gridCol w="1443609"/>
                <a:gridCol w="1443609"/>
                <a:gridCol w="1154887"/>
                <a:gridCol w="1299248"/>
                <a:gridCol w="1443609"/>
                <a:gridCol w="1443609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DENPASAR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-271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-49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+22.6%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-157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6118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CAPS by LOS — Branch &amp;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931920"/>
          <a:ext cx="1154887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8874"/>
                <a:gridCol w="2242499"/>
                <a:gridCol w="2242499"/>
                <a:gridCol w="2242499"/>
                <a:gridCol w="2242499"/>
              </a:tblGrid>
              <a:tr h="466344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DENPASAR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BALI BARAT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BALI TENGAH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BALI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46634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46634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42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 / -33.3%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31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 / +40.0%</a:t>
                      </a:r>
                    </a:p>
                  </a:txBody>
                  <a:tcPr/>
                </a:tc>
              </a:tr>
              <a:tr h="46634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209 / +3.5%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28 / -6.7%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150 / +21.0%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31 / -35.4%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