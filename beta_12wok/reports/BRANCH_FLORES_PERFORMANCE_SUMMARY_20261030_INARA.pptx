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  <c:pt idx="23">
                  <c:v>18.0</c:v>
                </c:pt>
                <c:pt idx="24">
                  <c:v>11.0</c:v>
                </c:pt>
                <c:pt idx="25">
                  <c:v>29.0</c:v>
                </c:pt>
                <c:pt idx="26">
                  <c:v>19.0</c:v>
                </c:pt>
                <c:pt idx="27">
                  <c:v>21.0</c:v>
                </c:pt>
                <c:pt idx="28">
                  <c:v>18.0</c:v>
                </c:pt>
                <c:pt idx="29">
                  <c:v>17.0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  <c:pt idx="23">
                  <c:v>7.0</c:v>
                </c:pt>
                <c:pt idx="24">
                  <c:v>6.0</c:v>
                </c:pt>
                <c:pt idx="25">
                  <c:v>14.0</c:v>
                </c:pt>
                <c:pt idx="26">
                  <c:v>4.0</c:v>
                </c:pt>
                <c:pt idx="27">
                  <c:v>8.0</c:v>
                </c:pt>
                <c:pt idx="28">
                  <c:v>6.0</c:v>
                </c:pt>
                <c:pt idx="29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  <c:pt idx="23">
                  <c:v>4.0</c:v>
                </c:pt>
                <c:pt idx="24">
                  <c:v>1.0</c:v>
                </c:pt>
                <c:pt idx="25">
                  <c:v>5.0</c:v>
                </c:pt>
                <c:pt idx="26">
                  <c:v>3.0</c:v>
                </c:pt>
                <c:pt idx="27">
                  <c:v>3.0</c:v>
                </c:pt>
                <c:pt idx="28">
                  <c:v>7.0</c:v>
                </c:pt>
                <c:pt idx="29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Sheet1!$E$2:$E$31</c:f>
              <c:numCache>
                <c:formatCode>General</c:formatCode>
                <c:ptCount val="30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  <c:pt idx="23">
                  <c:v>7.0</c:v>
                </c:pt>
                <c:pt idx="24">
                  <c:v>4.0</c:v>
                </c:pt>
                <c:pt idx="25">
                  <c:v>10.0</c:v>
                </c:pt>
                <c:pt idx="26">
                  <c:v>11.0</c:v>
                </c:pt>
                <c:pt idx="27">
                  <c:v>10.0</c:v>
                </c:pt>
                <c:pt idx="28">
                  <c:v>5.0</c:v>
                </c:pt>
                <c:pt idx="29">
                  <c:v>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Sheet1!$F$2:$F$31</c:f>
              <c:numCache>
                <c:formatCode>General</c:formatCode>
                <c:ptCount val="3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1.0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  <c:pt idx="23">
                  <c:v>14.0</c:v>
                </c:pt>
                <c:pt idx="24">
                  <c:v>10.0</c:v>
                </c:pt>
                <c:pt idx="25">
                  <c:v>24.0</c:v>
                </c:pt>
                <c:pt idx="26">
                  <c:v>20.0</c:v>
                </c:pt>
                <c:pt idx="27">
                  <c:v>18.0</c:v>
                </c:pt>
                <c:pt idx="28">
                  <c:v>16.0</c:v>
                </c:pt>
                <c:pt idx="29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  <c:pt idx="23">
                  <c:v>2.0</c:v>
                </c:pt>
                <c:pt idx="24">
                  <c:v>5.0</c:v>
                </c:pt>
                <c:pt idx="25">
                  <c:v>11.0</c:v>
                </c:pt>
                <c:pt idx="26">
                  <c:v>11.0</c:v>
                </c:pt>
                <c:pt idx="27">
                  <c:v>6.0</c:v>
                </c:pt>
                <c:pt idx="28">
                  <c:v>4.0</c:v>
                </c:pt>
                <c:pt idx="29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Sheet1!$D$2:$D$31</c:f>
              <c:numCache>
                <c:formatCode>General</c:formatCode>
                <c:ptCount val="30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  <c:pt idx="23">
                  <c:v>5.0</c:v>
                </c:pt>
                <c:pt idx="24">
                  <c:v>1.0</c:v>
                </c:pt>
                <c:pt idx="25">
                  <c:v>1.0</c:v>
                </c:pt>
                <c:pt idx="26">
                  <c:v>5.0</c:v>
                </c:pt>
                <c:pt idx="27">
                  <c:v>3.0</c:v>
                </c:pt>
                <c:pt idx="28">
                  <c:v>2.0</c:v>
                </c:pt>
                <c:pt idx="29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Sheet1!$E$2:$E$31</c:f>
              <c:numCache>
                <c:formatCode>General</c:formatCode>
                <c:ptCount val="30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  <c:pt idx="23">
                  <c:v>7.0</c:v>
                </c:pt>
                <c:pt idx="24">
                  <c:v>4.0</c:v>
                </c:pt>
                <c:pt idx="25">
                  <c:v>12.0</c:v>
                </c:pt>
                <c:pt idx="26">
                  <c:v>4.0</c:v>
                </c:pt>
                <c:pt idx="27">
                  <c:v>9.0</c:v>
                </c:pt>
                <c:pt idx="28">
                  <c:v>10.0</c:v>
                </c:pt>
                <c:pt idx="29">
                  <c:v>7.0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Sheet1!$A$2:$A$31</c:f>
              <c:strCache>
                <c:ptCount val="3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  <c:pt idx="28">
                  <c:v>29 Oct</c:v>
                </c:pt>
                <c:pt idx="29">
                  <c:v>30 Oct</c:v>
                </c:pt>
              </c:strCache>
            </c:strRef>
          </c:cat>
          <c:val>
            <c:numRef>
              <c:f>Sheet1!$F$2:$F$31</c:f>
              <c:numCache>
                <c:formatCode>General</c:formatCode>
                <c:ptCount val="3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95,3%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150  (0,0%)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96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-14,9%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94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2.572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15 (93,3%)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+7,7%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66 / 134 (49,3%)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-17,5%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150 (53,3%)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-14,9%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48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54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22 (59,1%)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24 (58,3%)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 (87,5%)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64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-13,5%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 / 72 (54,2%)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816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041648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352544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+9,1%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 / 134 (15,7%)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-4,5%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33 / 150 (22,0%)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-2,9%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48 (22,9%)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54 (31,5%)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22 (13,6%)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24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8 (62,5%)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64 (10,9%)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72 (16,7%)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760720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(Jumlah SF, % Active, MoM RE atau PS)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RE: 84 SF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Active PS: 80 SF | MoM PS +1,2%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70 SF | Active 52,2%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-3,5%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66 SF | Active 49,3% | MoM PS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Greenfield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14 SF | Active 93,3% | MoM RE +25,4%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14 SF | Active 93,3% | MoM PS +23,1%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 Plus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RE: 0 SF | Active 0,0% | MoM RE 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  PS: 0 SF | Active 0,0% | MoM PS 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Bajawa: PS </a:t>
            </a:r>
            <a:r>
              <a:rPr sz="850" b="1">
                <a:solidFill>
                  <a:srgbClr val="D73527"/>
                </a:solidFill>
                <a:latin typeface="Arial"/>
              </a:rPr>
              <a:t>-37,5%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-6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Ende: PS </a:t>
            </a:r>
            <a:r>
              <a:rPr sz="850" b="1">
                <a:solidFill>
                  <a:srgbClr val="D73527"/>
                </a:solidFill>
                <a:latin typeface="Arial"/>
              </a:rPr>
              <a:t>-23,9%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-11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Kalabahi: PS 0,0%, Gap 0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Labuan Bajo: PS </a:t>
            </a:r>
            <a:r>
              <a:rPr sz="850" b="1">
                <a:solidFill>
                  <a:srgbClr val="D73527"/>
                </a:solidFill>
                <a:latin typeface="Arial"/>
              </a:rPr>
              <a:t>-26,3%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Larantuka: PS </a:t>
            </a:r>
            <a:r>
              <a:rPr sz="850" b="1">
                <a:solidFill>
                  <a:srgbClr val="D73527"/>
                </a:solidFill>
                <a:latin typeface="Arial"/>
              </a:rPr>
              <a:t>-56,2%</a:t>
            </a:r>
            <a:r>
              <a:rPr sz="850" b="0">
                <a:solidFill>
                  <a:srgbClr val="20252B"/>
                </a:solidFill>
                <a:latin typeface="Arial"/>
              </a:rPr>
              <a:t>, Gap </a:t>
            </a:r>
            <a:r>
              <a:rPr sz="850" b="1">
                <a:solidFill>
                  <a:srgbClr val="D73527"/>
                </a:solidFill>
                <a:latin typeface="Arial"/>
              </a:rPr>
              <a:t>-9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Maumere: PS +75,0%, Gap 12</a:t>
            </a:r>
          </a:p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• Grapari Ruteng: PS +6,7%,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-78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-32,0%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-67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-35,8%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</a:t>
            </a:r>
            <a:r>
              <a:rPr sz="830" b="1">
                <a:solidFill>
                  <a:srgbClr val="D73527"/>
                </a:solidFill>
                <a:latin typeface="Arial"/>
              </a:rPr>
              <a:t>-6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-24,0%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-4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-30,8%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-18,8%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-16,7%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</a:t>
            </a:r>
            <a:r>
              <a:rPr sz="830" b="1">
                <a:solidFill>
                  <a:srgbClr val="D73527"/>
                </a:solidFill>
                <a:latin typeface="Arial"/>
              </a:rPr>
              <a:t>-7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-50,0%</a:t>
            </a:r>
            <a:r>
              <a:rPr sz="830" b="0">
                <a:solidFill>
                  <a:srgbClr val="20252B"/>
                </a:solidFill>
                <a:latin typeface="Arial"/>
              </a:rPr>
              <a:t>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-33,3%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Flores Timur: RE 4 (+200,0%),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-2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-100,0%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3 (+75,0%),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-1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-25,0%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0 (0,0%), PS </a:t>
            </a:r>
            <a:r>
              <a:rPr sz="830" b="1">
                <a:solidFill>
                  <a:srgbClr val="D73527"/>
                </a:solidFill>
                <a:latin typeface="Arial"/>
              </a:rPr>
              <a:t>-3</a:t>
            </a:r>
            <a:r>
              <a:rPr sz="830" b="0">
                <a:solidFill>
                  <a:srgbClr val="20252B"/>
                </a:solidFill>
                <a:latin typeface="Arial"/>
              </a:rPr>
              <a:t> (</a:t>
            </a:r>
            <a:r>
              <a:rPr sz="830" b="1">
                <a:solidFill>
                  <a:srgbClr val="D73527"/>
                </a:solidFill>
                <a:latin typeface="Arial"/>
              </a:rPr>
              <a:t>-60,0%</a:t>
            </a:r>
            <a:r>
              <a:rPr sz="830" b="0">
                <a:solidFill>
                  <a:srgbClr val="20252B"/>
                </a:solidFill>
                <a:latin typeface="Arial"/>
              </a:rPr>
              <a:t>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RIK8871174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Alpius andriano kume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ALP1906630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01–30 Oct 2026 vs MTD-1 01–30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SPIAA10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AGUSTINA MARGARETA KEDANG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SPRTR18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BOY JEMAT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ALO6786045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ARIFIN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ARI1360841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10/30/2026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94.60%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94.83% | MoM -0.22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-2.10 pp | Rp-213.9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93.97%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93.98% | MoM -0.01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Rp9.66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Rp9.63 M | MoM +0.3%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Rp9.66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Rp-213.9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94.72%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93.93%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Rp-78.5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91.77%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91.44%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Rp2.03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95.52%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Rp3.88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Rp-26.6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98.83% / +1.45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98.55% / +2.02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98.86% / +0.75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99.11% / +1.28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92.75% / +0.12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92.51% / +0.05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91.75% / -1.44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93.75% / +1.32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88.96% / -0.79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87.77%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86.63% / -3.57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91.65% / +0.42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91.73% / 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90.39% / -0.35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90.83% / -1.55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93.60% / +0.90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93.64%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93.49% / -0.43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89.26% / -3.17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95.76% / +1.59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96.08% / 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96.74% / +0.16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93.00% / -3.62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97.13% / +1.10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7 | MoM -14.3%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 / -28.6%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30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14,840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73.8%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5,268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81.4%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94.0%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81.2%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98.3%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93.0%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80.9%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80.5%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96.0%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86.6%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82.2%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80.5%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69.8%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77.5%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80.0%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73.2%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85.2%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79.5%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77.2%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71.7%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66.5%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84.4%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68.2%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60.5%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62.0%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58.1%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65.1%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55.2%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61.3%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67.1%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48.8%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60.8%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49.6%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62.1%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56.9%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66.1%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