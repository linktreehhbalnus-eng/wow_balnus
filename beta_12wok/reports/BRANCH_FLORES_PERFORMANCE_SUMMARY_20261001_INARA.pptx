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-74,0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-38,0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50,8%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51,4%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-28,0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-27,0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+17,2%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29   Δ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+15,0%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   Δ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+33,3%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54   Δ 18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2.576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+31,5%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1.959   Δ 617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SF/DJP Level Branch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505456"/>
            <a:ext cx="11548872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79192"/>
            <a:ext cx="111556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0252B"/>
                </a:solidFill>
                <a:latin typeface="Arial"/>
              </a:rPr>
              <a:t>Detail WOK SF tidak ditampilkan pada PPT selama ownership 12 WOK masih dalam masa transisi.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83280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20040" y="3657600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0040" y="5111496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13 (46,2%)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136 (12,5%)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+30,8%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 / 150 (15,3%)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+15,0% | Turun 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136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150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SF Class pada PPT Branch ditampilkan pada level Branch sampai ownership 12 WOK resmi tersedia.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Trend SF ditampilkan pada level Branch selama masa transisi ownership 12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99 (43,6%)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173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107 (89,9%)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34 | MoM +17,2%
PS: 23 | MoM +15,0%
• Junior
  RE: 23 | Active 16,9% | MoM +9,5%
  PS: 17 | Active 12,5% | MoM +30,8%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11 | Active 84,6% | MoM +57,1%
  PS: 6 | Active 46,2%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0,0%, Gap 0
• Grapari Ende: PS +66,7%, Gap 2
• Grapari Kalabahi: PS +100,0%, Gap 1
• Grapari Labuan Bajo: PS -100,0%,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0,0%, Gap 0
• Grapari Maumere: PS N/A, Gap 2
• Grapari Ruteng: PS N/A,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-2 (-100,0%), PS -1 (-100,0%)
• Manggarai: RE -1 (-100,0%), PS -1 (-100,0%)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Ania Amalia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ANI3431552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Vinsensius brian luther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VIN6911901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ACH5119274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AGUSTINO OSWALDUS SUDIN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SPOLS08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ALBERTO CARLOS X K KOBAN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ALB4124293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SPRYA83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CLE5847828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Vinsensius brian luther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VIN6911901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ACH5119274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MARIANIS TAPIN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MAR1806995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SPRYA83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Anmisa putrianingsih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ANM2815952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RADJO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YOH3951876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SPSKS46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Florianus Antus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FLO2761725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SPNTI75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YES1480927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SPUAN24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BER6428042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FERDINANDUS PENO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FER4126457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ROBERTUS JUNAIDI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ROB7687647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YOH4759581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Florianus Antus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FLO2761725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TURWEN HENCI MOLOM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SPOWO44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SPSKS46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Florianus Antus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FLO2761725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SPNTI75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Ferdinandus rengo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FER7911385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paskarini dua gokun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MAR8199897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NDAGANG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FRA3131744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BER6428042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MAR3510076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22.66%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96.70% | Gap -74.04 pp | M-1 26.53%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Rp319.857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Rp300.803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Rp332.479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-6.82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-3.40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-1.70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18.24%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-2.68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-4.79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