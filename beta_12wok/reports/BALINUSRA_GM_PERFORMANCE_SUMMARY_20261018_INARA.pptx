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22"/>
    <p:sldId id="264" r:id="rId10"/>
    <p:sldId id="265" r:id="rId11"/>
    <p:sldId id="266" r:id="rId12"/>
    <p:sldId id="267" r:id="rId13"/>
    <p:sldId id="268" r:id="rId19"/>
    <p:sldId id="269" r:id="rId20"/>
    <p:sldId id="270" r:id="rId21"/>
    <p:sldId id="272" r:id="rId23"/>
    <p:sldId id="273" r:id="rId24"/>
    <p:sldId id="274" r:id="rId25"/>
    <p:sldId id="275" r:id="rId26"/>
    <p:sldId id="276" r:id="rId27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9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05/10</c:v>
                </c:pt>
                <c:pt idx="1">
                  <c:v>06/10</c:v>
                </c:pt>
                <c:pt idx="2">
                  <c:v>07/10</c:v>
                </c:pt>
                <c:pt idx="3">
                  <c:v>08/10</c:v>
                </c:pt>
                <c:pt idx="4">
                  <c:v>09/10</c:v>
                </c:pt>
                <c:pt idx="5">
                  <c:v>10/10</c:v>
                </c:pt>
                <c:pt idx="6">
                  <c:v>11/10</c:v>
                </c:pt>
                <c:pt idx="7">
                  <c:v>12/10</c:v>
                </c:pt>
                <c:pt idx="8">
                  <c:v>13/10</c:v>
                </c:pt>
                <c:pt idx="9">
                  <c:v>14/10</c:v>
                </c:pt>
                <c:pt idx="10">
                  <c:v>15/10</c:v>
                </c:pt>
                <c:pt idx="11">
                  <c:v>16/10</c:v>
                </c:pt>
                <c:pt idx="12">
                  <c:v>17/10</c:v>
                </c:pt>
                <c:pt idx="13">
                  <c:v>18/10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319.0</c:v>
                </c:pt>
                <c:pt idx="1">
                  <c:v>293.0</c:v>
                </c:pt>
                <c:pt idx="2">
                  <c:v>322.0</c:v>
                </c:pt>
                <c:pt idx="3">
                  <c:v>300.0</c:v>
                </c:pt>
                <c:pt idx="4">
                  <c:v>225.0</c:v>
                </c:pt>
                <c:pt idx="5">
                  <c:v>231.0</c:v>
                </c:pt>
                <c:pt idx="6">
                  <c:v>159.0</c:v>
                </c:pt>
                <c:pt idx="7">
                  <c:v>287.0</c:v>
                </c:pt>
                <c:pt idx="8">
                  <c:v>276.0</c:v>
                </c:pt>
                <c:pt idx="9">
                  <c:v>273.0</c:v>
                </c:pt>
                <c:pt idx="10">
                  <c:v>281.0</c:v>
                </c:pt>
                <c:pt idx="11">
                  <c:v>283.0</c:v>
                </c:pt>
                <c:pt idx="12">
                  <c:v>216.0</c:v>
                </c:pt>
                <c:pt idx="13">
                  <c:v>206.0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05/10</c:v>
                </c:pt>
                <c:pt idx="1">
                  <c:v>06/10</c:v>
                </c:pt>
                <c:pt idx="2">
                  <c:v>07/10</c:v>
                </c:pt>
                <c:pt idx="3">
                  <c:v>08/10</c:v>
                </c:pt>
                <c:pt idx="4">
                  <c:v>09/10</c:v>
                </c:pt>
                <c:pt idx="5">
                  <c:v>10/10</c:v>
                </c:pt>
                <c:pt idx="6">
                  <c:v>11/10</c:v>
                </c:pt>
                <c:pt idx="7">
                  <c:v>12/10</c:v>
                </c:pt>
                <c:pt idx="8">
                  <c:v>13/10</c:v>
                </c:pt>
                <c:pt idx="9">
                  <c:v>14/10</c:v>
                </c:pt>
                <c:pt idx="10">
                  <c:v>15/10</c:v>
                </c:pt>
                <c:pt idx="11">
                  <c:v>16/10</c:v>
                </c:pt>
                <c:pt idx="12">
                  <c:v>17/10</c:v>
                </c:pt>
                <c:pt idx="13">
                  <c:v>18/10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230.0</c:v>
                </c:pt>
                <c:pt idx="1">
                  <c:v>214.0</c:v>
                </c:pt>
                <c:pt idx="2">
                  <c:v>278.0</c:v>
                </c:pt>
                <c:pt idx="3">
                  <c:v>236.0</c:v>
                </c:pt>
                <c:pt idx="4">
                  <c:v>238.0</c:v>
                </c:pt>
                <c:pt idx="5">
                  <c:v>184.0</c:v>
                </c:pt>
                <c:pt idx="6">
                  <c:v>121.0</c:v>
                </c:pt>
                <c:pt idx="7">
                  <c:v>206.0</c:v>
                </c:pt>
                <c:pt idx="8">
                  <c:v>225.0</c:v>
                </c:pt>
                <c:pt idx="9">
                  <c:v>212.0</c:v>
                </c:pt>
                <c:pt idx="10">
                  <c:v>206.0</c:v>
                </c:pt>
                <c:pt idx="11">
                  <c:v>212.0</c:v>
                </c:pt>
                <c:pt idx="12">
                  <c:v>190.0</c:v>
                </c:pt>
                <c:pt idx="13">
                  <c:v>146.0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-14,7% &amp; PS -15,8% MoM — Achievement Mencapai 41,8% (RE) / 40,0%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01–18 Okt 2026 vs MTD-1 01–18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11.390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6.627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-1,0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Melemah pada 18 Oktober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01–18 Okt 2026 vs MTD-1 01–18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01–18 Oktober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11.390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6.627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 Pendorong Utama PS (-4,4%), Denpasar Terdalam (-24,3%)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01–18 Okt 2026 vs MTD-1 01–18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-2,6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+2,4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-6,7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+2,3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-4,4%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-9,4%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-11,4%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-24,3%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51,6%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43,4%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40,4%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35,6%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Ende Sikka Tertinggi (+6,6%), Bali Barat Terdalam (-40,0%) — 12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01–18 Okt 2026 vs MTD-1 01–18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12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43484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Manggarai Penyumbang PS Absolut Terbesar (+27), Sumbawa Barat Tumbuh Tertinggi (+33,3%)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01–18 Okt 2026 vs MTD-1 01–18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 Daya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-493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-698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46 kabupaten: Top 5 menyumbang +77, Bottom 5 -493, dan perubahan PS regional -698.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75 Mbps Tumbuh Tertinggi (-7,6%), TSEL One &gt;30 Mbps Turun Terdalam (-22,7%)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01–18 Okt 2026 vs MTD-1 01–18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-8,5% MoM, DJP Data Transition — SF Register 946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01–18 Okt 2026 vs MTD-1 01–18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Register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Transition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12.604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Transition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SF/DJP per Branch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14.306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38.224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25.376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5.421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83.391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5.421
Dikunjungi: 0 (0,0%)
Visit DJP: 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187
Dikunjungi: 0 (0,0%)
Visit DJP: 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320040" y="3346704"/>
          <a:ext cx="926286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540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615024"/>
                <a:gridCol w="615024"/>
                <a:gridCol w="540021"/>
              </a:tblGrid>
              <a:tr h="152400">
                <a:tc rowSpan="2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Branch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DJP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Aktivitas DJP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524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-18,5%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194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-13,4%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4.732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2.037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+10,7%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2.080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-5,8%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3.755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01–18 Okt 2026 vs MTD-1 01–18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01–18 Okt 2026 vs MTD-1 01–18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 / 20 (85,0%)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-10,5% | Turun 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131 / 337 (38,9%)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-15,5% | Turun 102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168 / 378 (44,4%)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-13,4% | Turun 127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60 / 137 (43,8%)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-18,9% | Turun 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73 / 151 (48,3%)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-17,0% | Turun 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9 (88,9%)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+14,3%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93 / 151 (61,6%)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-1,1% | Turun 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105 / 164 (64,0%)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16 (81,2%)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-7,1% | Turun 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138 / 227 (60,8%)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-6,1% | Turun 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9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161 / 253 (63,6%)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-6,4% | Turun 96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51 / 58 (87,9%)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-3,8% | Turun 26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422 / 852 (49,5%)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-10,2% | Turun 270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17 / 19 (89,5%)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-10,5% | Turun 11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509 / 965 (52,7%)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-8,9% | Turun 325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576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401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1.298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354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506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412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473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698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942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-1,4%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2.040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-16,1%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274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-24,9%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-32,9%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401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-13,9%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3.230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-16,0%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20 (10,0%)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 / 337 (4,5%)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-34,8% | Turun 102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5 (60,0%)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35 / 378 (9,3%)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-25,5% | Turun 127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13 (61,5%)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137 (7,3%)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-28,6% | Turun 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 / 151 (11,9%)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 | Turun 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151 (4,0%)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-40,0% | Turun 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4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164 (4,9%)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-42,9% | Turun 54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16 (18,8%)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 / 227 (7,5%)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-26,1% | Turun 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9 (88,9%)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29 / 253 (11,5%)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-21,6% | Turun 96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 / 58 (22,4%)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48 / 852 (5,6%)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-31,4% | Turun 270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 / 19 (68,4%)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-31,6% | Turun 11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7 (85,7%)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-14,3%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91 / 965 (9,4%)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-23,5% | Turun 325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01–18 Okt 2026 vs MTD-1 01–18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Zakaria Rafiif Ahmad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HAIDAR EL JAWAS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ARDIANSYAH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FITRI YUSINTA ELIK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GST BAGUS AGUNG ADIATMA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SUSANA ASTUTI PIUNG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USWATUN HASANAH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RATNA PATI 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Abdul Muftholib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STEFANI WEA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NURJANAH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Zakaria Rafiif Ahmad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HAIDAR EL JAWAS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THERESIA NETIANA DELOS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ARDIANSYAH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RATNA PATI 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AISA TUKUBRA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GST BAGUS AGUNG ADIATMA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FITRI YUSINTA ELIK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NURUL QARIMAH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01–18 Okt 2026 vs MTD-1 01–18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Indra syah 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Kristiana Liva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IRMA NUR AINI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 ayu Made Sri Pradnya 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Kunzita Lazuardi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BQ DEWI NINGRUM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umar mangu laga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Haryono Christanto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KADEK RIDAYANI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Marselinus Supardi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Kunzita Lazuardi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WINDA SAPUTRI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Yohannes moa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Haryono Christanto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KADEK RIDAYANI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Marselinus Supardi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VALENTINUS S LEIN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ROSA NINGRUM FATMALA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ALFANDI KAREL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YOHANES LABA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12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01–18 Okt 2026 vs MTD-1 01–18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12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Klaten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01–18 Okt 2026 vs MTD-1 01–18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 Daya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Hulu Sungai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01–18 Okt 2026 vs MTD-1 01–18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1.622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1.318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695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584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496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4.405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3.707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1.965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1.488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1.214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1.076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01–18 Okt 2026 vs MTD-1 01–18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270,7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230,1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138,2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206,0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192,1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122,4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87,6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51,0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78,4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65,6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68,5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63,5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43,4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44,8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51,3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53,7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45,4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47,6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67,2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32,9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235,3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192,7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95,6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76,0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76,4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55,5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40,3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95,2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40,1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35,7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978,0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834,0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389,2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309,9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137,1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138,1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127,1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309,3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259,9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01–18 Okt 2026 vs MTD-1 01–18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941832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280"/>
                <a:gridCol w="1064412"/>
                <a:gridCol w="1064412"/>
                <a:gridCol w="957970"/>
                <a:gridCol w="1064412"/>
                <a:gridCol w="1064412"/>
                <a:gridCol w="957970"/>
                <a:gridCol w="1383735"/>
                <a:gridCol w="1117632"/>
                <a:gridCol w="1117632"/>
              </a:tblGrid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5.596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4.772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4.405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3.707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Rp 834,0 Jt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4.735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3.999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3.847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3.230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709,2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394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-15,1%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54,9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-13,4%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54,2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13,9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+5,1%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2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-32,0%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-61,1%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-60,5%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2761488"/>
            <a:ext cx="4572000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Kontributor Penurunan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
RE: 522 | MoM -9,8%
PS: 507 | MoM -8,5%
• Elite
  RE: 10 | Active 100,0% | MoM 0,0%
  PS: 10 | Active 100,0% | MoM 0,0%
• Performer
  RE: 7 | Active 100,0% | MoM 0,0%
  PS: 7 | Active 100,0% | MoM 0,0%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
  RE: 438 | Active 51,4% | MoM -10,6%
  PS: 422 | Active 49,5% | MoM -9,4%
• Greenfield
  RE: 50 | Active 86,2% | MoM -7,4%
  PS: 51 | Active 87,9% | MoM -3,8%
• Junior Plus
  RE: 17 | Active 89,5% | MoM -5,6%
  PS: 17 | Active 89,5% | MoM -5,6%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GraPARI Performance per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PER BRANCH
• Denpasar: PS +33,3%, Gap +5
• Flores: PS +25,0%, Gap +4
• Kupang: PS -28,6%, Gap -2
• Mataram: PS 0,0%, Gap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BOTTOM 5 PS MoM
• Grapari Ruteng (Flores): -100,0%, Gap -1
• Grapari Kefamenanu (Kupang): -100,0%, Gap -1
• Grapari Waingapu (Kupang): -100,0%, Gap -1
• Grapari Sumbawa (Mataram): -100,0%, Gap -3
• Grapari Tabanan (Denpasar): -50,0%, Gap -1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Barat: RE -236 (-36,5%), PS -230 (-41,1%)
• Bali Tengah: RE -174 (-16,1%), PS -167 (-18,2%)
• Lombok: RE -127 (-16,0%), PS -99 (-15,6%)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76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Tengah: RE -10 (-8,8%), PS -9 (-11,0%)
• Sumbawa Barat: RE -13 (-65,0%), PS -7 (-63,6%)
• Sumbawa Timur: RE -5 (-14,7%), PS -6 (-33,3%)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1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Ende Sikka: RE 0 (0,0%), PS -3 (-100,0%)
• Flores Timur: RE +1 (+100,0%), PS -2 (-100,0%)
• Lombok: RE +2 (+22,2%), PS -2 (-28,6%)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Tengah: RE -2 (-40,0%), PS -3 (-60,0%)
• Bali Timur: RE -2 (-33,3%), PS -2 (-50,0%)
• Malaka Timtim Belu: RE -2 (-100,0%), PS -2 (-100,0%)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BALINUSRA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10/18/2026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46.25%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46.85% | MoM -0.60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97.21%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-50.96 pp | Rp-54.53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45.97%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46.48% | MoM -0.51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Rp49.49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Rp49.88 M | MoM -0.8%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Rp107.01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+0.5%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27632"/>
          <a:ext cx="11548869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0819"/>
                <a:gridCol w="918805"/>
                <a:gridCol w="918805"/>
                <a:gridCol w="995372"/>
                <a:gridCol w="918805"/>
                <a:gridCol w="1339924"/>
                <a:gridCol w="918805"/>
                <a:gridCol w="918805"/>
                <a:gridCol w="918805"/>
                <a:gridCol w="1339924"/>
              </a:tblGrid>
              <a:tr h="271630"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52.44%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-0.71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52.22%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-0.66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Rp29.49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-1.1%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-45.14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Rp-25.38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35.08%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-1.18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33.97%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-0.61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Rp3.58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-2.8%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-61.62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Rp-6.29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37.48%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-0.74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36.30%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-0.51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Rp5.79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-58.35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Rp-9.01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42.33%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+0.00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41.14%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Rp10.63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+1.6%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-55.12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Rp-13.85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48.21%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-1.27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46.96%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-0.99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Rp5.35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-2.0%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-49.37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Rp-5.48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55.43%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55.75%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-0.32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Rp17.52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-42.15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Rp-13.32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48.94%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-1.24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48.38%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-1.17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Rp6.62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-2.4%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-48.64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Rp-6.58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33.94%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-0.68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32.35%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Rp1.34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-0.8%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-62.76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Rp-2.49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33.57%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-3.20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33.06%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-2.75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Rp741.7 Jt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-7.8%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-63.13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Rp-1.39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41.29%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39.94%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Rp3.55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-54.54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Rp-4.69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30.65%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-1.87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29.70%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-1.38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Rp1.18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-5.8%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-65.18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Rp-2.52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37.04%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-0.55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36.19%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Rp1.50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-1.9%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-59.66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Rp-2.41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35.30%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-0.86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34.67%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-0.75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Rp1.05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-1.7%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-60.53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Rp-1.80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50.08%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+0.42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49.27%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+0.41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Rp6.88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+2.5%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-47.37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Rp-6.51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39.42%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-1.15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38.68%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-0.84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Rp1.88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-1.6%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-58.03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Rp-2.76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4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28.33%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27.07%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Rp1.88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+1.6%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-69.12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Rp-4.58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by LOS — Regional &amp; 4 Branch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10/18/2026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28600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REGIONAL 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46.25%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-0.60 pp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664208"/>
          <a:ext cx="11548871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9554"/>
                <a:gridCol w="2095149"/>
                <a:gridCol w="1788542"/>
                <a:gridCol w="1788542"/>
                <a:gridCol w="1788542"/>
                <a:gridCol w="1788542"/>
              </a:tblGrid>
              <a:tr h="33310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BALINUSRA M / 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64.88% / -3.03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67.95% / -3.56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70.89% / +0.21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58.01% / -2.26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61.42% / -3.87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48.16% / +0.28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52.00% / -0.08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46.96% / +4.06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40.28% / +0.32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47.19% / -1.79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39.86% / -0.25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44.96% / -0.87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31.46% / -0.84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32.10% / -0.03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41.78% / +0.57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39.89% / +0.81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46.30% / +0.75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29.70% / +0.37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32.43% / +0.69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39.71% / +1.55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37.80% / -0.30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44.11% / -0.50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28.61% / +0.18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29.47% / -0.84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35.47% / +0.24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48.81% / -0.84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54.64% / -0.85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36.44% / -2.26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40.39% / -1.02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43.69% / -0.18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47548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Format sel: C3MR M / MoM (pp). Fokus pada posisi bulan berjalan dan perubahan vs M-1.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BALINUSRA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10/18/2026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410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M-1 444 | MoM -7.7%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677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-267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-34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69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6141"/>
                <a:gridCol w="1461882"/>
                <a:gridCol w="1461882"/>
                <a:gridCol w="1169506"/>
                <a:gridCol w="1315694"/>
                <a:gridCol w="1461882"/>
                <a:gridCol w="1461882"/>
              </a:tblGrid>
              <a:tr h="25549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-208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-19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-34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-40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-121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-47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-11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-30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</a:tr>
              <a:tr h="255496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by LOS — Regional &amp; 4 Branch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10/18/2026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32688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0">
                <a:solidFill>
                  <a:srgbClr val="64748B"/>
                </a:solidFill>
                <a:latin typeface="Arial"/>
              </a:defRPr>
            </a:pPr>
            <a:r>
              <a:t>CAPS M / MoM vs M-1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225296"/>
          <a:ext cx="11548872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147"/>
                <a:gridCol w="2085213"/>
                <a:gridCol w="1817878"/>
                <a:gridCol w="1817878"/>
                <a:gridCol w="1817878"/>
                <a:gridCol w="1817878"/>
              </a:tblGrid>
              <a:tr h="310896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BALINUSRA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0 / -100.0%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0 / -100.0%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69 / -4.2%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52 / -1.9%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14 / -6.7%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331 / -10.8%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261 / -12.7%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18 / +20.0%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50 / -5.7%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BALINUSRA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15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175,231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44,619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25.5%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130,612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7,099 / 55.0%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7,308 / 43.6%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7,469 / 35.1%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7,203 / 31.2%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7,971 / 27.6%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7,683 / 27.0%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3,106 / 57.8%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3,306 / 46.5%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3,354 / 37.6%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2,988 / 35.6%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3,398 / 30.7%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3,325 / 30.6%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1,010 / 62.9%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894 / 43.6%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34.6%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955 / 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1,159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1,057 / 20.1%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943 / 48.4%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951 / 34.7%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1,104 / 30.0%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1,284 / 23.6%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1,369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1,342 / 21.9%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2,040 / 50.1%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2,157 / 43.0%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2,014 / 34.2%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1,976 / 33.2%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2,045 / 30.0%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1,959 / 28.2%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7,715 / 27.4%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6,964 / 27.1%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7,164 / 26.1%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7,111 / 25.4%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6,489 / 24.1%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7,849 / 22.2%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3,413 / 32.9%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2,962 / 30.4%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3,103 / 29.4%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3,350 / 28.1%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2,790 / 27.4%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3,773 / 24.3%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1,200 / 21.9%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966 / 21.6%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861 / 19.7%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807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921 / 18.4%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831 / 17.1%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1,509 / 21.1%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1,276 / 22.1%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1,088 / 21.3%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1,063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1,247 / 19.6%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1,593 / 25.4%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1,760 / 28.0%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1,954 / 26.4%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1,866 / 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1,715 / 24.2%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1,998 / 21.9%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6,837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7,515 / 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8,014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7,517 / 20.1%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7,658 / 19.8%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7,174 / 19.8%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3,134 / 23.7%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3,494 / 25.3%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3,969 / 23.9%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3,612 / 23.0%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3,772 / 22.8%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3,480 / 23.4%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696 / 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14.9%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14.7%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686 / 14.9%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727 / 13.8%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749 / 15.9%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15.6%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1,273 / 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1,295 / 14.4%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1,163 / 15.4%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1,132 / 14.5%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1,805 / 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1,937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2,032 / 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1,924 / 20.5%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1,996 / 18.8%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1,813 / 17.6%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6,985 / 21.2%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7,134 / 19.5%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7,691 / 20.1%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7,472 / 18.8%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6,644 / 18.4%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6,565 / 17.9%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3,403 / 26.7%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3,381 / 24.1%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3,839 / 23.1%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3,450 / 23.0%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3,102 / 22.4%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3,207 / 22.1%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776 / 11.7%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705 / 12.3%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626 / 16.3%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669 / 14.8%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574 / 13.1%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620 / 12.7%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1,262 / 13.4%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1,180 / 13.9%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1,207 / 15.2%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12.2%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1,227 / 11.9%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1,070 / 12.0%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1,544 / 20.1%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1,868 / 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2,019 / 18.7%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2,107 / 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1,741 / 17.5%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1,668 / 15.5%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