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Kupang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Sheet1!$A$2:$A$22</c:f>
              <c:strCache>
                <c:ptCount val="21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</c:strCache>
            </c:strRef>
          </c:cat>
          <c:val>
            <c:numRef>
              <c:f>Sheet1!$B$2:$B$22</c:f>
              <c:numCache>
                <c:formatCode>General</c:formatCode>
                <c:ptCount val="21"/>
                <c:pt idx="0">
                  <c:v>21.0</c:v>
                </c:pt>
                <c:pt idx="1">
                  <c:v>22.0</c:v>
                </c:pt>
                <c:pt idx="2">
                  <c:v>16.0</c:v>
                </c:pt>
                <c:pt idx="3">
                  <c:v>11.0</c:v>
                </c:pt>
                <c:pt idx="4">
                  <c:v>33.0</c:v>
                </c:pt>
                <c:pt idx="5">
                  <c:v>37.0</c:v>
                </c:pt>
                <c:pt idx="6">
                  <c:v>35.0</c:v>
                </c:pt>
                <c:pt idx="7">
                  <c:v>32.0</c:v>
                </c:pt>
                <c:pt idx="8">
                  <c:v>27.0</c:v>
                </c:pt>
                <c:pt idx="9">
                  <c:v>22.0</c:v>
                </c:pt>
                <c:pt idx="10">
                  <c:v>13.0</c:v>
                </c:pt>
                <c:pt idx="11">
                  <c:v>23.0</c:v>
                </c:pt>
                <c:pt idx="12">
                  <c:v>30.0</c:v>
                </c:pt>
                <c:pt idx="13">
                  <c:v>31.0</c:v>
                </c:pt>
                <c:pt idx="14">
                  <c:v>33.0</c:v>
                </c:pt>
                <c:pt idx="15">
                  <c:v>30.0</c:v>
                </c:pt>
                <c:pt idx="16">
                  <c:v>26.0</c:v>
                </c:pt>
                <c:pt idx="17">
                  <c:v>11.0</c:v>
                </c:pt>
                <c:pt idx="18">
                  <c:v>39.0</c:v>
                </c:pt>
                <c:pt idx="19">
                  <c:v>34.0</c:v>
                </c:pt>
                <c:pt idx="20">
                  <c:v>29.0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Kupang Rote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Sheet1!$A$2:$A$22</c:f>
              <c:strCache>
                <c:ptCount val="21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</c:strCache>
            </c:strRef>
          </c:cat>
          <c:val>
            <c:numRef>
              <c:f>Sheet1!$C$2:$C$22</c:f>
              <c:numCache>
                <c:formatCode>General</c:formatCode>
                <c:ptCount val="21"/>
                <c:pt idx="0">
                  <c:v>10.0</c:v>
                </c:pt>
                <c:pt idx="1">
                  <c:v>11.0</c:v>
                </c:pt>
                <c:pt idx="2">
                  <c:v>9.0</c:v>
                </c:pt>
                <c:pt idx="3">
                  <c:v>4.0</c:v>
                </c:pt>
                <c:pt idx="4">
                  <c:v>14.0</c:v>
                </c:pt>
                <c:pt idx="5">
                  <c:v>18.0</c:v>
                </c:pt>
                <c:pt idx="6">
                  <c:v>19.0</c:v>
                </c:pt>
                <c:pt idx="7">
                  <c:v>16.0</c:v>
                </c:pt>
                <c:pt idx="8">
                  <c:v>11.0</c:v>
                </c:pt>
                <c:pt idx="9">
                  <c:v>11.0</c:v>
                </c:pt>
                <c:pt idx="10">
                  <c:v>5.0</c:v>
                </c:pt>
                <c:pt idx="11">
                  <c:v>12.0</c:v>
                </c:pt>
                <c:pt idx="12">
                  <c:v>10.0</c:v>
                </c:pt>
                <c:pt idx="13">
                  <c:v>9.0</c:v>
                </c:pt>
                <c:pt idx="14">
                  <c:v>13.0</c:v>
                </c:pt>
                <c:pt idx="15">
                  <c:v>13.0</c:v>
                </c:pt>
                <c:pt idx="16">
                  <c:v>14.0</c:v>
                </c:pt>
                <c:pt idx="17">
                  <c:v>4.0</c:v>
                </c:pt>
                <c:pt idx="18">
                  <c:v>20.0</c:v>
                </c:pt>
                <c:pt idx="19">
                  <c:v>11.0</c:v>
                </c:pt>
                <c:pt idx="20">
                  <c:v>17.0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Malaka Timtim Belu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Sheet1!$A$2:$A$22</c:f>
              <c:strCache>
                <c:ptCount val="21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</c:strCache>
            </c:strRef>
          </c:cat>
          <c:val>
            <c:numRef>
              <c:f>Sheet1!$D$2:$D$22</c:f>
              <c:numCache>
                <c:formatCode>General</c:formatCode>
                <c:ptCount val="21"/>
                <c:pt idx="0">
                  <c:v>6.0</c:v>
                </c:pt>
                <c:pt idx="1">
                  <c:v>7.0</c:v>
                </c:pt>
                <c:pt idx="2">
                  <c:v>3.0</c:v>
                </c:pt>
                <c:pt idx="3">
                  <c:v>5.0</c:v>
                </c:pt>
                <c:pt idx="4">
                  <c:v>13.0</c:v>
                </c:pt>
                <c:pt idx="5">
                  <c:v>11.0</c:v>
                </c:pt>
                <c:pt idx="6">
                  <c:v>10.0</c:v>
                </c:pt>
                <c:pt idx="7">
                  <c:v>10.0</c:v>
                </c:pt>
                <c:pt idx="8">
                  <c:v>10.0</c:v>
                </c:pt>
                <c:pt idx="9">
                  <c:v>6.0</c:v>
                </c:pt>
                <c:pt idx="10">
                  <c:v>4.0</c:v>
                </c:pt>
                <c:pt idx="11">
                  <c:v>5.0</c:v>
                </c:pt>
                <c:pt idx="12">
                  <c:v>14.0</c:v>
                </c:pt>
                <c:pt idx="13">
                  <c:v>14.0</c:v>
                </c:pt>
                <c:pt idx="14">
                  <c:v>14.0</c:v>
                </c:pt>
                <c:pt idx="15">
                  <c:v>11.0</c:v>
                </c:pt>
                <c:pt idx="16">
                  <c:v>7.0</c:v>
                </c:pt>
                <c:pt idx="17">
                  <c:v>4.0</c:v>
                </c:pt>
                <c:pt idx="18">
                  <c:v>13.0</c:v>
                </c:pt>
                <c:pt idx="19">
                  <c:v>13.0</c:v>
                </c:pt>
                <c:pt idx="20">
                  <c:v>10.0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Sumba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Sheet1!$A$2:$A$22</c:f>
              <c:strCache>
                <c:ptCount val="21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</c:strCache>
            </c:strRef>
          </c:cat>
          <c:val>
            <c:numRef>
              <c:f>Sheet1!$E$2:$E$22</c:f>
              <c:numCache>
                <c:formatCode>General</c:formatCode>
                <c:ptCount val="21"/>
                <c:pt idx="0">
                  <c:v>5.0</c:v>
                </c:pt>
                <c:pt idx="1">
                  <c:v>4.0</c:v>
                </c:pt>
                <c:pt idx="2">
                  <c:v>4.0</c:v>
                </c:pt>
                <c:pt idx="3">
                  <c:v>2.0</c:v>
                </c:pt>
                <c:pt idx="4">
                  <c:v>6.0</c:v>
                </c:pt>
                <c:pt idx="5">
                  <c:v>8.0</c:v>
                </c:pt>
                <c:pt idx="6">
                  <c:v>6.0</c:v>
                </c:pt>
                <c:pt idx="7">
                  <c:v>6.0</c:v>
                </c:pt>
                <c:pt idx="8">
                  <c:v>6.0</c:v>
                </c:pt>
                <c:pt idx="9">
                  <c:v>5.0</c:v>
                </c:pt>
                <c:pt idx="10">
                  <c:v>4.0</c:v>
                </c:pt>
                <c:pt idx="11">
                  <c:v>6.0</c:v>
                </c:pt>
                <c:pt idx="12">
                  <c:v>6.0</c:v>
                </c:pt>
                <c:pt idx="13">
                  <c:v>8.0</c:v>
                </c:pt>
                <c:pt idx="14">
                  <c:v>6.0</c:v>
                </c:pt>
                <c:pt idx="15">
                  <c:v>6.0</c:v>
                </c:pt>
                <c:pt idx="16">
                  <c:v>5.0</c:v>
                </c:pt>
                <c:pt idx="17">
                  <c:v>3.0</c:v>
                </c:pt>
                <c:pt idx="18">
                  <c:v>6.0</c:v>
                </c:pt>
                <c:pt idx="19">
                  <c:v>10.0</c:v>
                </c:pt>
                <c:pt idx="20">
                  <c:v>2.0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Kupang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Sheet1!$A$2:$A$22</c:f>
              <c:strCache>
                <c:ptCount val="21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</c:strCache>
            </c:strRef>
          </c:cat>
          <c:val>
            <c:numRef>
              <c:f>Sheet1!$B$2:$B$22</c:f>
              <c:numCache>
                <c:formatCode>General</c:formatCode>
                <c:ptCount val="21"/>
                <c:pt idx="0">
                  <c:v>18.0</c:v>
                </c:pt>
                <c:pt idx="1">
                  <c:v>16.0</c:v>
                </c:pt>
                <c:pt idx="2">
                  <c:v>16.0</c:v>
                </c:pt>
                <c:pt idx="3">
                  <c:v>14.0</c:v>
                </c:pt>
                <c:pt idx="4">
                  <c:v>22.0</c:v>
                </c:pt>
                <c:pt idx="5">
                  <c:v>25.0</c:v>
                </c:pt>
                <c:pt idx="6">
                  <c:v>25.0</c:v>
                </c:pt>
                <c:pt idx="7">
                  <c:v>25.0</c:v>
                </c:pt>
                <c:pt idx="8">
                  <c:v>24.0</c:v>
                </c:pt>
                <c:pt idx="9">
                  <c:v>21.0</c:v>
                </c:pt>
                <c:pt idx="10">
                  <c:v>9.0</c:v>
                </c:pt>
                <c:pt idx="11">
                  <c:v>25.0</c:v>
                </c:pt>
                <c:pt idx="12">
                  <c:v>25.0</c:v>
                </c:pt>
                <c:pt idx="13">
                  <c:v>23.0</c:v>
                </c:pt>
                <c:pt idx="14">
                  <c:v>31.0</c:v>
                </c:pt>
                <c:pt idx="15">
                  <c:v>22.0</c:v>
                </c:pt>
                <c:pt idx="16">
                  <c:v>19.0</c:v>
                </c:pt>
                <c:pt idx="17">
                  <c:v>13.0</c:v>
                </c:pt>
                <c:pt idx="18">
                  <c:v>29.0</c:v>
                </c:pt>
                <c:pt idx="19">
                  <c:v>34.0</c:v>
                </c:pt>
                <c:pt idx="20">
                  <c:v>28.0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Kupang Rote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Sheet1!$A$2:$A$22</c:f>
              <c:strCache>
                <c:ptCount val="21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</c:strCache>
            </c:strRef>
          </c:cat>
          <c:val>
            <c:numRef>
              <c:f>Sheet1!$C$2:$C$22</c:f>
              <c:numCache>
                <c:formatCode>General</c:formatCode>
                <c:ptCount val="21"/>
                <c:pt idx="0">
                  <c:v>7.0</c:v>
                </c:pt>
                <c:pt idx="1">
                  <c:v>7.0</c:v>
                </c:pt>
                <c:pt idx="2">
                  <c:v>7.0</c:v>
                </c:pt>
                <c:pt idx="3">
                  <c:v>7.0</c:v>
                </c:pt>
                <c:pt idx="4">
                  <c:v>12.0</c:v>
                </c:pt>
                <c:pt idx="5">
                  <c:v>11.0</c:v>
                </c:pt>
                <c:pt idx="6">
                  <c:v>17.0</c:v>
                </c:pt>
                <c:pt idx="7">
                  <c:v>13.0</c:v>
                </c:pt>
                <c:pt idx="8">
                  <c:v>11.0</c:v>
                </c:pt>
                <c:pt idx="9">
                  <c:v>9.0</c:v>
                </c:pt>
                <c:pt idx="10">
                  <c:v>6.0</c:v>
                </c:pt>
                <c:pt idx="11">
                  <c:v>11.0</c:v>
                </c:pt>
                <c:pt idx="12">
                  <c:v>9.0</c:v>
                </c:pt>
                <c:pt idx="13">
                  <c:v>12.0</c:v>
                </c:pt>
                <c:pt idx="14">
                  <c:v>10.0</c:v>
                </c:pt>
                <c:pt idx="15">
                  <c:v>7.0</c:v>
                </c:pt>
                <c:pt idx="16">
                  <c:v>11.0</c:v>
                </c:pt>
                <c:pt idx="17">
                  <c:v>6.0</c:v>
                </c:pt>
                <c:pt idx="18">
                  <c:v>15.0</c:v>
                </c:pt>
                <c:pt idx="19">
                  <c:v>12.0</c:v>
                </c:pt>
                <c:pt idx="20">
                  <c:v>17.0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Malaka Timtim Belu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Sheet1!$A$2:$A$22</c:f>
              <c:strCache>
                <c:ptCount val="21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</c:strCache>
            </c:strRef>
          </c:cat>
          <c:val>
            <c:numRef>
              <c:f>Sheet1!$D$2:$D$22</c:f>
              <c:numCache>
                <c:formatCode>General</c:formatCode>
                <c:ptCount val="21"/>
                <c:pt idx="0">
                  <c:v>6.0</c:v>
                </c:pt>
                <c:pt idx="1">
                  <c:v>6.0</c:v>
                </c:pt>
                <c:pt idx="2">
                  <c:v>4.0</c:v>
                </c:pt>
                <c:pt idx="3">
                  <c:v>6.0</c:v>
                </c:pt>
                <c:pt idx="4">
                  <c:v>6.0</c:v>
                </c:pt>
                <c:pt idx="5">
                  <c:v>9.0</c:v>
                </c:pt>
                <c:pt idx="6">
                  <c:v>6.0</c:v>
                </c:pt>
                <c:pt idx="7">
                  <c:v>8.0</c:v>
                </c:pt>
                <c:pt idx="8">
                  <c:v>7.0</c:v>
                </c:pt>
                <c:pt idx="9">
                  <c:v>7.0</c:v>
                </c:pt>
                <c:pt idx="10">
                  <c:v>2.0</c:v>
                </c:pt>
                <c:pt idx="11">
                  <c:v>5.0</c:v>
                </c:pt>
                <c:pt idx="12">
                  <c:v>11.0</c:v>
                </c:pt>
                <c:pt idx="13">
                  <c:v>5.0</c:v>
                </c:pt>
                <c:pt idx="14">
                  <c:v>13.0</c:v>
                </c:pt>
                <c:pt idx="15">
                  <c:v>11.0</c:v>
                </c:pt>
                <c:pt idx="16">
                  <c:v>2.0</c:v>
                </c:pt>
                <c:pt idx="17">
                  <c:v>4.0</c:v>
                </c:pt>
                <c:pt idx="18">
                  <c:v>9.0</c:v>
                </c:pt>
                <c:pt idx="19">
                  <c:v>13.0</c:v>
                </c:pt>
                <c:pt idx="20">
                  <c:v>7.0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Sumba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Sheet1!$A$2:$A$22</c:f>
              <c:strCache>
                <c:ptCount val="21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</c:strCache>
            </c:strRef>
          </c:cat>
          <c:val>
            <c:numRef>
              <c:f>Sheet1!$E$2:$E$22</c:f>
              <c:numCache>
                <c:formatCode>General</c:formatCode>
                <c:ptCount val="21"/>
                <c:pt idx="0">
                  <c:v>5.0</c:v>
                </c:pt>
                <c:pt idx="1">
                  <c:v>3.0</c:v>
                </c:pt>
                <c:pt idx="2">
                  <c:v>6.0</c:v>
                </c:pt>
                <c:pt idx="3">
                  <c:v>1.0</c:v>
                </c:pt>
                <c:pt idx="4">
                  <c:v>4.0</c:v>
                </c:pt>
                <c:pt idx="5">
                  <c:v>5.0</c:v>
                </c:pt>
                <c:pt idx="6">
                  <c:v>2.0</c:v>
                </c:pt>
                <c:pt idx="7">
                  <c:v>4.0</c:v>
                </c:pt>
                <c:pt idx="8">
                  <c:v>6.0</c:v>
                </c:pt>
                <c:pt idx="9">
                  <c:v>5.0</c:v>
                </c:pt>
                <c:pt idx="10">
                  <c:v>1.0</c:v>
                </c:pt>
                <c:pt idx="11">
                  <c:v>9.0</c:v>
                </c:pt>
                <c:pt idx="12">
                  <c:v>5.0</c:v>
                </c:pt>
                <c:pt idx="13">
                  <c:v>6.0</c:v>
                </c:pt>
                <c:pt idx="14">
                  <c:v>8.0</c:v>
                </c:pt>
                <c:pt idx="15">
                  <c:v>4.0</c:v>
                </c:pt>
                <c:pt idx="16">
                  <c:v>6.0</c:v>
                </c:pt>
                <c:pt idx="17">
                  <c:v>3.0</c:v>
                </c:pt>
                <c:pt idx="18">
                  <c:v>5.0</c:v>
                </c:pt>
                <c:pt idx="19">
                  <c:v>9.0</c:v>
                </c:pt>
                <c:pt idx="20">
                  <c:v>4.0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01–21 Oct 2026 vs MTD-1 01–21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1.511,8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58,0%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634,8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1.227,8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54,0%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564,8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3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81,5%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75,6%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-5,9 pp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Kupang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60,1%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275,4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57,0%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240,9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52,8%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244,0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47,9%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218,9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61,6%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117,4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57,7%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105,0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828031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321807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Kota 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321807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Sabu Raijua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-41,7%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 Barat Daya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-34,8%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01–21 Oct 2026 vs MTD-1 01–21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749808"/>
            <a:ext cx="329184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SF Register: 152 → 164  (+7,9%)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121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01368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+14,2%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106   Δ 15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+9,5%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105   Δ 10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N/A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16952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687386"/>
                </a:solidFill>
                <a:latin typeface="Arial"/>
              </a:rPr>
              <a:t>Data Transition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0">
                <a:solidFill>
                  <a:srgbClr val="687386"/>
                </a:solidFill>
                <a:latin typeface="Arial"/>
              </a:rPr>
              <a:t>MTD-1: 69   Current DJP unavailable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N/A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24744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687386"/>
                </a:solidFill>
                <a:latin typeface="Arial"/>
              </a:rPr>
              <a:t>Data Transition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0">
                <a:solidFill>
                  <a:srgbClr val="687386"/>
                </a:solidFill>
                <a:latin typeface="Arial"/>
              </a:rPr>
              <a:t>MTD-1: 2.162   Current DJP unavailable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1548862" cy="1938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1088"/>
                <a:gridCol w="613666"/>
                <a:gridCol w="613666"/>
                <a:gridCol w="613666"/>
                <a:gridCol w="681852"/>
                <a:gridCol w="681852"/>
                <a:gridCol w="681852"/>
                <a:gridCol w="681852"/>
                <a:gridCol w="681852"/>
                <a:gridCol w="681852"/>
                <a:gridCol w="664805"/>
                <a:gridCol w="664805"/>
                <a:gridCol w="664805"/>
                <a:gridCol w="767083"/>
                <a:gridCol w="767083"/>
                <a:gridCol w="767083"/>
              </a:tblGrid>
              <a:tr h="323088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Register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Active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Active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6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DJP Activity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3088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TOTAL 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+7,9%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+14,2%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+9,5%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2.162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+3,2%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+14,9%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+17,8%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1.284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+10,5%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+17,1%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+4,9%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522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+12,5%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+5,6%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791456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Kupang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5065776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6519672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01–21 Oct 2026 vs MTD-1 01–21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8 / 9 (88,9%)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+14,3% | Turun 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103 / 151 (68,2%)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+7,3% | Turun 45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 / 4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115 / 164 (70,1%)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+7,5% | Turun 51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6 (83,3%)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+25,0%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47 / 58 (81,0%)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+9,3% | Turun 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53 / 65 (81,5%)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+10,4% | Turun 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39 / 59 (66,1%)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+5,4% | Turun 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43 / 63 (68,3%)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+4,9% | Turun 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17 / 34 (50,0%)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+6,2% | Turun 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19 / 36 (52,8%)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+5,6% | Turun 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+52,9%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520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+3,8%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45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-38,4%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591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+72,7%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265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-95,7%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285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+66,7%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151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177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104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129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9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15 / 151 (9,9%)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+36,4% | Turun 45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2 / 4 (50,0%)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-50,0% | Turun 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17 / 164 (10,4%)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+13,3% | Turun 51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6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 / 58 (13,8%)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+60,0% | Turun 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 / 65 (12,3%)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+33,3% | Turun 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2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59 (3,4%)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 / 2 (50,0%)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 / 63 (4,8%)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-25,0% | Turun 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34 (14,7%)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+25,0% | Turun 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 / 36 (16,7%)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+20,0% | Turun 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1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01–21 Oct 2026 vs MTD-1 01–21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95527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049"/>
                <a:gridCol w="1735697"/>
                <a:gridCol w="1108917"/>
                <a:gridCol w="1735697"/>
                <a:gridCol w="1108917"/>
              </a:tblGrid>
              <a:tr h="2377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377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377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377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377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Total Branch merupakan SF Code unik per hari; angka WOK tidak dijumlahkan jika satu SF beraktivitas pada lebih dari satu WOK.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01–21 Oct 2026 vs MTD-1 01–21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4356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+27,3%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+37,5%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+44,4%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-38,5%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-38,9%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145536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Kupang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689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2.274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5.119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2.195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10.040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22,6%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441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0 (0,0%)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218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0 (0,0%)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01–21 Oct 2026 vs MTD-1 01–21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Channel Scorecard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24128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34"/>
                <a:gridCol w="1077894"/>
                <a:gridCol w="1077894"/>
                <a:gridCol w="975238"/>
                <a:gridCol w="1077894"/>
                <a:gridCol w="1077894"/>
                <a:gridCol w="975238"/>
                <a:gridCol w="1385864"/>
                <a:gridCol w="1129223"/>
                <a:gridCol w="1077894"/>
              </a:tblGrid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156,9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139,5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7,3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6,6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+29,2%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+45,4%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240,0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-80,8%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85292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Kontributor Penurunan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SF ACTIVE TOTAL
RE: 121 | MoM +14,2%
PS: 115 | MoM +9,5%
• Junior
  RE: 109 | Active 72,2% | MoM +14,7%
  PS: 103 | Active 68,2% | MoM +9,6%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Greenfield
  RE: 8 | Active 88,9% | MoM +14,3%
  PS: 8 | Active 88,9% | MoM +14,3%
• Junior Plus
  RE: 4 | Active 100,0% | MoM 0,0%
  PS: 4 | Active 100,0% | MoM 0,0%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3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GraPARI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Atambua: PS -33,3%, Gap -1
• Grapari Baa Rote: PS -66,7%, Gap -2
• Grapari Kefamenanu: PS -14,3%, Gap -1
• Grapari Kupang: PS -30,0%, Gap -3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Malaka: PS -75,0%, Gap -3
• Grapari Soe: PS -50,0%, Gap -2
• Grapari Waikabubak: PS +133,3%, Gap 4
• Grapari Waingapu: PS -20,0%, Gap -1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Sumba: RE -17 (-9,8%), PS -22 (-14,6%)
• Malaka Timtim Belu: RE 0 (0,0%), PS -11 (-5,8%)
• Unknown: RE -1 (-100,0%), PS -1 (-100,0%)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6976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8416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Sumba: RE 2 (+22,2%), PS -3 (-60,0%)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1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Kupang Rote: RE -1 (-25,0%), PS -2 (-66,7%)
• Malaka Timtim Belu: RE -2 (-100,0%), PS -2 (-100,0%)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01–21 Oct 2026 vs MTD-1 01–21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39,7%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-9,9%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-9,8%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01–21 Oct 2026 vs MTD-1 01–21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39,4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38,9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33,1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26,6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59,9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66,4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14,6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18,6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38,5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40,7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11,2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11,0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28,3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23,3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+28,0%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13,6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720,0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17,6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20,8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+18,4%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24,2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23,0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+70,6%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12,5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11,6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-28,4%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310,0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930,0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158,1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157,4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68,9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75,1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50,9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47,6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38,0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34,7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01–21 Oct 2026 vs MTD-1 01–21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SUSANA ASTUTI PIUNG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SUS1184223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FITRI YUSINTA ELIK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SPLFS12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+540,0%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FANCE AFI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FAN5911104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ANJELICHA KAREK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ANJ6480240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Sebastian Frederick Imanuel Lada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SEB6384011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Herti valentia pade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HER1812009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ALEXANDRA INJEL FERNANDES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SPIEE10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MELSI ORIANA TAELA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SPEMA28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THOMAS A.BAYU P.KANTHIKA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SPBAK47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Cornelis Desanto Karo Karel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COR5804367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FANCE AFI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FAN5911104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FITRI YUSINTA ELIK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SPLFS12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SUSANA ASTUTI PIUNG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SUS1184223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ANJELICHA KAREK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ANJ6480240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YUSUF MARIO BENNY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SPBNE43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MELSI ORIANA TAELA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SPEMA28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ALEXANDRA INJEL FERNANDES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SPIEE10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Sebastian Frederick Imanuel Lada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SEB6384011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THOMAS A.BAYU P.KANTHIKA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SPBAK47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Cornelis Desanto Karo Karel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COR5804367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01–21 Oct 2026 vs MTD-1 01–21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ALFANDI KAREL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SPKRL00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DELFIANA SILLA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DEL6256816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ADRIANI NELSIANA ABUK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SPRNA14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SONYA IMELDA TUTFAUT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SPXLDA74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ABDIL RAHMAN MUSA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SPUHH88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INLY OLIFA PABALA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INL7633136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ARIS AGUSTA MANSULA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SPSLR91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Wilhelmina Lusong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MAR6409329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NATALIA EMERALDA DELIMA NDAOMANU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NAT6540224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EMRIS FERDINAND KALE DJOH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EMR3927543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ALFANDI KAREL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SPKRL00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DELFIANA SILLA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DEL6256816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ADRIANI NELSIANA ABUK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SPRNA14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SONYA IMELDA TUTFAUT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SPXLDA74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ABDIL RAHMAN MUSA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SPUHH88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INLY OLIFA PABALA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INL7633136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ARIS AGUSTA MANSULA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SPSLR91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Septania Rice Dapawole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SEP5137402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Wilhelmina Lusong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MAR6409329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NATALIA EMERALDA DELIMA NDAOMANU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NAT6540224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 b="1">
                <a:solidFill>
                  <a:srgbClr val="FFFFFF"/>
                </a:solidFill>
                <a:latin typeface="Arial"/>
              </a:defRPr>
            </a:pPr>
            <a:r>
              <a:t>BILCO Performance — KUPANG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FFFFFF"/>
                </a:solidFill>
                <a:latin typeface="Arial"/>
              </a:defRPr>
            </a:pPr>
            <a:r>
              <a:t>Snapshot 10/21/2026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C3MR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74.92%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79.70% | MoM -4.78 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15184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TARGET / GAP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95.83%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-20.91 pp | Rp-3.23 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10328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PAID RATE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73.41%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78.30% | MoM -4.89 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5472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PAYMENT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Rp11.57 M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Rp12.34 M | MoM -6.3%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0616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BILLING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Rp15.44 M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MoM -0.3%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1664208"/>
          <a:ext cx="11548869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9479"/>
                <a:gridCol w="898939"/>
                <a:gridCol w="898939"/>
                <a:gridCol w="973850"/>
                <a:gridCol w="898939"/>
                <a:gridCol w="1310953"/>
                <a:gridCol w="898939"/>
                <a:gridCol w="898939"/>
                <a:gridCol w="898939"/>
                <a:gridCol w="1310953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C3MR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Paid Rate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Payment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Gap %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Gap Rp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KUPANG (BRANCH)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74.92%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-4.78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73.41%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-4.89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Rp11.57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-6.3%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95.83%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-20.91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Rp-3.23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KUPANG ROTE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77.55%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-4.62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76.13%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-4.65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Rp6.67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-6.4%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95.83%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-18.28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Rp-1.57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MALAKA TIMTIM BELU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69.63%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-6.01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67.93%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-6.10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Rp2.69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-8.0%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95.83%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-26.20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Rp-1.01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SUMBA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74.17%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-3.58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72.97%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-3.88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Rp2.20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-3.9%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95.83%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-21.66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Rp-643.6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20040" y="3913632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C64"/>
                </a:solidFill>
                <a:latin typeface="Arial"/>
              </a:defRPr>
            </a:pPr>
            <a:r>
              <a:t>BILCO by LOS — Branch &amp; WOK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20040" y="4187952"/>
          <a:ext cx="11548868" cy="1668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1580"/>
                <a:gridCol w="2299322"/>
                <a:gridCol w="2299322"/>
                <a:gridCol w="2299322"/>
                <a:gridCol w="2299322"/>
              </a:tblGrid>
              <a:tr h="238397"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KUPANG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KUPANG ROTE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MALAKA TIMTIM BELU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SUMBA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NEW_SALES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84.16% / -0.45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85.53% / +0.10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79.63% / -1.57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87.90% / -0.54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1 - 3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72.09% / -1.02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73.77% / -2.02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65.26% / -1.31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79.44% / -0.26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4 - 6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64.16% / -6.31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66.74% / -5.57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60.53% / -6.97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65.43% / -6.74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7 - 12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66.84% / -6.24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69.73% / -4.81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62.00% / -8.47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68.55% / -5.42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67.18% / -7.41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69.18% / -8.21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63.48% / -7.83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67.30% / -4.15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8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79.26% / -4.04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81.28% / -3.96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75.73% / -5.08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76.84% / -3.16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 b="1">
                <a:solidFill>
                  <a:srgbClr val="FFFFFF"/>
                </a:solidFill>
                <a:latin typeface="Arial"/>
              </a:defRPr>
            </a:pPr>
            <a:r>
              <a:t>CAPS Performance — KUPANG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FFFFFF"/>
                </a:solidFill>
                <a:latin typeface="Arial"/>
              </a:defRPr>
            </a:pPr>
            <a:r>
              <a:t>Snapshot 10/20/2026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CAPS M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24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M-1 28 | MoM -14.3%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39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Batas CAPS bulan berjalan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064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GAP 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-15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CAPS M - Target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Δ M vs M-1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-4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Perubahan jumlah CAPS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1664208"/>
          <a:ext cx="11548871" cy="1170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0300"/>
                <a:gridCol w="1443609"/>
                <a:gridCol w="1443609"/>
                <a:gridCol w="1154887"/>
                <a:gridCol w="1299248"/>
                <a:gridCol w="1443609"/>
                <a:gridCol w="1443609"/>
              </a:tblGrid>
              <a:tr h="234086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CAPS M-1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CAPS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Δ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Gap 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234086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KUPANG (BRANCH)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-14.3%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-15</a:t>
                      </a:r>
                    </a:p>
                  </a:txBody>
                  <a:tcPr/>
                </a:tc>
              </a:tr>
              <a:tr h="234086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KUPANG ROTE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-6.3%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-8</a:t>
                      </a:r>
                    </a:p>
                  </a:txBody>
                  <a:tcPr/>
                </a:tc>
              </a:tr>
              <a:tr h="234086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MALAKA TIMTIM BELU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-22.2%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-5</a:t>
                      </a:r>
                    </a:p>
                  </a:txBody>
                  <a:tcPr/>
                </a:tc>
              </a:tr>
              <a:tr h="234088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SUMBA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-33.3%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-3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299923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C64"/>
                </a:solidFill>
                <a:latin typeface="Arial"/>
              </a:defRPr>
            </a:pPr>
            <a:r>
              <a:t>CAPS by LOS — Branch &amp; WOK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3310128"/>
          <a:ext cx="11548868" cy="1051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5740"/>
                <a:gridCol w="2298282"/>
                <a:gridCol w="2298282"/>
                <a:gridCol w="2298282"/>
                <a:gridCol w="2298282"/>
              </a:tblGrid>
              <a:tr h="35052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KUPANG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KUPANG ROTE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MALAKA TIMTIM BELU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SUMBA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 / -66.7%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 / -66.7%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 / 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0 / -100.0%</a:t>
                      </a:r>
                    </a:p>
                  </a:txBody>
                  <a:tcPr/>
                </a:tc>
              </a:tr>
              <a:tr h="350520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22 / 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14 / +7.7%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6 / -25.0%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2 / +100.0%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50" b="1">
                <a:solidFill>
                  <a:srgbClr val="FFFFFF"/>
                </a:solidFill>
                <a:latin typeface="Arial"/>
              </a:defRPr>
            </a:pPr>
            <a:r>
              <a:t>Healthy Sales — KUPANG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6400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50" b="0">
                <a:solidFill>
                  <a:srgbClr val="FFFFFF"/>
                </a:solidFill>
                <a:latin typeface="Arial"/>
              </a:defRPr>
            </a:pPr>
            <a:r>
              <a:t>22 Okt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09728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WO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28,881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1012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PAID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1012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14,675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59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9048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HEALTHY SALES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048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50.8%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19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70847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UNPAID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0847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14,206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1481328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B5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B6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KUPANG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28,881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50.8%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943 / 83.9%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951 / 76.5%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1,104 / 67.7%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1,284 / 61.4%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1,369 / 59.4%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1,342 / 58.9%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KUPANG ROTE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14,914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408 / 85.3%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443 / 78.3%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498 / 68.9%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591 / 65.3%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636 / 61.0%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643 / 56.5%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MALAKA TIMTIM BELU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9,003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49.4%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308 / 79.9%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303 / 69.0%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373 / 61.4%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480 / 55.0%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522 / 56.3%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479 / 60.3%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4,964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55.9%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227 / 86.8%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205 / 83.9%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233 / 75.1%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213 / 64.8%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211 / 62.1%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220 / 62.7%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2752344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B7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B8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B9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B10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KUPANG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28,881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50.8%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1,509 / 56.6%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1,276 / 57.8%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1,246 / 57.1%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1,088 / 53.5%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1,063 / 54.5%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1,247 / 51.6%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KUPANG ROTE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14,914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700 / 58.4%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596 / 58.2%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575 / 59.0%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554 / 53.2%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597 / 55.3%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672 / 51.3%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MALAKA TIMTIM BELU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9,003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49.4%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562 / 53.6%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463 / 53.8%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463 / 53.8%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364 / 51.1%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291 / 50.5%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350 / 48.9%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4,964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55.9%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247 / 58.3%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217 / 65.0%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208 / 59.1%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170 / 59.4%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175 / 58.3%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225 / 56.9%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320040" y="4023360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B15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B16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B17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B18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KUPANG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28,881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50.8%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1,202 / 48.4%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1,273 / 48.0%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1,202 / 46.4%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1,295 / 40.1%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1,163 / 39.2%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1,132 / 43.2%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KUPANG ROTE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14,914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629 / 47.5%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709 / 45.6%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603 / 44.3%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703 / 38.3%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621 / 38.0%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644 / 39.8%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MALAKA TIMTIM BELU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9,003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49.4%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352 / 49.4%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367 / 48.2%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386 / 47.7%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372 / 40.0%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309 / 40.5%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314 / 43.3%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4,964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55.9%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221 / 49.3%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197 / 56.4%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213 / 50.2%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220 / 46.4%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233 / 40.8%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174 / 55.8%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320040" y="5294376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B19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B20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KUPANG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28,881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50.8%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1,262 / 41.0%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1,180 / 38.5%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1,207 / 40.7%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1,246 / 35.5%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1,227 / 35.5%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1,070 / 33.0%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KUPANG ROTE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14,914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685 / 40.0%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678 / 39.2%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700 / 41.3%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682 / 37.8%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698 / 34.8%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649 / 35.4%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MALAKA TIMTIM BELU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9,003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49.4%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359 / 39.0%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311 / 39.2%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305 / 39.0%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374 / 27.8%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356 / 33.7%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240 / 27.1%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4,964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55.9%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218 / 47.7%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191 / 34.5%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202 / 41.1%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190 / 42.6%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173 / 42.2%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181 / 32.0%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