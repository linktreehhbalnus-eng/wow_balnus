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16/10</c:v>
                </c:pt>
                <c:pt idx="1">
                  <c:v>17/10</c:v>
                </c:pt>
                <c:pt idx="2">
                  <c:v>18/10</c:v>
                </c:pt>
                <c:pt idx="3">
                  <c:v>19/10</c:v>
                </c:pt>
                <c:pt idx="4">
                  <c:v>20/10</c:v>
                </c:pt>
                <c:pt idx="5">
                  <c:v>21/10</c:v>
                </c:pt>
                <c:pt idx="6">
                  <c:v>22/10</c:v>
                </c:pt>
                <c:pt idx="7">
                  <c:v>23/10</c:v>
                </c:pt>
                <c:pt idx="8">
                  <c:v>24/10</c:v>
                </c:pt>
                <c:pt idx="9">
                  <c:v>25/10</c:v>
                </c:pt>
                <c:pt idx="10">
                  <c:v>26/10</c:v>
                </c:pt>
                <c:pt idx="11">
                  <c:v>27/10</c:v>
                </c:pt>
                <c:pt idx="12">
                  <c:v>28/10</c:v>
                </c:pt>
                <c:pt idx="13">
                  <c:v>29/10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283.0</c:v>
                </c:pt>
                <c:pt idx="1">
                  <c:v>216.0</c:v>
                </c:pt>
                <c:pt idx="2">
                  <c:v>206.0</c:v>
                </c:pt>
                <c:pt idx="3">
                  <c:v>321.0</c:v>
                </c:pt>
                <c:pt idx="4">
                  <c:v>341.0</c:v>
                </c:pt>
                <c:pt idx="5">
                  <c:v>273.0</c:v>
                </c:pt>
                <c:pt idx="6">
                  <c:v>298.0</c:v>
                </c:pt>
                <c:pt idx="7">
                  <c:v>244.0</c:v>
                </c:pt>
                <c:pt idx="8">
                  <c:v>214.0</c:v>
                </c:pt>
                <c:pt idx="9">
                  <c:v>157.0</c:v>
                </c:pt>
                <c:pt idx="10">
                  <c:v>288.0</c:v>
                </c:pt>
                <c:pt idx="11">
                  <c:v>281.0</c:v>
                </c:pt>
                <c:pt idx="12">
                  <c:v>250.0</c:v>
                </c:pt>
                <c:pt idx="13">
                  <c:v>276.0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16/10</c:v>
                </c:pt>
                <c:pt idx="1">
                  <c:v>17/10</c:v>
                </c:pt>
                <c:pt idx="2">
                  <c:v>18/10</c:v>
                </c:pt>
                <c:pt idx="3">
                  <c:v>19/10</c:v>
                </c:pt>
                <c:pt idx="4">
                  <c:v>20/10</c:v>
                </c:pt>
                <c:pt idx="5">
                  <c:v>21/10</c:v>
                </c:pt>
                <c:pt idx="6">
                  <c:v>22/10</c:v>
                </c:pt>
                <c:pt idx="7">
                  <c:v>23/10</c:v>
                </c:pt>
                <c:pt idx="8">
                  <c:v>24/10</c:v>
                </c:pt>
                <c:pt idx="9">
                  <c:v>25/10</c:v>
                </c:pt>
                <c:pt idx="10">
                  <c:v>26/10</c:v>
                </c:pt>
                <c:pt idx="11">
                  <c:v>27/10</c:v>
                </c:pt>
                <c:pt idx="12">
                  <c:v>28/10</c:v>
                </c:pt>
                <c:pt idx="13">
                  <c:v>29/10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212.0</c:v>
                </c:pt>
                <c:pt idx="1">
                  <c:v>190.0</c:v>
                </c:pt>
                <c:pt idx="2">
                  <c:v>146.0</c:v>
                </c:pt>
                <c:pt idx="3">
                  <c:v>256.0</c:v>
                </c:pt>
                <c:pt idx="4">
                  <c:v>261.0</c:v>
                </c:pt>
                <c:pt idx="5">
                  <c:v>249.0</c:v>
                </c:pt>
                <c:pt idx="6">
                  <c:v>220.0</c:v>
                </c:pt>
                <c:pt idx="7">
                  <c:v>197.0</c:v>
                </c:pt>
                <c:pt idx="8">
                  <c:v>189.0</c:v>
                </c:pt>
                <c:pt idx="9">
                  <c:v>119.0</c:v>
                </c:pt>
                <c:pt idx="10">
                  <c:v>211.0</c:v>
                </c:pt>
                <c:pt idx="11">
                  <c:v>187.0</c:v>
                </c:pt>
                <c:pt idx="12">
                  <c:v>230.0</c:v>
                </c:pt>
                <c:pt idx="13">
                  <c:v>214.0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-10,6% &amp; PS -11,4% MoM — Achievement Mencapai 67,4% (RE) / 65,2%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Okt 2026 vs MTD-1 01–29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6.814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Melemah, PS Menguat pada 29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Okt 2026 vs MTD-1 01–29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01–29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7.715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9.250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(-3,0%), Denpasar Terdalam (-19,4%)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Okt 2026 vs MTD-1 01–29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-3,0%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-3,0%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-7,2%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-19,4%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79,7%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72,7%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68,0%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57,3%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(+7,2%), Flores Timur Terdalam (-35,2%)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Okt 2026 vs MTD-1 01–29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Penyumbang PS Absolut Terbesar (+35), Sumba Tengah Tumbuh Tertinggi (+42,9%)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Okt 2026 vs MTD-1 01–29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-774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47 kabupaten: Top 5 menyumbang +118, Bottom 5 -555, dan perubahan PS regional -774.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(-3,3%), TSEL One &gt;30 Mbps Turun Terdalam (-37,1%)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Okt 2026 vs MTD-1 01–29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6.431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-9,3% MoM, DJP Data Transition — SF Register 918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Okt 2026 vs MTD-1 01–29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17.005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14.731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38.022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25.286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5.523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83.626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5.523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1.867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+3,7%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7.033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2.517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2.511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4.944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Okt 2026 vs MTD-1 01–29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01–29 Okt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28 (67,9%)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149 / 315 (47,3%)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-19,0% | Turun 115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188 / 364 (51,6%)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-15,7% | Turun 142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15 (93,3%)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66 / 134 (49,3%)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-16,5%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 / 150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-14,0% | Turun 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12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110 / 148 (74,3%)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+6,8%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123 / 164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+7,0%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18 (72,2%)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150 / 212 (70,8%)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-9,6% | Turun 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173 / 240 (72,1%)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-9,9% | Turun 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55 / 73 (75,3%)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475 / 809 (58,7%)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-10,7% | Turun 281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19 (89,5%)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-10,5%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567 / 938 (60,4%)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-9,7% | Turun 345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965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2.076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801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1.209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1.583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512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3.440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-7,5%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-24,7%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5.265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28 (17,9%)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-44,4% | Turun 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 / 315 (9,2%)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-27,5% | Turun 115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 / 364 (14,6%)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-23,2% | Turun 142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15 (73,3%)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 / 134 (14,9%)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-4,8% | Turun 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150 (20,7%)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-6,1% | Turun 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12 (8,3%)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 / 148 (22,3%)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+26,9% | Turun 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 / 164 (22,6%)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+23,3%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18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 / 212 (20,8%)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+12,8% | Turun 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59 / 240 (24,6%)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+3,5% | Turun 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 / 73 (31,5%)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-14,8% | Turun 32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126 / 809 (15,6%)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281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15 / 19 (78,9%)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-21,1% | Turun 14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7 (85,7%)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-14,3%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182 / 938 (19,4%)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-3,7% | Turun 345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Okt 2026 vs MTD-1 01–29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Yanuarius Ngampu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HAYAT ANSORI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pinky priyantini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JENIATI BETI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Muftholib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HAIDAR EL JAWAS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EMILIA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FAISAL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SYAFII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Baiq desi aryani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NURUL QARIMAH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FANCE AFI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Okt 2026 vs MTD-1 01–29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BQ DEWI NINGRUM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VALENTINUS S LEIN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MUHAZAM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LABA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DELFIANA SILLA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 dwi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PUTU NGURAH UPHADANA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Okt 2026 vs MTD-1 01–29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01–29 Okt 2026 vs MTD-1 01–29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01–29 Okt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2.422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2.090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1.204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1.015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6.814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6.040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2.969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2.392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1.953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1.813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01–29 Okt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408,5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120,4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152,7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431,0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01–29 Okt 2026 vs MTD-1 01–29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8.626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7.715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6.814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6.040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1,4 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7.235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6.431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5.907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5.265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1,2 M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90,2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-29,2%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-27,2%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587 | MoM -8,7%
PS: 564 | MoM -9,3%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498 | Active 61,6% | MoM -9,6%
  PS: 475 | Active 58,7% | MoM -10,5%
• Greenfield
  RE: 55 | Active 75,3% | MoM -3,5%
  PS: 55 | Active 75,3% | MoM -1,8%
• Junior Plus
  RE: 17 | Active 89,5% | MoM -5,6%
  PS: 17 | Active 89,5% | MoM -5,6%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-39,1%, Gap -45
• Flores: PS -12,0%, Gap -17
• Kupang: PS -23,1%, Gap -12
• Mataram: PS -16,9%, Gap -21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Baa Rote (Kupang): -75,0%, Gap -3
• Grapari Malaka (Kupang): -75,0%, Gap -3
• Grapari Gatsu Tengah (Denpasar): -66,7%, Gap -4
• Grapari Negara (Denpasar): -66,7%, Gap -4
• Grapari Soe (Kupang): -66,7%, Gap -4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-250 (-26,9%), PS -255 (-31,2%)
• Bali Tengah: RE -233 (-14,1%), PS -204 (-14,9%)
• Bali Timur: RE -114 (-21,3%), PS -70 (-16,9%)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-15 (-30,0%), PS -15 (-48,4%)
• Sumbawa Barat: RE -13 (-44,8%), PS -10 (-58,8%)
• Bali Tengah: RE -12 (-6,6%), PS -8 (-6,2%)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-13 (-22,8%), PS -6 (-16,2%)
• Lombok: RE -2 (-9,1%), PS -6 (-42,9%)
• Flores Timur: RE +3 (+150,0%), PS -2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Manggarai: RE -1 (-20,0%), PS -3 (-75,0%)
• Bali Tengah: RE 0 (0,0%), PS -2 (-40,0%)
• Bali Timur: RE -3 (-37,5%), PS -2 (-40,0%)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95.33%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95.43% | MoM -0.10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-1.88 pp | Rp-2.01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94.92%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94.83% | MoM +0.09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Rp102.02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Rp101.58 M | MoM +0.4%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Rp107.02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+0.5%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27632"/>
          <a:ext cx="11548869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0819"/>
                <a:gridCol w="918805"/>
                <a:gridCol w="918805"/>
                <a:gridCol w="995372"/>
                <a:gridCol w="918805"/>
                <a:gridCol w="1339924"/>
                <a:gridCol w="918805"/>
                <a:gridCol w="918805"/>
                <a:gridCol w="918805"/>
                <a:gridCol w="1339924"/>
              </a:tblGrid>
              <a:tr h="271630"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96.18%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95.73%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Rp54.09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Rp-788.4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93.46%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92.73%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Rp9.54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-3.24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Rp-330.6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93.02%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92.42%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Rp14.36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Rp-433.4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95.60%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95.26%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Rp24.02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Rp-463.6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95.27%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94.75%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Rp10.58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Rp-257.1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96.34%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Rp30.46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Rp-393.2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96.56%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96.29%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Rp13.05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Rp-138.1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93.89%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92.96%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+0.50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Rp3.72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-2.81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Rp-111.2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89.27%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-4.87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88.93%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-4.47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Rp1.97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-7.43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Rp-164.2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93.67%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+0.00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93.03%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Rp8.06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-2.16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Rp-185.5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91.34%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90.76%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-4.49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Rp-173.5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95.33%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+1.28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94.73%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+1.49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+0.9%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Rp-55.2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93.33%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-0.48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92.89%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-0.38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Rp2.77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-2.50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Rp-74.4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96.02%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-0.10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95.65%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Rp13.19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+1.5%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Rp-196.5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3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95.08%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94.95%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Rp4.53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-2.37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Rp-113.1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271640">
                <a:tc>
                  <a:txBody>
                    <a:bodyPr/>
                    <a:lstStyle/>
                    <a:p>
                      <a:pPr algn="l">
                        <a:defRPr sz="74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95.13%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94.73%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Rp6.30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-2.32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4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Rp-153.9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28600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REGIONAL 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95.33%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-0.10 pp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664208"/>
          <a:ext cx="11548871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554"/>
                <a:gridCol w="2095149"/>
                <a:gridCol w="1788542"/>
                <a:gridCol w="1788542"/>
                <a:gridCol w="1788542"/>
                <a:gridCol w="1788542"/>
              </a:tblGrid>
              <a:tr h="33310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97.99% / -0.36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98.45% / -0.61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97.87% / +1.02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96.15% / -0.54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98.29% / -0.43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93.06% / +0.33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94.29% / +0.48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91.79% / +0.40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90.41% / +1.70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93.19% / -1.15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88.90% / -0.18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88.61% / -0.21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87.19% / -0.89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85.97% / -0.89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92.36% / +0.43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92.11% / -0.07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92.65% / -0.06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90.37% / -0.24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90.00% / -0.06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93.57% / +0.10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93.53% / +0.05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94.32% / -0.08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91.98% / -0.58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90.66% / -0.01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94.56% / +0.56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96.60% / -0.13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97.25% / -0.05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95.17% / -0.50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94.91% / -0.09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96.52% / -0.25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475488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Format sel: C3MR M / MoM (pp). Fokus pada posisi bulan berjalan dan perubahan vs M-1.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658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M-1 655 | MoM +0.5%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6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55494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+4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55494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</a:tr>
              <a:tr h="255496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10/27/2026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32688"/>
            <a:ext cx="3657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64748B"/>
                </a:solidFill>
                <a:latin typeface="Arial"/>
              </a:defRPr>
            </a:pPr>
            <a:r>
              <a:t>CAPS M / MoM vs M-1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225296"/>
          <a:ext cx="11548872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147"/>
                <a:gridCol w="2085213"/>
                <a:gridCol w="1817878"/>
                <a:gridCol w="1817878"/>
                <a:gridCol w="1817878"/>
                <a:gridCol w="1817878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BALINUSRA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+800.0%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 / +800.0%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109 / +1.9%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81 / +5.2%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 / -14.3%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 / -8.7%</a:t>
                      </a:r>
                    </a:p>
                  </a:txBody>
                  <a:tcPr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537 / -1.8%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440 / +0.7%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 / -33.3%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25 / -13.8%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68 / -9.3%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29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126,125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72.0%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49,106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98.3%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95.7%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90.1%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86.5%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83.5%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80.7%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97.5%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90.4%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86.5%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82.8%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80.4%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98.0%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94.1%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89.5%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83.8%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82.6%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79.8%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96.5%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93.8%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86.0%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82.2%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79.9%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79.3%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98.9%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94.3%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92.1%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90.7%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87.4%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82.7%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79.9%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79.3%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78.0%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73.4%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69.5%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79.9%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76.6%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72.7%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67.6%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79.6%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80.8%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80.1%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73.9%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69.2%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78.3%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78.5%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72.2%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69.4%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81.7%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77.0%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75.0%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73.3%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67.3%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67.2%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66.4%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62.6%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61.5%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61.1%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67.3%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65.9%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61.0%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61.6%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64.9%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59.8%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61.1%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60.0%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64.1%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63.6%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56.1%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55.7%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58.9%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69.3%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71.6%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66.2%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62.2%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62.2%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60.3%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60.5%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56.8%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52.7%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64.2%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61.2%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55.4%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60.0%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57.3%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65.0%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54.7%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54.4%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54.3%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53.0%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53.5%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47.5%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47.7%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44.1%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65.7%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62.3%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61.7%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59.9%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59.3%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52.6%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