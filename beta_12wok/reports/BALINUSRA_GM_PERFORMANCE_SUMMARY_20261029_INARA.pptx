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22"/>
    <p:sldId id="264" r:id="rId10"/>
    <p:sldId id="265" r:id="rId11"/>
    <p:sldId id="266" r:id="rId12"/>
    <p:sldId id="267" r:id="rId13"/>
    <p:sldId id="268" r:id="rId19"/>
    <p:sldId id="269" r:id="rId20"/>
    <p:sldId id="270" r:id="rId21"/>
    <p:sldId id="272" r:id="rId23"/>
    <p:sldId id="273" r:id="rId24"/>
    <p:sldId id="274" r:id="rId25"/>
    <p:sldId id="275" r:id="rId26"/>
    <p:sldId id="276" r:id="rId27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9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16/10</c:v>
                </c:pt>
                <c:pt idx="1">
                  <c:v>17/10</c:v>
                </c:pt>
                <c:pt idx="2">
                  <c:v>18/10</c:v>
                </c:pt>
                <c:pt idx="3">
                  <c:v>19/10</c:v>
                </c:pt>
                <c:pt idx="4">
                  <c:v>20/10</c:v>
                </c:pt>
                <c:pt idx="5">
                  <c:v>21/10</c:v>
                </c:pt>
                <c:pt idx="6">
                  <c:v>22/10</c:v>
                </c:pt>
                <c:pt idx="7">
                  <c:v>23/10</c:v>
                </c:pt>
                <c:pt idx="8">
                  <c:v>24/10</c:v>
                </c:pt>
                <c:pt idx="9">
                  <c:v>25/10</c:v>
                </c:pt>
                <c:pt idx="10">
                  <c:v>26/10</c:v>
                </c:pt>
                <c:pt idx="11">
                  <c:v>27/10</c:v>
                </c:pt>
                <c:pt idx="12">
                  <c:v>28/10</c:v>
                </c:pt>
                <c:pt idx="13">
                  <c:v>29/10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283.0</c:v>
                </c:pt>
                <c:pt idx="1">
                  <c:v>216.0</c:v>
                </c:pt>
                <c:pt idx="2">
                  <c:v>206.0</c:v>
                </c:pt>
                <c:pt idx="3">
                  <c:v>321.0</c:v>
                </c:pt>
                <c:pt idx="4">
                  <c:v>341.0</c:v>
                </c:pt>
                <c:pt idx="5">
                  <c:v>273.0</c:v>
                </c:pt>
                <c:pt idx="6">
                  <c:v>298.0</c:v>
                </c:pt>
                <c:pt idx="7">
                  <c:v>244.0</c:v>
                </c:pt>
                <c:pt idx="8">
                  <c:v>214.0</c:v>
                </c:pt>
                <c:pt idx="9">
                  <c:v>157.0</c:v>
                </c:pt>
                <c:pt idx="10">
                  <c:v>288.0</c:v>
                </c:pt>
                <c:pt idx="11">
                  <c:v>281.0</c:v>
                </c:pt>
                <c:pt idx="12">
                  <c:v>250.0</c:v>
                </c:pt>
                <c:pt idx="13">
                  <c:v>276.0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16/10</c:v>
                </c:pt>
                <c:pt idx="1">
                  <c:v>17/10</c:v>
                </c:pt>
                <c:pt idx="2">
                  <c:v>18/10</c:v>
                </c:pt>
                <c:pt idx="3">
                  <c:v>19/10</c:v>
                </c:pt>
                <c:pt idx="4">
                  <c:v>20/10</c:v>
                </c:pt>
                <c:pt idx="5">
                  <c:v>21/10</c:v>
                </c:pt>
                <c:pt idx="6">
                  <c:v>22/10</c:v>
                </c:pt>
                <c:pt idx="7">
                  <c:v>23/10</c:v>
                </c:pt>
                <c:pt idx="8">
                  <c:v>24/10</c:v>
                </c:pt>
                <c:pt idx="9">
                  <c:v>25/10</c:v>
                </c:pt>
                <c:pt idx="10">
                  <c:v>26/10</c:v>
                </c:pt>
                <c:pt idx="11">
                  <c:v>27/10</c:v>
                </c:pt>
                <c:pt idx="12">
                  <c:v>28/10</c:v>
                </c:pt>
                <c:pt idx="13">
                  <c:v>29/10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212.0</c:v>
                </c:pt>
                <c:pt idx="1">
                  <c:v>190.0</c:v>
                </c:pt>
                <c:pt idx="2">
                  <c:v>146.0</c:v>
                </c:pt>
                <c:pt idx="3">
                  <c:v>256.0</c:v>
                </c:pt>
                <c:pt idx="4">
                  <c:v>261.0</c:v>
                </c:pt>
                <c:pt idx="5">
                  <c:v>249.0</c:v>
                </c:pt>
                <c:pt idx="6">
                  <c:v>220.0</c:v>
                </c:pt>
                <c:pt idx="7">
                  <c:v>197.0</c:v>
                </c:pt>
                <c:pt idx="8">
                  <c:v>189.0</c:v>
                </c:pt>
                <c:pt idx="9">
                  <c:v>119.0</c:v>
                </c:pt>
                <c:pt idx="10">
                  <c:v>211.0</c:v>
                </c:pt>
                <c:pt idx="11">
                  <c:v>187.0</c:v>
                </c:pt>
                <c:pt idx="12">
                  <c:v>230.0</c:v>
                </c:pt>
                <c:pt idx="13">
                  <c:v>214.0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-10,6% &amp; PS -11,4% MoM — Achievement Mencapai 67,4% (RE) / 65,2%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01–29 Okt 2026 vs MTD-1 01–29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6.814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-0,7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Melemah, PS Menguat pada 29 Oktober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01–29 Okt 2026 vs MTD-1 01–29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01–29 Oktober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 Pendorong Utama PS (-3,0%), Denpasar Terdalam (-19,4%)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01–29 Okt 2026 vs MTD-1 01–29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-1,6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+0,4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-7,4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+3,4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-3,0%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-3,0%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-7,2%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-19,4%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79,7%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72,7%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68,0%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57,3%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Sikka Tertinggi (+7,2%), Flores Timur Terdalam (-35,2%) — 12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01–29 Okt 2026 vs MTD-1 01–29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12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43484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Manggarai Penyumbang PS Absolut Terbesar (+35), Sumba Tengah Tumbuh Tertinggi (+42,9%)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01–29 Okt 2026 vs MTD-1 01–29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 Daya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+118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-555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-774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42 kabupaten: Top 5 menyumbang +118, Bottom 5 -555, dan perubahan PS regional -774.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75 Mbps Tumbuh Tertinggi (-3,3%), TSEL One &gt;30 Mbps Turun Terdalam (-37,1%)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01–29 Okt 2026 vs MTD-1 01–29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6.431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5.907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5.265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-9,3% MoM, DJP Data Transition — SF Register 918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01–29 Okt 2026 vs MTD-1 01–29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Register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17.005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SF/DJP per Branch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14.731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38.022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25.286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5.523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83.626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5.523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1.867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320040" y="3346704"/>
          <a:ext cx="9262861" cy="14081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2540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615024"/>
                <a:gridCol w="615024"/>
                <a:gridCol w="540021"/>
              </a:tblGrid>
              <a:tr h="246888">
                <a:tc rowSpan="2"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Branch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Active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Aktivitas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2860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33172">
                <a:tc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20252B"/>
                          </a:solidFill>
                          <a:latin typeface="Arial"/>
                        </a:rPr>
                        <a:t>364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137D3F"/>
                          </a:solidFill>
                          <a:latin typeface="Arial"/>
                        </a:rPr>
                        <a:t>+3,7%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20252B"/>
                          </a:solidFill>
                          <a:latin typeface="Arial"/>
                        </a:rPr>
                        <a:t>234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20252B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20252B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D73527"/>
                          </a:solidFill>
                          <a:latin typeface="Arial"/>
                        </a:rPr>
                        <a:t>-16,4%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20252B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20252B"/>
                          </a:solidFill>
                          <a:latin typeface="Arial"/>
                        </a:rPr>
                        <a:t>7.033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33172">
                <a:tc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20252B"/>
                          </a:solidFill>
                          <a:latin typeface="Arial"/>
                        </a:rPr>
                        <a:t>2.517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33172">
                <a:tc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137D3F"/>
                          </a:solidFill>
                          <a:latin typeface="Arial"/>
                        </a:rPr>
                        <a:t>+10,2%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137D3F"/>
                          </a:solidFill>
                          <a:latin typeface="Arial"/>
                        </a:rPr>
                        <a:t>+6,0%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20252B"/>
                          </a:solidFill>
                          <a:latin typeface="Arial"/>
                        </a:rPr>
                        <a:t>2.511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33172">
                <a:tc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20252B"/>
                          </a:solidFill>
                          <a:latin typeface="Arial"/>
                        </a:rPr>
                        <a:t>195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20252B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20252B"/>
                          </a:solidFill>
                          <a:latin typeface="Arial"/>
                        </a:rPr>
                        <a:t>4.944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00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01–29 Okt 2026 vs MTD-1 01–29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01–29 Okt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 / 28 (67,9%)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149 / 315 (47,3%)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-19,0% | Turun 115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188 / 364 (51,6%)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-15,7% | Turun 142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 / 15 (93,3%)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+7,7%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66 / 134 (49,3%)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-16,5% | Turun 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80 / 150 (53,3%)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-14,0% | Turun 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12 (75,0%)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+12,5%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110 / 148 (74,3%)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+6,8% | Turun 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123 / 164 (75,0%)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+7,0% | Turun 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18 (72,2%)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-13,3% | Turun 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150 / 212 (70,8%)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-9,6% | Turun 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9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173 / 240 (72,1%)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-9,9% | Turun 106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55 / 73 (75,3%)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475 / 809 (58,7%)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-10,7% | Turun 281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17 / 19 (89,5%)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-10,5% | Turun 14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567 / 938 (60,4%)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-9,7% | Turun 345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965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622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2.076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224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557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781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709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801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-19,7%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1.209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221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1.583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512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-8,4%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3.440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-7,5%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426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-24,7%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241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-27,2%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622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-14,2%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5.265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-10,9%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041648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352544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28 (17,9%)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-44,4% | Turun 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29 / 315 (9,2%)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-27,5% | Turun 115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-16,7%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53 / 364 (14,6%)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-23,2% | Turun 142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 / 15 (73,3%)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20 / 134 (14,9%)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-4,8% | Turun 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 / 150 (20,7%)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-6,1% | Turun 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12 (8,3%)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33 / 148 (22,3%)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+26,9% | Turun 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4 (75,0%)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37 / 164 (22,6%)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+23,3% | Turun 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18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 | Turun 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44 / 212 (20,8%)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+12,8% | Turun 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9 (88,9%)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59 / 240 (24,6%)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+3,5% | Turun 106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23 / 73 (31,5%)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-14,8% | Turun 32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126 / 809 (15,6%)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281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15 / 19 (78,9%)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-21,1% | Turun 14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7 (85,7%)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-14,3%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182 / 938 (19,4%)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-3,7% | Turun 345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760720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01–29 Okt 2026 vs MTD-1 01–29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Abdul Muftholib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HAIDAR EL JAWAS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THERESIA NETIANA DELOS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Yanuarius Ngampu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 KADEK EMILIA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GEDE EKA PANDI ASTAWAN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SUSANA ASTUTI PIUNG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HAYAT ANSORI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pinky priyantini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 JENIATI BETI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Abdul Muftholib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AISA TUKUBRA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HAIDAR EL JAWAS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 KADEK EMILIA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FAISAL HIDAYAT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SYAFII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Baiq desi aryani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NURUL QARIMAH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THERESIA NETIANA DELOS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FANCE AFI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01–29 Okt 2026 vs MTD-1 01–29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Indra syah 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IRMA NUR AINI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Made Sri Pradnya 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BQ DEWI NINGRUM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VALENTINUS S LEIN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umar mangu laga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Marselinus Supardi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MUHAZAM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YOHANES LABA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DELFIANA SILLA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WINDA SAPUTRI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BQ DEWI NINGRUM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VALENTINUS S LEIN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umar mangu laga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Marselinus Supardi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MUHAZAM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YOHANES LABA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DELFIANA SILLA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Vira dwi agustin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GUSTI PUTU NGURAH UPHADANA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12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01–29 Okt 2026 vs MTD-1 01–29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12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(20 dari 42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Nagekeo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01–29 Okt 2026 vs MTD-1 01–29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 Daya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42 kabupaten/kota resmi BALINUSRA—masing-masing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01–29 Okt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2.422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2.090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1.084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954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1.287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1.245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1.204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1.015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875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854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6.814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6.040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2.969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2.392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892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1.953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1.813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01–29 Okt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408,5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365,4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256,5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225,7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325,2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315,9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180,7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134,4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85,0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82,5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124,5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113,3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102,0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100,2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67,8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67,3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54,1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52,2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43,9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39,8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82,7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84,5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71,7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78,6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108,6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83,0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50,3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50,8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383,6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309,4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148,3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129,1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120,4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104,0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85,4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64,7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26,0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32,7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204,5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152,7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62,9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64,4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1,5 M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M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598,3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499,9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217,6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215,9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211,0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500,5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431,0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01–29 Okt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941832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280"/>
                <a:gridCol w="1064412"/>
                <a:gridCol w="1064412"/>
                <a:gridCol w="957970"/>
                <a:gridCol w="1064412"/>
                <a:gridCol w="1064412"/>
                <a:gridCol w="957970"/>
                <a:gridCol w="1383735"/>
                <a:gridCol w="1117632"/>
                <a:gridCol w="1117632"/>
              </a:tblGrid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8.626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7.715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-10,6%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6.814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6.040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Rp 1,4 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7.235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6.431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5.907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5.265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-10,9%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1,2 M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592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-16,9%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90,2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496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300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85,0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-11,0%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20,8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2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-29,2%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4,3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-27,2%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2761488"/>
            <a:ext cx="4572000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Kontributor Penurunan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Agency SF Class Active (Jumlah SF, % Active, MoM RE atau PS)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Active RE: 587 SF | MoM RE </a:t>
            </a:r>
            <a:r>
              <a:rPr sz="830" b="1">
                <a:solidFill>
                  <a:srgbClr val="D73527"/>
                </a:solidFill>
                <a:latin typeface="Arial"/>
              </a:rPr>
              <a:t>-10,5%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Active PS: 564 SF | MoM PS </a:t>
            </a:r>
            <a:r>
              <a:rPr sz="830" b="1">
                <a:solidFill>
                  <a:srgbClr val="D73527"/>
                </a:solidFill>
                <a:latin typeface="Arial"/>
              </a:rPr>
              <a:t>-10,3%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Elite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RE: 10 SF | Active 100,0% | MoM RE </a:t>
            </a:r>
            <a:r>
              <a:rPr sz="830" b="1">
                <a:solidFill>
                  <a:srgbClr val="D73527"/>
                </a:solidFill>
                <a:latin typeface="Arial"/>
              </a:rPr>
              <a:t>-11,4%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PS: 10 SF | Active 100,0% | MoM PS </a:t>
            </a:r>
            <a:r>
              <a:rPr sz="830" b="1">
                <a:solidFill>
                  <a:srgbClr val="D73527"/>
                </a:solidFill>
                <a:latin typeface="Arial"/>
              </a:rPr>
              <a:t>-14,2%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Performer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RE: 7 SF | Active 100,0% | MoM RE </a:t>
            </a:r>
            <a:r>
              <a:rPr sz="830" b="1">
                <a:solidFill>
                  <a:srgbClr val="D73527"/>
                </a:solidFill>
                <a:latin typeface="Arial"/>
              </a:rPr>
              <a:t>-30,3%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PS: 7 SF | Active 100,0% | MoM PS </a:t>
            </a:r>
            <a:r>
              <a:rPr sz="830" b="1">
                <a:solidFill>
                  <a:srgbClr val="D73527"/>
                </a:solidFill>
                <a:latin typeface="Arial"/>
              </a:rPr>
              <a:t>-27,2%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RE: 498 SF | Active 61,6% | MoM RE </a:t>
            </a:r>
            <a:r>
              <a:rPr sz="830" b="1">
                <a:solidFill>
                  <a:srgbClr val="D73527"/>
                </a:solidFill>
                <a:latin typeface="Arial"/>
              </a:rPr>
              <a:t>-8,1%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PS: 475 SF | Active 58,7% | MoM PS </a:t>
            </a:r>
            <a:r>
              <a:rPr sz="830" b="1">
                <a:solidFill>
                  <a:srgbClr val="D73527"/>
                </a:solidFill>
                <a:latin typeface="Arial"/>
              </a:rPr>
              <a:t>-6,7%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Greenfield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RE: 55 SF | Active 75,3% | MoM RE </a:t>
            </a:r>
            <a:r>
              <a:rPr sz="830" b="1">
                <a:solidFill>
                  <a:srgbClr val="D73527"/>
                </a:solidFill>
                <a:latin typeface="Arial"/>
              </a:rPr>
              <a:t>-10,0%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PS: 55 SF | Active 75,3% | MoM PS </a:t>
            </a:r>
            <a:r>
              <a:rPr sz="830" b="1">
                <a:solidFill>
                  <a:srgbClr val="D73527"/>
                </a:solidFill>
                <a:latin typeface="Arial"/>
              </a:rPr>
              <a:t>-8,9%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 Plus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RE: 17 SF | Active 89,5% | MoM RE </a:t>
            </a:r>
            <a:r>
              <a:rPr sz="830" b="1">
                <a:solidFill>
                  <a:srgbClr val="D73527"/>
                </a:solidFill>
                <a:latin typeface="Arial"/>
              </a:rPr>
              <a:t>-16,1%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PS: 17 SF | Active 89,5% | MoM PS </a:t>
            </a:r>
            <a:r>
              <a:rPr sz="830" b="1">
                <a:solidFill>
                  <a:srgbClr val="D73527"/>
                </a:solidFill>
                <a:latin typeface="Arial"/>
              </a:rPr>
              <a:t>-21,0%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GraPARI Performance per Branch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PER BRANCH</a:t>
            </a:r>
          </a:p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Denpasar: PS </a:t>
            </a:r>
            <a:r>
              <a:rPr sz="850" b="1">
                <a:solidFill>
                  <a:srgbClr val="D73527"/>
                </a:solidFill>
                <a:latin typeface="Arial"/>
              </a:rPr>
              <a:t>-39,1%</a:t>
            </a:r>
            <a:r>
              <a:rPr sz="850" b="0">
                <a:solidFill>
                  <a:srgbClr val="20252B"/>
                </a:solidFill>
                <a:latin typeface="Arial"/>
              </a:rPr>
              <a:t>, Gap </a:t>
            </a:r>
            <a:r>
              <a:rPr sz="850" b="1">
                <a:solidFill>
                  <a:srgbClr val="D73527"/>
                </a:solidFill>
                <a:latin typeface="Arial"/>
              </a:rPr>
              <a:t>-45</a:t>
            </a:r>
          </a:p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Flores: PS </a:t>
            </a:r>
            <a:r>
              <a:rPr sz="850" b="1">
                <a:solidFill>
                  <a:srgbClr val="D73527"/>
                </a:solidFill>
                <a:latin typeface="Arial"/>
              </a:rPr>
              <a:t>-12,0%</a:t>
            </a:r>
            <a:r>
              <a:rPr sz="850" b="0">
                <a:solidFill>
                  <a:srgbClr val="20252B"/>
                </a:solidFill>
                <a:latin typeface="Arial"/>
              </a:rPr>
              <a:t>, Gap </a:t>
            </a:r>
            <a:r>
              <a:rPr sz="850" b="1">
                <a:solidFill>
                  <a:srgbClr val="D73527"/>
                </a:solidFill>
                <a:latin typeface="Arial"/>
              </a:rPr>
              <a:t>-17</a:t>
            </a:r>
          </a:p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Kupang: PS </a:t>
            </a:r>
            <a:r>
              <a:rPr sz="850" b="1">
                <a:solidFill>
                  <a:srgbClr val="D73527"/>
                </a:solidFill>
                <a:latin typeface="Arial"/>
              </a:rPr>
              <a:t>-23,1%</a:t>
            </a:r>
            <a:r>
              <a:rPr sz="850" b="0">
                <a:solidFill>
                  <a:srgbClr val="20252B"/>
                </a:solidFill>
                <a:latin typeface="Arial"/>
              </a:rPr>
              <a:t>, Gap </a:t>
            </a:r>
            <a:r>
              <a:rPr sz="850" b="1">
                <a:solidFill>
                  <a:srgbClr val="D73527"/>
                </a:solidFill>
                <a:latin typeface="Arial"/>
              </a:rPr>
              <a:t>-12</a:t>
            </a:r>
          </a:p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Mataram: PS </a:t>
            </a:r>
            <a:r>
              <a:rPr sz="850" b="1">
                <a:solidFill>
                  <a:srgbClr val="D73527"/>
                </a:solidFill>
                <a:latin typeface="Arial"/>
              </a:rPr>
              <a:t>-16,9%</a:t>
            </a:r>
            <a:r>
              <a:rPr sz="850" b="0">
                <a:solidFill>
                  <a:srgbClr val="20252B"/>
                </a:solidFill>
                <a:latin typeface="Arial"/>
              </a:rPr>
              <a:t>, Gap </a:t>
            </a:r>
            <a:r>
              <a:rPr sz="850" b="1">
                <a:solidFill>
                  <a:srgbClr val="D73527"/>
                </a:solidFill>
                <a:latin typeface="Arial"/>
              </a:rPr>
              <a:t>-21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9992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BOTTOM 5 PS MoM</a:t>
            </a:r>
          </a:p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Baa Rote (Kupang): </a:t>
            </a:r>
            <a:r>
              <a:rPr sz="850" b="1">
                <a:solidFill>
                  <a:srgbClr val="D73527"/>
                </a:solidFill>
                <a:latin typeface="Arial"/>
              </a:rPr>
              <a:t>-75,0%</a:t>
            </a:r>
            <a:r>
              <a:rPr sz="850" b="0">
                <a:solidFill>
                  <a:srgbClr val="20252B"/>
                </a:solidFill>
                <a:latin typeface="Arial"/>
              </a:rPr>
              <a:t>, Gap </a:t>
            </a:r>
            <a:r>
              <a:rPr sz="850" b="1">
                <a:solidFill>
                  <a:srgbClr val="D73527"/>
                </a:solidFill>
                <a:latin typeface="Arial"/>
              </a:rPr>
              <a:t>-3</a:t>
            </a:r>
          </a:p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Malaka (Kupang): </a:t>
            </a:r>
            <a:r>
              <a:rPr sz="850" b="1">
                <a:solidFill>
                  <a:srgbClr val="D73527"/>
                </a:solidFill>
                <a:latin typeface="Arial"/>
              </a:rPr>
              <a:t>-75,0%</a:t>
            </a:r>
            <a:r>
              <a:rPr sz="850" b="0">
                <a:solidFill>
                  <a:srgbClr val="20252B"/>
                </a:solidFill>
                <a:latin typeface="Arial"/>
              </a:rPr>
              <a:t>, Gap </a:t>
            </a:r>
            <a:r>
              <a:rPr sz="850" b="1">
                <a:solidFill>
                  <a:srgbClr val="D73527"/>
                </a:solidFill>
                <a:latin typeface="Arial"/>
              </a:rPr>
              <a:t>-3</a:t>
            </a:r>
          </a:p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Gatsu Tengah (Denpasar): </a:t>
            </a:r>
            <a:r>
              <a:rPr sz="850" b="1">
                <a:solidFill>
                  <a:srgbClr val="D73527"/>
                </a:solidFill>
                <a:latin typeface="Arial"/>
              </a:rPr>
              <a:t>-66,7%</a:t>
            </a:r>
            <a:r>
              <a:rPr sz="850" b="0">
                <a:solidFill>
                  <a:srgbClr val="20252B"/>
                </a:solidFill>
                <a:latin typeface="Arial"/>
              </a:rPr>
              <a:t>, Gap </a:t>
            </a:r>
            <a:r>
              <a:rPr sz="850" b="1">
                <a:solidFill>
                  <a:srgbClr val="D73527"/>
                </a:solidFill>
                <a:latin typeface="Arial"/>
              </a:rPr>
              <a:t>-4</a:t>
            </a:r>
          </a:p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Negara (Denpasar): </a:t>
            </a:r>
            <a:r>
              <a:rPr sz="850" b="1">
                <a:solidFill>
                  <a:srgbClr val="D73527"/>
                </a:solidFill>
                <a:latin typeface="Arial"/>
              </a:rPr>
              <a:t>-66,7%</a:t>
            </a:r>
            <a:r>
              <a:rPr sz="850" b="0">
                <a:solidFill>
                  <a:srgbClr val="20252B"/>
                </a:solidFill>
                <a:latin typeface="Arial"/>
              </a:rPr>
              <a:t>, Gap </a:t>
            </a:r>
            <a:r>
              <a:rPr sz="850" b="1">
                <a:solidFill>
                  <a:srgbClr val="D73527"/>
                </a:solidFill>
                <a:latin typeface="Arial"/>
              </a:rPr>
              <a:t>-4</a:t>
            </a:r>
          </a:p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Soe (Kupang): </a:t>
            </a:r>
            <a:r>
              <a:rPr sz="850" b="1">
                <a:solidFill>
                  <a:srgbClr val="D73527"/>
                </a:solidFill>
                <a:latin typeface="Arial"/>
              </a:rPr>
              <a:t>-66,7%</a:t>
            </a:r>
            <a:r>
              <a:rPr sz="850" b="0">
                <a:solidFill>
                  <a:srgbClr val="20252B"/>
                </a:solidFill>
                <a:latin typeface="Arial"/>
              </a:rPr>
              <a:t>, Gap </a:t>
            </a:r>
            <a:r>
              <a:rPr sz="850" b="1">
                <a:solidFill>
                  <a:srgbClr val="D73527"/>
                </a:solidFill>
                <a:latin typeface="Arial"/>
              </a:rPr>
              <a:t>-4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Barat: RE </a:t>
            </a:r>
            <a:r>
              <a:rPr sz="830" b="1">
                <a:solidFill>
                  <a:srgbClr val="D73527"/>
                </a:solidFill>
                <a:latin typeface="Arial"/>
              </a:rPr>
              <a:t>-250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-26,9%</a:t>
            </a:r>
            <a:r>
              <a:rPr sz="830" b="0">
                <a:solidFill>
                  <a:srgbClr val="20252B"/>
                </a:solidFill>
                <a:latin typeface="Arial"/>
              </a:rPr>
              <a:t>), PS </a:t>
            </a:r>
            <a:r>
              <a:rPr sz="830" b="1">
                <a:solidFill>
                  <a:srgbClr val="D73527"/>
                </a:solidFill>
                <a:latin typeface="Arial"/>
              </a:rPr>
              <a:t>-255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-31,2%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Tengah: RE </a:t>
            </a:r>
            <a:r>
              <a:rPr sz="830" b="1">
                <a:solidFill>
                  <a:srgbClr val="D73527"/>
                </a:solidFill>
                <a:latin typeface="Arial"/>
              </a:rPr>
              <a:t>-233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-14,1%</a:t>
            </a:r>
            <a:r>
              <a:rPr sz="830" b="0">
                <a:solidFill>
                  <a:srgbClr val="20252B"/>
                </a:solidFill>
                <a:latin typeface="Arial"/>
              </a:rPr>
              <a:t>), PS </a:t>
            </a:r>
            <a:r>
              <a:rPr sz="830" b="1">
                <a:solidFill>
                  <a:srgbClr val="D73527"/>
                </a:solidFill>
                <a:latin typeface="Arial"/>
              </a:rPr>
              <a:t>-204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-14,9%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Timur: RE </a:t>
            </a:r>
            <a:r>
              <a:rPr sz="830" b="1">
                <a:solidFill>
                  <a:srgbClr val="D73527"/>
                </a:solidFill>
                <a:latin typeface="Arial"/>
              </a:rPr>
              <a:t>-114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-21,3%</a:t>
            </a:r>
            <a:r>
              <a:rPr sz="830" b="0">
                <a:solidFill>
                  <a:srgbClr val="20252B"/>
                </a:solidFill>
                <a:latin typeface="Arial"/>
              </a:rPr>
              <a:t>), PS </a:t>
            </a:r>
            <a:r>
              <a:rPr sz="830" b="1">
                <a:solidFill>
                  <a:srgbClr val="D73527"/>
                </a:solidFill>
                <a:latin typeface="Arial"/>
              </a:rPr>
              <a:t>-70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-16,9%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36976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28416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46704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Sumbawa Timur: RE </a:t>
            </a:r>
            <a:r>
              <a:rPr sz="830" b="1">
                <a:solidFill>
                  <a:srgbClr val="D73527"/>
                </a:solidFill>
                <a:latin typeface="Arial"/>
              </a:rPr>
              <a:t>-15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-30,0%</a:t>
            </a:r>
            <a:r>
              <a:rPr sz="830" b="0">
                <a:solidFill>
                  <a:srgbClr val="20252B"/>
                </a:solidFill>
                <a:latin typeface="Arial"/>
              </a:rPr>
              <a:t>), PS </a:t>
            </a:r>
            <a:r>
              <a:rPr sz="830" b="1">
                <a:solidFill>
                  <a:srgbClr val="D73527"/>
                </a:solidFill>
                <a:latin typeface="Arial"/>
              </a:rPr>
              <a:t>-15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-48,4%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Sumbawa Barat: RE </a:t>
            </a:r>
            <a:r>
              <a:rPr sz="830" b="1">
                <a:solidFill>
                  <a:srgbClr val="D73527"/>
                </a:solidFill>
                <a:latin typeface="Arial"/>
              </a:rPr>
              <a:t>-13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-44,8%</a:t>
            </a:r>
            <a:r>
              <a:rPr sz="830" b="0">
                <a:solidFill>
                  <a:srgbClr val="20252B"/>
                </a:solidFill>
                <a:latin typeface="Arial"/>
              </a:rPr>
              <a:t>), PS </a:t>
            </a:r>
            <a:r>
              <a:rPr sz="830" b="1">
                <a:solidFill>
                  <a:srgbClr val="D73527"/>
                </a:solidFill>
                <a:latin typeface="Arial"/>
              </a:rPr>
              <a:t>-10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-58,8%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Tengah: RE </a:t>
            </a:r>
            <a:r>
              <a:rPr sz="830" b="1">
                <a:solidFill>
                  <a:srgbClr val="D73527"/>
                </a:solidFill>
                <a:latin typeface="Arial"/>
              </a:rPr>
              <a:t>-12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-6,6%</a:t>
            </a:r>
            <a:r>
              <a:rPr sz="830" b="0">
                <a:solidFill>
                  <a:srgbClr val="20252B"/>
                </a:solidFill>
                <a:latin typeface="Arial"/>
              </a:rPr>
              <a:t>), PS </a:t>
            </a:r>
            <a:r>
              <a:rPr sz="830" b="1">
                <a:solidFill>
                  <a:srgbClr val="D73527"/>
                </a:solidFill>
                <a:latin typeface="Arial"/>
              </a:rPr>
              <a:t>-8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-6,2%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Tengah: RE </a:t>
            </a:r>
            <a:r>
              <a:rPr sz="830" b="1">
                <a:solidFill>
                  <a:srgbClr val="D73527"/>
                </a:solidFill>
                <a:latin typeface="Arial"/>
              </a:rPr>
              <a:t>-13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-22,8%</a:t>
            </a:r>
            <a:r>
              <a:rPr sz="830" b="0">
                <a:solidFill>
                  <a:srgbClr val="20252B"/>
                </a:solidFill>
                <a:latin typeface="Arial"/>
              </a:rPr>
              <a:t>), PS </a:t>
            </a:r>
            <a:r>
              <a:rPr sz="830" b="1">
                <a:solidFill>
                  <a:srgbClr val="D73527"/>
                </a:solidFill>
                <a:latin typeface="Arial"/>
              </a:rPr>
              <a:t>-6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-16,2%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Lombok: RE </a:t>
            </a:r>
            <a:r>
              <a:rPr sz="830" b="1">
                <a:solidFill>
                  <a:srgbClr val="D73527"/>
                </a:solidFill>
                <a:latin typeface="Arial"/>
              </a:rPr>
              <a:t>-2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-9,1%</a:t>
            </a:r>
            <a:r>
              <a:rPr sz="830" b="0">
                <a:solidFill>
                  <a:srgbClr val="20252B"/>
                </a:solidFill>
                <a:latin typeface="Arial"/>
              </a:rPr>
              <a:t>), PS </a:t>
            </a:r>
            <a:r>
              <a:rPr sz="830" b="1">
                <a:solidFill>
                  <a:srgbClr val="D73527"/>
                </a:solidFill>
                <a:latin typeface="Arial"/>
              </a:rPr>
              <a:t>-6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-42,9%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Flores Timur: RE +3 (+150,0%), PS </a:t>
            </a:r>
            <a:r>
              <a:rPr sz="830" b="1">
                <a:solidFill>
                  <a:srgbClr val="D73527"/>
                </a:solidFill>
                <a:latin typeface="Arial"/>
              </a:rPr>
              <a:t>-2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-100,0%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0848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Manggarai: RE </a:t>
            </a:r>
            <a:r>
              <a:rPr sz="830" b="1">
                <a:solidFill>
                  <a:srgbClr val="D73527"/>
                </a:solidFill>
                <a:latin typeface="Arial"/>
              </a:rPr>
              <a:t>-1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-20,0%</a:t>
            </a:r>
            <a:r>
              <a:rPr sz="830" b="0">
                <a:solidFill>
                  <a:srgbClr val="20252B"/>
                </a:solidFill>
                <a:latin typeface="Arial"/>
              </a:rPr>
              <a:t>), PS </a:t>
            </a:r>
            <a:r>
              <a:rPr sz="830" b="1">
                <a:solidFill>
                  <a:srgbClr val="D73527"/>
                </a:solidFill>
                <a:latin typeface="Arial"/>
              </a:rPr>
              <a:t>-3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-75,0%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Tengah: RE 0 (0,0%), PS </a:t>
            </a:r>
            <a:r>
              <a:rPr sz="830" b="1">
                <a:solidFill>
                  <a:srgbClr val="D73527"/>
                </a:solidFill>
                <a:latin typeface="Arial"/>
              </a:rPr>
              <a:t>-2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-40,0%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Timur: RE </a:t>
            </a:r>
            <a:r>
              <a:rPr sz="830" b="1">
                <a:solidFill>
                  <a:srgbClr val="D73527"/>
                </a:solidFill>
                <a:latin typeface="Arial"/>
              </a:rPr>
              <a:t>-3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-37,5%</a:t>
            </a:r>
            <a:r>
              <a:rPr sz="830" b="0">
                <a:solidFill>
                  <a:srgbClr val="20252B"/>
                </a:solidFill>
                <a:latin typeface="Arial"/>
              </a:rPr>
              <a:t>), PS </a:t>
            </a:r>
            <a:r>
              <a:rPr sz="830" b="1">
                <a:solidFill>
                  <a:srgbClr val="D73527"/>
                </a:solidFill>
                <a:latin typeface="Arial"/>
              </a:rPr>
              <a:t>-2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-40,0%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BALINUSRA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95.58%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95.67% | MoM -0.09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97.21%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-1.63 pp | Rp-1.74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95.19%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95.10% | MoM +0.09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Rp102.30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Rp101.84 M | MoM +0.4%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Rp107.03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+0.5%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27632"/>
          <a:ext cx="11548869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0819"/>
                <a:gridCol w="918805"/>
                <a:gridCol w="918805"/>
                <a:gridCol w="995372"/>
                <a:gridCol w="918805"/>
                <a:gridCol w="1339924"/>
                <a:gridCol w="918805"/>
                <a:gridCol w="918805"/>
                <a:gridCol w="918805"/>
                <a:gridCol w="1339924"/>
              </a:tblGrid>
              <a:tr h="271630"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96.32%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95.88%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Rp54.18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-1.26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Rp-711.0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94.16%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93.48%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Rp9.61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-2.54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Rp-259.5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93.41%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92.84%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Rp14.42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-2.42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Rp-373.8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95.85%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95.54%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Rp24.08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-1.60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Rp-402.9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95.42%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94.92%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Rp10.60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-2.16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Rp-239.9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96.47%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96.01%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Rp30.51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-1.11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Rp-349.6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96.68%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96.42%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Rp13.07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-0.90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Rp-121.5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94.37%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93.53%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+0.50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Rp3.74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-2.33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Rp-92.3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90.91%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-3.68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90.54%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-3.31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Rp2.01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-2.9%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-5.79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Rp-127.9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93.96%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93.34%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Rp8.09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-0.8%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-1.87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Rp-161.3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91.87%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91.36%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+0.44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Rp3.55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-3.96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Rp-153.1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95.73%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+1.29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95.16%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+1.54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Rp3.87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+0.9%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-0.97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Rp-39.3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93.83%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-0.40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93.42%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Rp2.79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-2.00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Rp-59.4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96.18%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Rp13.21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-1.27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Rp-174.1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95.38%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95.29%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Rp4.54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+1.0%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-2.07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Rp-98.8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4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95.49%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95.13%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Rp6.32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+1.7%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-1.96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Rp-129.9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by LOS — Regional &amp; 4 Branch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28600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REGIONAL 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95.58%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-0.09 pp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1664208"/>
          <a:ext cx="11548871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99554"/>
                <a:gridCol w="2095149"/>
                <a:gridCol w="1788542"/>
                <a:gridCol w="1788542"/>
                <a:gridCol w="1788542"/>
                <a:gridCol w="1788542"/>
              </a:tblGrid>
              <a:tr h="333102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BALINUSRA M / 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98.18% / -0.68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98.53% / -1.16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98.58% / +1.62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96.15% / -1.47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98.50% / -0.56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93.37% / -0.13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94.46% / -0.53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92.25% / +0.30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90.76% / +1.43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93.60% / -1.10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89.43% / -0.08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88.92% / -0.28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88.43% / -0.29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86.72% / -0.77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92.72% / +0.52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92.48% / -0.05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92.89% / -0.08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91.24% / +0.11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90.54% / -0.07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93.79% / +0.03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93.93% / +0.10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94.55% / -0.04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92.93% / -0.20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91.19% / +0.04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94.93% / +0.48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96.79% / -0.12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97.35% / -0.04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95.72% / -0.31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95.20% / -0.09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96.71% / -0.25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475488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Format sel: C3MR M / MoM (pp). Fokus pada posisi bulan berjalan dan perubahan vs M-1.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BALINUSRA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10/28/2026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681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M-1 684 | MoM -0.4%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677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+4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-3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69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16141"/>
                <a:gridCol w="1461882"/>
                <a:gridCol w="1461882"/>
                <a:gridCol w="1169506"/>
                <a:gridCol w="1315694"/>
                <a:gridCol w="1461882"/>
                <a:gridCol w="1461882"/>
              </a:tblGrid>
              <a:tr h="255494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+17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-7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+15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+5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</a:tr>
              <a:tr h="255496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by LOS — Regional &amp; 4 Branch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10/28/2026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932688"/>
            <a:ext cx="3657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0">
                <a:solidFill>
                  <a:srgbClr val="64748B"/>
                </a:solidFill>
                <a:latin typeface="Arial"/>
              </a:defRPr>
            </a:pPr>
            <a:r>
              <a:t>CAPS M / MoM vs M-1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1225296"/>
          <a:ext cx="11548872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2147"/>
                <a:gridCol w="2085213"/>
                <a:gridCol w="1817878"/>
                <a:gridCol w="1817878"/>
                <a:gridCol w="1817878"/>
                <a:gridCol w="1817878"/>
              </a:tblGrid>
              <a:tr h="310896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BALINUSRA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 / +800.0%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 / +800.0%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113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83 / +3.8%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 / -33.3%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23 / -4.2%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556 / -2.5%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454 / -0.4%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 / -16.7%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26 / -13.3%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71 / -9.0%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BALINUSRA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30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175,231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126,687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72.3%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48,544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7,099 / 98.5%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7,308 / 95.9%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7,469 / 90.4%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7,203 / 87.1%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7,971 / 84.0%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7,683 / 81.3%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3,106 / 98.6%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3,306 / 97.6%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3,354 / 90.5%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2,988 / 86.8%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3,398 / 83.1%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3,325 / 80.8%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1,010 / 98.7%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894 / 94.4%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997 / 90.0%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955 / 84.8%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1,159 / 83.8%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1,057 / 81.4%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943 / 96.5%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951 / 94.1%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1,104 / 86.6%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1,284 / 83.2%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1,369 / 80.6%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1,342 / 79.7%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2,040 / 99.1%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2,157 / 94.7%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2,014 / 92.5%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1,976 / 91.1%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2,045 / 87.7%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1,959 / 83.2%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7,715 / 80.4%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6,964 / 79.6%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7,164 / 78.4%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7,111 / 74.8%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6,489 / 73.7%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7,849 / 69.8%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3,413 / 80.2%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2,962 / 78.6%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3,103 / 76.7%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3,350 / 74.0%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2,790 / 73.0%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3,773 / 67.8%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1,200 / 80.5%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966 / 81.5%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861 / 81.4%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807 / 73.6%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921 / 74.5%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831 / 69.8%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1,509 / 79.1%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1,276 / 78.8%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78.8%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1,088 / 73.4%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1,063 / 72.3%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1,247 / 69.8%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1,593 / 81.8%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1,760 / 80.8%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1,954 / 79.4%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1,866 / 77.4%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1,715 / 75.2%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1,998 / 73.4%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6,837 / 67.6%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7,515 / 67.4%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8,014 / 66.7%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7,517 / 63.0%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7,658 / 61.7%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7,174 / 61.4%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3,134 / 66.4%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3,494 / 67.5%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3,969 / 66.1%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3,612 / 64.0%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3,772 / 61.1%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3,480 / 61.7%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696 / 65.8%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66.1%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61.5%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686 / 60.5%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727 / 61.4%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749 / 60.5%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66.2%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1,273 / 64.7%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63.9%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1,295 / 56.7%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1,163 / 55.9%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1,132 / 59.2%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1,805 / 71.1%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1,937 / 69.5%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2,032 / 71.8%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1,924 / 66.2%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1,996 / 66.5%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1,813 / 62.5%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6,985 / 62.5%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7,134 / 60.5%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7,691 / 60.7%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7,472 / 57.1%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6,644 / 57.1%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6,565 / 53.0%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3,403 / 64.3%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3,381 / 62.4%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3,839 / 61.4%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3,450 / 58.9%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3,102 / 59.2%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3,207 / 55.6%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776 / 61.0%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705 / 57.7%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626 / 66.5%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669 / 55.5%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574 / 57.7%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620 / 55.2%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1,262 / 54.5%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1,180 / 53.2%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1,207 / 53.9%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47.8%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1,227 / 48.2%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1,070 / 44.4%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1,544 / 66.1%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1,868 / 62.9%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2,019 / 61.8%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2,107 / 60.1%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1,741 / 59.7%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1,668 / 52.8%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