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  <p:sldId id="272" r:id="rId23"/>
    <p:sldId id="273" r:id="rId24"/>
    <p:sldId id="274" r:id="rId25"/>
    <p:sldId id="275" r:id="rId26"/>
    <p:sldId id="276" r:id="rId27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9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17/09</c:v>
                </c:pt>
                <c:pt idx="1">
                  <c:v>18/09</c:v>
                </c:pt>
                <c:pt idx="2">
                  <c:v>19/09</c:v>
                </c:pt>
                <c:pt idx="3">
                  <c:v>20/09</c:v>
                </c:pt>
                <c:pt idx="4">
                  <c:v>21/09</c:v>
                </c:pt>
                <c:pt idx="5">
                  <c:v>22/09</c:v>
                </c:pt>
                <c:pt idx="6">
                  <c:v>23/09</c:v>
                </c:pt>
                <c:pt idx="7">
                  <c:v>24/09</c:v>
                </c:pt>
                <c:pt idx="8">
                  <c:v>25/09</c:v>
                </c:pt>
                <c:pt idx="9">
                  <c:v>26/09</c:v>
                </c:pt>
                <c:pt idx="10">
                  <c:v>27/09</c:v>
                </c:pt>
                <c:pt idx="11">
                  <c:v>28/09</c:v>
                </c:pt>
                <c:pt idx="12">
                  <c:v>29/09</c:v>
                </c:pt>
                <c:pt idx="13">
                  <c:v>30/09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334.0</c:v>
                </c:pt>
                <c:pt idx="1">
                  <c:v>305.0</c:v>
                </c:pt>
                <c:pt idx="2">
                  <c:v>267.0</c:v>
                </c:pt>
                <c:pt idx="3">
                  <c:v>193.0</c:v>
                </c:pt>
                <c:pt idx="4">
                  <c:v>378.0</c:v>
                </c:pt>
                <c:pt idx="5">
                  <c:v>316.0</c:v>
                </c:pt>
                <c:pt idx="6">
                  <c:v>299.0</c:v>
                </c:pt>
                <c:pt idx="7">
                  <c:v>309.0</c:v>
                </c:pt>
                <c:pt idx="8">
                  <c:v>303.0</c:v>
                </c:pt>
                <c:pt idx="9">
                  <c:v>248.0</c:v>
                </c:pt>
                <c:pt idx="10">
                  <c:v>150.0</c:v>
                </c:pt>
                <c:pt idx="11">
                  <c:v>315.0</c:v>
                </c:pt>
                <c:pt idx="12">
                  <c:v>321.0</c:v>
                </c:pt>
                <c:pt idx="13">
                  <c:v>257.0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17/09</c:v>
                </c:pt>
                <c:pt idx="1">
                  <c:v>18/09</c:v>
                </c:pt>
                <c:pt idx="2">
                  <c:v>19/09</c:v>
                </c:pt>
                <c:pt idx="3">
                  <c:v>20/09</c:v>
                </c:pt>
                <c:pt idx="4">
                  <c:v>21/09</c:v>
                </c:pt>
                <c:pt idx="5">
                  <c:v>22/09</c:v>
                </c:pt>
                <c:pt idx="6">
                  <c:v>23/09</c:v>
                </c:pt>
                <c:pt idx="7">
                  <c:v>24/09</c:v>
                </c:pt>
                <c:pt idx="8">
                  <c:v>25/09</c:v>
                </c:pt>
                <c:pt idx="9">
                  <c:v>26/09</c:v>
                </c:pt>
                <c:pt idx="10">
                  <c:v>27/09</c:v>
                </c:pt>
                <c:pt idx="11">
                  <c:v>28/09</c:v>
                </c:pt>
                <c:pt idx="12">
                  <c:v>29/09</c:v>
                </c:pt>
                <c:pt idx="13">
                  <c:v>30/09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261.0</c:v>
                </c:pt>
                <c:pt idx="1">
                  <c:v>242.0</c:v>
                </c:pt>
                <c:pt idx="2">
                  <c:v>209.0</c:v>
                </c:pt>
                <c:pt idx="3">
                  <c:v>177.0</c:v>
                </c:pt>
                <c:pt idx="4">
                  <c:v>269.0</c:v>
                </c:pt>
                <c:pt idx="5">
                  <c:v>271.0</c:v>
                </c:pt>
                <c:pt idx="6">
                  <c:v>247.0</c:v>
                </c:pt>
                <c:pt idx="7">
                  <c:v>254.0</c:v>
                </c:pt>
                <c:pt idx="8">
                  <c:v>239.0</c:v>
                </c:pt>
                <c:pt idx="9">
                  <c:v>173.0</c:v>
                </c:pt>
                <c:pt idx="10">
                  <c:v>131.0</c:v>
                </c:pt>
                <c:pt idx="11">
                  <c:v>241.0</c:v>
                </c:pt>
                <c:pt idx="12">
                  <c:v>240.0</c:v>
                </c:pt>
                <c:pt idx="13">
                  <c:v>232.0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+1,2% &amp; PS +0,5% MoM — Achievement Mencapai 87,9% (RE) / 87,1%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01–30 Sep 2026 vs MTD-1 01–30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-0,5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Menguat pada 30 September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01–30 Sep 2026 vs MTD-1 01–30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01–30 September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(+17,3%), Denpasar Terdalam (-2,6%)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01–30 Sep 2026 vs MTD-1 01–30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+0,3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-1,5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+0,4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-1,6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+17,3%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+1,2%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-2,0%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-2,6%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97,4%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90,9%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87,5%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67,6%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Manggarai Tertinggi (+25,2%), Bali Tengah Terdalam (-8,0%) — 12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01–30 Sep 2026 vs MTD-1 01–30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12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1788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Buleleng Penyumbang PS Absolut Terbesar (+148), Ngada Tumbuh Tertinggi (+46,6%)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01–30 Sep 2026 vs MTD-1 01–30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-289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38 kabupaten: Top 5 menyumbang +290, Bottom 5 -289, dan perubahan PS regional +35.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75 Mbps Tumbuh Tertinggi (+32,6%), TSEL One &gt;30 Mbps Turun Terdalam (-51,3%)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01–30 Sep 2026 vs MTD-1 01–30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6.175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6.132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Naik +0,8%, Aktivitas DJP -2,8% MoM — Registered SF 893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01–30 Sep 2026 vs MTD-1 01–30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Registered 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17.365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16.873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SF/DJP per Branch (sumber WOK lama selama transisi)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346704"/>
          <a:ext cx="92628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621792"/>
                <a:gridCol w="621792"/>
                <a:gridCol w="594360"/>
                <a:gridCol w="621792"/>
                <a:gridCol w="621792"/>
                <a:gridCol w="594360"/>
                <a:gridCol w="621792"/>
                <a:gridCol w="621792"/>
                <a:gridCol w="594360"/>
                <a:gridCol w="685800"/>
                <a:gridCol w="685800"/>
                <a:gridCol w="64008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15.259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37.865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24.697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5.249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83.134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5.249
Dikunjungi: 1.378 (26,3%)
Visit DJP: 3.740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1.404
Dikunjungi: 1.169 (83,3%)
Visit DJP: 3.515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01–30 Sep 2026 vs MTD-1 01–30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01–30 Sep 2026 vs MTD-1 01–30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+5,6% | Turun 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186 / 310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-12,3% | Turun 121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225 / 351 (64,1%)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-8,9% | Turun 144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80 / 136 (58,8%)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 | Turun 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94 / 150 (62,7%)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+11,9% | Turun 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103 / 139 (74,1%)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+13,2% | Turun 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115 / 152 (75,7%)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+10,6% | Turun 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16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+23,1%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167 / 213 (78,4%)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194 / 240 (80,8%)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+2,1% | Turun 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56 / 58 (96,6%)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+5,7% | Turun 27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536 / 798 (67,2%)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-0,7% | Turun 273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-5,0% | Turun 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+600,0%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629 / 924 (68,1%)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+0,3% | Turun 323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1.292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288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+364,5%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744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2.709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582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809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702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1.275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288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1.779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608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+15,2%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3.851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-6,8%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578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+0,9%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341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+450,0%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744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-14,6%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6.123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-0,8%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 / 20 (55,0%)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+10,0% | Turun 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42 / 310 (13,5%)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-12,5% | Turun 121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73 / 351 (20,8%)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-1,4% | Turun 144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13 (92,3%)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 / 136 (16,2%)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+15,8% | Turun 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35 / 150 (23,3%)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27 / 139 (19,4%)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-6,9% | Turun 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 / 152 (20,4%)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-6,1% | Turun 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16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 / 213 (19,2%)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-19,6% | Turun 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60 / 240 (25,0%)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-10,4% | Turun 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31 / 58 (53,4%)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+29,2% | Turun 27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132 / 798 (16,5%)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-10,2% | Turun 273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+600,0%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199 / 924 (21,5%)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-1,5% | Turun 323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01–30 Sep 2026 vs MTD-1 01–30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RIZKI MUSTAQIM K LONGSO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Ismail Marzuki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Yudi arman 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Riko Simanjuntak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Stefanus jefri kantur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 FILIA REGINA DOLOROSA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PUTU ARIANI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NYOMAN SAPUTRA WIJAYA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Wahyu Hidayat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AYU GEDE FAJAR SARI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RIZKI MUSTAQIM K LONGSO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Ismail Marzuki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Riko Simanjuntak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 FILIA REGINA DOLOROSA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Stefanus jefri kantur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Anita Welmince ukat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Yudi arman 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ALVIN HIDAYAT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GEORANO INDRIANTO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INLY OLIFA PABALA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01–30 Sep 2026 vs MTD-1 01–30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AISA TUKUBRA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HERI SUSANTO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Andi Setiawan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IFA HANIFAH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FERI ANDI SEMBIRING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 tarmizi taher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Ibadillah Hish Sholihah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Barthlomeus Mario Jeriko Pareira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Santiar roti saputri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YANTI 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HERI SUSANTO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Andi Setiawan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IFA HANIFAH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FERI ANDI SEMBIRING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 tarmizi taher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Ibadillah Hish Sholihah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Barthlomeus Mario Jeriko Pareira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Santiar roti saputri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12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01–30 Sep 2026 vs MTD-1 01–30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12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01–30 Sep 2026 vs MTD-1 01–30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01–30 Sep 2026 vs MTD-1 01–30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2.591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2.505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1.541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1.176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999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1.325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1.291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1.250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1.046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999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7.053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7.088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3.183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3.100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1.010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2.081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2.039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01–30 Sep 2026 vs MTD-1 01–30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437,0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422,7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275,8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334,9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188,0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130,9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128,5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104,7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79,1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44,9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54,9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83,9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83,5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74,7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115,3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47,8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395,5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119,0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123,2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76,8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87,7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223,9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68,7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65,1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1,6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650,7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217,6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220,4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549,3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522,1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01–30 Sep 2026 vs MTD-1 01–30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8.857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8.960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7.053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7.088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137D3F"/>
                          </a:solidFill>
                          <a:latin typeface="Arial"/>
                        </a:rPr>
                        <a:t>+0,5%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1,6 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7.554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7.507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-0,6%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6.175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6.132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-0,7%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1,3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466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+14,2%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115,2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+17,4%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103,2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+10,5%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23,1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+5,8%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+15,2%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+68,8%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+61,7%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645 | MoM +0,2%
PS: 628 | MoM +0,8%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553 | Active 69,3% | MoM 0,0%
  PS: 536 | Active 67,2% | MoM +0,8%
• Greenfield
  RE: 56 | Active 96,6% | MoM +3,7%
  PS: 56 | Active 96,6% | MoM +3,7%
• Junior Plus
  RE: 19 | Active 95,0% | MoM -5,0%
  PS: 19 | Active 95,0% | MoM -5,0%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+15,2%, Gap +16
• Flores: PS +24,8%, Gap +30
• Kupang: PS +32,5%, Gap +13
• Mataram: PS -5,1%, Gap -7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Singaraja (Denpasar): -50,0%, Gap -5
• Grapari Lombok Timur (Mataram): -50,0%, Gap -2
• Grapari Lombok Utara (Mataram): -50,0%, Gap -1
• Grapari Tabanan (Denpasar): -40,0%, Gap -4
• Grapari Mataram (Mataram): -26,2%, Gap -16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-144 (-8,0%), PS -125 (-8,3%)
• Lombok: RE -80 (-5,8%), PS -76 (-6,8%)
• Bali Timur: RE -11 (-1,9%), PS -42 (-8,9%)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-45 (-19,5%), PS -40 (-22,7%)
• Kupang Rote: RE +4 (+14,8%), PS -4 (-22,2%)
• Flores Timur: RE +1 (+7,7%), PS -2 (-25,0%)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Kupang Rote: RE -14 (-31,1%), PS -8 (-38,1%)
• Bali Timur: RE +1 (+7,7%), PS -4 (-44,4%)
• Sumbawa Timur: RE -3 (-11,5%), PS -3 (-20,0%)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Lombok: RE -5 (-62,5%), PS -3 (-100,0%)
• Bali Tengah: RE -2 (-28,6%), PS -2 (-33,3%)
• Sumbawa Barat: RE 0 (0,0%), PS -1 (-100,0%)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Regional, Branch &amp; 12 WOK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85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C3MR BALINUSRA 32.01%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722376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97.21% | Gap -65.20 pp | M-1 36.83%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525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4346"/>
                <a:gridCol w="860022"/>
                <a:gridCol w="860022"/>
                <a:gridCol w="860022"/>
                <a:gridCol w="1412893"/>
                <a:gridCol w="1412893"/>
                <a:gridCol w="921452"/>
                <a:gridCol w="921452"/>
                <a:gridCol w="921452"/>
                <a:gridCol w="1044312"/>
              </a:tblGrid>
              <a:tr h="309282"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202.393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75.413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37.26%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Rp56.23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Rp21.02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42.77%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37.39%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-60.19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32.513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7.208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22.17%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Rp10.21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Rp2.31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26.53%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22.66%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-74.04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48.594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11.736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Rp15.44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Rp3.85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28.89%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24.93%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-70.90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83.478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Rp25.12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Rp7.06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32.56%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28.12%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-69.33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42.264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13.867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32.81%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39.30%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33.81%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-63.77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113.620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45.875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40.38%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Rp31.61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Rp12.65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45.23%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40.01%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-57.57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46.509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15.671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33.69%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Rp13.52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39.85%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34.19%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-63.39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12.821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2.633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20.54%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Rp3.96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Rp842.2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25.16%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21.25%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-75.45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7.329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1.569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21.41%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Rp472.0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21.36%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-75.34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26.827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7.246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Rp8.61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Rp2.40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31.91%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27.84%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-67.99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12.516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2.375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18.98%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Rp3.86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Rp760.9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23.63%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19.70%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-76.13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12.363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3.006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Rp4.04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Rp999.4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-71.95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9.251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2.115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22.86%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Rp2.97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Rp692.7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26.88%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23.31%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-72.52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44.841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15.359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34.25%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Rp13.74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39.73%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34.58%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-62.87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15.433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3.850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Rp4.76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29.23%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25.36%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-72.09 pp</a:t>
                      </a:r>
                    </a:p>
                  </a:txBody>
                  <a:tcPr/>
                </a:tc>
              </a:tr>
              <a:tr h="309288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23.204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3.705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15.97%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Rp6.62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20.06%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-80.74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by LOS — BALINUSRA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051560"/>
          <a:ext cx="11548868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4534"/>
                <a:gridCol w="863467"/>
                <a:gridCol w="863467"/>
                <a:gridCol w="863467"/>
                <a:gridCol w="1295200"/>
                <a:gridCol w="1295200"/>
                <a:gridCol w="917433"/>
                <a:gridCol w="917433"/>
                <a:gridCol w="971400"/>
                <a:gridCol w="1187267"/>
              </a:tblGrid>
              <a:tr h="418011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01. 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6.660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3.248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48.77%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Rp1.02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Rp509.2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59.52%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49.75%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-9.77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Rp156.781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02. 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13.729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4.703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34.26%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Rp3.47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Rp1.20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38.47%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34.59%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-3.88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Rp255.294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03. 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21.593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5.768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Rp5.25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Rp1.44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31.38%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27.37%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-4.01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Rp248.935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04. 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35.106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9.376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Rp8.88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Rp2.45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30.08%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27.54%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-2.55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Rp260.812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05. 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55.545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13.745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Rp14.70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Rp3.77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29.40%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25.68%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-3.72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Rp274.548</a:t>
                      </a:r>
                    </a:p>
                  </a:txBody>
                  <a:tcPr/>
                </a:tc>
              </a:tr>
              <a:tr h="418014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06. 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234.345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80.431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34.32%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Rp73.69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Rp24.89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39.09%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33.77%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-5.32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Rp309.406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425196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Catatan: seluruh angka C3MR dibaca dari output SQL; PPT tidak menghitung ulang formula.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BALINUSRA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330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M-1 304 | MoM +8.6%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677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-347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+26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69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6141"/>
                <a:gridCol w="1461882"/>
                <a:gridCol w="1461882"/>
                <a:gridCol w="1169506"/>
                <a:gridCol w="1315694"/>
                <a:gridCol w="1461882"/>
                <a:gridCol w="1461882"/>
              </a:tblGrid>
              <a:tr h="279698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-271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-48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-49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-157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-65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-12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-42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</a:tr>
              <a:tr h="279712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by LOS — Regional &amp; 4 Branch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143000"/>
          <a:ext cx="1154887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93009"/>
                <a:gridCol w="2080877"/>
                <a:gridCol w="1768746"/>
                <a:gridCol w="1768746"/>
                <a:gridCol w="1768746"/>
                <a:gridCol w="1768746"/>
              </a:tblGrid>
              <a:tr h="1024128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BALINUSRA M / 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56 / +12.0%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42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12 / +200.0%</a:t>
                      </a:r>
                    </a:p>
                  </a:txBody>
                  <a:tcPr/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265 / +4.3%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209 / +3.5%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17 / +70.0%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38 / -5.0%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15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175,231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44,619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25.5%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130,612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7,099 / 55.0%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7,308 / 43.6%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7,469 / 35.1%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7,203 / 31.2%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7,971 / 27.6%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7,683 / 27.0%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3,106 / 57.8%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3,306 / 46.5%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3,354 / 37.6%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2,988 / 35.6%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3,398 / 30.7%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3,325 / 30.6%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1,010 / 62.9%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894 / 43.6%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34.6%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955 / 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1,159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1,057 / 20.1%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943 / 48.4%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951 / 34.7%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1,104 / 30.0%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1,284 / 23.6%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1,369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1,342 / 21.9%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2,040 / 50.1%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2,157 / 43.0%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2,014 / 34.2%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1,976 / 33.2%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2,045 / 30.0%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1,959 / 28.2%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7,715 / 27.4%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6,964 / 27.1%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7,164 / 26.1%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7,111 / 25.4%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6,489 / 24.1%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7,849 / 22.2%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3,413 / 32.9%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2,962 / 30.4%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3,103 / 29.4%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3,350 / 28.1%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2,790 / 27.4%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3,773 / 24.3%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1,200 / 21.9%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966 / 21.6%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861 / 19.7%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807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921 / 18.4%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831 / 17.1%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1,509 / 21.1%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1,276 / 22.1%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1,088 / 21.3%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1,063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1,247 / 19.6%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1,593 / 25.4%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1,760 / 28.0%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1,954 / 26.4%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1,866 / 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1,715 / 24.2%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1,998 / 21.9%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6,837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7,515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8,014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7,517 / 20.1%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7,658 / 19.8%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7,174 / 19.8%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3,134 / 23.7%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3,494 / 25.3%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3,969 / 23.9%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3,612 / 23.0%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3,772 / 22.8%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3,480 / 23.4%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696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14.9%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14.7%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686 / 14.9%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727 / 13.8%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749 / 15.9%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15.6%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1,273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1,295 / 14.4%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1,163 / 15.4%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1,132 / 14.5%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1,805 / 19.1%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1,937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2,032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1,924 / 20.5%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1,996 / 18.8%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1,813 / 17.6%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6,985 / 21.2%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7,134 / 19.5%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7,691 / 20.1%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7,472 / 18.8%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6,644 / 18.4%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6,565 / 17.9%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3,403 / 26.7%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3,381 / 24.1%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3,839 / 23.1%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3,450 / 23.0%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3,102 / 22.4%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3,207 / 22.1%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776 / 11.7%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705 / 12.3%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16.3%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14.8%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574 / 13.1%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620 / 12.7%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1,262 / 13.4%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1,180 / 13.9%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1,207 / 15.2%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12.2%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1,227 / 11.9%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1,070 / 12.0%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1,544 / 20.1%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1,868 / 17.3%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2,019 / 18.7%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2,107 / 17.3%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1,741 / 17.5%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1,668 / 15.5%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