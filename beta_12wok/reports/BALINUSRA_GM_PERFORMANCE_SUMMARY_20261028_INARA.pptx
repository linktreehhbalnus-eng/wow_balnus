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22"/>
    <p:sldId id="264" r:id="rId10"/>
    <p:sldId id="265" r:id="rId11"/>
    <p:sldId id="266" r:id="rId12"/>
    <p:sldId id="267" r:id="rId13"/>
    <p:sldId id="268" r:id="rId19"/>
    <p:sldId id="269" r:id="rId20"/>
    <p:sldId id="270" r:id="rId21"/>
    <p:sldId id="272" r:id="rId23"/>
    <p:sldId id="273" r:id="rId24"/>
    <p:sldId id="274" r:id="rId25"/>
    <p:sldId id="275" r:id="rId26"/>
    <p:sldId id="276" r:id="rId27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9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</c:v>
                </c:pt>
              </c:strCache>
            </c:strRef>
          </c:tx>
          <c:spPr>
            <a:solidFill>
              <a:srgbClr val="132A4C"/>
            </a:solidFill>
            <a:ln w="31750" cap="flat">
              <a:solidFill>
                <a:srgbClr val="132A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32A4C"/>
              </a:solidFill>
              <a:ln w="9525" cap="flat">
                <a:solidFill>
                  <a:srgbClr val="132A4C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15/10</c:v>
                </c:pt>
                <c:pt idx="1">
                  <c:v>16/10</c:v>
                </c:pt>
                <c:pt idx="2">
                  <c:v>17/10</c:v>
                </c:pt>
                <c:pt idx="3">
                  <c:v>18/10</c:v>
                </c:pt>
                <c:pt idx="4">
                  <c:v>19/10</c:v>
                </c:pt>
                <c:pt idx="5">
                  <c:v>20/10</c:v>
                </c:pt>
                <c:pt idx="6">
                  <c:v>21/10</c:v>
                </c:pt>
                <c:pt idx="7">
                  <c:v>22/10</c:v>
                </c:pt>
                <c:pt idx="8">
                  <c:v>23/10</c:v>
                </c:pt>
                <c:pt idx="9">
                  <c:v>24/10</c:v>
                </c:pt>
                <c:pt idx="10">
                  <c:v>25/10</c:v>
                </c:pt>
                <c:pt idx="11">
                  <c:v>26/10</c:v>
                </c:pt>
                <c:pt idx="12">
                  <c:v>27/10</c:v>
                </c:pt>
                <c:pt idx="13">
                  <c:v>28/10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281.0</c:v>
                </c:pt>
                <c:pt idx="1">
                  <c:v>283.0</c:v>
                </c:pt>
                <c:pt idx="2">
                  <c:v>216.0</c:v>
                </c:pt>
                <c:pt idx="3">
                  <c:v>206.0</c:v>
                </c:pt>
                <c:pt idx="4">
                  <c:v>321.0</c:v>
                </c:pt>
                <c:pt idx="5">
                  <c:v>341.0</c:v>
                </c:pt>
                <c:pt idx="6">
                  <c:v>273.0</c:v>
                </c:pt>
                <c:pt idx="7">
                  <c:v>298.0</c:v>
                </c:pt>
                <c:pt idx="8">
                  <c:v>244.0</c:v>
                </c:pt>
                <c:pt idx="9">
                  <c:v>214.0</c:v>
                </c:pt>
                <c:pt idx="10">
                  <c:v>157.0</c:v>
                </c:pt>
                <c:pt idx="11">
                  <c:v>288.0</c:v>
                </c:pt>
                <c:pt idx="12">
                  <c:v>281.0</c:v>
                </c:pt>
                <c:pt idx="13">
                  <c:v>250.0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PS</c:v>
                </c:pt>
              </c:strCache>
            </c:strRef>
          </c:tx>
          <c:spPr>
            <a:solidFill>
              <a:srgbClr val="E4022D"/>
            </a:solidFill>
            <a:ln w="31750" cap="flat">
              <a:solidFill>
                <a:srgbClr val="E402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4022D"/>
              </a:solidFill>
              <a:ln w="9525" cap="flat">
                <a:solidFill>
                  <a:srgbClr val="E4022D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15/10</c:v>
                </c:pt>
                <c:pt idx="1">
                  <c:v>16/10</c:v>
                </c:pt>
                <c:pt idx="2">
                  <c:v>17/10</c:v>
                </c:pt>
                <c:pt idx="3">
                  <c:v>18/10</c:v>
                </c:pt>
                <c:pt idx="4">
                  <c:v>19/10</c:v>
                </c:pt>
                <c:pt idx="5">
                  <c:v>20/10</c:v>
                </c:pt>
                <c:pt idx="6">
                  <c:v>21/10</c:v>
                </c:pt>
                <c:pt idx="7">
                  <c:v>22/10</c:v>
                </c:pt>
                <c:pt idx="8">
                  <c:v>23/10</c:v>
                </c:pt>
                <c:pt idx="9">
                  <c:v>24/10</c:v>
                </c:pt>
                <c:pt idx="10">
                  <c:v>25/10</c:v>
                </c:pt>
                <c:pt idx="11">
                  <c:v>26/10</c:v>
                </c:pt>
                <c:pt idx="12">
                  <c:v>27/10</c:v>
                </c:pt>
                <c:pt idx="13">
                  <c:v>28/10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206.0</c:v>
                </c:pt>
                <c:pt idx="1">
                  <c:v>212.0</c:v>
                </c:pt>
                <c:pt idx="2">
                  <c:v>190.0</c:v>
                </c:pt>
                <c:pt idx="3">
                  <c:v>146.0</c:v>
                </c:pt>
                <c:pt idx="4">
                  <c:v>256.0</c:v>
                </c:pt>
                <c:pt idx="5">
                  <c:v>261.0</c:v>
                </c:pt>
                <c:pt idx="6">
                  <c:v>249.0</c:v>
                </c:pt>
                <c:pt idx="7">
                  <c:v>220.0</c:v>
                </c:pt>
                <c:pt idx="8">
                  <c:v>197.0</c:v>
                </c:pt>
                <c:pt idx="9">
                  <c:v>189.0</c:v>
                </c:pt>
                <c:pt idx="10">
                  <c:v>119.0</c:v>
                </c:pt>
                <c:pt idx="11">
                  <c:v>211.0</c:v>
                </c:pt>
                <c:pt idx="12">
                  <c:v>187.0</c:v>
                </c:pt>
                <c:pt idx="13">
                  <c:v>230.0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-10,5% &amp; PS -11,4% MoM — Achievement Mencapai 65,2% (RE) / 62,9% (PS)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01–28 Okt 2026 vs MTD-1 01–28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Executive Scorecard — BALINUSRA Regional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86410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51560"/>
                <a:gridCol w="1051560"/>
                <a:gridCol w="1005840"/>
                <a:gridCol w="914400"/>
                <a:gridCol w="1234440"/>
                <a:gridCol w="96012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8.310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7.439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11.390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6.578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5.826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9.250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to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-0,8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296265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Regional = agregasi target 10 WOK. IO tidak ditampilkan karena MTD-1/target/MoM IO tidak tersedia di JSON (hanya total MTD di audit reconciliation).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34290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Kontribusi Branch terhadap RE &amp; PS Regional</a:t>
            </a:r>
            <a:endParaRPr lang="en-US" sz="15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03320"/>
          <a:ext cx="8823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51560"/>
                <a:gridCol w="1234440"/>
                <a:gridCol w="960120"/>
                <a:gridCol w="1051560"/>
                <a:gridCol w="1234440"/>
                <a:gridCol w="960120"/>
                <a:gridCol w="960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 ★ 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▲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696712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Kontributor volume PS terbesar     ▲ Pertumbuhan PS terbaik     ▼ Penurunan PS terdalam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RE–PS Menguat pada 28 Oktober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01–28 Okt 2026 vs MTD-1 01–28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Pola Harian RE &amp; PS — 01–28 Oktober 2026 (MTD)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353312"/>
          <a:ext cx="1154887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730752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*Grafik menunjukkan pola harian MTD yang tersedia di sumber (bukan rekonsiliasi volume regional). Tren MTD-1 harian tidak tersedia — pembanding MTD-1 hanya ada sebagai total periode (lihat tabel run rate).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41148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Run Rate Summary — Regional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389120"/>
          <a:ext cx="8778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Achievement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7.439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11.390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5.826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9.250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779008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*Target dan achievement mengikuti definisi target pada JSON INARA untuk report date.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 Pendorong Utama PS (-3,1%), Denpasar Terdalam (-19,6%)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01–28 Okt 2026 vs MTD-1 01–28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Branch Performance Detail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9939528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658368"/>
                <a:gridCol w="658368"/>
                <a:gridCol w="621792"/>
                <a:gridCol w="603504"/>
                <a:gridCol w="603504"/>
                <a:gridCol w="685800"/>
                <a:gridCol w="658368"/>
                <a:gridCol w="658368"/>
                <a:gridCol w="621792"/>
                <a:gridCol w="603504"/>
                <a:gridCol w="603504"/>
                <a:gridCol w="685800"/>
                <a:gridCol w="566928"/>
                <a:gridCol w="658368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-1,6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+1,1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-8,1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+2,9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MoM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45352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Ranking Achievement PS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2004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600200" y="3785616"/>
            <a:ext cx="3383280" cy="182880"/>
          </a:xfrm>
          <a:prstGeom prst="rect">
            <a:avLst/>
          </a:prstGeom>
          <a:solidFill>
            <a:srgbClr val="1E7B45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056632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-3,1%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0040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600200" y="4096512"/>
            <a:ext cx="791251" cy="182880"/>
          </a:xfrm>
          <a:prstGeom prst="rect">
            <a:avLst/>
          </a:prstGeom>
          <a:solidFill>
            <a:srgbClr val="1E7B45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2464603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-3,3%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20040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600200" y="4407408"/>
            <a:ext cx="2864874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4538226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-7,0%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20040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600200" y="4718304"/>
            <a:ext cx="3219573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892925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-19,6%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245352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525512" y="3785616"/>
            <a:ext cx="3383280" cy="182880"/>
          </a:xfrm>
          <a:prstGeom prst="rect">
            <a:avLst/>
          </a:prstGeom>
          <a:solidFill>
            <a:srgbClr val="8A6100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10981944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77,0%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45352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525512" y="4096512"/>
            <a:ext cx="3045737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10644401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70,5%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245352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525512" y="4407408"/>
            <a:ext cx="2857341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10456005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65,2%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245352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525512" y="4718304"/>
            <a:ext cx="2237204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835868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55,4%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20040" y="526694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Kontribusi Branch terhadap Gap Regional (PS)</a:t>
            </a:r>
            <a:endParaRPr lang="en-US" sz="15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541264"/>
          <a:ext cx="8961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828800"/>
                <a:gridCol w="182880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 (RE)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Ende Sikka Tertinggi (+9,1%), Flores Timur Terdalam (-35,6%) — 12 WOK MoM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01–28 Okt 2026 vs MTD-1 01–28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WOK Performance — Seluruh 12 WOK (dikelompokkan per Branch)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10332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834640"/>
                <a:gridCol w="777240"/>
                <a:gridCol w="713232"/>
                <a:gridCol w="713232"/>
                <a:gridCol w="777240"/>
                <a:gridCol w="777240"/>
                <a:gridCol w="713232"/>
                <a:gridCol w="713232"/>
                <a:gridCol w="777240"/>
                <a:gridCol w="62179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443484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WOK — MoM PS &amp; Achievement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20040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MoM PS</a:t>
            </a:r>
            <a:endParaRPr lang="en-US" sz="10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42234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MoM PS</a:t>
            </a:r>
            <a:endParaRPr lang="en-US" sz="105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2234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6164428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Achievement PS</a:t>
            </a:r>
            <a:endParaRPr lang="en-US" sz="1050" dirty="0"/>
          </a:p>
        </p:txBody>
      </p:sp>
      <p:graphicFrame>
        <p:nvGraphicFramePr>
          <p:cNvPr id="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64428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</a:tbl>
          </a:graphicData>
        </a:graphic>
      </p:graphicFrame>
      <p:sp>
        <p:nvSpPr>
          <p:cNvPr id="16" name="Text 10"/>
          <p:cNvSpPr/>
          <p:nvPr/>
        </p:nvSpPr>
        <p:spPr>
          <a:xfrm>
            <a:off x="9086621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Achievement PS</a:t>
            </a:r>
            <a:endParaRPr lang="en-US" sz="1050" dirty="0"/>
          </a:p>
        </p:txBody>
      </p:sp>
      <p:graphicFrame>
        <p:nvGraphicFramePr>
          <p:cNvPr id="2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86621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Manggarai Penyumbang PS Absolut Terbesar (+29), Sumba Tengah Tumbuh Tertinggi (+42,9%)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01–28 Okt 2026 vs MTD-1 01–28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Top &amp; Bottom 5 Kabupaten — Pertumbuhan Absolut 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(Selisih PS Terbesar)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245352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(Selisih PS Terkecil)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32644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Top &amp; Bottom 5 Kabupaten — MoM PS (%)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20040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(MoM PS Tertinggi)</a:t>
            </a:r>
            <a:endParaRPr lang="en-US" sz="105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6245352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(MoM PS Terendah)</a:t>
            </a:r>
            <a:endParaRPr lang="en-US" sz="1050" dirty="0"/>
          </a:p>
        </p:txBody>
      </p:sp>
      <p:graphicFrame>
        <p:nvGraphicFramePr>
          <p:cNvPr id="2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 Daya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1"/>
          <p:cNvSpPr/>
          <p:nvPr/>
        </p:nvSpPr>
        <p:spPr>
          <a:xfrm>
            <a:off x="320040" y="54315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Kontribusi Top/Bottom 5 terhadap Perubahan PS Regional</a:t>
            </a:r>
            <a:endParaRPr lang="en-US" sz="1500" dirty="0"/>
          </a:p>
        </p:txBody>
      </p:sp>
      <p:graphicFrame>
        <p:nvGraphicFramePr>
          <p:cNvPr id="2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05856"/>
          <a:ext cx="11548872" cy="914400"/>
        </p:xfrm>
        <a:graphic>
          <a:graphicData uri="http://schemas.openxmlformats.org/drawingml/2006/table">
            <a:tbl>
              <a:tblPr/>
              <a:tblGrid>
                <a:gridCol w="3849624"/>
                <a:gridCol w="3849624"/>
                <a:gridCol w="3849624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Top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Bottom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Perubahan PS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-547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-752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9" name="Text 12"/>
          <p:cNvSpPr/>
          <p:nvPr/>
        </p:nvSpPr>
        <p:spPr>
          <a:xfrm>
            <a:off x="320040" y="652881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47 kabupaten: Top 5 menyumbang +110, Bottom 5 -547, dan perubahan PS regional -752.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75 Mbps Tumbuh Tertinggi (-3,9%), TSEL One &gt;30 Mbps Turun Terdalam (-37,1%)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01–28 Okt 2026 vs MTD-1 01–28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RE &amp; PS Performance by Speed — Regional (6 kelompok, tidak digabung)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461504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777240"/>
                <a:gridCol w="713232"/>
                <a:gridCol w="777240"/>
                <a:gridCol w="777240"/>
                <a:gridCol w="713232"/>
                <a:gridCol w="64008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≥100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&gt;30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6027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High Speed Performance by WOK — PS ≥50 Mbps Reguler (TSEL One dipisah)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320040" y="534009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speed reguler 50/75/100 Mbps ke atas; TSEL One dipisahkan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320040" y="554126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Channel Performance — Agency vs Grapari (Regional)</a:t>
            </a:r>
            <a:endParaRPr lang="en-US" sz="1500" dirty="0"/>
          </a:p>
        </p:txBody>
      </p:sp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97296"/>
          <a:ext cx="10378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34440"/>
                <a:gridCol w="1234440"/>
                <a:gridCol w="1005840"/>
                <a:gridCol w="1234440"/>
                <a:gridCol w="1234440"/>
                <a:gridCol w="1005840"/>
                <a:gridCol w="914400"/>
                <a:gridCol w="12344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6.978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6.218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5.706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Grapari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 Active PS -9,2% MoM, DJP Data Transition — SF Register 918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01–28 Okt 2026 vs MTD-1 01–28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Sales Force Scorecard — Regional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1323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Indikator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Register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Transition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16.443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Transition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10896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SF/DJP per Branch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20040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ODP Occupancy Summary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45352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DJP pada ODP Khusus</a:t>
            </a:r>
            <a:endParaRPr lang="en-US" sz="15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266944"/>
          <a:ext cx="533095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  <a:gridCol w="868680"/>
                <a:gridCol w="868680"/>
                <a:gridCol w="98755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ORANGE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ODP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14.731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38.022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25.286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5.523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83.626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6245352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  <p:txBody>
          <a:bodyPr/>
          <a:p/>
        </p:txBody>
      </p:sp>
      <p:sp>
        <p:nvSpPr>
          <p:cNvPr id="15" name="Text 10"/>
          <p:cNvSpPr/>
          <p:nvPr/>
        </p:nvSpPr>
        <p:spPr>
          <a:xfrm>
            <a:off x="6355080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BLACK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355080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5.523
Dikunjungi: 0 (0,0%)
Visit DJP: 0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9201836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  <p:txBody>
          <a:bodyPr/>
          <a:p/>
        </p:txBody>
      </p:sp>
      <p:sp>
        <p:nvSpPr>
          <p:cNvPr id="18" name="Text 13"/>
          <p:cNvSpPr/>
          <p:nvPr/>
        </p:nvSpPr>
        <p:spPr>
          <a:xfrm>
            <a:off x="9311564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GREENFIELD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9311564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1.867
Dikunjungi: 0 (0,0%)
Visit DJP: 0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320040" y="3346704"/>
          <a:ext cx="9262861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2540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615024"/>
                <a:gridCol w="615024"/>
                <a:gridCol w="540021"/>
              </a:tblGrid>
              <a:tr h="152400">
                <a:tc rowSpan="2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Branch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Active DJP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Aktivitas DJP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5240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152400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364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+3,7%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233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192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-17,6%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223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-16,1%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227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6.782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152400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-11,7%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-13,0%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2.438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152400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+7,9%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+8,5%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+6,1%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2.441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152400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194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178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-8,2%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188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172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-8,5%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193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4.782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SF Segmentation by Class &amp; Matrix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01–28 Okt 2026 vs MTD-1 01–28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SF by Class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532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Greenfield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 Plus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45352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by Matrix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715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Champion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Explorer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Coaching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287121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Catatan: satu SF dapat aktif pada lebih dari satu kelompok speed — jumlah SF Active tidak dijumlahkan lintas kelompok.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01–28 Okt 2026 vs MTD-1 01–28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 / 28 (67,9%)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148 / 315 (47,0%)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-18,7% | Turun 111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187 / 364 (51,4%)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-15,4% | Turun 137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 / 15 (93,3%)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+7,7%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66 / 134 (49,3%)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-16,5% | Turun 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80 / 150 (53,3%)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-14,0% | Turun 42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 / 12 (75,0%)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+12,5%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109 / 148 (73,6%)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+6,9% | Turun 45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122 / 164 (74,4%)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+7,0% | Turun 53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 / 18 (72,2%)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-13,3% | Turun 11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149 / 212 (70,3%)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-9,7% | Turun 87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 / 9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-10,0% | Turun 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172 / 240 (71,7%)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-9,9% | Turun 107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55 / 73 (75,3%)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31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472 / 809 (58,3%)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-10,6% | Turun 281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17 / 19 (89,5%)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-10,5% | Turun 15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564 / 938 (60,1%)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-9,6% | Turun 344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-28,3%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930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-22,9%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-27,9%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604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2.009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221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537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758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+47,8%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687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778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1.154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209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-23,4%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1.515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506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-5,8%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3.308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-7,9%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408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-26,0%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234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-28,7%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604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-12,8%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5.084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-10,9%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28 (17,9%)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-37,5% | Turun 12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29 / 315 (9,2%)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-23,7% | Turun 111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6 (83,3%)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-16,7%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53 / 364 (14,6%)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-19,7% | Turun 137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 / 15 (73,3%)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 / 134 (13,4%)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-10,0% | Turun 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29 / 150 (19,3%)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-9,4% | Turun 42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12 (8,3%)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31 / 148 (20,9%)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+29,2% | Turun 45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4 (75,0%)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35 / 164 (21,3%)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53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18 (33,3%)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41 / 212 (19,3%)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+13,9% | Turun 87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9 (88,9%)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56 / 240 (23,3%)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+5,7% | Turun 107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23 / 73 (31,5%)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-8,0% | Turun 31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119 / 809 (14,7%)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+0,8% | Turun 281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15 / 19 (78,9%)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-21,1% | Turun 15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7 (85,7%)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-14,3% | Turun 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175 / 938 (18,7%)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-2,2% | Turun 344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Top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01–28 Okt 2026 vs MTD-1 01–28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RE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Abdul Muftholib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HAIDAR EL JAWAS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THERESIA NETIANA DELOS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ARDIANSYAH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GEDE EKA PANDI ASTAWAN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FAISAL HIDAYAT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SUSANA ASTUTI PIUNG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FITRI YUSINTA ELIK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Ida ayu pinky priyantini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 JENIATI BETI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PS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Abdul Muftholib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AISA TUKUBRA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HAIDAR EL JAWAS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GST BAGUS AGUNG ADIATMA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Baiq desi aryani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Samsul Hadi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NURUL QARIMAH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THERESIA NETIANA DELOS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FANCE AFI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 STEFANI WEA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Bottom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01–28 Okt 2026 vs MTD-1 01–28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RE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Indra syah putra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IRMA NUR AINI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Ida ayu Made Sri Pradnya tari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BQ DEWI NINGRUM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VALENTINUS S LEIN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umar mangu laga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Marselinus Supardi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MUHAZAM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YOHANES LABA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DELFIANA SILLA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PS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WINDA SAPUTRI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BQ DEWI NINGRUM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VALENTINUS S LEIN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umar mangu laga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Marselinus Supardi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MUHAZAM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YOHANES LABA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DELFIANA SILLA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Vira dwi agustin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GUSTI PUTU NGURAH UPHADANA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Detail Seluruh 12 WOK &amp; Kabupaten Denpasar, Flores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01–28 Okt 2026 vs MTD-1 01–28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Seluruh 12 WOK  (Br. = Branch: DPS Denpasar, FLR Flores, KPG Kupang, MTR Mataram)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317296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Kabupaten Denpasar &amp; Flores (18 dari 38 kabupaten)</a:t>
            </a:r>
            <a:endParaRPr lang="en-US" sz="15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Klaten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Kabupaten Kupang &amp; Mataram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01–28 Okt 2026 vs MTD-1 01–28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Kabupaten Kupang &amp; Mataram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 Daya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Hulu Sungai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4837176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Bersama Slide 11 (Denpasar &amp; Flores), tabel ini mencakup seluruh 38 kabupaten—masing-masing tampil tepat satu kali.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01–28 Okt 2026 vs MTD-1 01–28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PS by Speed — Region &amp;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2.341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2.020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1.048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914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1.244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1.195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1.168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826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341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439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525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56,6%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331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409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331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963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848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947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827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327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374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-55,6%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358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453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-44,4%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6.578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5.826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2.873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2.311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942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911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894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866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1.869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1.738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01–28 Okt 2026 vs MTD-1 01–28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Revenue New Sales by Speed — Region &amp; Branch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777240"/>
            <a:ext cx="43434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394,5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353,1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248,0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216,2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314,3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303,3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175,1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130,0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81,8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79,0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120,0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107,8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99,0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97,2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65,5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64,2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52,0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50,4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43,4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38,2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80,2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83,2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68,4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75,5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103,8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79,1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48,7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48,2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364,1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300,0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144,6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125,2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-36,1%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114,0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100,9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83,8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63,5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-49,1%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24,4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-55,6%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30,6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193,8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148,1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60,8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61,7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-45,7%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1,5 M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1,3 M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576,9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482,3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210,7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203,0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210,1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205,0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478,1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413,9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01–28 Okt 2026 vs MTD-1 01–28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941832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6280"/>
                <a:gridCol w="1064412"/>
                <a:gridCol w="1064412"/>
                <a:gridCol w="957970"/>
                <a:gridCol w="1064412"/>
                <a:gridCol w="1064412"/>
                <a:gridCol w="957970"/>
                <a:gridCol w="1383735"/>
                <a:gridCol w="1117632"/>
                <a:gridCol w="1117632"/>
              </a:tblGrid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8.310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7.439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-10,5%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6.578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5.826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-11,4%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Rp 1,3 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-11,6%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6.978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6.218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-10,9%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5.706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5.084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-10,9%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1,1 M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-10,9%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87,3%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623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562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-9,8%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425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354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86,7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-17,6%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502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473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-5,8%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330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289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-12,4%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81,9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-14,1%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173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153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-11,6%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-10,8%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19,6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-5,6%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2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-2,9%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4,0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-31,7%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0040" y="2761488"/>
            <a:ext cx="4572000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Kontributor Penurunan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SF ACTIVE TOTAL
RE: 581 | MoM -9,1%
PS: 561 | MoM -9,2%
• Elite
  RE: 10 | Active 100,0% | MoM 0,0%
  PS: 10 | Active 100,0% | MoM 0,0%
• Performer
  RE: 7 | Active 100,0% | MoM 0,0%
  PS: 7 | Active 100,0% | MoM 0,0%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6976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Junior
  RE: 492 | Active 60,8% | MoM -10,1%
  PS: 472 | Active 58,3% | MoM -10,4%
• Greenfield
  RE: 55 | Active 75,3% | MoM -3,5%
  PS: 55 | Active 75,3% | MoM -1,8%
• Junior Plus
  RE: 17 | Active 89,5% | MoM -5,6%
  PS: 17 | Active 89,5% | MoM -5,6%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3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GraPARI Performance per Branch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PER BRANCH
• Denpasar: PS -39,8%, Gap -45
• Flores: PS -13,3%, Gap -18
• Kupang: PS -22,4%, Gap -11
• Mataram: PS -16,0%, Gap -19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9992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BOTTOM 5 PS MoM
• Grapari Malaka (Kupang): -75,0%, Gap -3
• Grapari Amlapura (Denpasar): -66,7%, Gap -2
• Grapari Baa Rote (Kupang): -66,7%, Gap -2
• Grapari Soe (Kupang): -66,7%, Gap -4
• Grapari Gatsu Tengah (Denpasar): -60,0%, Gap -3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Barat: RE -253 (-28,0%), PS -241 (-30,5%)
• Bali Tengah: RE -208 (-13,2%), PS -198 (-14,9%)
• Bali Timur: RE -116 (-22,2%), PS -69 (-17,2%)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36976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28416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46704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Sumbawa Timur: RE -14 (-28,6%), PS -13 (-44,8%)
• Sumbawa Barat: RE -14 (-48,3%), PS -10 (-62,5%)
• Bali Tengah: RE -13 (-7,4%), PS -8 (-6,3%)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3912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5351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Tengah: RE -14 (-25,5%), PS -9 (-24,3%)
• Lombok: RE 0 (0,0%), PS -7 (-50,0%)
• Flores Timur: RE +1 (+50,0%), PS -2 (-100,0%)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70848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62288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0576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Tengah: RE 0 (0,0%), PS -3 (-60,0%)
• Manggarai: RE -2 (-40,0%), PS -3 (-75,0%)
• Bali Timur: RE -1 (-16,7%), PS -2 (-40,0%)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BILCO Performance — BALINUSRA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10/28/2026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95.33%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95.43% | MoM -0.10 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15184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TARGET / GAP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97.21%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-1.88 pp | Rp-2.01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0328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PAID RATE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94.92%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94.83% | MoM +0.09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5472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PAYMENT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Rp102.02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Rp101.58 M | MoM +0.4%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0616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BILLING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Rp107.02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+0.5%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1627632"/>
          <a:ext cx="11548869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0819"/>
                <a:gridCol w="918805"/>
                <a:gridCol w="918805"/>
                <a:gridCol w="995372"/>
                <a:gridCol w="918805"/>
                <a:gridCol w="1339924"/>
                <a:gridCol w="918805"/>
                <a:gridCol w="918805"/>
                <a:gridCol w="918805"/>
                <a:gridCol w="1339924"/>
              </a:tblGrid>
              <a:tr h="271630"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C3MR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Paid Rate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Payment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Gap %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Gap Rp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96.18%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-0.05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95.73%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+0.14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Rp54.09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+0.3%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-1.40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Rp-788.4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93.46%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-0.44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92.73%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-0.24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Rp9.54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-3.24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Rp-330.6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93.02%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-0.04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92.42%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+0.12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Rp14.36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-0.4%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-2.81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Rp-433.4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95.60%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95.26%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+0.07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Rp24.02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+1.5%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-1.85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Rp-463.6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95.27%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-0.23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94.75%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-0.06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Rp10.58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+0.3%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-2.31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Rp-257.1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96.34%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+0.04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95.86%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+0.24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Rp30.46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+0.4%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-1.24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Rp-393.2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96.56%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96.29%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+0.06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Rp13.05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-1.02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Rp-138.1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93.89%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+0.29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92.96%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+0.50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Rp3.72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+1.5%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-2.81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Rp-111.2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89.27%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-4.87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88.93%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-4.47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Rp1.97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-4.2%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-7.43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Rp-164.2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93.67%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+0.00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93.03%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+0.16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Rp8.06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-0.8%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-2.16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Rp-185.5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91.34%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+0.20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90.76%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+0.39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Rp3.53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+0.2%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-4.49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Rp-173.5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95.33%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+1.28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94.73%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+1.49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Rp3.85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+0.9%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-1.37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Rp-55.2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93.33%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-0.48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92.89%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-0.38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Rp2.77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+0.2%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-2.50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Rp-74.4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96.02%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95.65%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+0.16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Rp13.19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+1.5%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-1.43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Rp-196.5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95.08%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-0.27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94.95%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-0.26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Rp4.53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+1.0%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-2.37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Rp-113.1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4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95.13%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-0.02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94.73%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+0.13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Rp6.30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+1.8%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-2.32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Rp-153.9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BILCO by LOS — Regional &amp; 4 Branch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10/28/2026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28600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REGIONAL 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95.33%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-0.10 pp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664208"/>
          <a:ext cx="11548871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9554"/>
                <a:gridCol w="2095149"/>
                <a:gridCol w="1788542"/>
                <a:gridCol w="1788542"/>
                <a:gridCol w="1788542"/>
                <a:gridCol w="1788542"/>
              </a:tblGrid>
              <a:tr h="333102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BALINUSRA M / 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DENPASAR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FLORES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KUPANG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MATARAM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97.99% / -0.36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98.45% / -0.61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97.87% / +1.02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96.15% / -0.54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98.29% / -0.43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93.06% / +0.33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94.29% / +0.48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91.79% / +0.40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90.41% / +1.70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93.19% / -1.15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88.90% / -0.18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88.61% / -0.21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87.19% / -0.89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85.97% / -0.89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92.36% / +0.43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92.11% / -0.07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92.65% / -0.06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90.37% / -0.24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90.00% / -0.06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93.57% / +0.10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93.53% / +0.05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94.32% / -0.08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91.98% / -0.58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90.66% / -0.01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94.56% / +0.56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33310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96.60% / -0.13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97.25% / -0.05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95.17% / -0.50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94.91% / -0.09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96.52% / -0.25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0040" y="475488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Format sel: C3MR M / MoM (pp). Fokus pada posisi bulan berjalan dan perubahan vs M-1.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CAPS Performance — BALINUSRA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10/27/2026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658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M-1 655 | MoM +0.5%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677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-19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+3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664208"/>
          <a:ext cx="11548869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6141"/>
                <a:gridCol w="1461882"/>
                <a:gridCol w="1461882"/>
                <a:gridCol w="1169506"/>
                <a:gridCol w="1315694"/>
                <a:gridCol w="1461882"/>
                <a:gridCol w="1461882"/>
              </a:tblGrid>
              <a:tr h="255494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-8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-8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+4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</a:tr>
              <a:tr h="255496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CAPS by LOS — Regional &amp; 4 Branch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10/27/2026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32688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0">
                <a:solidFill>
                  <a:srgbClr val="64748B"/>
                </a:solidFill>
                <a:latin typeface="Arial"/>
              </a:defRPr>
            </a:pPr>
            <a:r>
              <a:t>CAPS M / MoM vs M-1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225296"/>
          <a:ext cx="11548872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147"/>
                <a:gridCol w="2085213"/>
                <a:gridCol w="1817878"/>
                <a:gridCol w="1817878"/>
                <a:gridCol w="1817878"/>
                <a:gridCol w="1817878"/>
              </a:tblGrid>
              <a:tr h="310896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BALINUSRA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DENPASAR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FLORES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KUPANG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MATARAM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 / +800.0%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 / +800.0%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109 / +1.9%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81 / +5.2%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6 / -14.3%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21 / -8.7%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537 / -1.8%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440 / +0.7%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4 / -33.3%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25 / -13.8%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68 / -9.3%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BALINUSRA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29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175,231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126,125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72.0%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49,106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1060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6784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BALINUSRA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175,231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7,099 / 98.3%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7,308 / 95.7%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7,469 / 90.1%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7,203 / 86.5%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7,971 / 83.5%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7,683 / 80.7%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3,106 / 98.5%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3,306 / 97.5%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3,354 / 90.4%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2,988 / 86.5%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3,398 / 82.8%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3,325 / 80.4%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1,010 / 98.0%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894 / 94.1%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997 / 89.5%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955 / 83.8%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1,159 / 82.6%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1,057 / 79.8%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943 / 96.5%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951 / 93.8%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1,104 / 86.0%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1,284 / 82.2%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1,369 / 79.9%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1,342 / 79.3%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2,040 / 98.9%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2,157 / 94.3%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2,014 / 92.1%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1,976 / 90.7%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2,045 / 87.4%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1,959 / 82.7%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1060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6784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BALINUSRA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175,231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7,715 / 79.9%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6,964 / 79.3%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7,164 / 78.0%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7,111 / 74.5%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6,489 / 73.4%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7,849 / 69.5%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3,413 / 79.9%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2,962 / 78.4%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3,103 / 76.6%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3,350 / 73.9%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2,790 / 72.7%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3,773 / 67.6%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1,200 / 79.6%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966 / 80.8%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861 / 80.1%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807 / 73.2%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921 / 73.9%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831 / 69.2%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1,509 / 78.3%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1,276 / 78.4%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1,246 / 78.5%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1,088 / 73.0%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1,063 / 72.2%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1,247 / 69.4%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1,593 / 81.7%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1,760 / 80.5%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1,954 / 79.2%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1,866 / 77.0%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1,715 / 75.0%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1,998 / 73.3%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1060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6784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BALINUSRA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175,231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6,837 / 67.3%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7,515 / 67.2%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8,014 / 66.4%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7,517 / 62.6%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7,658 / 61.5%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7,174 / 61.1%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3,134 / 66.2%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3,494 / 67.3%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3,969 / 65.9%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3,612 / 63.8%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3,772 / 61.0%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3,480 / 61.6%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696 / 64.9%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811 / 66.0%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811 / 60.5%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686 / 59.8%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727 / 61.1%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749 / 60.0%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1,202 / 66.0%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1,273 / 64.1%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1,202 / 63.6%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1,295 / 56.1%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1,163 / 55.7%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1,132 / 58.9%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1,805 / 71.0%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1,937 / 69.3%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2,032 / 71.6%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1,924 / 65.8%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1,996 / 66.2%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1,813 / 62.2%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1060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6784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BALINUSRA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175,231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6,985 / 62.2%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7,134 / 60.3%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7,691 / 60.5%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7,472 / 56.8%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6,644 / 56.8%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6,565 / 52.7%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3,403 / 64.2%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3,381 / 62.3%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3,839 / 61.2%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3,450 / 58.7%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3,102 / 58.9%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3,207 / 55.4%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776 / 60.0%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705 / 57.3%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626 / 65.0%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669 / 54.7%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574 / 57.5%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620 / 54.4%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1,262 / 54.3%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1,180 / 53.0%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1,207 / 53.5%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1,246 / 47.5%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1,227 / 47.7%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1,070 / 44.1%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1,544 / 65.7%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1,868 / 62.3%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2,019 / 61.7%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2,107 / 59.9%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1,741 / 59.3%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1,668 / 52.6%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2026-08-16T22:33:52Z</dcterms:created>
  <dcterms:modified xsi:type="dcterms:W3CDTF">2026-08-16T22:33:52Z</dcterms:modified>
</cp:coreProperties>
</file>