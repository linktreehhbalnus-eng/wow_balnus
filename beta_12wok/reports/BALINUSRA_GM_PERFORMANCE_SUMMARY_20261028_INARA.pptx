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  <p:sldId id="276" r:id="rId27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15/10</c:v>
                </c:pt>
                <c:pt idx="1">
                  <c:v>16/10</c:v>
                </c:pt>
                <c:pt idx="2">
                  <c:v>17/10</c:v>
                </c:pt>
                <c:pt idx="3">
                  <c:v>18/10</c:v>
                </c:pt>
                <c:pt idx="4">
                  <c:v>19/10</c:v>
                </c:pt>
                <c:pt idx="5">
                  <c:v>20/10</c:v>
                </c:pt>
                <c:pt idx="6">
                  <c:v>21/10</c:v>
                </c:pt>
                <c:pt idx="7">
                  <c:v>22/10</c:v>
                </c:pt>
                <c:pt idx="8">
                  <c:v>23/10</c:v>
                </c:pt>
                <c:pt idx="9">
                  <c:v>24/10</c:v>
                </c:pt>
                <c:pt idx="10">
                  <c:v>25/10</c:v>
                </c:pt>
                <c:pt idx="11">
                  <c:v>26/10</c:v>
                </c:pt>
                <c:pt idx="12">
                  <c:v>27/10</c:v>
                </c:pt>
                <c:pt idx="13">
                  <c:v>28/10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281.0</c:v>
                </c:pt>
                <c:pt idx="1">
                  <c:v>283.0</c:v>
                </c:pt>
                <c:pt idx="2">
                  <c:v>216.0</c:v>
                </c:pt>
                <c:pt idx="3">
                  <c:v>206.0</c:v>
                </c:pt>
                <c:pt idx="4">
                  <c:v>321.0</c:v>
                </c:pt>
                <c:pt idx="5">
                  <c:v>341.0</c:v>
                </c:pt>
                <c:pt idx="6">
                  <c:v>273.0</c:v>
                </c:pt>
                <c:pt idx="7">
                  <c:v>298.0</c:v>
                </c:pt>
                <c:pt idx="8">
                  <c:v>244.0</c:v>
                </c:pt>
                <c:pt idx="9">
                  <c:v>214.0</c:v>
                </c:pt>
                <c:pt idx="10">
                  <c:v>157.0</c:v>
                </c:pt>
                <c:pt idx="11">
                  <c:v>288.0</c:v>
                </c:pt>
                <c:pt idx="12">
                  <c:v>281.0</c:v>
                </c:pt>
                <c:pt idx="13">
                  <c:v>250.0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15/10</c:v>
                </c:pt>
                <c:pt idx="1">
                  <c:v>16/10</c:v>
                </c:pt>
                <c:pt idx="2">
                  <c:v>17/10</c:v>
                </c:pt>
                <c:pt idx="3">
                  <c:v>18/10</c:v>
                </c:pt>
                <c:pt idx="4">
                  <c:v>19/10</c:v>
                </c:pt>
                <c:pt idx="5">
                  <c:v>20/10</c:v>
                </c:pt>
                <c:pt idx="6">
                  <c:v>21/10</c:v>
                </c:pt>
                <c:pt idx="7">
                  <c:v>22/10</c:v>
                </c:pt>
                <c:pt idx="8">
                  <c:v>23/10</c:v>
                </c:pt>
                <c:pt idx="9">
                  <c:v>24/10</c:v>
                </c:pt>
                <c:pt idx="10">
                  <c:v>25/10</c:v>
                </c:pt>
                <c:pt idx="11">
                  <c:v>26/10</c:v>
                </c:pt>
                <c:pt idx="12">
                  <c:v>27/10</c:v>
                </c:pt>
                <c:pt idx="13">
                  <c:v>28/10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206.0</c:v>
                </c:pt>
                <c:pt idx="1">
                  <c:v>212.0</c:v>
                </c:pt>
                <c:pt idx="2">
                  <c:v>190.0</c:v>
                </c:pt>
                <c:pt idx="3">
                  <c:v>146.0</c:v>
                </c:pt>
                <c:pt idx="4">
                  <c:v>256.0</c:v>
                </c:pt>
                <c:pt idx="5">
                  <c:v>261.0</c:v>
                </c:pt>
                <c:pt idx="6">
                  <c:v>249.0</c:v>
                </c:pt>
                <c:pt idx="7">
                  <c:v>220.0</c:v>
                </c:pt>
                <c:pt idx="8">
                  <c:v>197.0</c:v>
                </c:pt>
                <c:pt idx="9">
                  <c:v>189.0</c:v>
                </c:pt>
                <c:pt idx="10">
                  <c:v>119.0</c:v>
                </c:pt>
                <c:pt idx="11">
                  <c:v>211.0</c:v>
                </c:pt>
                <c:pt idx="12">
                  <c:v>187.0</c:v>
                </c:pt>
                <c:pt idx="13">
                  <c:v>230.0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-10,5% &amp; PS -11,4% MoM — Achievement Mencapai 65,2% (RE) / 62,9%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Okt 2026 vs MTD-1 01–28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28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Okt 2026 vs MTD-1 01–28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01–28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 Pendorong Utama PS (-3,1%), Denpasar Terdalam (-19,6%)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Okt 2026 vs MTD-1 01–28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-3,1%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-3,3%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-7,0%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-19,6%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77,0%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70,5%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65,2%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55,4%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(+9,1%), Flores Timur Terdalam (-35,6%)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Okt 2026 vs MTD-1 01–28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Penyumbang PS Absolut Terbesar (+29), Sumba Tengah Tumbuh Tertinggi (+42,9%)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Okt 2026 vs MTD-1 01–28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-752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47 kabupaten: Top 5 menyumbang +110, Bottom 5 -547, dan perubahan PS regional -752.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(-3,9%), TSEL One &gt;30 Mbps Turun Terdalam (-37,1%)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Okt 2026 vs MTD-1 01–28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-9,2% MoM, DJP Data Transition — SF Register 918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Okt 2026 vs MTD-1 01–28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14.731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38.022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25.286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5.523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83.626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5.523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1.867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6.782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2.438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2.441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4.782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Okt 2026 vs MTD-1 01–28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01–28 Okt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28 (67,9%)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148 / 315 (47,0%)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-18,7% | Turun 111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187 / 364 (51,4%)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-15,4% | Turun 137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15 (93,3%)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+7,7%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66 / 134 (49,3%)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-16,5%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 / 150 (53,3%)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-14,0% | Turun 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12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109 / 148 (73,6%)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+6,9% | Turun 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122 / 164 (74,4%)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+7,0%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18 (72,2%)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149 / 212 (70,3%)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-9,7% | Turun 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172 / 240 (71,7%)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-9,9% | Turun 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55 / 73 (75,3%)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472 / 809 (58,3%)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-10,6% | Turun 281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 / 19 (89,5%)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-10,5% | Turun 15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564 / 938 (60,1%)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-9,6% | Turun 344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2.009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1.154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1.515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506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3.308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604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5.084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28 (17,9%)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 | Turun 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 / 315 (9,2%)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-23,7% | Turun 111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 / 364 (14,6%)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-19,7% | Turun 137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15 (73,3%)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134 (13,4%)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 / 150 (19,3%)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-9,4% | Turun 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12 (8,3%)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148 (20,9%)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+29,2% | Turun 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 / 164 (21,3%)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18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212 (19,3%)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+13,9% | Turun 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56 / 240 (23,3%)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+5,7% | Turun 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23 / 73 (31,5%)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-8,0% | Turun 31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119 / 809 (14,7%)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+0,8% | Turun 281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 / 19 (78,9%)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-21,1% | Turun 15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175 / 938 (18,7%)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-2,2% | Turun 344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Okt 2026 vs MTD-1 01–28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FAISAL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pinky priyantini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JENIATI BETI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GST BAGUS AGUNG ADIATMA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Baiq desi aryani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NURUL QARIMAH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FANCE AFI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STEFANI WEA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Okt 2026 vs MTD-1 01–28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MUHAZAM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LABA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DELFIANA SILLA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MUHAZAM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LABA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DELFIANA SILLA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Vira dwi agustin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PUTU NGURAH UPHADANA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Okt 2026 vs MTD-1 01–28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Okt 2026 vs MTD-1 01–28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01–28 Okt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2.341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2.020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1.195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6.578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5.826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2.873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2.311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1.869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1.738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01–28 Okt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01–28 Okt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8.310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7.439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6.578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5.826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1,3 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6.978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6.218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5.706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5.084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1,1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86,7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81,9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-31,7%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581 | MoM -9,1%
PS: 561 | MoM -9,2%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492 | Active 60,8% | MoM -10,1%
  PS: 472 | Active 58,3% | MoM -10,4%
• Greenfield
  RE: 55 | Active 75,3% | MoM -3,5%
  PS: 55 | Active 75,3% | MoM -1,8%
• Junior Plus
  RE: 17 | Active 89,5% | MoM -5,6%
  PS: 17 | Active 89,5% | MoM -5,6%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-39,8%, Gap -45
• Flores: PS -13,3%, Gap -18
• Kupang: PS -22,4%, Gap -11
• Mataram: PS -16,0%, Gap -19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Malaka (Kupang): -75,0%, Gap -3
• Grapari Amlapura (Denpasar): -66,7%, Gap -2
• Grapari Baa Rote (Kupang): -66,7%, Gap -2
• Grapari Soe (Kupang): -66,7%, Gap -4
• Grapari Gatsu Tengah (Denpasar): -60,0%, Gap -3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-253 (-28,0%), PS -241 (-30,5%)
• Bali Tengah: RE -208 (-13,2%), PS -198 (-14,9%)
• Bali Timur: RE -116 (-22,2%), PS -69 (-17,2%)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-14 (-28,6%), PS -13 (-44,8%)
• Sumbawa Barat: RE -14 (-48,3%), PS -10 (-62,5%)
• Bali Tengah: RE -13 (-7,4%), PS -8 (-6,3%)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-14 (-25,5%), PS -9 (-24,3%)
• Lombok: RE 0 (0,0%), PS -7 (-50,0%)
• Flores Timur: RE +1 (+50,0%), PS -2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0 (0,0%), PS -3 (-60,0%)
• Manggarai: RE -2 (-40,0%), PS -3 (-75,0%)
• Bali Timur: RE -1 (-16,7%), PS -2 (-40,0%)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95.33%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95.43% | MoM -0.10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-1.88 pp | Rp-2.01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94.92%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94.83% | MoM +0.09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Rp102.02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Rp101.58 M | MoM +0.4%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Rp107.02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27632"/>
          <a:ext cx="11548869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819"/>
                <a:gridCol w="918805"/>
                <a:gridCol w="918805"/>
                <a:gridCol w="995372"/>
                <a:gridCol w="918805"/>
                <a:gridCol w="1339924"/>
                <a:gridCol w="918805"/>
                <a:gridCol w="918805"/>
                <a:gridCol w="918805"/>
                <a:gridCol w="1339924"/>
              </a:tblGrid>
              <a:tr h="271630"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96.18%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95.73%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Rp54.09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-1.40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Rp-788.4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93.46%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92.73%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Rp9.54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-3.24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Rp-330.6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93.02%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92.42%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Rp14.36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-2.81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Rp-433.4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95.60%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95.26%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Rp24.02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-1.85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Rp-463.6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95.27%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94.75%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Rp10.58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Rp-257.1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96.34%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Rp30.46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Rp-393.2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96.56%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96.29%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Rp13.05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-1.02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Rp-138.1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93.89%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92.96%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Rp3.72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-2.81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Rp-111.2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89.27%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-4.87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88.93%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-4.47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Rp1.97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-7.43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Rp-164.2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93.67%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+0.00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93.03%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Rp8.06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-2.16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Rp-185.5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91.34%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90.76%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Rp3.53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-4.49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Rp-173.5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95.33%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+1.28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94.73%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+1.49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-1.37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Rp-55.2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93.33%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92.89%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Rp2.77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-2.50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Rp-74.4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96.02%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95.65%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Rp13.19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-1.43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Rp-196.5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95.08%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94.95%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Rp4.53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Rp-113.1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4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95.13%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94.73%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Rp6.30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Rp-153.9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2860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REGIONAL 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95.33%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-0.10 pp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664208"/>
          <a:ext cx="11548871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554"/>
                <a:gridCol w="2095149"/>
                <a:gridCol w="1788542"/>
                <a:gridCol w="1788542"/>
                <a:gridCol w="1788542"/>
                <a:gridCol w="1788542"/>
              </a:tblGrid>
              <a:tr h="333102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97.99% / -0.36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98.45% / -0.61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97.87% / +1.02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96.15% / -0.54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98.29% / -0.43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93.06% / +0.33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94.29% / +0.48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91.79% / +0.40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90.41% / +1.70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93.19% / -1.15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88.90% / -0.18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88.61% / -0.21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87.19% / -0.89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85.97% / -0.89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92.36% / +0.43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92.11% / -0.07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92.65% / -0.06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90.37% / -0.24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90.00% / -0.06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93.57% / +0.10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93.53% / +0.05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94.32% / -0.08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91.98% / -0.58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90.66% / -0.01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94.56% / +0.56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96.60% / -0.13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97.25% / -0.05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95.17% / -0.50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94.91% / -0.09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96.52% / -0.25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47548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Format sel: C3MR M / MoM (pp). Fokus pada posisi bulan berjalan dan perubahan vs M-1.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10/27/2026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658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M-1 655 | MoM +0.5%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6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5549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55496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10/27/2026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0">
                <a:solidFill>
                  <a:srgbClr val="64748B"/>
                </a:solidFill>
                <a:latin typeface="Arial"/>
              </a:defRPr>
            </a:pPr>
            <a:r>
              <a:t>CAPS M / MoM vs M-1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25296"/>
          <a:ext cx="11548872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2147"/>
                <a:gridCol w="2085213"/>
                <a:gridCol w="1817878"/>
                <a:gridCol w="1817878"/>
                <a:gridCol w="1817878"/>
                <a:gridCol w="1817878"/>
              </a:tblGrid>
              <a:tr h="31089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BALINUSRA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+800.0%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+800.0%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109 / +1.9%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81 / +5.2%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 / -14.3%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 / -8.7%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537 / -1.8%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440 / +0.7%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 / 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25 / -13.8%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68 / -9.3%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29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175,231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126,125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72.0%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49,106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7,099 / 98.3%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7,308 / 95.7%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7,469 / 90.1%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7,203 / 86.5%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7,971 / 83.5%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7,683 / 80.7%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98.5%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97.5%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90.4%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86.5%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82.8%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80.4%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98.0%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89.5%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83.8%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82.6%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79.8%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96.5%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93.8%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86.0%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82.2%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79.9%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79.3%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98.9%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94.3%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92.1%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90.7%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87.4%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82.7%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7,715 / 79.9%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6,964 / 79.3%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7,164 / 78.0%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7,111 / 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6,489 / 73.4%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7,849 / 69.5%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79.9%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78.4%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76.6%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73.9%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72.7%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67.6%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79.6%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80.8%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80.1%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73.2%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73.9%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69.2%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78.3%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78.4%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78.5%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72.2%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69.4%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81.7%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80.5%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79.2%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77.0%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75.0%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73.3%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6,837 / 67.3%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7,515 / 67.2%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8,014 / 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7,517 / 62.6%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7,658 / 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7,174 / 61.1%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66.2%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67.3%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65.9%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63.8%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61.0%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61.6%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64.9%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60.5%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59.8%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60.0%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63.6%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56.1%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55.7%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58.9%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69.3%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71.6%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66.2%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62.2%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6,985 / 62.2%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7,134 / 60.3%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7,691 / 60.5%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7,472 / 56.8%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6,644 / 56.8%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6,565 / 52.7%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64.2%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62.3%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61.2%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58.7%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58.9%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55.4%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57.3%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65.0%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54.7%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57.5%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54.4%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54.3%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53.0%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53.5%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47.5%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47.7%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44.1%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65.7%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62.3%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61.7%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59.3%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52.6%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