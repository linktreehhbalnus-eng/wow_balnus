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48.0</c:v>
                </c:pt>
                <c:pt idx="1">
                  <c:v>54.0</c:v>
                </c:pt>
                <c:pt idx="2">
                  <c:v>40.0</c:v>
                </c:pt>
                <c:pt idx="3">
                  <c:v>28.0</c:v>
                </c:pt>
                <c:pt idx="4">
                  <c:v>43.0</c:v>
                </c:pt>
                <c:pt idx="5">
                  <c:v>48.0</c:v>
                </c:pt>
                <c:pt idx="6">
                  <c:v>50.0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Lombok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25.0</c:v>
                </c:pt>
                <c:pt idx="1">
                  <c:v>30.0</c:v>
                </c:pt>
                <c:pt idx="2">
                  <c:v>20.0</c:v>
                </c:pt>
                <c:pt idx="3">
                  <c:v>14.0</c:v>
                </c:pt>
                <c:pt idx="4">
                  <c:v>25.0</c:v>
                </c:pt>
                <c:pt idx="5">
                  <c:v>25.0</c:v>
                </c:pt>
                <c:pt idx="6">
                  <c:v>23.0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Sumbawa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6.0</c:v>
                </c:pt>
                <c:pt idx="1">
                  <c:v>7.0</c:v>
                </c:pt>
                <c:pt idx="2">
                  <c:v>5.0</c:v>
                </c:pt>
                <c:pt idx="3">
                  <c:v>2.0</c:v>
                </c:pt>
                <c:pt idx="4">
                  <c:v>9.0</c:v>
                </c:pt>
                <c:pt idx="5">
                  <c:v>5.0</c:v>
                </c:pt>
                <c:pt idx="6">
                  <c:v>9.0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Sumbawa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17.0</c:v>
                </c:pt>
                <c:pt idx="1">
                  <c:v>17.0</c:v>
                </c:pt>
                <c:pt idx="2">
                  <c:v>15.0</c:v>
                </c:pt>
                <c:pt idx="3">
                  <c:v>12.0</c:v>
                </c:pt>
                <c:pt idx="4">
                  <c:v>9.0</c:v>
                </c:pt>
                <c:pt idx="5">
                  <c:v>17.0</c:v>
                </c:pt>
                <c:pt idx="6">
                  <c:v>18.0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</c:strCache>
            </c:strRef>
          </c:cat>
          <c:val>
            <c:numRef>
              <c:f>Sheet1!$F$2:$F$8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1.0</c:v>
                </c:pt>
                <c:pt idx="6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48.0</c:v>
                </c:pt>
                <c:pt idx="1">
                  <c:v>47.0</c:v>
                </c:pt>
                <c:pt idx="2">
                  <c:v>36.0</c:v>
                </c:pt>
                <c:pt idx="3">
                  <c:v>30.0</c:v>
                </c:pt>
                <c:pt idx="4">
                  <c:v>42.0</c:v>
                </c:pt>
                <c:pt idx="5">
                  <c:v>27.0</c:v>
                </c:pt>
                <c:pt idx="6">
                  <c:v>55.0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Lombok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29.0</c:v>
                </c:pt>
                <c:pt idx="1">
                  <c:v>23.0</c:v>
                </c:pt>
                <c:pt idx="2">
                  <c:v>22.0</c:v>
                </c:pt>
                <c:pt idx="3">
                  <c:v>18.0</c:v>
                </c:pt>
                <c:pt idx="4">
                  <c:v>17.0</c:v>
                </c:pt>
                <c:pt idx="5">
                  <c:v>14.0</c:v>
                </c:pt>
                <c:pt idx="6">
                  <c:v>30.0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Sumbawa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4.0</c:v>
                </c:pt>
                <c:pt idx="1">
                  <c:v>5.0</c:v>
                </c:pt>
                <c:pt idx="2">
                  <c:v>5.0</c:v>
                </c:pt>
                <c:pt idx="3">
                  <c:v>3.0</c:v>
                </c:pt>
                <c:pt idx="4">
                  <c:v>9.0</c:v>
                </c:pt>
                <c:pt idx="5">
                  <c:v>7.0</c:v>
                </c:pt>
                <c:pt idx="6">
                  <c:v>7.0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Sumbawa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15.0</c:v>
                </c:pt>
                <c:pt idx="1">
                  <c:v>19.0</c:v>
                </c:pt>
                <c:pt idx="2">
                  <c:v>9.0</c:v>
                </c:pt>
                <c:pt idx="3">
                  <c:v>9.0</c:v>
                </c:pt>
                <c:pt idx="4">
                  <c:v>16.0</c:v>
                </c:pt>
                <c:pt idx="5">
                  <c:v>6.0</c:v>
                </c:pt>
                <c:pt idx="6">
                  <c:v>18.0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</c:strCache>
            </c:strRef>
          </c:cat>
          <c:val>
            <c:numRef>
              <c:f>Sheet1!$F$2:$F$8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01–07 Oct 2026 vs MTD-1 01–07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3.019,5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18,7%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2.453,5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2.449,7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17,6%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2.019,7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69,4%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+6,6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Mataram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19,4%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1.245,7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18,4%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1.023,2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16,4%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367,0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18,4%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764,8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17,9%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629,5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Dompu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+54,2%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+31,6%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Utara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01–07 Oct 2026 vs MTD-1 01–07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749808"/>
            <a:ext cx="329184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SF Register: 240 → 237  (-1,2%)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8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-10,0%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140   Δ -14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+12,4%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113   Δ 14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95   Current DJP unavailable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24744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1.565   Current DJP unavailable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2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088"/>
                <a:gridCol w="613666"/>
                <a:gridCol w="613666"/>
                <a:gridCol w="613666"/>
                <a:gridCol w="681852"/>
                <a:gridCol w="681852"/>
                <a:gridCol w="681852"/>
                <a:gridCol w="681852"/>
                <a:gridCol w="681852"/>
                <a:gridCol w="681852"/>
                <a:gridCol w="664805"/>
                <a:gridCol w="664805"/>
                <a:gridCol w="664805"/>
                <a:gridCol w="767083"/>
                <a:gridCol w="767083"/>
                <a:gridCol w="76708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TOTAL 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+12,4%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1.565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+9,4%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-21,7%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+26,7%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+11,8%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760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Mataram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01–07 Oct 2026 vs MTD-1 01–07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11 / 16 (68,8%)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+22,2%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105 / 210 (50,0%)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+12,9% | Turun 41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127 / 237 (53,6%)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+12,4% | Turun 50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11 (54,5%)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58 / 128 (45,3%)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+11,5% | Turun 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70 / 145 (48,3%)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+9,4% | Turun 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16 / 35 (45,7%)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+33,3%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19 / 38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+26,7% | Turun 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+200,0%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31 / 47 (66,0%)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+6,9% | Turun 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38 / 54 (70,4%)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+11,8% | Turun 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277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61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+36,4%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379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147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209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16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 / 210 (0,5%)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-66,7% | Turun 41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 / 10 (10,0%)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-50,0%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 / 237 (1,3%)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-50,0% | Turun 50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128 (0,8%)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 / 5 (20,0%)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 / 145 (2,1%)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-25,0% | Turun 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2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35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38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3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47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4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54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01–07 Oct 2026 vs MTD-1 01–07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01–07 Oct 2026 vs MTD-1 01–07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+31,5%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Mataram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3.079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8.997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6.358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19.836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15,5%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1.386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565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01–07 Oct 2026 vs MTD-1 01–07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101,9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89,2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-36,0%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126 | MoM -10,0%
PS: 127 | MoM +12,4%
• Performer
  RE: 1 | Active 100,0% | MoM 0,0%
  PS: 1 | Active 100,0% | MoM 0,0%
• Junior
  RE: 103 | Active 49,0% | MoM -12,7%
  PS: 105 | Active 50,0% | MoM +12,9%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12 | Active 75,0% | MoM +9,1%
  PS: 11 | Active 68,8% | MoM +22,2%
• Junior Plus
  RE: 10 | Active 100,0% | MoM 0,0%
  PS: 10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Bima: PS -61,5%, Gap -8
• Grapari Dompu: PS +100,0%, Gap 3
• Grapari Lombok Timur: PS 0,0%, Gap 0
• Grapari Lombok Utara: PS N/A, Gap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Maluk: PS N/A, Gap 2
• Grapari Mataram: PS -76,5%, Gap -13
• Grapari Sumbawa: PS -50,0%, Gap -2
• Grapari Taliwang: PS N/A, Gap 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Lombok: RE -33 (-11,2%), PS -21 (-9,1%)
• Sumbawa Barat: RE -34 (-34,7%), PS -2 (-3,9%)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Sumbawa Timur: RE -4 (-30,8%), PS -4 (-66,7%)
• Lombok: RE 3 (+16,7%), PS -3 (-23,1%)
• Sumbawa Barat: RE -3 (-50,0%), PS -3 (-42,9%)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Sumbawa Timur: RE -8 (-100,0%), PS -2 (-40,0%)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Sumbawa Timur: RE -1 (-100,0%), PS -1 (-100,0%)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01–07 Oct 2026 vs MTD-1 01–07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01–07 Oct 2026 vs MTD-1 01–07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25,3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560,0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22,7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565,0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590,0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109,2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102,4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59,5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15,0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34,6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01–07 Oct 2026 vs MTD-1 01–07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NURYANTI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SPYYU45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BAMBANG WAHYUDDIN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SPGWW15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SRI MARLINA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SPSLR09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Teddy Soeyitno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TED7472620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LIA MISWAN ANJANI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SPKEMO5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Mita muliati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MIT4358873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LALU RINGGA JAYA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LAL3976891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BAIQ YULI INDRAYANI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SPNTB21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DARUSSALAM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SPLSL72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IMAM BUDIYANSYAH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SPKPG09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IMAM BUDIYANSYAH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SPKPG09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BAIQ YULI INDRAYANI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SPNTB21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Suryani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SUR9462371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 AL MARUF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MAL5772768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Teddy Soeyitno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TED7472620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ADY SYAHRIAL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SPRAH83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LIA MISWAN ANJANI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SPKEMO5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RENI HENDRIANI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SPRNN41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SRI MARLINA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SPSLR09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Fanny Aulia Andita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FAN4159846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01–07 Oct 2026 vs MTD-1 01–07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Damarbudi prakoso SH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DAM2334423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Lalu anggarita arya sukma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LAL6459400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Herpan jayadi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HER1161525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Bian dwi saputra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BIA3488083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SURYA ALAM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SPAAM23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ARIEF RAMADHOAN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SPMRR82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USWATUN HASANAH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USW5846733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luh puri artini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NIL9865359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Yudi arman 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YUD8751940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ALI TOPAN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ALI9003519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ARIEF RAMADHOAN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SPMRR82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LALU IRGI PIRMANSAH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LAL9017900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TAJUDIN NUR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TAJ5596872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luh puri artini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NIL9865359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KETUT PUTRA KARSANA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IKE4509027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 SANDI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ARI2024904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RIZAL HAKIKY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SPXHQQ94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MANGKU YOGISWARA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SPKYA37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Agusman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AGU1967415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ADE NURDIANTO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SPDDN14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C3MR Performance — MATARAM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2937"/>
                </a:solidFill>
                <a:latin typeface="Arial"/>
              </a:defRPr>
            </a:pPr>
            <a:r>
              <a:t>Branch C3MR 28.12%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694944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Target 97.45% | Gap -69.33 pp | M-1 32.56%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143000"/>
          <a:ext cx="11548866" cy="2020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4747"/>
                <a:gridCol w="763658"/>
                <a:gridCol w="763658"/>
                <a:gridCol w="822401"/>
                <a:gridCol w="1233602"/>
                <a:gridCol w="1233602"/>
                <a:gridCol w="845899"/>
                <a:gridCol w="845899"/>
                <a:gridCol w="845899"/>
                <a:gridCol w="963385"/>
                <a:gridCol w="1116116"/>
              </a:tblGrid>
              <a:tr h="505206"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WOK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SSL All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SSL Paid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Paid Rate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Billing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C3MR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Avg 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44.841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15.359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34.25%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Rp13.74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Rp4.75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39.73%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34.58%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-62.87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Rp309.289</a:t>
                      </a:r>
                    </a:p>
                  </a:txBody>
                  <a:tcPr/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15.433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3.850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24.95%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Rp4.76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Rp1.21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29.23%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25.36%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-72.09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Rp313.758</a:t>
                      </a:r>
                    </a:p>
                  </a:txBody>
                  <a:tcPr/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23.204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3.705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15.97%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Rp6.62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Rp1.11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20.06%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16.71%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-80.74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Rp298.590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0040" y="425196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LOS Branch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4507992"/>
          <a:ext cx="557783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3503"/>
                <a:gridCol w="1138334"/>
                <a:gridCol w="1366001"/>
              </a:tblGrid>
              <a:tr h="195942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Progress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43.94%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-12.42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33.64%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-4.96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28.12%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-3.79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26.62%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-2.62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23.26%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-3.37 pp</a:t>
                      </a:r>
                    </a:p>
                  </a:txBody>
                  <a:tcPr/>
                </a:tc>
              </a:tr>
              <a:tr h="195948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28.83%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-4.86 pp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CAPS Performance — MATARAM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50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44 | MoM +13.6%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32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98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064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-48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+6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508760"/>
          <a:ext cx="11548871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0300"/>
                <a:gridCol w="1443609"/>
                <a:gridCol w="1443609"/>
                <a:gridCol w="1154887"/>
                <a:gridCol w="1299248"/>
                <a:gridCol w="1443609"/>
                <a:gridCol w="1443609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MATARAM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6118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CAPS by LOS — Branch &amp;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931920"/>
          <a:ext cx="1154887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8874"/>
                <a:gridCol w="2242499"/>
                <a:gridCol w="2242499"/>
                <a:gridCol w="2242499"/>
                <a:gridCol w="2242499"/>
              </a:tblGrid>
              <a:tr h="77724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MATARAM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LOMBOK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SUMBAWA BARAT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SUMBAWA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12 / +200.0%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8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 / +100.0%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38 / -5.0%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34 / +3.0%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 / -60.0%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50" b="1">
                <a:solidFill>
                  <a:srgbClr val="FFFFFF"/>
                </a:solidFill>
                <a:latin typeface="Arial"/>
              </a:defRPr>
            </a:pPr>
            <a:r>
              <a:t>Healthy Sales — MATARAM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400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  <a:latin typeface="Arial"/>
              </a:defRPr>
            </a:pPr>
            <a:r>
              <a:t>15 Okt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09728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WO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45,531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PAID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11,424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5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HEALTHY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25.1%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1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0847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UNPAID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7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34,107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1481328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2,040 / 50.1%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2,157 / 43.0%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2,014 / 34.2%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1,976 / 33.2%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2,045 / 30.0%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1,959 / 28.2%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22,789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1,148 / 50.2%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1,271 / 44.5%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1,126 / 40.6%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1,046 / 41.3%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1,113 / 34.3%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920 / 35.4%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8,403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304 / 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306 / 37.9%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355 / 27.9%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349 / 30.1%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353 / 28.6%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354 / 24.0%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588 / 50.2%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580 / 42.2%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533 / 24.8%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581 / 20.5%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579 / 22.6%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685 / 20.7%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2752344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1,593 / 25.4%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1,760 / 28.0%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1,954 / 26.4%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1,866 / 25.1%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1,715 / 24.2%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1,998 / 21.9%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22,789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681 / 33.2%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846 / 33.7%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942 / 33.0%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879 / 32.9%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768 / 31.2%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1,017 / 28.5%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8,403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300 / 22.7%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341 / 26.7%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356 / 21.4%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292 / 25.0%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311 / 22.5%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299 / 20.7%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612 / 18.1%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573 / 20.4%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656 / 19.5%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695 / 15.2%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636 / 16.5%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682 / 12.6%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20040" y="4023360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1,805 / 19.1%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1,937 / 21.4%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2,032 / 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1,924 / 20.5%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1,996 / 18.8%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1,813 / 17.6%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22,789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958 / 25.2%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1,051 / 26.7%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1,086 / 28.6%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944 / 25.7%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997 / 23.3%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908 / 23.5%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8,403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292 / 15.4%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311 / 20.3%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444 / 18.0%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445 / 18.4%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439 / 15.3%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350 / 14.0%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555 / 10.4%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575 / 12.3%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502 / 10.4%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535 / 12.9%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560 / 13.6%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555 / 10.3%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20040" y="5294376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1,544 / 20.1%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1,868 / 17.3%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2,019 / 18.7%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2,107 / 17.3%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1,741 / 17.5%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1,668 / 15.5%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22,789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745 / 26.9%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797 / 23.8%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958 / 22.4%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928 / 22.9%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825 / 21.7%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835 / 21.8%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8,403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288 / 19.8%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356 / 16.9%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419 / 24.3%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507 / 17.2%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378 / 18.0%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254 / 15.3%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511 / 10.6%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715 / 10.3%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642 / 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672 / 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538 / 10.8%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579 / 6.4%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