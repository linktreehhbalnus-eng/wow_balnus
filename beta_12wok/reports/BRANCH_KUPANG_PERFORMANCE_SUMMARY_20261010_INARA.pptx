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Kupang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Sheet1!$A$2:$A$11</c:f>
              <c:strCache>
                <c:ptCount val="10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23.0</c:v>
                </c:pt>
                <c:pt idx="1">
                  <c:v>22.0</c:v>
                </c:pt>
                <c:pt idx="2">
                  <c:v>16.0</c:v>
                </c:pt>
                <c:pt idx="3">
                  <c:v>11.0</c:v>
                </c:pt>
                <c:pt idx="4">
                  <c:v>33.0</c:v>
                </c:pt>
                <c:pt idx="5">
                  <c:v>38.0</c:v>
                </c:pt>
                <c:pt idx="6">
                  <c:v>36.0</c:v>
                </c:pt>
                <c:pt idx="7">
                  <c:v>32.0</c:v>
                </c:pt>
                <c:pt idx="8">
                  <c:v>28.0</c:v>
                </c:pt>
                <c:pt idx="9">
                  <c:v>22.0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Kupang Rote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Sheet1!$A$2:$A$11</c:f>
              <c:strCache>
                <c:ptCount val="10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12.0</c:v>
                </c:pt>
                <c:pt idx="1">
                  <c:v>11.0</c:v>
                </c:pt>
                <c:pt idx="2">
                  <c:v>9.0</c:v>
                </c:pt>
                <c:pt idx="3">
                  <c:v>4.0</c:v>
                </c:pt>
                <c:pt idx="4">
                  <c:v>14.0</c:v>
                </c:pt>
                <c:pt idx="5">
                  <c:v>19.0</c:v>
                </c:pt>
                <c:pt idx="6">
                  <c:v>19.0</c:v>
                </c:pt>
                <c:pt idx="7">
                  <c:v>16.0</c:v>
                </c:pt>
                <c:pt idx="8">
                  <c:v>12.0</c:v>
                </c:pt>
                <c:pt idx="9">
                  <c:v>11.0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Malaka Timtim Belu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Sheet1!$A$2:$A$11</c:f>
              <c:strCache>
                <c:ptCount val="10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</c:strCache>
            </c: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6.0</c:v>
                </c:pt>
                <c:pt idx="1">
                  <c:v>7.0</c:v>
                </c:pt>
                <c:pt idx="2">
                  <c:v>3.0</c:v>
                </c:pt>
                <c:pt idx="3">
                  <c:v>5.0</c:v>
                </c:pt>
                <c:pt idx="4">
                  <c:v>13.0</c:v>
                </c:pt>
                <c:pt idx="5">
                  <c:v>11.0</c:v>
                </c:pt>
                <c:pt idx="6">
                  <c:v>10.0</c:v>
                </c:pt>
                <c:pt idx="7">
                  <c:v>10.0</c:v>
                </c:pt>
                <c:pt idx="8">
                  <c:v>10.0</c:v>
                </c:pt>
                <c:pt idx="9">
                  <c:v>6.0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Sumba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Sheet1!$A$2:$A$11</c:f>
              <c:strCache>
                <c:ptCount val="10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</c:strCache>
            </c:strRef>
          </c:cat>
          <c:val>
            <c:numRef>
              <c:f>Sheet1!$E$2:$E$11</c:f>
              <c:numCache>
                <c:formatCode>General</c:formatCode>
                <c:ptCount val="10"/>
                <c:pt idx="0">
                  <c:v>5.0</c:v>
                </c:pt>
                <c:pt idx="1">
                  <c:v>4.0</c:v>
                </c:pt>
                <c:pt idx="2">
                  <c:v>4.0</c:v>
                </c:pt>
                <c:pt idx="3">
                  <c:v>2.0</c:v>
                </c:pt>
                <c:pt idx="4">
                  <c:v>6.0</c:v>
                </c:pt>
                <c:pt idx="5">
                  <c:v>8.0</c:v>
                </c:pt>
                <c:pt idx="6">
                  <c:v>7.0</c:v>
                </c:pt>
                <c:pt idx="7">
                  <c:v>6.0</c:v>
                </c:pt>
                <c:pt idx="8">
                  <c:v>6.0</c:v>
                </c:pt>
                <c:pt idx="9">
                  <c:v>5.0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Kupang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Sheet1!$A$2:$A$11</c:f>
              <c:strCache>
                <c:ptCount val="10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19.0</c:v>
                </c:pt>
                <c:pt idx="1">
                  <c:v>16.0</c:v>
                </c:pt>
                <c:pt idx="2">
                  <c:v>16.0</c:v>
                </c:pt>
                <c:pt idx="3">
                  <c:v>14.0</c:v>
                </c:pt>
                <c:pt idx="4">
                  <c:v>22.0</c:v>
                </c:pt>
                <c:pt idx="5">
                  <c:v>26.0</c:v>
                </c:pt>
                <c:pt idx="6">
                  <c:v>25.0</c:v>
                </c:pt>
                <c:pt idx="7">
                  <c:v>25.0</c:v>
                </c:pt>
                <c:pt idx="8">
                  <c:v>24.0</c:v>
                </c:pt>
                <c:pt idx="9">
                  <c:v>21.0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Kupang Rote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Sheet1!$A$2:$A$11</c:f>
              <c:strCache>
                <c:ptCount val="10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8.0</c:v>
                </c:pt>
                <c:pt idx="1">
                  <c:v>7.0</c:v>
                </c:pt>
                <c:pt idx="2">
                  <c:v>7.0</c:v>
                </c:pt>
                <c:pt idx="3">
                  <c:v>7.0</c:v>
                </c:pt>
                <c:pt idx="4">
                  <c:v>12.0</c:v>
                </c:pt>
                <c:pt idx="5">
                  <c:v>12.0</c:v>
                </c:pt>
                <c:pt idx="6">
                  <c:v>17.0</c:v>
                </c:pt>
                <c:pt idx="7">
                  <c:v>13.0</c:v>
                </c:pt>
                <c:pt idx="8">
                  <c:v>11.0</c:v>
                </c:pt>
                <c:pt idx="9">
                  <c:v>9.0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Malaka Timtim Belu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Sheet1!$A$2:$A$11</c:f>
              <c:strCache>
                <c:ptCount val="10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</c:strCache>
            </c: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6.0</c:v>
                </c:pt>
                <c:pt idx="1">
                  <c:v>6.0</c:v>
                </c:pt>
                <c:pt idx="2">
                  <c:v>4.0</c:v>
                </c:pt>
                <c:pt idx="3">
                  <c:v>6.0</c:v>
                </c:pt>
                <c:pt idx="4">
                  <c:v>6.0</c:v>
                </c:pt>
                <c:pt idx="5">
                  <c:v>9.0</c:v>
                </c:pt>
                <c:pt idx="6">
                  <c:v>6.0</c:v>
                </c:pt>
                <c:pt idx="7">
                  <c:v>8.0</c:v>
                </c:pt>
                <c:pt idx="8">
                  <c:v>7.0</c:v>
                </c:pt>
                <c:pt idx="9">
                  <c:v>7.0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Sumba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Sheet1!$A$2:$A$11</c:f>
              <c:strCache>
                <c:ptCount val="10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</c:strCache>
            </c:strRef>
          </c:cat>
          <c:val>
            <c:numRef>
              <c:f>Sheet1!$E$2:$E$11</c:f>
              <c:numCache>
                <c:formatCode>General</c:formatCode>
                <c:ptCount val="10"/>
                <c:pt idx="0">
                  <c:v>5.0</c:v>
                </c:pt>
                <c:pt idx="1">
                  <c:v>3.0</c:v>
                </c:pt>
                <c:pt idx="2">
                  <c:v>6.0</c:v>
                </c:pt>
                <c:pt idx="3">
                  <c:v>1.0</c:v>
                </c:pt>
                <c:pt idx="4">
                  <c:v>4.0</c:v>
                </c:pt>
                <c:pt idx="5">
                  <c:v>5.0</c:v>
                </c:pt>
                <c:pt idx="6">
                  <c:v>2.0</c:v>
                </c:pt>
                <c:pt idx="7">
                  <c:v>4.0</c:v>
                </c:pt>
                <c:pt idx="8">
                  <c:v>6.0</c:v>
                </c:pt>
                <c:pt idx="9">
                  <c:v>5.0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01–10 Oct 2026 vs MTD-1 01–10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2.002,3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20,6%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1.590,3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1.624,5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18,8%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1.319,5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82,6%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-8,6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Kupang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22,1%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719,9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20,1%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605,4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15,9%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616,6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15,5%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496,4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26,1%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254,8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22,2%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217,7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Rote Ndao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Kota 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 Barat Daya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-69,2%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Timor Tengah Selatan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-39,1%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Sabu Raijua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01–10 Oct 2026 vs MTD-1 01–10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749808"/>
            <a:ext cx="329184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SF Register: 152 → 156  (+2,6%)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97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1368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+7,8%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90   Δ 7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87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-1,1%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88   Δ -1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6952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57   Current DJP unavailable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24744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1.296   Current DJP unavailable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2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1088"/>
                <a:gridCol w="613666"/>
                <a:gridCol w="613666"/>
                <a:gridCol w="613666"/>
                <a:gridCol w="681852"/>
                <a:gridCol w="681852"/>
                <a:gridCol w="681852"/>
                <a:gridCol w="681852"/>
                <a:gridCol w="681852"/>
                <a:gridCol w="681852"/>
                <a:gridCol w="664805"/>
                <a:gridCol w="664805"/>
                <a:gridCol w="664805"/>
                <a:gridCol w="767083"/>
                <a:gridCol w="767083"/>
                <a:gridCol w="76708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TOTAL 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+2,6%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+7,8%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1.296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+1,6%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+9,5%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+5,3%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+3,0%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+13,3%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-17,6%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Kupang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01–10 Oct 2026 vs MTD-1 01–10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 / 9 (66,7%)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+20,0%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77 / 143 (53,8%)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-4,9% | Turun 43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87 / 156 (55,8%)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-3,3% | Turun 50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6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+33,3%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37 / 57 (64,9%)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-2,6% | Turun 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42 / 64 (65,6%)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27 / 56 (48,2%)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-3,6% | Turun 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31 / 60 (51,7%)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13 / 30 (43,3%)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-13,3% | Turun 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14 / 32 (43,8%)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-17,6% | Turun 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237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-6,3%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21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-47,5%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268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-11,6%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129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-83,3%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78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9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 / 143 (2,1%)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+50,0% | Turun 43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 / 4 (25,0%)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-50,0%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156 (2,6%)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50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6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57 (3,5%)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 / 64 (3,1%)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 | Turun 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2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56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2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60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30 (3,3%)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32 (6,2%)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+100,0% | Turun 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01–10 Oct 2026 vs MTD-1 01–10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01–10 Oct 2026 vs MTD-1 01–10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+37,5%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82549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Kupang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2.408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5.063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10.003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24,1%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406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176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01–10 Oct 2026 vs MTD-1 01–10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72,6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63,4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+27,0%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+45,8%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97 | MoM +7,8%
PS: 87 | MoM -1,1%
• Junior
  RE: 85 | Active 59,4% | MoM +7,6%
  PS: 77 | Active 53,8% | MoM -2,5%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8 | Active 88,9% | MoM +14,3%
  PS: 6 | Active 66,7% | MoM +20,0%
• Junior Plus
  RE: 4 | Active 100,0% | MoM 0,0%
  PS: 4 | Active 100,0%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Atambua: PS -50,0%, Gap -1
• Grapari Baa Rote: PS -100,0%, Gap -1
• Grapari Kefamenanu: PS -60,0%, Gap -3
• Grapari Kupang: PS 0,0%, Gap 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Malaka: PS 0,0%, Gap 0
• Grapari Soe: PS 0,0%, Gap 0
• Grapari Waikabubak: PS +300,0%, Gap 3
• Grapari Waingapu: PS -25,0%, Gap -1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Sumba: RE -17 (-18,9%), PS -26 (-32,9%)
• Malaka Timtim Belu: RE -15 (-12,9%), PS -17 (-17,7%)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Sumba: RE 0 (0,0%), PS -1 (-50,0%)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Kupang Rote: RE 0 (0,0%), PS -1 (-100,0%)
• Malaka Timtim Belu: RE -2 (-100,0%), PS -1 (-100,0%)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01–10 Oct 2026 vs MTD-1 01–10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01–10 Oct 2026 vs MTD-1 01–10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20,1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17,6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16,1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30,6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30,6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720,0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18,8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615,0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620,0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80,0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72,6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33,5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35,3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26,4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20,2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15,8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01–10 Oct 2026 vs MTD-1 01–10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SUSANA ASTUTI PIUNG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SUS1184223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FITRI YUSINTA ELIK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SPLFS12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JILDER FINA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SPXXJF19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ALEXANDRA INJEL FERNANDES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SPIEE10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Sebastian Frederick Imanuel Lada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SEB6384011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FINDRASARI Y. WILA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SPFIN88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ANJELICHA KAREK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ANJ6480240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FANCE AFI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FAN5911104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THOMAS A.BAYU P.KANTHIKA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SPBAK47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MELSI ORIANA TAELA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SPEMA28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ALEXANDRA INJEL FERNANDES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SPIEE10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FITRI YUSINTA ELIK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SPLFS12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LITA MELIANA HUSEN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SPNLU74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JILDER FINA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SPXXJF19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Sebastian Frederick Imanuel Lada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SEB6384011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YUSUF MARIO BENNY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SPBNE43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FINDRASARI Y. WILA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SPFIN88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ANJELICHA KAREK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ANJ6480240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FANCE AFI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FAN5911104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Paula Susanti Mooy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PAU3512746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01–10 Oct 2026 vs MTD-1 01–10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YAKOB MONI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SPNOM19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ALFANDI KAREL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SPKRL00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ADRIANI NELSIANA ABUK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SPRNA14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INLY OLIFA PABALA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INL7633136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Wilhelmina Lusong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MAR6409329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SEMUEL EDWIN KOBY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SPSEK85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NATALIA EMERALDA DELIMA NDAOMANU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NAT6540224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SONYA IMELDA TUTFAUT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SPXLDA74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JAMES RICHARTUS YEFERSON BANU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JAM3016480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DELFIANA SILLA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DEL6256816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NORMA NATALIA AMALO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NOR8152023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MARLIN DA SILVA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SPRLN81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ALFANDI KAREL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SPKRL00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ADRIANI NELSIANA ABUK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SPRNA14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INLY OLIFA PABALA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INL7633136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AHMAD FAUZI ABDULA LATIF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SPLAA46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SEMUEL EDWIN KOBY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SPSEK85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Septania Rice Dapawole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SEP5137402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Imelda Fridolyn Lende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IME8270714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DJORGHY RIZALDHY GA LONI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DJO4406952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C3MR Performance — KUPANG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F2937"/>
                </a:solidFill>
                <a:latin typeface="Arial"/>
              </a:defRPr>
            </a:pPr>
            <a:r>
              <a:t>Branch C3MR 24.93%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0" y="694944"/>
            <a:ext cx="5943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F2937"/>
                </a:solidFill>
                <a:latin typeface="Arial"/>
              </a:defRPr>
            </a:pPr>
            <a:r>
              <a:t>Target 95.83% | Gap -70.90 pp | M-1 28.89%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20040" y="1143000"/>
          <a:ext cx="11548866" cy="2020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4747"/>
                <a:gridCol w="763658"/>
                <a:gridCol w="763658"/>
                <a:gridCol w="822401"/>
                <a:gridCol w="1233602"/>
                <a:gridCol w="1233602"/>
                <a:gridCol w="845899"/>
                <a:gridCol w="845899"/>
                <a:gridCol w="845899"/>
                <a:gridCol w="963385"/>
                <a:gridCol w="1116116"/>
              </a:tblGrid>
              <a:tr h="505206"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WOK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SSL All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SSL Paid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Paid Rate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Billing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C3MR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Avg 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26.827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7.246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27.01%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Rp8.61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Rp2.40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31.91%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27.84%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-67.99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Rp330.594</a:t>
                      </a:r>
                    </a:p>
                  </a:txBody>
                  <a:tcPr/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12.516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2.375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18.98%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Rp3.86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Rp760.9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23.63%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19.70%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-76.13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Rp320.397</a:t>
                      </a:r>
                    </a:p>
                  </a:txBody>
                  <a:tcPr/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9.251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2.115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22.86%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Rp2.97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Rp692.7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26.88%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23.31%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-72.52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Rp327.529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20040" y="4251960"/>
            <a:ext cx="1828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LOS Branch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4507992"/>
          <a:ext cx="5577838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73503"/>
                <a:gridCol w="1138334"/>
                <a:gridCol w="1366001"/>
              </a:tblGrid>
              <a:tr h="195942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Progress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42.53%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-10.60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27.61%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-1.04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20.49%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-3.67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21.29%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-2.06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19.02%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-3.13 pp</a:t>
                      </a:r>
                    </a:p>
                  </a:txBody>
                  <a:tcPr/>
                </a:tc>
              </a:tr>
              <a:tr h="195948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27.04%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-4.54 pp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