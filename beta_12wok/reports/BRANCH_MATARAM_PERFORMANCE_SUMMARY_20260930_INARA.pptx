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Mataram</c:v>
                </c:pt>
              </c:strCache>
            </c:strRef>
          </c:tx>
          <c:spPr>
            <a:ln w="31750"/>
          </c:spPr>
          <c:marker>
            <c:size val="6"/>
          </c:marker>
          <c:dLbls>
            <c:txPr>
              <a:bodyPr/>
              <a:lstStyle/>
              <a:p>
                <a:pPr>
                  <a:defRPr sz="80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Sheet1!$A$2:$A$31</c:f>
              <c:strCache>
                <c:ptCount val="30"/>
                <c:pt idx="0">
                  <c:v>01 Sep</c:v>
                </c:pt>
                <c:pt idx="1">
                  <c:v>02 Sep</c:v>
                </c:pt>
                <c:pt idx="2">
                  <c:v>03 Sep</c:v>
                </c:pt>
                <c:pt idx="3">
                  <c:v>04 Sep</c:v>
                </c:pt>
                <c:pt idx="4">
                  <c:v>05 Sep</c:v>
                </c:pt>
                <c:pt idx="5">
                  <c:v>06 Sep</c:v>
                </c:pt>
                <c:pt idx="6">
                  <c:v>07 Sep</c:v>
                </c:pt>
                <c:pt idx="7">
                  <c:v>08 Sep</c:v>
                </c:pt>
                <c:pt idx="8">
                  <c:v>09 Sep</c:v>
                </c:pt>
                <c:pt idx="9">
                  <c:v>10 Sep</c:v>
                </c:pt>
                <c:pt idx="10">
                  <c:v>11 Sep</c:v>
                </c:pt>
                <c:pt idx="11">
                  <c:v>12 Sep</c:v>
                </c:pt>
                <c:pt idx="12">
                  <c:v>13 Sep</c:v>
                </c:pt>
                <c:pt idx="13">
                  <c:v>14 Sep</c:v>
                </c:pt>
                <c:pt idx="14">
                  <c:v>15 Sep</c:v>
                </c:pt>
                <c:pt idx="15">
                  <c:v>16 Sep</c:v>
                </c:pt>
                <c:pt idx="16">
                  <c:v>17 Sep</c:v>
                </c:pt>
                <c:pt idx="17">
                  <c:v>18 Sep</c:v>
                </c:pt>
                <c:pt idx="18">
                  <c:v>19 Sep</c:v>
                </c:pt>
                <c:pt idx="19">
                  <c:v>20 Sep</c:v>
                </c:pt>
                <c:pt idx="20">
                  <c:v>21 Sep</c:v>
                </c:pt>
                <c:pt idx="21">
                  <c:v>22 Sep</c:v>
                </c:pt>
                <c:pt idx="22">
                  <c:v>23 Sep</c:v>
                </c:pt>
                <c:pt idx="23">
                  <c:v>24 Sep</c:v>
                </c:pt>
                <c:pt idx="24">
                  <c:v>25 Sep</c:v>
                </c:pt>
                <c:pt idx="25">
                  <c:v>26 Sep</c:v>
                </c:pt>
                <c:pt idx="26">
                  <c:v>27 Sep</c:v>
                </c:pt>
                <c:pt idx="27">
                  <c:v>28 Sep</c:v>
                </c:pt>
                <c:pt idx="28">
                  <c:v>29 Sep</c:v>
                </c:pt>
                <c:pt idx="29">
                  <c:v>30 Sep</c:v>
                </c:pt>
              </c:strCache>
            </c:strRef>
          </c:cat>
          <c:val>
            <c:numRef>
              <c:f>Sheet1!$B$2:$B$31</c:f>
              <c:numCache>
                <c:formatCode>General</c:formatCode>
                <c:ptCount val="30"/>
                <c:pt idx="0">
                  <c:v>60.0</c:v>
                </c:pt>
                <c:pt idx="1">
                  <c:v>57.0</c:v>
                </c:pt>
                <c:pt idx="2">
                  <c:v>49.0</c:v>
                </c:pt>
                <c:pt idx="3">
                  <c:v>49.0</c:v>
                </c:pt>
                <c:pt idx="4">
                  <c:v>49.0</c:v>
                </c:pt>
                <c:pt idx="5">
                  <c:v>38.0</c:v>
                </c:pt>
                <c:pt idx="6">
                  <c:v>59.0</c:v>
                </c:pt>
                <c:pt idx="7">
                  <c:v>61.0</c:v>
                </c:pt>
                <c:pt idx="8">
                  <c:v>48.0</c:v>
                </c:pt>
                <c:pt idx="9">
                  <c:v>51.0</c:v>
                </c:pt>
                <c:pt idx="10">
                  <c:v>57.0</c:v>
                </c:pt>
                <c:pt idx="11">
                  <c:v>51.0</c:v>
                </c:pt>
                <c:pt idx="12">
                  <c:v>32.0</c:v>
                </c:pt>
                <c:pt idx="13">
                  <c:v>63.0</c:v>
                </c:pt>
                <c:pt idx="14">
                  <c:v>64.0</c:v>
                </c:pt>
                <c:pt idx="15">
                  <c:v>55.0</c:v>
                </c:pt>
                <c:pt idx="16">
                  <c:v>49.0</c:v>
                </c:pt>
                <c:pt idx="17">
                  <c:v>54.0</c:v>
                </c:pt>
                <c:pt idx="18">
                  <c:v>55.0</c:v>
                </c:pt>
                <c:pt idx="19">
                  <c:v>37.0</c:v>
                </c:pt>
                <c:pt idx="20">
                  <c:v>63.0</c:v>
                </c:pt>
                <c:pt idx="21">
                  <c:v>51.0</c:v>
                </c:pt>
                <c:pt idx="22">
                  <c:v>50.0</c:v>
                </c:pt>
                <c:pt idx="23">
                  <c:v>53.0</c:v>
                </c:pt>
                <c:pt idx="24">
                  <c:v>54.0</c:v>
                </c:pt>
                <c:pt idx="25">
                  <c:v>48.0</c:v>
                </c:pt>
                <c:pt idx="26">
                  <c:v>33.0</c:v>
                </c:pt>
                <c:pt idx="27">
                  <c:v>52.0</c:v>
                </c:pt>
                <c:pt idx="28">
                  <c:v>56.0</c:v>
                </c:pt>
                <c:pt idx="29">
                  <c:v>52.0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900"/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Mataram</c:v>
                </c:pt>
              </c:strCache>
            </c:strRef>
          </c:tx>
          <c:spPr>
            <a:ln w="31750"/>
          </c:spPr>
          <c:marker>
            <c:size val="6"/>
          </c:marker>
          <c:dLbls>
            <c:txPr>
              <a:bodyPr/>
              <a:lstStyle/>
              <a:p>
                <a:pPr>
                  <a:defRPr sz="80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Sheet1!$A$2:$A$31</c:f>
              <c:strCache>
                <c:ptCount val="30"/>
                <c:pt idx="0">
                  <c:v>01 Sep</c:v>
                </c:pt>
                <c:pt idx="1">
                  <c:v>02 Sep</c:v>
                </c:pt>
                <c:pt idx="2">
                  <c:v>03 Sep</c:v>
                </c:pt>
                <c:pt idx="3">
                  <c:v>04 Sep</c:v>
                </c:pt>
                <c:pt idx="4">
                  <c:v>05 Sep</c:v>
                </c:pt>
                <c:pt idx="5">
                  <c:v>06 Sep</c:v>
                </c:pt>
                <c:pt idx="6">
                  <c:v>07 Sep</c:v>
                </c:pt>
                <c:pt idx="7">
                  <c:v>08 Sep</c:v>
                </c:pt>
                <c:pt idx="8">
                  <c:v>09 Sep</c:v>
                </c:pt>
                <c:pt idx="9">
                  <c:v>10 Sep</c:v>
                </c:pt>
                <c:pt idx="10">
                  <c:v>11 Sep</c:v>
                </c:pt>
                <c:pt idx="11">
                  <c:v>12 Sep</c:v>
                </c:pt>
                <c:pt idx="12">
                  <c:v>13 Sep</c:v>
                </c:pt>
                <c:pt idx="13">
                  <c:v>14 Sep</c:v>
                </c:pt>
                <c:pt idx="14">
                  <c:v>15 Sep</c:v>
                </c:pt>
                <c:pt idx="15">
                  <c:v>16 Sep</c:v>
                </c:pt>
                <c:pt idx="16">
                  <c:v>17 Sep</c:v>
                </c:pt>
                <c:pt idx="17">
                  <c:v>18 Sep</c:v>
                </c:pt>
                <c:pt idx="18">
                  <c:v>19 Sep</c:v>
                </c:pt>
                <c:pt idx="19">
                  <c:v>20 Sep</c:v>
                </c:pt>
                <c:pt idx="20">
                  <c:v>21 Sep</c:v>
                </c:pt>
                <c:pt idx="21">
                  <c:v>22 Sep</c:v>
                </c:pt>
                <c:pt idx="22">
                  <c:v>23 Sep</c:v>
                </c:pt>
                <c:pt idx="23">
                  <c:v>24 Sep</c:v>
                </c:pt>
                <c:pt idx="24">
                  <c:v>25 Sep</c:v>
                </c:pt>
                <c:pt idx="25">
                  <c:v>26 Sep</c:v>
                </c:pt>
                <c:pt idx="26">
                  <c:v>27 Sep</c:v>
                </c:pt>
                <c:pt idx="27">
                  <c:v>28 Sep</c:v>
                </c:pt>
                <c:pt idx="28">
                  <c:v>29 Sep</c:v>
                </c:pt>
                <c:pt idx="29">
                  <c:v>30 Sep</c:v>
                </c:pt>
              </c:strCache>
            </c:strRef>
          </c:cat>
          <c:val>
            <c:numRef>
              <c:f>Sheet1!$B$2:$B$31</c:f>
              <c:numCache>
                <c:formatCode>General</c:formatCode>
                <c:ptCount val="30"/>
                <c:pt idx="0">
                  <c:v>44.0</c:v>
                </c:pt>
                <c:pt idx="1">
                  <c:v>44.0</c:v>
                </c:pt>
                <c:pt idx="2">
                  <c:v>40.0</c:v>
                </c:pt>
                <c:pt idx="3">
                  <c:v>34.0</c:v>
                </c:pt>
                <c:pt idx="4">
                  <c:v>34.0</c:v>
                </c:pt>
                <c:pt idx="5">
                  <c:v>21.0</c:v>
                </c:pt>
                <c:pt idx="6">
                  <c:v>44.0</c:v>
                </c:pt>
                <c:pt idx="7">
                  <c:v>56.0</c:v>
                </c:pt>
                <c:pt idx="8">
                  <c:v>54.0</c:v>
                </c:pt>
                <c:pt idx="9">
                  <c:v>38.0</c:v>
                </c:pt>
                <c:pt idx="10">
                  <c:v>33.0</c:v>
                </c:pt>
                <c:pt idx="11">
                  <c:v>43.0</c:v>
                </c:pt>
                <c:pt idx="12">
                  <c:v>25.0</c:v>
                </c:pt>
                <c:pt idx="13">
                  <c:v>50.0</c:v>
                </c:pt>
                <c:pt idx="14">
                  <c:v>55.0</c:v>
                </c:pt>
                <c:pt idx="15">
                  <c:v>58.0</c:v>
                </c:pt>
                <c:pt idx="16">
                  <c:v>46.0</c:v>
                </c:pt>
                <c:pt idx="17">
                  <c:v>41.0</c:v>
                </c:pt>
                <c:pt idx="18">
                  <c:v>45.0</c:v>
                </c:pt>
                <c:pt idx="19">
                  <c:v>32.0</c:v>
                </c:pt>
                <c:pt idx="20">
                  <c:v>56.0</c:v>
                </c:pt>
                <c:pt idx="21">
                  <c:v>50.0</c:v>
                </c:pt>
                <c:pt idx="22">
                  <c:v>42.0</c:v>
                </c:pt>
                <c:pt idx="23">
                  <c:v>48.0</c:v>
                </c:pt>
                <c:pt idx="24">
                  <c:v>45.0</c:v>
                </c:pt>
                <c:pt idx="25">
                  <c:v>38.0</c:v>
                </c:pt>
                <c:pt idx="26">
                  <c:v>20.0</c:v>
                </c:pt>
                <c:pt idx="27">
                  <c:v>46.0</c:v>
                </c:pt>
                <c:pt idx="28">
                  <c:v>51.0</c:v>
                </c:pt>
                <c:pt idx="29">
                  <c:v>53.0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900"/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chart" Target="../charts/char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Area &amp; Product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01–30 Sep 2026 vs MTD-1 01–30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Branch Performance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33271"/>
          <a:ext cx="5394957" cy="941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1824"/>
                <a:gridCol w="683868"/>
                <a:gridCol w="683868"/>
                <a:gridCol w="683868"/>
                <a:gridCol w="835838"/>
                <a:gridCol w="759853"/>
                <a:gridCol w="835838"/>
              </a:tblGrid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Metric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Target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2.717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2.720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+0,1%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2.623,1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103,7%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-96,9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2.081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2.039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2.094,2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97,4%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55,2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011680"/>
            <a:ext cx="53949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Target Branch = agregasi target 3 WOK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2221992"/>
          <a:ext cx="5394958" cy="3017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27331"/>
                <a:gridCol w="1412965"/>
                <a:gridCol w="1412965"/>
                <a:gridCol w="1241697"/>
              </a:tblGrid>
              <a:tr h="30175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to RE Ratio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MTD-1: 76,6%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MTD: 75,0%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-1,6 pp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6144768" y="749808"/>
            <a:ext cx="57150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RE &amp; PS Performance by Speed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144768" y="1033271"/>
          <a:ext cx="5714998" cy="1783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66630"/>
                <a:gridCol w="559076"/>
                <a:gridCol w="559076"/>
                <a:gridCol w="559076"/>
                <a:gridCol w="559076"/>
                <a:gridCol w="559076"/>
                <a:gridCol w="559076"/>
                <a:gridCol w="434836"/>
                <a:gridCol w="559076"/>
              </a:tblGrid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Speed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Kontrib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608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598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456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405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-11,2%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67,7%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19,9%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655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481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485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+0,8%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74,0%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23,8%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282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+21,6%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180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197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+9,4%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69,9%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563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565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+0,4%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465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+7,6%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82,3%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22,8%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605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503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477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78,8%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23,4%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3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-67,4%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-65,5%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66,7%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3054096"/>
            <a:ext cx="987552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WOK Performance — seluruh WOK Mataram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320040" y="3337560"/>
          <a:ext cx="9646911" cy="12435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35727"/>
                <a:gridCol w="742070"/>
                <a:gridCol w="742070"/>
                <a:gridCol w="742070"/>
                <a:gridCol w="742070"/>
                <a:gridCol w="816277"/>
                <a:gridCol w="742070"/>
                <a:gridCol w="742070"/>
                <a:gridCol w="742070"/>
                <a:gridCol w="742070"/>
                <a:gridCol w="816277"/>
                <a:gridCol w="74207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1.548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1.462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108,9%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-120,1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1.226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1.147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107,1%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-75,7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78,5%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430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481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+11,9%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102,9%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-13,6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291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304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82,7%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63,6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63,2%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777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95,5%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36,8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564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588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89,7%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67,3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75,7%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5" name="TextBox 14"/>
          <p:cNvSpPr txBox="1"/>
          <p:nvPr/>
        </p:nvSpPr>
        <p:spPr>
          <a:xfrm>
            <a:off x="320040" y="4828031"/>
            <a:ext cx="115214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D.  Kabupaten Performance — Top 3 &amp; Bottom 3 by MoM 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" y="5111495"/>
            <a:ext cx="539496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37D3F"/>
                </a:solidFill>
                <a:latin typeface="Arial"/>
              </a:rPr>
              <a:t>Top 3 (MoM PS Tertinggi)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27648" y="5111495"/>
            <a:ext cx="539496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D73527"/>
                </a:solidFill>
                <a:latin typeface="Arial"/>
              </a:rPr>
              <a:t>Bottom 3 (MoM PS Terendah)</a:t>
            </a:r>
          </a:p>
        </p:txBody>
      </p:sp>
      <p:graphicFrame>
        <p:nvGraphicFramePr>
          <p:cNvPr id="18" name="Table 17"/>
          <p:cNvGraphicFramePr>
            <a:graphicFrameLocks noGrp="1"/>
          </p:cNvGraphicFramePr>
          <p:nvPr/>
        </p:nvGraphicFramePr>
        <p:xfrm>
          <a:off x="320040" y="5321807"/>
          <a:ext cx="5559550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25378"/>
                <a:gridCol w="958543"/>
                <a:gridCol w="958543"/>
                <a:gridCol w="958543"/>
                <a:gridCol w="958543"/>
              </a:tblGrid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Kabupaten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Bima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201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31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+15,4%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Kota Bima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252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233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6327648" y="5321807"/>
          <a:ext cx="5541262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19702"/>
                <a:gridCol w="955390"/>
                <a:gridCol w="955390"/>
                <a:gridCol w="955390"/>
                <a:gridCol w="955390"/>
              </a:tblGrid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Kabupaten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Lombok Tengah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-77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-35,5%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Lombok Utara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-16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-16,2%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Dompu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-16,1%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Sales Force &amp; DJP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01–30 Sep 2026 vs MTD-1 01–30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Sales Force Scorecard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509760" y="749808"/>
            <a:ext cx="23317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000" b="0" i="1">
                <a:solidFill>
                  <a:srgbClr val="687386"/>
                </a:solidFill>
                <a:latin typeface="Arial"/>
              </a:rPr>
              <a:t>Registered SF: 240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0040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29768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198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20240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D73527"/>
                </a:solidFill>
                <a:latin typeface="Arial"/>
              </a:rPr>
              <a:t>-0,5%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9768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199   Δ -1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227832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337560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37560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194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828032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137D3F"/>
                </a:solidFill>
                <a:latin typeface="Arial"/>
              </a:rPr>
              <a:t>+2,1%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337560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190   Δ 4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35624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45352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DJP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45352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195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735824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137D3F"/>
                </a:solidFill>
                <a:latin typeface="Arial"/>
              </a:rPr>
              <a:t>+8,3%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45352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180   Δ 15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043416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153144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Aktivitas DJP — Total Visit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53144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4.920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643616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D73527"/>
                </a:solidFill>
                <a:latin typeface="Arial"/>
              </a:rPr>
              <a:t>-13,5%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53144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5.690   Δ -770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20040" y="2221992"/>
            <a:ext cx="10058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SF/DJP Level Branch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320040" y="2505456"/>
            <a:ext cx="11548872" cy="65836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02920" y="2679192"/>
            <a:ext cx="1115568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0" i="0">
                <a:solidFill>
                  <a:srgbClr val="20252B"/>
                </a:solidFill>
                <a:latin typeface="Arial"/>
              </a:rPr>
              <a:t>Detail WOK SF tidak ditampilkan pada PPT selama ownership 12 WOK masih dalam masa transisi.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20040" y="3383280"/>
            <a:ext cx="9601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SF Active RE &amp; PS by Speed — Branch Mataram</a:t>
            </a:r>
          </a:p>
        </p:txBody>
      </p:sp>
      <p:graphicFrame>
        <p:nvGraphicFramePr>
          <p:cNvPr id="33" name="Table 32"/>
          <p:cNvGraphicFramePr>
            <a:graphicFrameLocks noGrp="1"/>
          </p:cNvGraphicFramePr>
          <p:nvPr/>
        </p:nvGraphicFramePr>
        <p:xfrm>
          <a:off x="320040" y="3657600"/>
          <a:ext cx="7680955" cy="1417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51819"/>
                <a:gridCol w="908500"/>
                <a:gridCol w="908500"/>
                <a:gridCol w="743318"/>
                <a:gridCol w="908500"/>
                <a:gridCol w="908500"/>
                <a:gridCol w="743318"/>
                <a:gridCol w="908500"/>
              </a:tblGrid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Speed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per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130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+11,5%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+12,7%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+13,5%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+24,1%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4,3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+12,5%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+12,0%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-42,1%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-38,5%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34" name="TextBox 33"/>
          <p:cNvSpPr txBox="1"/>
          <p:nvPr/>
        </p:nvSpPr>
        <p:spPr>
          <a:xfrm>
            <a:off x="320040" y="5111496"/>
            <a:ext cx="8229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SF Active dihitung berdasarkan SF Code unik per kelompok; Aktivitas DJP merupakan total visit.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SF Class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01–30 Sep 2026 vs MTD-1 01–30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22376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SF Active PS per Class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987552"/>
          <a:ext cx="11548870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64008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64008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16 / 16 (100,0%)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+23,1% | Turun 8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167 / 213 (78,4%)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80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10 / 10 (100,0%)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5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N/A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194 / 240 (80,8%)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+2,1% | Turun 93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386584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PS per Class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2651760"/>
          <a:ext cx="11548870" cy="11155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55778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55778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163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+27,3%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1.275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-8,8%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288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-9,1%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53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1.779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-3,5%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3886200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SF Productive per Class (minimum 10 PS)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4151376"/>
          <a:ext cx="11548870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64008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64008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8 / 16 (50,0%)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+33,3% | Turun 8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41 / 213 (19,2%)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-19,6% | Turun 80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10 / 10 (100,0%)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5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N/A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60 / 240 (25,0%)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-10,4% | Turun 93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5596128"/>
            <a:ext cx="1133856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19" b="0" i="1">
                <a:solidFill>
                  <a:srgbClr val="687386"/>
                </a:solidFill>
                <a:latin typeface="Arial"/>
              </a:rPr>
              <a:t>Active = minimum 1 PS. SF Class pada PPT Branch ditampilkan pada level Branch sampai ownership 12 WOK resmi tersedia.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Daily SF Active Trend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01–30 Sep 2026 vs MTD-1 01–30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86384"/>
            <a:ext cx="55778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SF Active RE Harian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320040" y="1097280"/>
          <a:ext cx="5532120" cy="32461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327648" y="786384"/>
            <a:ext cx="55778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SF Active PS Harian</a:t>
            </a: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6327648" y="1097280"/>
          <a:ext cx="5532120" cy="324612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4645152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Ringkasan Produktivitas Harian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4956048"/>
          <a:ext cx="7955277" cy="1188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66049"/>
                <a:gridCol w="1735697"/>
                <a:gridCol w="1108917"/>
                <a:gridCol w="1735697"/>
                <a:gridCol w="1108917"/>
              </a:tblGrid>
              <a:tr h="5943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Avg SF Active RE/Hari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per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Avg SF Active PS/Hari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per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5943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51,7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42,9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6236208"/>
            <a:ext cx="1133856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Trend SF ditampilkan pada level Branch selama masa transisi ownership 12 WOK.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Channel &amp; ODP 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01–30 Sep 2026 vs MTD-1 01–30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Agency Performance by WOK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987552"/>
            <a:ext cx="530352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Diurutkan MoM PS tertinggi → terendah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207008"/>
          <a:ext cx="5541260" cy="143560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4957"/>
                <a:gridCol w="667622"/>
                <a:gridCol w="667622"/>
                <a:gridCol w="600859"/>
                <a:gridCol w="667622"/>
                <a:gridCol w="667622"/>
                <a:gridCol w="600859"/>
                <a:gridCol w="534097"/>
              </a:tblGrid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363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381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257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261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68,5%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598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607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477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484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79,7%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1.383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1.303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1.110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1.034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79,4%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327648" y="7498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Grapari Performance by WOK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27648" y="987552"/>
            <a:ext cx="530352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Diurutkan MoM PS tertinggi → terendah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327648" y="1207008"/>
          <a:ext cx="5541260" cy="143560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4957"/>
                <a:gridCol w="667622"/>
                <a:gridCol w="667622"/>
                <a:gridCol w="600859"/>
                <a:gridCol w="667622"/>
                <a:gridCol w="667622"/>
                <a:gridCol w="600859"/>
                <a:gridCol w="534097"/>
              </a:tblGrid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+86,7%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+26,3%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42,9%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+14,9%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+9,8%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65,9%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-22,0%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-25,8%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76,6%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2825496"/>
            <a:ext cx="10058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Channel Scorecard — Total Branch Mataram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0040" y="3118103"/>
            <a:ext cx="53035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02C50"/>
                </a:solidFill>
                <a:latin typeface="Arial"/>
              </a:rPr>
              <a:t>AGENCY TOTAL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320040" y="3383279"/>
          <a:ext cx="5394960" cy="6217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9160"/>
                <a:gridCol w="899160"/>
                <a:gridCol w="899160"/>
                <a:gridCol w="899160"/>
                <a:gridCol w="899160"/>
                <a:gridCol w="89916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2.344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2.291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1.844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1.779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6" name="TextBox 15"/>
          <p:cNvSpPr txBox="1"/>
          <p:nvPr/>
        </p:nvSpPr>
        <p:spPr>
          <a:xfrm>
            <a:off x="6327648" y="3118103"/>
            <a:ext cx="53035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02C50"/>
                </a:solidFill>
                <a:latin typeface="Arial"/>
              </a:rPr>
              <a:t>GRAPARI TOTAL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6327648" y="3383279"/>
          <a:ext cx="5394960" cy="6217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9160"/>
                <a:gridCol w="899160"/>
                <a:gridCol w="899160"/>
                <a:gridCol w="899160"/>
                <a:gridCol w="899160"/>
                <a:gridCol w="89916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186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205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8" name="TextBox 17"/>
          <p:cNvSpPr txBox="1"/>
          <p:nvPr/>
        </p:nvSpPr>
        <p:spPr>
          <a:xfrm>
            <a:off x="320040" y="46360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D.  ODP Occupancy Summary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320040" y="4928616"/>
          <a:ext cx="5413243" cy="941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80202"/>
                <a:gridCol w="880202"/>
                <a:gridCol w="880202"/>
                <a:gridCol w="880202"/>
                <a:gridCol w="880202"/>
                <a:gridCol w="1012233"/>
              </a:tblGrid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ORANGE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YELLOW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GREEN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BLACK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 ODP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3.077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9.016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6.325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1.379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19.813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15,5%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45,5%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31,9%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20" name="TextBox 19"/>
          <p:cNvSpPr txBox="1"/>
          <p:nvPr/>
        </p:nvSpPr>
        <p:spPr>
          <a:xfrm>
            <a:off x="6327648" y="46360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E.  DJP pada ODP Khusus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327648" y="4928616"/>
            <a:ext cx="2779776" cy="14356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55664" y="5056632"/>
            <a:ext cx="246888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D73527"/>
                </a:solidFill>
                <a:latin typeface="Arial"/>
              </a:rPr>
              <a:t>ODP BLACK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55664" y="5404104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Jumlah ODP  1.379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55664" y="5669280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20252B"/>
                </a:solidFill>
                <a:latin typeface="Arial"/>
              </a:rPr>
              <a:t>ODP dikunjungi  471 (34,2%)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55664" y="5916168"/>
            <a:ext cx="12801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687386"/>
                </a:solidFill>
                <a:latin typeface="Arial"/>
              </a:rPr>
              <a:t>Total Visit DJP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836408" y="5870448"/>
            <a:ext cx="10972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400" b="1" i="0">
                <a:solidFill>
                  <a:srgbClr val="D73527"/>
                </a:solidFill>
                <a:latin typeface="Arial"/>
              </a:rPr>
              <a:t>1.181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272016" y="4928616"/>
            <a:ext cx="2779776" cy="14356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400032" y="5056632"/>
            <a:ext cx="246888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37D3F"/>
                </a:solidFill>
                <a:latin typeface="Arial"/>
              </a:rPr>
              <a:t>ODP GREENFIELD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00032" y="5404104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Jumlah ODP  549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400032" y="5669280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20252B"/>
                </a:solidFill>
                <a:latin typeface="Arial"/>
              </a:rPr>
              <a:t>ODP dikunjungi  505 (92,0%)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400032" y="5916168"/>
            <a:ext cx="12801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687386"/>
                </a:solidFill>
                <a:latin typeface="Arial"/>
              </a:rPr>
              <a:t>Total Visit DJP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780776" y="5870448"/>
            <a:ext cx="10972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400" b="1" i="0">
                <a:solidFill>
                  <a:srgbClr val="137D3F"/>
                </a:solidFill>
                <a:latin typeface="Arial"/>
              </a:rPr>
              <a:t>1.580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Performance RE &amp; PS per Channel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01–30 Sep 2026 vs MTD-1 01–30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Channel Scorecard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24128"/>
          <a:ext cx="11548867" cy="15727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93834"/>
                <a:gridCol w="1077894"/>
                <a:gridCol w="1077894"/>
                <a:gridCol w="975238"/>
                <a:gridCol w="1077894"/>
                <a:gridCol w="1077894"/>
                <a:gridCol w="975238"/>
                <a:gridCol w="1385864"/>
                <a:gridCol w="1129223"/>
                <a:gridCol w="1077894"/>
              </a:tblGrid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Channel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Rev NS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Rev NS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% Contr.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2.709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2.714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+0,2%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2.079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2.038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521,8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Agency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2.344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2.291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1.844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1.779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453,1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87,3%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Grapari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186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205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30,1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Web &amp; Apps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150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+28,2%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+37,1%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30,8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+49,2%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B2B2C &amp; Others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+18,4%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+34,8%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7,1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+19,6%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Sobi Affiliate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-23,1%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720,0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-45,9%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85292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Kontributor Penurunan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20040" y="3182112"/>
            <a:ext cx="5705856" cy="184708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29768" y="3264408"/>
            <a:ext cx="54864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50" b="1" i="0">
                <a:solidFill>
                  <a:srgbClr val="102C50"/>
                </a:solidFill>
                <a:latin typeface="Arial"/>
              </a:rPr>
              <a:t>Agency SF Class Active (%, MoM)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6344" y="3602736"/>
            <a:ext cx="2633472" cy="128016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SF ACTIVE TOTAL
RE: 198 | MoM -0,5%
PS: 194 | MoM +2,1%
• Performer
  RE: 1 | Active 100,0% | MoM 0,0%
  PS: 1 | Active 100,0% | MoM 0,0%
• Junior
  RE: 171 | Active 80,3% | MoM -0,6%
  PS: 167 | Active 78,4% | MoM +2,5%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36976" y="3602736"/>
            <a:ext cx="2633472" cy="128016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Greenfield
  RE: 16 | Active 100,0% | MoM 0,0%
  PS: 16 | Active 100,0% | MoM 0,0%
• Junior Plus
  RE: 10 | Active 100,0% | MoM 0,0%
  PS: 10 | Active 100,0% | MoM 0,0%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63055" y="3182112"/>
            <a:ext cx="5705856" cy="184708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72783" y="3264408"/>
            <a:ext cx="54864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50" b="1" i="0">
                <a:solidFill>
                  <a:srgbClr val="102C50"/>
                </a:solidFill>
                <a:latin typeface="Arial"/>
              </a:rPr>
              <a:t>GraPARI Performance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09359" y="3621024"/>
            <a:ext cx="2633472" cy="123444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50" b="0" i="0">
                <a:solidFill>
                  <a:srgbClr val="20252B"/>
                </a:solidFill>
                <a:latin typeface="Arial"/>
              </a:rPr>
              <a:t>• Grapari Bima: PS +9,5%, Gap 4
• Grapari Dompu: PS +11,1%, Gap 1
• Grapari Lombok Timur: PS -50,0%, Gap -2
• Grapari Lombok Utara: PS -50,0%, Gap -1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79992" y="3621024"/>
            <a:ext cx="2633472" cy="123444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50" b="0" i="0">
                <a:solidFill>
                  <a:srgbClr val="20252B"/>
                </a:solidFill>
                <a:latin typeface="Arial"/>
              </a:rPr>
              <a:t>• Grapari Maluk: PS -25,0%, Gap -1
• Grapari Mataram: PS -26,2%, Gap -16
• Grapari Sumbawa: PS +42,9%, Gap 3
• Grapari Taliwang: PS +71,4%, Gap 5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20040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11479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Agency per WOK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9768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Lombok: RE -80 (-5,8%), PS -76 (-6,8%)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236976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328416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Web &amp; Apps per WOK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46704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Tidak ada penurunan PS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53912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45351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B2B2C &amp; Others per WOK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63640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Sumbawa Timur: RE -3 (-11,5%), PS -3 (-20,0%)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070848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162288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SOBI Affiliate per WOK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80576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Lombok: RE -5 (-62,5%), PS -3 (-100,0%)
• Sumbawa Barat: RE 0 (0,0%), PS -1 (-100,0%)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20040" y="6181344"/>
            <a:ext cx="1143000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Gap = perubahan absolut MTD terhadap MTD-1 pada periode tanggal yang sama. Angka dalam kurung menunjukkan MoM.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Appendix — PS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01–30 Sep 2026 vs MTD-1 01–30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PS by Speed — Total Branch &amp; WOK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456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405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-11,2%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19,9%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481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485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+0,8%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23,8%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180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197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+9,4%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90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+7,1%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183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179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15,6%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+22,2%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Sumbawa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52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-38,1%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17,1%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141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174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+23,4%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57,2%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-22,6%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288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263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-8,7%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44,7%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157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-15,9%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22,4%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52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+4,0%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3273552"/>
            <a:ext cx="64008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465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+7,6%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22,8%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503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477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23,4%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-65,5%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346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277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-19,9%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24,1%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503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477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41,6%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-72,7%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Sumbawa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50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+72,4%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16,4%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-33,3%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+142,1%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23,5%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-75,0%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2.081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2.039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1.226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1.147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291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304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564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588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Appendix — Revenue New Sales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01–30 Sep 2026 vs MTD-1 01–30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Revenue New Sales by Speed — Total Branch &amp; WOK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35240" y="777240"/>
            <a:ext cx="420624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850" b="0" i="1">
                <a:solidFill>
                  <a:srgbClr val="687386"/>
                </a:solidFill>
                <a:latin typeface="Arial"/>
              </a:rPr>
              <a:t>Revenue = total price_package dari PS unik per order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83,5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74,7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14,3%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115,3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115,5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+0,1%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22,1%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47,8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51,9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+8,6%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15,0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16,6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+10,5%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43,4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42,3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15,0%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25,7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31,1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+21,3%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11,0%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Sumbawa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15,3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9,5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-37,8%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12,1%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33,8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41,5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+22,7%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52,9%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8,4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6,6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-21,4%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53,2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48,6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-8,7%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30,1%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38,1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31,7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-16,8%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19,6%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13,7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14,2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+3,3%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320040" y="3273552"/>
            <a:ext cx="64008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223,9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212,1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40,6%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68,7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65,1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12,5%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10,0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-71,2%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192,1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126,2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-34,3%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44,7%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68,7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65,1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23,1%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4,2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875,0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-79,0%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Sumbawa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11,9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19,8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+66,4%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25,2%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-36,4%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19,9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66,1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+232,0%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40,9%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4,1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895,0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-78,3%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549,3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522,1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349,1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282,1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-19,2%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71,2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78,5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129,0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161,4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+25,1%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Appendix — Top 10 SF berdasarkan Pertumbuhan RE &amp; 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01–30 Sep 2026 vs MTD-1 01–30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Top 10 — Growth 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7648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Top 10 — Growth PS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Ismail Marzuki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ISM5793541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11,0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Yudi arman 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YUD8751940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10,0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 NYOMAN SAPUTRA WIJAYA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SPJTN56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Wahyu Hidayat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WAH3361599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ARIEF RAMADHOAN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SPMRR82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7,0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ALVIN HIDAYAT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ALV9273981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16,0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+320,0%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BQ DEWI NINGRUM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SPXCAEWI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ELISA PUTRI DEWI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SPAEL42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ANNISA SYAKIRAH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ANN8965485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Ni luh puri artini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NIL9865359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8,0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+266,7%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327648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Ismail Marzuki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ISM5793541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7,0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+700,0%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Yudi arman 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YUD8751940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ALVIN HIDAYAT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ALV9273981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+325,0%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GEORANO INDRIANTO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GEO3569992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ELISA PUTRI DEWI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SPAEL42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Fatimatuzzahrah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FAT6827977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Wahyu Hidayat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WAH3361599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 NYOMAN SAPUTRA WIJAYA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SPJTN56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FIKA AYU PUSPITASARI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SPFIK90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16,0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+266,7%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MIFTAHUL JANNAH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SPKPG04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5742432"/>
            <a:ext cx="1138428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Growth (%) dihitung dari volume RE/PS periode berjalan terhadap periode sebelumnya per SF Code. Ranking hanya mencakup SF pada branch ini; detail WOK tidak ditampilkan selama masa transisi.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78440" y="6144768"/>
            <a:ext cx="132588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137D3F"/>
                </a:solidFill>
                <a:latin typeface="Arial"/>
              </a:rPr>
              <a:t>Top 10 branch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Appendix — Bottom 10 SF berdasarkan Pertumbuhan RE &amp; 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01–30 Sep 2026 vs MTD-1 01–30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Bottom 10 — Growth 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7648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Bottom 10 — Growth PS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AISA TUKUBRA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AIS5256393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 tarmizi taher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MTA3993829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Ibadillah Hish Sholihah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IBA3828413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 SAIRIN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MSA6880413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Erwin Tri Saputra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ERW4280040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Riskia nur komalasari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RIS8726199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Nanda Yuliastini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NAN8343680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Humairoh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HUM5823335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Nadia Arianda Putri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NAD2517008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HARYATI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SPRAY50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327648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YANTI 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SPANTI5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 tarmizi taher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MTA3993829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Ibadillah Hish Sholihah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IBA3828413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Erwin Tri Saputra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ERW4280040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BAIQ RIRIN DWI APRILIANTI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BAI9847746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Riskia nur komalasari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RIS8726199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Humairoh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HUM5823335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Nadia Arianda Putri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NAD2517008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HARYATI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SPRAY50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Nizma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NIZ3447990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5742432"/>
            <a:ext cx="1138428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Growth (%) dihitung dari volume RE/PS periode berjalan terhadap periode sebelumnya per SF Code. Ranking hanya mencakup SF pada branch ini; detail WOK tidak ditampilkan selama masa transisi.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78440" y="6144768"/>
            <a:ext cx="132588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D73527"/>
                </a:solidFill>
                <a:latin typeface="Arial"/>
              </a:rPr>
              <a:t>Bottom 10 branch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20040" y="201168"/>
            <a:ext cx="8869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173C64"/>
                </a:solidFill>
                <a:latin typeface="Arial"/>
              </a:defRPr>
            </a:pPr>
            <a:r>
              <a:t>C3MR Performance — MATARAM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503920" y="228600"/>
            <a:ext cx="33375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0">
                <a:solidFill>
                  <a:srgbClr val="64748B"/>
                </a:solidFill>
                <a:latin typeface="Arial"/>
              </a:defRPr>
            </a:pPr>
            <a:r>
              <a:t>Snapshot 2026-10-13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658368"/>
            <a:ext cx="2743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 b="1">
                <a:solidFill>
                  <a:srgbClr val="1F2937"/>
                </a:solidFill>
                <a:latin typeface="Arial"/>
              </a:defRPr>
            </a:pPr>
            <a:r>
              <a:t>Branch C3MR 28.12%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0" y="694944"/>
            <a:ext cx="5943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1F2937"/>
                </a:solidFill>
                <a:latin typeface="Arial"/>
              </a:defRPr>
            </a:pPr>
            <a:r>
              <a:t>Target 97.45% | Gap -69.33 pp | M-1 32.56%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20040" y="1143000"/>
          <a:ext cx="11548866" cy="202082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14747"/>
                <a:gridCol w="763658"/>
                <a:gridCol w="763658"/>
                <a:gridCol w="822401"/>
                <a:gridCol w="1233602"/>
                <a:gridCol w="1233602"/>
                <a:gridCol w="845899"/>
                <a:gridCol w="845899"/>
                <a:gridCol w="845899"/>
                <a:gridCol w="963385"/>
                <a:gridCol w="1116116"/>
              </a:tblGrid>
              <a:tr h="505206"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WOK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SSL All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SSL Paid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Paid Rate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Billing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Payment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C3MR M-1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C3MR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Target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Gap Target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Avg Payment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505206">
                <a:tc>
                  <a:txBody>
                    <a:bodyPr/>
                    <a:lstStyle/>
                    <a:p>
                      <a:pPr algn="l">
                        <a:defRPr sz="819">
                          <a:latin typeface="Arial"/>
                        </a:defRPr>
                      </a:pPr>
                      <a:r>
                        <a:t>LOMBOK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44.841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15.359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34.25%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Rp13.74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Rp4.75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39.73%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34.58%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97.45%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-62.87 pp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Rp309.289</a:t>
                      </a:r>
                    </a:p>
                  </a:txBody>
                  <a:tcPr/>
                </a:tc>
              </a:tr>
              <a:tr h="505206">
                <a:tc>
                  <a:txBody>
                    <a:bodyPr/>
                    <a:lstStyle/>
                    <a:p>
                      <a:pPr algn="l">
                        <a:defRPr sz="819">
                          <a:latin typeface="Arial"/>
                        </a:defRPr>
                      </a:pPr>
                      <a:r>
                        <a:t>SUMBAWA BARAT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15.433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3.850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24.95%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Rp4.76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Rp1.21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29.23%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25.36%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97.45%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-72.09 pp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Rp313.758</a:t>
                      </a:r>
                    </a:p>
                  </a:txBody>
                  <a:tcPr/>
                </a:tc>
              </a:tr>
              <a:tr h="505206">
                <a:tc>
                  <a:txBody>
                    <a:bodyPr/>
                    <a:lstStyle/>
                    <a:p>
                      <a:pPr algn="l">
                        <a:defRPr sz="819">
                          <a:latin typeface="Arial"/>
                        </a:defRPr>
                      </a:pPr>
                      <a:r>
                        <a:t>SUMBAWA TIMUR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23.204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3.705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15.97%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Rp6.62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Rp1.11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20.06%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16.71%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97.45%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-80.74 pp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Rp298.590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320040" y="4251960"/>
            <a:ext cx="18288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173C64"/>
                </a:solidFill>
                <a:latin typeface="Arial"/>
              </a:defRPr>
            </a:pPr>
            <a:r>
              <a:t>LOS Branch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4507992"/>
          <a:ext cx="5577838" cy="1371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73503"/>
                <a:gridCol w="1138334"/>
                <a:gridCol w="1366001"/>
              </a:tblGrid>
              <a:tr h="195942"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LOS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C3MR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Progress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195942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NEW_SALES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43.94%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-12.42 pp</a:t>
                      </a:r>
                    </a:p>
                  </a:txBody>
                  <a:tcPr/>
                </a:tc>
              </a:tr>
              <a:tr h="195942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1 - 3 Months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33.64%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-4.96 pp</a:t>
                      </a:r>
                    </a:p>
                  </a:txBody>
                  <a:tcPr/>
                </a:tc>
              </a:tr>
              <a:tr h="195942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4 - 6 Months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28.12%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-3.79 pp</a:t>
                      </a:r>
                    </a:p>
                  </a:txBody>
                  <a:tcPr/>
                </a:tc>
              </a:tr>
              <a:tr h="195942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7 - 12 Months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26.62%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-2.62 pp</a:t>
                      </a:r>
                    </a:p>
                  </a:txBody>
                  <a:tcPr/>
                </a:tc>
              </a:tr>
              <a:tr h="195942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1 - 2 Years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23.26%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-3.37 pp</a:t>
                      </a:r>
                    </a:p>
                  </a:txBody>
                  <a:tcPr/>
                </a:tc>
              </a:tr>
              <a:tr h="195948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&gt; 2 Years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28.83%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-4.86 pp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20040" y="201168"/>
            <a:ext cx="8869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173C64"/>
                </a:solidFill>
                <a:latin typeface="Arial"/>
              </a:defRPr>
            </a:pPr>
            <a:r>
              <a:t>CAPS Performance — MATARAM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503920" y="228600"/>
            <a:ext cx="33375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0">
                <a:solidFill>
                  <a:srgbClr val="64748B"/>
                </a:solidFill>
                <a:latin typeface="Arial"/>
              </a:defRPr>
            </a:pPr>
            <a:r>
              <a:t>Snapshot 2026-10-13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621792"/>
            <a:ext cx="2560320" cy="731520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>
            <a:spAutoFit/>
          </a:bodyPr>
          <a:lstStyle/>
          <a:p>
            <a:pPr>
              <a:defRPr sz="800" b="1">
                <a:solidFill>
                  <a:srgbClr val="1F2937"/>
                </a:solidFill>
                <a:latin typeface="Arial"/>
              </a:defRPr>
            </a:pPr>
            <a:r>
              <a:t>CAPS M</a:t>
            </a:r>
          </a:p>
          <a:p>
            <a:pPr>
              <a:defRPr sz="1600" b="1">
                <a:solidFill>
                  <a:srgbClr val="1F2937"/>
                </a:solidFill>
                <a:latin typeface="Arial"/>
              </a:defRPr>
            </a:pPr>
            <a:r>
              <a:t>50</a:t>
            </a:r>
          </a:p>
          <a:p>
            <a:pPr>
              <a:defRPr sz="750" b="1">
                <a:solidFill>
                  <a:srgbClr val="1F2937"/>
                </a:solidFill>
                <a:latin typeface="Arial"/>
              </a:defRPr>
            </a:pPr>
            <a:r>
              <a:t>M-1 44 | MoM +13.6%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063240" y="621792"/>
            <a:ext cx="2560320" cy="731520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>
            <a:spAutoFit/>
          </a:bodyPr>
          <a:lstStyle/>
          <a:p>
            <a:pPr>
              <a:defRPr sz="800" b="1">
                <a:solidFill>
                  <a:srgbClr val="1F2937"/>
                </a:solidFill>
                <a:latin typeface="Arial"/>
              </a:defRPr>
            </a:pPr>
            <a:r>
              <a:t>TARGET</a:t>
            </a:r>
          </a:p>
          <a:p>
            <a:pPr>
              <a:defRPr sz="1600" b="1">
                <a:solidFill>
                  <a:srgbClr val="1F2937"/>
                </a:solidFill>
                <a:latin typeface="Arial"/>
              </a:defRPr>
            </a:pPr>
            <a:r>
              <a:t>98</a:t>
            </a:r>
          </a:p>
          <a:p>
            <a:pPr>
              <a:defRPr sz="750" b="1">
                <a:solidFill>
                  <a:srgbClr val="1F2937"/>
                </a:solidFill>
                <a:latin typeface="Arial"/>
              </a:defRPr>
            </a:pPr>
            <a:r>
              <a:t>Batas CAPS bulan berjalan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806440" y="621792"/>
            <a:ext cx="2560320" cy="731520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>
            <a:spAutoFit/>
          </a:bodyPr>
          <a:lstStyle/>
          <a:p>
            <a:pPr>
              <a:defRPr sz="800" b="1">
                <a:solidFill>
                  <a:srgbClr val="1F2937"/>
                </a:solidFill>
                <a:latin typeface="Arial"/>
              </a:defRPr>
            </a:pPr>
            <a:r>
              <a:t>GAP TARGET</a:t>
            </a:r>
          </a:p>
          <a:p>
            <a:pPr>
              <a:defRPr sz="1600" b="1">
                <a:solidFill>
                  <a:srgbClr val="1F2937"/>
                </a:solidFill>
                <a:latin typeface="Arial"/>
              </a:defRPr>
            </a:pPr>
            <a:r>
              <a:t>-48</a:t>
            </a:r>
          </a:p>
          <a:p>
            <a:pPr>
              <a:defRPr sz="750" b="1">
                <a:solidFill>
                  <a:srgbClr val="1F2937"/>
                </a:solidFill>
                <a:latin typeface="Arial"/>
              </a:defRPr>
            </a:pPr>
            <a:r>
              <a:t>CAPS M - Target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49640" y="621792"/>
            <a:ext cx="2560320" cy="731520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>
            <a:spAutoFit/>
          </a:bodyPr>
          <a:lstStyle/>
          <a:p>
            <a:pPr>
              <a:defRPr sz="800" b="1">
                <a:solidFill>
                  <a:srgbClr val="1F2937"/>
                </a:solidFill>
                <a:latin typeface="Arial"/>
              </a:defRPr>
            </a:pPr>
            <a:r>
              <a:t>Δ M vs M-1</a:t>
            </a:r>
          </a:p>
          <a:p>
            <a:pPr>
              <a:defRPr sz="1600" b="1">
                <a:solidFill>
                  <a:srgbClr val="1F2937"/>
                </a:solidFill>
                <a:latin typeface="Arial"/>
              </a:defRPr>
            </a:pPr>
            <a:r>
              <a:t>+6</a:t>
            </a:r>
          </a:p>
          <a:p>
            <a:pPr>
              <a:defRPr sz="750" b="1">
                <a:solidFill>
                  <a:srgbClr val="1F2937"/>
                </a:solidFill>
                <a:latin typeface="Arial"/>
              </a:defRPr>
            </a:pPr>
            <a:r>
              <a:t>Perubahan jumlah CAPS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508760"/>
          <a:ext cx="11548871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320300"/>
                <a:gridCol w="1443609"/>
                <a:gridCol w="1443609"/>
                <a:gridCol w="1154887"/>
                <a:gridCol w="1299248"/>
                <a:gridCol w="1443609"/>
                <a:gridCol w="1443609"/>
              </a:tblGrid>
              <a:tr h="365760"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Area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CAPS M-1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CAPS 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Δ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MoM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Target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Gap Target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defRPr sz="900">
                          <a:latin typeface="Arial"/>
                        </a:defRPr>
                      </a:pPr>
                      <a:r>
                        <a:t>MATARAM (BRANCH)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44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+6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+13.6%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98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-48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defRPr sz="900">
                          <a:latin typeface="Arial"/>
                        </a:defRPr>
                      </a:pPr>
                      <a:r>
                        <a:t>LOMBOK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37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42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+5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+13.5%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84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-42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defRPr sz="900">
                          <a:latin typeface="Arial"/>
                        </a:defRPr>
                      </a:pPr>
                      <a:r>
                        <a:t>SUMBAWA BARAT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+2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+100.0%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-1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defRPr sz="900">
                          <a:latin typeface="Arial"/>
                        </a:defRPr>
                      </a:pPr>
                      <a:r>
                        <a:t>SUMBAWA TIMUR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-20.0%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-6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3611880"/>
            <a:ext cx="4572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173C64"/>
                </a:solidFill>
                <a:latin typeface="Arial"/>
              </a:defRPr>
            </a:pPr>
            <a:r>
              <a:t>CAPS by LOS — Branch &amp; WOK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3931920"/>
          <a:ext cx="11548870" cy="2331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78874"/>
                <a:gridCol w="2242499"/>
                <a:gridCol w="2242499"/>
                <a:gridCol w="2242499"/>
                <a:gridCol w="2242499"/>
              </a:tblGrid>
              <a:tr h="777240"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LOS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MATARAM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LOMBOK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SUMBAWA BARAT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SUMBAWA TIMUR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1 - 2 YEARS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12 / +200.0%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8 / +100.0%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2 / +100.0%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2 / +100.0%</a:t>
                      </a:r>
                    </a:p>
                  </a:txBody>
                  <a:tcPr/>
                </a:tc>
              </a:tr>
              <a:tr h="777240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&gt; 2 YEARS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38 / -5.0%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34 / +3.0%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2 / +0.0%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2 / -60.0%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