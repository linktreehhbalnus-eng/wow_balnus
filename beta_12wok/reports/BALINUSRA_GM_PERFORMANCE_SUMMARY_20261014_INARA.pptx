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01/10</c:v>
                </c:pt>
                <c:pt idx="1">
                  <c:v>02/10</c:v>
                </c:pt>
                <c:pt idx="2">
                  <c:v>03/10</c:v>
                </c:pt>
                <c:pt idx="3">
                  <c:v>04/10</c:v>
                </c:pt>
                <c:pt idx="4">
                  <c:v>05/10</c:v>
                </c:pt>
                <c:pt idx="5">
                  <c:v>06/10</c:v>
                </c:pt>
                <c:pt idx="6">
                  <c:v>07/10</c:v>
                </c:pt>
                <c:pt idx="7">
                  <c:v>08/10</c:v>
                </c:pt>
                <c:pt idx="8">
                  <c:v>09/10</c:v>
                </c:pt>
                <c:pt idx="9">
                  <c:v>10/10</c:v>
                </c:pt>
                <c:pt idx="10">
                  <c:v>11/10</c:v>
                </c:pt>
                <c:pt idx="11">
                  <c:v>12/10</c:v>
                </c:pt>
                <c:pt idx="12">
                  <c:v>13/10</c:v>
                </c:pt>
                <c:pt idx="13">
                  <c:v>14/10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341.0</c:v>
                </c:pt>
                <c:pt idx="1">
                  <c:v>325.0</c:v>
                </c:pt>
                <c:pt idx="2">
                  <c:v>252.0</c:v>
                </c:pt>
                <c:pt idx="3">
                  <c:v>183.0</c:v>
                </c:pt>
                <c:pt idx="4">
                  <c:v>319.0</c:v>
                </c:pt>
                <c:pt idx="5">
                  <c:v>293.0</c:v>
                </c:pt>
                <c:pt idx="6">
                  <c:v>322.0</c:v>
                </c:pt>
                <c:pt idx="7">
                  <c:v>300.0</c:v>
                </c:pt>
                <c:pt idx="8">
                  <c:v>225.0</c:v>
                </c:pt>
                <c:pt idx="9">
                  <c:v>231.0</c:v>
                </c:pt>
                <c:pt idx="10">
                  <c:v>159.0</c:v>
                </c:pt>
                <c:pt idx="11">
                  <c:v>287.0</c:v>
                </c:pt>
                <c:pt idx="12">
                  <c:v>276.0</c:v>
                </c:pt>
                <c:pt idx="13">
                  <c:v>273.0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01/10</c:v>
                </c:pt>
                <c:pt idx="1">
                  <c:v>02/10</c:v>
                </c:pt>
                <c:pt idx="2">
                  <c:v>03/10</c:v>
                </c:pt>
                <c:pt idx="3">
                  <c:v>04/10</c:v>
                </c:pt>
                <c:pt idx="4">
                  <c:v>05/10</c:v>
                </c:pt>
                <c:pt idx="5">
                  <c:v>06/10</c:v>
                </c:pt>
                <c:pt idx="6">
                  <c:v>07/10</c:v>
                </c:pt>
                <c:pt idx="7">
                  <c:v>08/10</c:v>
                </c:pt>
                <c:pt idx="8">
                  <c:v>09/10</c:v>
                </c:pt>
                <c:pt idx="9">
                  <c:v>10/10</c:v>
                </c:pt>
                <c:pt idx="10">
                  <c:v>11/10</c:v>
                </c:pt>
                <c:pt idx="11">
                  <c:v>12/10</c:v>
                </c:pt>
                <c:pt idx="12">
                  <c:v>13/10</c:v>
                </c:pt>
                <c:pt idx="13">
                  <c:v>14/10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232.0</c:v>
                </c:pt>
                <c:pt idx="1">
                  <c:v>223.0</c:v>
                </c:pt>
                <c:pt idx="2">
                  <c:v>204.0</c:v>
                </c:pt>
                <c:pt idx="3">
                  <c:v>150.0</c:v>
                </c:pt>
                <c:pt idx="4">
                  <c:v>230.0</c:v>
                </c:pt>
                <c:pt idx="5">
                  <c:v>214.0</c:v>
                </c:pt>
                <c:pt idx="6">
                  <c:v>278.0</c:v>
                </c:pt>
                <c:pt idx="7">
                  <c:v>236.0</c:v>
                </c:pt>
                <c:pt idx="8">
                  <c:v>238.0</c:v>
                </c:pt>
                <c:pt idx="9">
                  <c:v>184.0</c:v>
                </c:pt>
                <c:pt idx="10">
                  <c:v>121.0</c:v>
                </c:pt>
                <c:pt idx="11">
                  <c:v>206.0</c:v>
                </c:pt>
                <c:pt idx="12">
                  <c:v>225.0</c:v>
                </c:pt>
                <c:pt idx="13">
                  <c:v>212.0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-12,4% &amp; PS -12,2% MoM — Achievement Mencapai 33,1% (RE) / 31,9%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14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01–14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(+3,3%), Denpasar Terdalam (-21,2%)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-4,1%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-9,1%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42,6%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34,1%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29,3%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(+13,6%), Bali Barat Terdalam (-38,8%)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(+31), Sumbawa Barat Tumbuh Tertinggi (+120,0%)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+89, Bottom 5 -321, dan perubahan PS regional -412.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(-4,6%), TSEL One &gt;30 Mbps Turun Terdalam (-27,8%)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-5,9%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5.346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1.554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1.551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1.564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3.045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Okt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124 / 306 (40,5%)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160 / 347 (46,1%)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 / 129 (45,0%)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143 (49,7%)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-16,5%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143 (59,4%)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 / 156 (61,5%)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130 / 210 (61,9%)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154 / 237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 / 58 (84,5%)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-2,0% | Turun 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397 / 788 (50,4%)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-7,2% | Turun 247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481 / 901 (53,4%)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 | Turun 298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1.624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2.573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306 (3,9%)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347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 | Turun 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129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143 (9,8%)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156 (5,1%)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210 (4,8%)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237 (7,6%)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-21,7%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58 (15,5%)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 | Turun 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 / 788 (4,6%)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247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-8,3%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71 / 901 (7,9%)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-13,4% | Turun 298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NURJANAH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 AMIRUDDIN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GALANG RAMADHAN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Kristiana Liva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LABA GOLE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TAJUDIN NUR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Okt 2026 vs MTD-1 01–14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Okt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3.365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2.953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Okt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Okt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4.323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3.786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3.365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2.953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662,1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3.676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2.942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2.574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563,2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495 | MoM -8,8%
PS: 481 | MoM -5,9%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412 | Active 52,3% | MoM -9,5%
  PS: 397 | Active 50,4% | MoM -6,6%
• Greenfield
  RE: 48 | Active 82,8% | MoM -7,7%
  PS: 49 | Active 84,5% | MoM -2,0%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-34,5%, Gap -19
• Flores: PS +17,9%, Gap +10
• Kupang: PS -8,7%, Gap -2
• Mataram: PS -25,0%, Gap 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Timur (Mataram): -100,0%, Gap -1
• Grapari Tabanan (Denpasar): -80,0%, Gap -4
• Grapari Sumbawa (Mataram): -71,4%, Gap -5
• Grapari Ubud (Denpasar): -57,1%, Gap -4
• Grapari Mataram (Mataram): -53,6%, Gap -15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-172 (-34,7%), PS -174 (-39,3%)
• Bali Tengah: RE -118 (-13,9%), PS -99 (-13,8%)
• Lombok: RE -104 (-17,4%), PS -60 (-13,2%)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+1 (+3,4%), PS -8 (-36,4%)
• Sumbawa Timur: RE -9 (-33,3%), PS -7 (-50,0%)
• Manggarai: RE -5 (-35,7%), PS -5 (-55,6%)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+1 (+50,0%), PS -2 (-100,0%)
• Flores Timur: RE 0 (0,0%), PS -2 (-100,0%)
• Manggarai: RE -5 (-100,0%),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(-33,3%), PS -3 (-100,0%)
• Bali Tengah: RE -1 (-25,0%), PS -2 (-50,0%)
• Malaka Timtim Belu: RE -2 (-100,0%),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32.01%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36.83% | MoM -4.82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-65.20 pp | Rp-69.77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328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31.96%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36.65% | MoM -4.70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5472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Rp34.25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Rp39.20 M | MoM -12.6%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616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481328"/>
          <a:ext cx="11548869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82388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Rp-33.85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Rp-7.56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Rp-10.95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Rp-17.42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Rp-7.08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Rp-18.20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Rp-8.57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Rp-2.99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Rp-5.85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-3.48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Rp-2.94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Rp-2.91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-3.64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Rp-2.15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Rp-8.64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Rp-3.43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-15.2%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Rp-5.35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32.01%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-4.82 pp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08760"/>
          <a:ext cx="1154887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43107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49.75% / -9.77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55.03% / -8.17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55.08% / -6.82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42.53% / -10.60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43.94% / -12.42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34.59% / -3.88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38.11% / -5.69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33.37% / -1.09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27.61% / -1.04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33.64% / -4.96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27.37% / -4.01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32.38% / -4.66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20.22% / -3.40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20.49% / -3.67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28.12% / -3.79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27.54% / -2.55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33.16% / -2.78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19.71% / -1.70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21.29% / -2.06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26.62% / -2.62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25.68% / -3.72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31.07% / -4.34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18.24% / -2.68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19.02% / -3.13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23.26% / -3.37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33.77% / -5.32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38.88% / -5.77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23.07% / -4.79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27.04% / -4.54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28.83% / -4.86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