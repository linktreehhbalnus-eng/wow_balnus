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59.0</c:v>
                </c:pt>
                <c:pt idx="1">
                  <c:v>59.0</c:v>
                </c:pt>
                <c:pt idx="2">
                  <c:v>50.0</c:v>
                </c:pt>
                <c:pt idx="3">
                  <c:v>46.0</c:v>
                </c:pt>
                <c:pt idx="4">
                  <c:v>57.0</c:v>
                </c:pt>
                <c:pt idx="5">
                  <c:v>52.0</c:v>
                </c:pt>
                <c:pt idx="6">
                  <c:v>50.0</c:v>
                </c:pt>
                <c:pt idx="7">
                  <c:v>62.0</c:v>
                </c:pt>
                <c:pt idx="8">
                  <c:v>40.0</c:v>
                </c:pt>
                <c:pt idx="9">
                  <c:v>45.0</c:v>
                </c:pt>
                <c:pt idx="10">
                  <c:v>35.0</c:v>
                </c:pt>
                <c:pt idx="11">
                  <c:v>55.0</c:v>
                </c:pt>
                <c:pt idx="12">
                  <c:v>44.0</c:v>
                </c:pt>
                <c:pt idx="13">
                  <c:v>38.0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15.0</c:v>
                </c:pt>
                <c:pt idx="1">
                  <c:v>16.0</c:v>
                </c:pt>
                <c:pt idx="2">
                  <c:v>13.0</c:v>
                </c:pt>
                <c:pt idx="3">
                  <c:v>14.0</c:v>
                </c:pt>
                <c:pt idx="4">
                  <c:v>15.0</c:v>
                </c:pt>
                <c:pt idx="5">
                  <c:v>15.0</c:v>
                </c:pt>
                <c:pt idx="6">
                  <c:v>13.0</c:v>
                </c:pt>
                <c:pt idx="7">
                  <c:v>18.0</c:v>
                </c:pt>
                <c:pt idx="8">
                  <c:v>13.0</c:v>
                </c:pt>
                <c:pt idx="9">
                  <c:v>17.0</c:v>
                </c:pt>
                <c:pt idx="10">
                  <c:v>10.0</c:v>
                </c:pt>
                <c:pt idx="11">
                  <c:v>11.0</c:v>
                </c:pt>
                <c:pt idx="12">
                  <c:v>13.0</c:v>
                </c:pt>
                <c:pt idx="13">
                  <c:v>11.0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34.0</c:v>
                </c:pt>
                <c:pt idx="1">
                  <c:v>34.0</c:v>
                </c:pt>
                <c:pt idx="2">
                  <c:v>31.0</c:v>
                </c:pt>
                <c:pt idx="3">
                  <c:v>22.0</c:v>
                </c:pt>
                <c:pt idx="4">
                  <c:v>33.0</c:v>
                </c:pt>
                <c:pt idx="5">
                  <c:v>25.0</c:v>
                </c:pt>
                <c:pt idx="6">
                  <c:v>32.0</c:v>
                </c:pt>
                <c:pt idx="7">
                  <c:v>34.0</c:v>
                </c:pt>
                <c:pt idx="8">
                  <c:v>19.0</c:v>
                </c:pt>
                <c:pt idx="9">
                  <c:v>24.0</c:v>
                </c:pt>
                <c:pt idx="10">
                  <c:v>18.0</c:v>
                </c:pt>
                <c:pt idx="11">
                  <c:v>31.0</c:v>
                </c:pt>
                <c:pt idx="12">
                  <c:v>22.0</c:v>
                </c:pt>
                <c:pt idx="13">
                  <c:v>17.0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12.0</c:v>
                </c:pt>
                <c:pt idx="1">
                  <c:v>11.0</c:v>
                </c:pt>
                <c:pt idx="2">
                  <c:v>9.0</c:v>
                </c:pt>
                <c:pt idx="3">
                  <c:v>10.0</c:v>
                </c:pt>
                <c:pt idx="4">
                  <c:v>11.0</c:v>
                </c:pt>
                <c:pt idx="5">
                  <c:v>13.0</c:v>
                </c:pt>
                <c:pt idx="6">
                  <c:v>8.0</c:v>
                </c:pt>
                <c:pt idx="7">
                  <c:v>13.0</c:v>
                </c:pt>
                <c:pt idx="8">
                  <c:v>8.0</c:v>
                </c:pt>
                <c:pt idx="9">
                  <c:v>8.0</c:v>
                </c:pt>
                <c:pt idx="10">
                  <c:v>8.0</c:v>
                </c:pt>
                <c:pt idx="11">
                  <c:v>13.0</c:v>
                </c:pt>
                <c:pt idx="12">
                  <c:v>11.0</c:v>
                </c:pt>
                <c:pt idx="13">
                  <c:v>10.0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1.0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Denpasar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53.0</c:v>
                </c:pt>
                <c:pt idx="1">
                  <c:v>53.0</c:v>
                </c:pt>
                <c:pt idx="2">
                  <c:v>57.0</c:v>
                </c:pt>
                <c:pt idx="3">
                  <c:v>41.0</c:v>
                </c:pt>
                <c:pt idx="4">
                  <c:v>42.0</c:v>
                </c:pt>
                <c:pt idx="5">
                  <c:v>45.0</c:v>
                </c:pt>
                <c:pt idx="6">
                  <c:v>57.0</c:v>
                </c:pt>
                <c:pt idx="7">
                  <c:v>56.0</c:v>
                </c:pt>
                <c:pt idx="8">
                  <c:v>43.0</c:v>
                </c:pt>
                <c:pt idx="9">
                  <c:v>41.0</c:v>
                </c:pt>
                <c:pt idx="10">
                  <c:v>32.0</c:v>
                </c:pt>
                <c:pt idx="11">
                  <c:v>42.0</c:v>
                </c:pt>
                <c:pt idx="12">
                  <c:v>43.0</c:v>
                </c:pt>
                <c:pt idx="13">
                  <c:v>34.0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Bali Barat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11.0</c:v>
                </c:pt>
                <c:pt idx="1">
                  <c:v>15.0</c:v>
                </c:pt>
                <c:pt idx="2">
                  <c:v>13.0</c:v>
                </c:pt>
                <c:pt idx="3">
                  <c:v>9.0</c:v>
                </c:pt>
                <c:pt idx="4">
                  <c:v>11.0</c:v>
                </c:pt>
                <c:pt idx="5">
                  <c:v>8.0</c:v>
                </c:pt>
                <c:pt idx="6">
                  <c:v>19.0</c:v>
                </c:pt>
                <c:pt idx="7">
                  <c:v>15.0</c:v>
                </c:pt>
                <c:pt idx="8">
                  <c:v>11.0</c:v>
                </c:pt>
                <c:pt idx="9">
                  <c:v>14.0</c:v>
                </c:pt>
                <c:pt idx="10">
                  <c:v>12.0</c:v>
                </c:pt>
                <c:pt idx="11">
                  <c:v>11.0</c:v>
                </c:pt>
                <c:pt idx="12">
                  <c:v>12.0</c:v>
                </c:pt>
                <c:pt idx="13">
                  <c:v>6.0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Bali Tengah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Sheet1!$D$2:$D$15</c:f>
              <c:numCache>
                <c:formatCode>General</c:formatCode>
                <c:ptCount val="14"/>
                <c:pt idx="0">
                  <c:v>31.0</c:v>
                </c:pt>
                <c:pt idx="1">
                  <c:v>30.0</c:v>
                </c:pt>
                <c:pt idx="2">
                  <c:v>36.0</c:v>
                </c:pt>
                <c:pt idx="3">
                  <c:v>26.0</c:v>
                </c:pt>
                <c:pt idx="4">
                  <c:v>23.0</c:v>
                </c:pt>
                <c:pt idx="5">
                  <c:v>31.0</c:v>
                </c:pt>
                <c:pt idx="6">
                  <c:v>30.0</c:v>
                </c:pt>
                <c:pt idx="7">
                  <c:v>28.0</c:v>
                </c:pt>
                <c:pt idx="8">
                  <c:v>23.0</c:v>
                </c:pt>
                <c:pt idx="9">
                  <c:v>15.0</c:v>
                </c:pt>
                <c:pt idx="10">
                  <c:v>19.0</c:v>
                </c:pt>
                <c:pt idx="11">
                  <c:v>24.0</c:v>
                </c:pt>
                <c:pt idx="12">
                  <c:v>23.0</c:v>
                </c:pt>
                <c:pt idx="13">
                  <c:v>22.0</c:v>
                </c:pt>
              </c:numCache>
            </c:numRef>
          </c:val>
          <c:smooth val="0"/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Bali Timur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Sheet1!$E$2:$E$15</c:f>
              <c:numCache>
                <c:formatCode>General</c:formatCode>
                <c:ptCount val="14"/>
                <c:pt idx="0">
                  <c:v>12.0</c:v>
                </c:pt>
                <c:pt idx="1">
                  <c:v>8.0</c:v>
                </c:pt>
                <c:pt idx="2">
                  <c:v>9.0</c:v>
                </c:pt>
                <c:pt idx="3">
                  <c:v>6.0</c:v>
                </c:pt>
                <c:pt idx="4">
                  <c:v>12.0</c:v>
                </c:pt>
                <c:pt idx="5">
                  <c:v>7.0</c:v>
                </c:pt>
                <c:pt idx="6">
                  <c:v>12.0</c:v>
                </c:pt>
                <c:pt idx="7">
                  <c:v>14.0</c:v>
                </c:pt>
                <c:pt idx="8">
                  <c:v>9.0</c:v>
                </c:pt>
                <c:pt idx="9">
                  <c:v>12.0</c:v>
                </c:pt>
                <c:pt idx="10">
                  <c:v>3.0</c:v>
                </c:pt>
                <c:pt idx="11">
                  <c:v>8.0</c:v>
                </c:pt>
                <c:pt idx="12">
                  <c:v>8.0</c:v>
                </c:pt>
                <c:pt idx="13">
                  <c:v>6.0</c:v>
                </c:pt>
              </c:numCache>
            </c:numRef>
          </c:val>
          <c:smooth val="0"/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Unknown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Sheet1!$A$2:$A$15</c:f>
              <c:strCache>
                <c:ptCount val="14"/>
                <c:pt idx="0">
                  <c:v>01 Oct</c:v>
                </c:pt>
                <c:pt idx="1">
                  <c:v>02 Oct</c:v>
                </c:pt>
                <c:pt idx="2">
                  <c:v>03 Oct</c:v>
                </c:pt>
                <c:pt idx="3">
                  <c:v>04 Oct</c:v>
                </c:pt>
                <c:pt idx="4">
                  <c:v>05 Oct</c:v>
                </c:pt>
                <c:pt idx="5">
                  <c:v>06 Oct</c:v>
                </c:pt>
                <c:pt idx="6">
                  <c:v>07 Oct</c:v>
                </c:pt>
                <c:pt idx="7">
                  <c:v>08 Oct</c:v>
                </c:pt>
                <c:pt idx="8">
                  <c:v>09 Oct</c:v>
                </c:pt>
                <c:pt idx="9">
                  <c:v>10 Oct</c:v>
                </c:pt>
                <c:pt idx="10">
                  <c:v>11 Oct</c:v>
                </c:pt>
                <c:pt idx="11">
                  <c:v>12 Oct</c:v>
                </c:pt>
                <c:pt idx="12">
                  <c:v>13 Oct</c:v>
                </c:pt>
                <c:pt idx="13">
                  <c:v>14 Oct</c:v>
                </c:pt>
              </c:strCache>
            </c:strRef>
          </c:cat>
          <c:val>
            <c:numRef>
              <c:f>Sheet1!$F$2:$F$15</c:f>
              <c:numCache>
                <c:formatCode>General</c:formatCode>
                <c:ptCount val="14"/>
                <c:pt idx="0">
                  <c:v>0</c:v>
                </c:pt>
                <c:pt idx="1">
                  <c:v>1.0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5.139,5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3.629,5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4.174,0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2.953,0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3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-1,9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Denpasar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12435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26,0%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1.015,2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828,5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30,6%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1.975,3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31,4%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1.587,4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29,6%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648,0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539,1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828031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5111495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321807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Karang Asem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Klaten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Kota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321807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Buleleng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Jembrana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49640" y="749808"/>
            <a:ext cx="329184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SF Register: 351 → 347  (-1,1%)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1368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-14,7%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190   Δ -28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60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-8,0%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174   Δ -14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16952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172   Current DJP unavailable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N/A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24744" y="1362456"/>
            <a:ext cx="11430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687386"/>
                </a:solidFill>
                <a:latin typeface="Arial"/>
              </a:rPr>
              <a:t>Data Transition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0">
                <a:solidFill>
                  <a:srgbClr val="687386"/>
                </a:solidFill>
                <a:latin typeface="Arial"/>
              </a:rPr>
              <a:t>MTD-1: 3.755   Current DJP unavailable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2" cy="1938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1088"/>
                <a:gridCol w="613666"/>
                <a:gridCol w="613666"/>
                <a:gridCol w="613666"/>
                <a:gridCol w="681852"/>
                <a:gridCol w="681852"/>
                <a:gridCol w="681852"/>
                <a:gridCol w="681852"/>
                <a:gridCol w="681852"/>
                <a:gridCol w="681852"/>
                <a:gridCol w="664805"/>
                <a:gridCol w="664805"/>
                <a:gridCol w="664805"/>
                <a:gridCol w="767083"/>
                <a:gridCol w="767083"/>
                <a:gridCol w="767083"/>
              </a:tblGrid>
              <a:tr h="323088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3088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TOTAL 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3.755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1.173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-0,5%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-18,0%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2.276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30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37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D73527"/>
                          </a:solidFill>
                          <a:latin typeface="Arial"/>
                        </a:rPr>
                        <a:t>-9,8%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19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791456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Denpasar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5065776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-30,8%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6519672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 / 20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-5,9%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124 / 306 (40,5%)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-9,5%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160 / 347 (46,1%)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-8,0% | Turun 113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32 / 68 (47,1%)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-3,0%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40 / 80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-4,8%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62 / 164 (37,8%)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-11,4%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83 / 185 (44,9%)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-8,8%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30 / 74 (40,5%)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-11,8%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37 / 82 (45,1%)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478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-19,5%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114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-27,8%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-16,3%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1.069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127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-56,4%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274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3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233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+43,8%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213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311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118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 / 20 (10,0%)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10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12 / 306 (3,9%)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-29,4% | Turun 89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 / 5 (60,0%)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9 / 10 (90,0%)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-10,0% | Turun 6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31 / 347 (8,9%)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-18,4% | Turun 113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6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3 / 68 (4,4%)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-62,5% | Turun 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8 / 80 (10,0%)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-38,5% | Turun 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9 (22,2%)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164 (3,0%)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2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2 / 3 (66,7%)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-33,3%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-14,3% | Turun 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16 / 185 (8,6%)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-11,1% | Turun 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60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5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74 (5,4%)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2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82 (8,5%)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9812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29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113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Unknown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435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5890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-64,3%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145536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Denpasar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1.631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3438144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703320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7.074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21.416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15.553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3.291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47.364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45,2%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3.291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0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644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0 (0,0%)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1.498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-19,9%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-22,1%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213,7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9,0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23,3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+37,9%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500,0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-73,7%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162 | MoM -14,7%
PS: 160 | MoM -8,0%
• Elite
  RE: 10 | Active 100,0% | MoM 0,0%
  PS: 10 | Active 100,0% | MoM 0,0%
• Performer
  RE: 6 | Active 100,0% | MoM 0,0%
  PS: 6 | Active 100,0% | MoM 0,0%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Junior
  RE: 127 | Active 41,5% | MoM -17,0%
  PS: 124 | Active 40,5% | MoM -9,5%
• Greenfield
  RE: 15 | Active 75,0% | MoM -11,8%
  PS: 16 | Active 80,0% | MoM -5,9%
• Junior Plus
  RE: 4 | Active 80,0% | MoM 0,0%
  PS: 4 | Active 80,0%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Amlapura: PS 0,0%, Gap 0
• Grapari Gatsu Tengah: PS 0,0%, Gap 0
• Grapari Jimbaran: PS -9,1%, Gap -1
• Grapari Kuta: PS -16,7%, Gap -1
• Grapari Negara: PS -50,0%, Gap -2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Renon: PS -33,3%, Gap -5
• Grapari Singaraja: PS -50,0%, Gap -2
• Grapari Tabanan: PS -80,0%, Gap -4
• Grapari Ubud: PS -57,1%, Gap -4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Barat: RE -172 (-34,7%), PS -174 (-39,3%)
• Bali Tengah: RE -118 (-13,9%), PS -99 (-13,8%)
• Bali Timur: RE -67 (-23,6%), PS -32 (-15,2%)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1 (+3,4%), PS -8 (-36,4%)
• Bali Tengah: RE -3 (-3,4%), PS -4 (-6,2%)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Bali Timur: RE -1 (-33,3%), PS -3 (-100,0%)
• Bali Tengah: RE -1 (-25,0%), PS -2 (-50,0%)
• Bali Barat: RE 0 (0,0%), PS -1 (-100,0%)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1.550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71,9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28,3%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44,1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40,9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54,0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26,7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36,3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-16,6%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8,4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2766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766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34,8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22,4%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766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8,1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580,0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307,5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253,6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75,4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51,0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181,5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159,3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4264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Bali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50,6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43,2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AMMAR DANI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SPARH69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Erlan Bahtiar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ERL2791623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GEDE WISADA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SPXJRO75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MIRAH PADMINI,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SPXMIR75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9,0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HAIDAR EL JAWAS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SPEDA24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+600,0%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Zakaria Rafiif Ahmad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ZAK7021058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ARDIANSYAH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ARD6855279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 MADE MAWAYANA SE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SPXYM59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ANIS MARIATUL KIPTIAN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SPSNS18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SYAFII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SPYYF18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LUH SURYA PERTIWI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SPHHR79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AYU GEDE FAJAR SARI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SPIAR40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Bangbang Ilyasa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BAN6163630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Denpasar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01–14 Oct 2026 vs MTD-1 01–14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Denpasar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Indra syah 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IND7163324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Kristiana Liva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KRI7143228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IRMA NUR AINI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SPIRN91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Ida ayu Made Sri Pradnya tari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IDA4047575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[TECHNICIAN] Riko Simanjuntak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RIK2794671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 ID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Kunzita Lazuardi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KUN6555115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WINDA SAPUTRI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SPXXYW93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ROSA NINGRUM FATMALA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SPRNF95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Haryono Christanto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HAR5856220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Marselinus Supardi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MAR4586447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NI KADEK DWI PRADNYAWATI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NIK7858155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KADEK RIDAYANI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KAD9086567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MUHAZAM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SPXZM15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ERNAWATU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ERN1828689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Vira dwi agustin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VIR7434347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ini; detail WOK tidak ditampilkan selama masa transisi.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40.22%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40.18% | MoM +0.03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97.58%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-57.36 pp | Rp-32.26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40.04%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39.98% | MoM +0.06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Rp22.61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Rp22.53 M | MoM +0.4%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Rp56.23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+0.3%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64208"/>
          <a:ext cx="11548869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59479"/>
                <a:gridCol w="898939"/>
                <a:gridCol w="898939"/>
                <a:gridCol w="973850"/>
                <a:gridCol w="898939"/>
                <a:gridCol w="1310953"/>
                <a:gridCol w="898939"/>
                <a:gridCol w="898939"/>
                <a:gridCol w="898939"/>
                <a:gridCol w="1310953"/>
              </a:tblGrid>
              <a:tr h="411480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40.22%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40.04%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Rp22.61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-57.36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Rp-32.26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36.30%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35.17%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Rp4.03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-61.28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Rp-6.81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42.93%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Rp13.57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-54.65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Rp-17.27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37.08%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36.47%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Rp5.01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-60.50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Rp-8.18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20040" y="3913632"/>
            <a:ext cx="36576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BILCO by LOS — Branch &amp; WOK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320040" y="4187952"/>
          <a:ext cx="11548868" cy="16687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1580"/>
                <a:gridCol w="2299322"/>
                <a:gridCol w="2299322"/>
                <a:gridCol w="2299322"/>
                <a:gridCol w="2299322"/>
              </a:tblGrid>
              <a:tr h="238397"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56.86% / -3.82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43.86% / -10.45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61.20% / -1.15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62.98% / -1.14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39.77% / -2.12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34.51% / -1.22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40.93% / -2.23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42.84% / -2.58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33.95% / -1.14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30.12% / -2.45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35.33% / -0.12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34.38% / -2.59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34.93% / +0.91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32.51% / +0.86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36.04% / +0.94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34.37% / +0.87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7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32.96% / -0.37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31.00% / -0.22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34.74% / -0.22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30.72% / -0.95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  <a:tr h="238398">
                <a:tc>
                  <a:txBody>
                    <a:bodyPr/>
                    <a:lstStyle/>
                    <a:p>
                      <a:pPr algn="l">
                        <a:defRPr sz="78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42.07% / +0.21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38.19% / -0.11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45.20% / +0.38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8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37.98% / 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DENPASAR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2026-10-14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260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M-1 271 | MoM -4.1%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531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-271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-11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71" cy="11704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20300"/>
                <a:gridCol w="1443609"/>
                <a:gridCol w="1443609"/>
                <a:gridCol w="1154887"/>
                <a:gridCol w="1299248"/>
                <a:gridCol w="1443609"/>
                <a:gridCol w="1443609"/>
              </a:tblGrid>
              <a:tr h="234086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DENPASAR (BRANCH)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260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-271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-49</a:t>
                      </a:r>
                    </a:p>
                  </a:txBody>
                  <a:tcPr/>
                </a:tc>
              </a:tr>
              <a:tr h="234086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190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+10.5%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-157</a:t>
                      </a:r>
                    </a:p>
                  </a:txBody>
                  <a:tcPr/>
                </a:tc>
              </a:tr>
              <a:tr h="23408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57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38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-65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2999232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73C64"/>
                </a:solidFill>
                <a:latin typeface="Arial"/>
              </a:defRPr>
            </a:pPr>
            <a:r>
              <a:t>CAPS by LOS — Branch &amp; WOK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3310128"/>
          <a:ext cx="11548868" cy="137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55740"/>
                <a:gridCol w="2298282"/>
                <a:gridCol w="2298282"/>
                <a:gridCol w="2298282"/>
                <a:gridCol w="2298282"/>
              </a:tblGrid>
              <a:tr h="274320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BARAT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TENGAH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BALI TIMUR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 / 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42 / -6.7%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 / 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7 / +40.0%</a:t>
                      </a:r>
                    </a:p>
                  </a:txBody>
                  <a:tcPr/>
                </a:tc>
              </a:tr>
              <a:tr h="274320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209 / -7.5%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28 / 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150 / +8.7%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31 / -40.4%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