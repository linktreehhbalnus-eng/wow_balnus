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2" r:id="rId23"/>
    <p:sldId id="273" r:id="rId24"/>
    <p:sldId id="274" r:id="rId25"/>
    <p:sldId id="275" r:id="rId26"/>
    <p:sldId id="276" r:id="rId27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9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07/10</c:v>
                </c:pt>
                <c:pt idx="1">
                  <c:v>08/10</c:v>
                </c:pt>
                <c:pt idx="2">
                  <c:v>09/10</c:v>
                </c:pt>
                <c:pt idx="3">
                  <c:v>10/10</c:v>
                </c:pt>
                <c:pt idx="4">
                  <c:v>11/10</c:v>
                </c:pt>
                <c:pt idx="5">
                  <c:v>12/10</c:v>
                </c:pt>
                <c:pt idx="6">
                  <c:v>13/10</c:v>
                </c:pt>
                <c:pt idx="7">
                  <c:v>14/10</c:v>
                </c:pt>
                <c:pt idx="8">
                  <c:v>15/10</c:v>
                </c:pt>
                <c:pt idx="9">
                  <c:v>16/10</c:v>
                </c:pt>
                <c:pt idx="10">
                  <c:v>17/10</c:v>
                </c:pt>
                <c:pt idx="11">
                  <c:v>18/10</c:v>
                </c:pt>
                <c:pt idx="12">
                  <c:v>19/10</c:v>
                </c:pt>
                <c:pt idx="13">
                  <c:v>20/10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322.0</c:v>
                </c:pt>
                <c:pt idx="1">
                  <c:v>300.0</c:v>
                </c:pt>
                <c:pt idx="2">
                  <c:v>225.0</c:v>
                </c:pt>
                <c:pt idx="3">
                  <c:v>231.0</c:v>
                </c:pt>
                <c:pt idx="4">
                  <c:v>159.0</c:v>
                </c:pt>
                <c:pt idx="5">
                  <c:v>287.0</c:v>
                </c:pt>
                <c:pt idx="6">
                  <c:v>276.0</c:v>
                </c:pt>
                <c:pt idx="7">
                  <c:v>273.0</c:v>
                </c:pt>
                <c:pt idx="8">
                  <c:v>281.0</c:v>
                </c:pt>
                <c:pt idx="9">
                  <c:v>283.0</c:v>
                </c:pt>
                <c:pt idx="10">
                  <c:v>216.0</c:v>
                </c:pt>
                <c:pt idx="11">
                  <c:v>206.0</c:v>
                </c:pt>
                <c:pt idx="12">
                  <c:v>321.0</c:v>
                </c:pt>
                <c:pt idx="13">
                  <c:v>341.0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07/10</c:v>
                </c:pt>
                <c:pt idx="1">
                  <c:v>08/10</c:v>
                </c:pt>
                <c:pt idx="2">
                  <c:v>09/10</c:v>
                </c:pt>
                <c:pt idx="3">
                  <c:v>10/10</c:v>
                </c:pt>
                <c:pt idx="4">
                  <c:v>11/10</c:v>
                </c:pt>
                <c:pt idx="5">
                  <c:v>12/10</c:v>
                </c:pt>
                <c:pt idx="6">
                  <c:v>13/10</c:v>
                </c:pt>
                <c:pt idx="7">
                  <c:v>14/10</c:v>
                </c:pt>
                <c:pt idx="8">
                  <c:v>15/10</c:v>
                </c:pt>
                <c:pt idx="9">
                  <c:v>16/10</c:v>
                </c:pt>
                <c:pt idx="10">
                  <c:v>17/10</c:v>
                </c:pt>
                <c:pt idx="11">
                  <c:v>18/10</c:v>
                </c:pt>
                <c:pt idx="12">
                  <c:v>19/10</c:v>
                </c:pt>
                <c:pt idx="13">
                  <c:v>20/10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278.0</c:v>
                </c:pt>
                <c:pt idx="1">
                  <c:v>236.0</c:v>
                </c:pt>
                <c:pt idx="2">
                  <c:v>238.0</c:v>
                </c:pt>
                <c:pt idx="3">
                  <c:v>184.0</c:v>
                </c:pt>
                <c:pt idx="4">
                  <c:v>121.0</c:v>
                </c:pt>
                <c:pt idx="5">
                  <c:v>206.0</c:v>
                </c:pt>
                <c:pt idx="6">
                  <c:v>225.0</c:v>
                </c:pt>
                <c:pt idx="7">
                  <c:v>212.0</c:v>
                </c:pt>
                <c:pt idx="8">
                  <c:v>206.0</c:v>
                </c:pt>
                <c:pt idx="9">
                  <c:v>212.0</c:v>
                </c:pt>
                <c:pt idx="10">
                  <c:v>190.0</c:v>
                </c:pt>
                <c:pt idx="11">
                  <c:v>146.0</c:v>
                </c:pt>
                <c:pt idx="12">
                  <c:v>256.0</c:v>
                </c:pt>
                <c:pt idx="13">
                  <c:v>261.0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-10,3% &amp; PS -11,8% MoM — Achievement Mencapai 47,5% (RE) / 45,6%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Okt 2026 vs MTD-1 01–20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Menguat pada 20 Oktober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Okt 2026 vs MTD-1 01–20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01–20 Oktober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(+1,0%), Denpasar Terdalam (-21,8%)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Okt 2026 vs MTD-1 01–20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+1,0%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-1,0%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-7,5%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-21,8%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58,2%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50,7%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46,0%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40,4%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Sikka Tertinggi (+13,7%), Bali Barat Terdalam (-35,9%) — 12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Okt 2026 vs MTD-1 01–20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12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43484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Penyumbang PS Absolut Terbesar (+33), Manggarai Tumbuh Tertinggi (+28,4%)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Okt 2026 vs MTD-1 01–20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-490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-567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47 kabupaten: Top 5 menyumbang +103, Bottom 5 -490, dan perubahan PS regional -567.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(-4,9%), TSEL One &gt;30 Mbps Turun Terdalam (-21,7%)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Okt 2026 vs MTD-1 01–20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-8,0% MoM, DJP Data Transition — SF Register 946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Okt 2026 vs MTD-1 01–20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Register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SF/DJP per Branch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14.306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38.224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25.376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5.421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83.391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5.421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187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346704"/>
          <a:ext cx="926286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540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615024"/>
                <a:gridCol w="615024"/>
                <a:gridCol w="540021"/>
              </a:tblGrid>
              <a:tr h="152400">
                <a:tc rowSpan="2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Branch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Aktivitas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524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5.051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2.094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2.114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3.888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Okt 2026 vs MTD-1 01–20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01–20 Okt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 / 20 (90,0%)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-5,3%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133 / 337 (39,5%)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-17,4% | Turun 101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171 / 378 (45,2%)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-14,5% | Turun 125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61 / 137 (44,5%)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-17,6%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74 / 151 (49,0%)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-15,9% | Turun 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100 / 151 (66,2%)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+6,4% | Turun 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112 / 164 (68,3%)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+6,7% | Turun 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-7,1%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141 / 227 (62,1%)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-7,2% | Turun 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164 / 253 (64,8%)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-7,3% | Turun 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52 / 58 (89,7%)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-1,9% | Turun 26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435 / 852 (51,1%)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-9,6% | Turun 264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 / 19 (89,5%)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-10,5% | Turun 12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523 / 965 (54,2%)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-8,4% | Turun 319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645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1.471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571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554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809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1.077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2.341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-25,1%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-29,4%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3.684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-11,7%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20 (15,0%)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 / 337 (5,3%)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-30,8% | Turun 101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5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39 / 378 (10,3%)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-23,5% | Turun 125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13 (69,2%)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137 (9,5%)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-13,3%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 / 151 (14,6%)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-8,3% | Turun 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151 (7,3%)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+10,0% | Turun 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164 (7,9%)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-7,1% | Turun 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16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 / 227 (10,1%)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-4,2% | Turun 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 / 253 (14,2%)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-5,3% | Turun 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 / 58 (27,6%)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65 / 852 (7,6%)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-13,3% | Turun 264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19 (68,4%)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-31,6% | Turun 12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-14,3%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111 / 965 (11,5%)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-12,6% | Turun 319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Okt 2026 vs MTD-1 01–20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Zakaria Rafiif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HAIDAR EL JAWAS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GST BAGUS AGUNG ADIATMA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HUZAIMATUL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RATNA PATI 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SUSANA ASTUTI PIUNG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Muftholib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USWATUN HASANAH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FANCE AFI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Zakaria Rafiif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NURJANAH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RATNA PATI 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HAIDAR EL JAWAS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GST BAGUS AGUNG ADIATMA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FANCE AFI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ARDIANSYAH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Muftholib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AISA TUKUBRA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Okt 2026 vs MTD-1 01–20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Indra syah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Kristiana Liva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IRMA NUR 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Made Sri Pradnya 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BQ DEWI NINGRUM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NATALIS TOLEK KELEN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ALFANDI KAREL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WINDA SAPUTRI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BQ DEWI NINGRUM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Yohannes moa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Haryono Christanto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ROSA NINGRUM FATMALA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ALFANDI KAREL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LABA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DELFIANA SILLA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12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Okt 2026 vs MTD-1 01–20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12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Okt 2026 vs MTD-1 01–20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Hulu Sungai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01–20 Okt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1.748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1.477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4.791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4.224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2.156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1.687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1.326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1.227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01–20 Okt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159,8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133,3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89,2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49,7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49,3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53,3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951,8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01–20 Okt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6.056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5.434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4.791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4.224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951,8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5.129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4.552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4.174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3.684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811,1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62,1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61,8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-29,6%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-65,0%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-64,6%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541 | MoM -8,9%
PS: 521 | MoM -8,0%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455 | Active 53,4% | MoM -9,7%
  PS: 435 | Active 51,1% | MoM -9,0%
• Greenfield
  RE: 52 | Active 89,7% | MoM -5,5%
  PS: 52 | Active 89,7% | MoM -1,9%
• Junior Plus
  RE: 17 | Active 89,5% | MoM -5,6%
  PS: 17 | Active 89,5% | MoM -5,6%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-37,3%, Gap -28
• Flores: PS +4,6%, Gap +4
• Kupang: PS -26,3%, Gap -10
• Mataram: PS -19,5%, Gap -17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Tabanan (Denpasar): -80,0%, Gap -4
• Grapari Sumbawa (Mataram): -77,8%, Gap -7
• Grapari Malaka (Kupang): -75,0%, Gap -3
• Grapari Baa Rote (Kupang): -66,7%, Gap -2
• Grapari Larantuka (Flores): -57,1%, Gap -4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-225 (-31,8%), PS -228 (-37,2%)
• Bali Tengah: RE -162 (-13,8%), PS -161 (-16,1%)
• Lombok: RE -93 (-10,7%), PS -68 (-9,9%)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-5 (-4,1%), PS -9 (-9,7%)
• Sumbawa Barat: RE -10 (-47,6%), PS -8 (-61,5%)
• Sumbawa Timur: RE -5 (-14,3%), PS -7 (-36,8%)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Ende Sikka: RE 0 (0,0%), PS -3 (-100,0%)
• Lombok: RE +5 (+45,5%), PS -3 (-37,5%)
• Flores Timur: RE 0 (0,0%), PS -2 (-100,0%)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-2 (-40,0%), PS -3 (-60,0%)
• Bali Timur: RE -1 (-16,7%), PS -3 (-60,0%)
• Bali Barat: RE 0 (0,0%), PS -2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59.12%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60.62% | MoM -1.51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97.21%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-38.09 pp | Rp-40.76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58.65%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60.07% | MoM -1.42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Rp63.26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Rp64.53 M | MoM -2.0%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Rp107.01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+0.5%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27632"/>
          <a:ext cx="11548869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819"/>
                <a:gridCol w="918805"/>
                <a:gridCol w="918805"/>
                <a:gridCol w="995372"/>
                <a:gridCol w="918805"/>
                <a:gridCol w="1339924"/>
                <a:gridCol w="918805"/>
                <a:gridCol w="918805"/>
                <a:gridCol w="918805"/>
                <a:gridCol w="1339924"/>
              </a:tblGrid>
              <a:tr h="271630"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65.83%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-1.36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65.37%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-1.37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Rp37.02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-1.7%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-31.75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Rp-17.85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46.89%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-2.82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45.45%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-2.37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Rp4.79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-49.81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Rp-5.09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49.14%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-1.72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47.82%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-1.44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Rp7.59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-3.7%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-46.69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Rp-7.21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55.19%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-1.15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53.80%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-1.09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Rp13.87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-42.26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Rp-10.62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62.12%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-1.21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60.79%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-0.95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Rp6.90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-35.46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Rp-3.94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68.32%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-1.26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68.31%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-1.39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Rp21.59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-29.26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Rp-9.25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63.05%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-1.69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62.33%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-1.66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Rp8.52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-34.53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Rp-4.67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45.71%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-2.72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43.50%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-2.22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Rp1.81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-50.99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Rp-2.02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43.16%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-7.77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42.69%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-7.22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Rp953.4 Jt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-14.4%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-53.54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Rp-1.18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52.70%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-1.66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51.27%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-1.35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Rp4.53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-43.13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Rp-3.71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42.93%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-1.52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41.69%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-1.16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Rp1.66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-52.90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Rp-2.04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50.09%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49.11%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Rp2.02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-46.61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Rp-1.88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46.89%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-2.08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46.14%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-2.03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Rp1.39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-48.94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Rp-1.45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62.09%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-0.91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61.13%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Rp8.53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-35.36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Rp-4.86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53.58%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-1.94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52.49%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-1.73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Rp2.55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-43.87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Rp-2.09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4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42.04%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-1.05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40.48%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-1.14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Rp2.78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-55.41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Rp-3.67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by LOS — Regional &amp; 4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28600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REGIONAL 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59.12%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-1.51 pp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664208"/>
          <a:ext cx="11548871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9554"/>
                <a:gridCol w="2095149"/>
                <a:gridCol w="1788542"/>
                <a:gridCol w="1788542"/>
                <a:gridCol w="1788542"/>
                <a:gridCol w="1788542"/>
              </a:tblGrid>
              <a:tr h="33310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BALINUSRA M / 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74.54% / -3.39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77.12% / -3.42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78.45% / -2.54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67.37% / -3.07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72.77% / -3.72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59.62% / -3.27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62.84% / -4.91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57.45% / -0.79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52.26% / -1.36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59.65% / -4.03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52.00% / -0.86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57.32% / -1.15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43.49% / -1.59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42.98% / -1.46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54.53% / +0.05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52.37% / +0.34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59.44% / +0.53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41.55% / -0.28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43.86% / +0.22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52.15% / +0.82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50.10% / -0.99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57.31% / -0.84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39.32% / -1.59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40.21% / -1.34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47.80% / -0.80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62.00% / -1.74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68.26% / -1.47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48.67% / -3.88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52.41% / -2.11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56.81% / -1.42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47548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Format sel: C3MR M / MoM (pp). Fokus pada posisi bulan berjalan dan perubahan vs M-1.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443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M-1 479 | MoM -7.5%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677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-234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-36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69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6141"/>
                <a:gridCol w="1461882"/>
                <a:gridCol w="1461882"/>
                <a:gridCol w="1169506"/>
                <a:gridCol w="1315694"/>
                <a:gridCol w="1461882"/>
                <a:gridCol w="1461882"/>
              </a:tblGrid>
              <a:tr h="25549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-177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-17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-34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-38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-36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-9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-30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  <a:tr h="255496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by LOS — Regional &amp; 4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64748B"/>
                </a:solidFill>
                <a:latin typeface="Arial"/>
              </a:defRPr>
            </a:pPr>
            <a:r>
              <a:t>CAPS M / MoM vs M-1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25296"/>
          <a:ext cx="11548872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147"/>
                <a:gridCol w="2085213"/>
                <a:gridCol w="1817878"/>
                <a:gridCol w="1817878"/>
                <a:gridCol w="1817878"/>
                <a:gridCol w="1817878"/>
              </a:tblGrid>
              <a:tr h="310896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BALINUSRA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72 / -7.7%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55 / -3.5%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14 / -12.5%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360 / -10.0%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288 / -10.8%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20 / +5.3%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50 / -7.4%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20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175,231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72,227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41.2%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103,004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7,099 / 74.8%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7,308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7,469 / 56.5%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7,203 / 51.6%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7,971 / 47.7%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7,683 / 45.9%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76.4%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65.2%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57.1%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51.4%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50.4%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79.4%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61.9%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54.2%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42.3%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40.3%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37.3%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67.7%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56.4%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49.9%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41.7%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39.3%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37.9%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73.3%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62.7%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55.6%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54.1%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51.3%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48.2%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7,715 / 45.6%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6,964 / 45.2%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7,164 / 43.6%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7,111 / 41.9%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6,489 / 39.5%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7,849 / 37.5%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52.2%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49.8%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48.6%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46.4%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43.3%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40.5%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36.2%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38.4%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35.7%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34.7%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32.8%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27.4%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37.5%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37.8%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36.9%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35.1%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35.0%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34.0%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46.2%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46.8%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43.5%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40.9%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39.8%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38.3%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6,837 / 35.3%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7,515 / 36.7%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8,014 / 35.6%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7,517 / 33.6%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7,658 / 33.6%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7,174 / 32.5%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39.2%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41.0%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39.2%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37.5%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38.3%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37.3%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27.0%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26.0%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24.6%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27.9%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28.8%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28.2%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25.0%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35.4%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38.0%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36.9%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35.0%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32.6%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29.7%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6,985 / 33.9%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7,134 / 31.8%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7,691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7,472 / 30.1%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6,644 / 29.4%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6,565 / 29.3%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41.2%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37.7%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37.6%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35.5%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34.8%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34.4%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22.8%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22.3%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28.0%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23.1%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23.4%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20.8%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32.0%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28.4%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28.5%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27.3%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