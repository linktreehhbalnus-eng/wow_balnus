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  <c:pt idx="6">
                  <c:v>30.0</c:v>
                </c:pt>
                <c:pt idx="7">
                  <c:v>30.0</c:v>
                </c:pt>
                <c:pt idx="8">
                  <c:v>20.0</c:v>
                </c:pt>
                <c:pt idx="9">
                  <c:v>22.0</c:v>
                </c:pt>
                <c:pt idx="10">
                  <c:v>13.0</c:v>
                </c:pt>
                <c:pt idx="11">
                  <c:v>25.0</c:v>
                </c:pt>
                <c:pt idx="12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  <c:pt idx="7">
                  <c:v>4.0</c:v>
                </c:pt>
                <c:pt idx="8">
                  <c:v>1.0</c:v>
                </c:pt>
                <c:pt idx="9">
                  <c:v>2.0</c:v>
                </c:pt>
                <c:pt idx="10">
                  <c:v>1.0</c:v>
                </c:pt>
                <c:pt idx="11">
                  <c:v>4.0</c:v>
                </c:pt>
                <c:pt idx="12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  <c:pt idx="6">
                  <c:v>14.0</c:v>
                </c:pt>
                <c:pt idx="7">
                  <c:v>13.0</c:v>
                </c:pt>
                <c:pt idx="8">
                  <c:v>10.0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  <c:pt idx="6">
                  <c:v>24.0</c:v>
                </c:pt>
                <c:pt idx="7">
                  <c:v>27.0</c:v>
                </c:pt>
                <c:pt idx="8">
                  <c:v>34.0</c:v>
                </c:pt>
                <c:pt idx="9">
                  <c:v>16.0</c:v>
                </c:pt>
                <c:pt idx="10">
                  <c:v>9.0</c:v>
                </c:pt>
                <c:pt idx="11">
                  <c:v>22.0</c:v>
                </c:pt>
                <c:pt idx="12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6.0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1.428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 / 129 (44,2%)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-17,4%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70 / 143 (49,0%)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-15,7%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45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50 (48,0%)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21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23 (43,5%)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-41,2%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63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70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129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143 (9,8%)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45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50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70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73 | MoM -16,1%
PS: 70 | MoM -14,6%
• Junior
  RE: 60 | Active 46,5% | MoM -17,8%
  PS: 57 | Active 44,2% | MoM -16,2%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+66,7%, Gap 2
• Grapari Ende: PS +40,0%, Gap 6
• Grapari Kalabahi: PS +16,7%, Gap 2
• Grapari Labuan Bajo: PS -37,5%,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+85,7%, Gap 6
• Grapari Ruteng: PS -16,7%,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-36 (-32,1%), PS -26 (-31,0%)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-4 (-30,8%), PS -4 (-57,1%)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(+100,0%), PS -2 (-100,0%)
• Flores Timur: RE 1 (+100,0%), PS -2 (-100,0%)
• Manggarai: RE -4 (-80,0%),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Santorio De Jesus Koro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SAN5304530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NOBERTUS BUU BATE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NOB2604035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22.66%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26.53% | MoM -3.88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-74.04 pp | Rp-7.56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328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22.17%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25.47% | MoM -3.30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5472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Rp2.31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Rp2.70 M | MoM -14.2%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616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54480"/>
          <a:ext cx="1154886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Rp-7.56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Rp-2.99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Rp-2.91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023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C3MR by LOS — Branch &amp; WOK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315968"/>
          <a:ext cx="1154886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80851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55.08% / -6.82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50.96% / -7.09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51.64% / -18.32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61.60% / +0.77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33.37% / -1.09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28.67% / -3.10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34.96% / -0.29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37.57% / +0.64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20.22% / -3.40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18.72% / -2.19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17.34% / -7.79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23.57% / -1.69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19.71% / -1.70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16.41% / -1.55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22.14% / -2.60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21.74% / -1.53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18.24% / -2.68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14.88% / -2.52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18.01% / -5.90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21.39% / -1.22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23.07% / -4.79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22.76% / -4.88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20.64% / -6.45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24.70% / -3.78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