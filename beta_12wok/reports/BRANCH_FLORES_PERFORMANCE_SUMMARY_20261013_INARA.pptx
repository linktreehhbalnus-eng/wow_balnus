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Flores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34.0</c:v>
                </c:pt>
                <c:pt idx="1">
                  <c:v>32.0</c:v>
                </c:pt>
                <c:pt idx="2">
                  <c:v>24.0</c:v>
                </c:pt>
                <c:pt idx="3">
                  <c:v>13.0</c:v>
                </c:pt>
                <c:pt idx="4">
                  <c:v>28.0</c:v>
                </c:pt>
                <c:pt idx="5">
                  <c:v>26.0</c:v>
                </c:pt>
                <c:pt idx="6">
                  <c:v>30.0</c:v>
                </c:pt>
                <c:pt idx="7">
                  <c:v>30.0</c:v>
                </c:pt>
                <c:pt idx="8">
                  <c:v>20.0</c:v>
                </c:pt>
                <c:pt idx="9">
                  <c:v>22.0</c:v>
                </c:pt>
                <c:pt idx="10">
                  <c:v>13.0</c:v>
                </c:pt>
                <c:pt idx="11">
                  <c:v>25.0</c:v>
                </c:pt>
                <c:pt idx="12">
                  <c:v>20.0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Ende Sikka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</c:strCache>
            </c:strRef>
          </c:cat>
          <c:val>
            <c:numRef>
              <c:f>Sheet1!$C$2:$C$14</c:f>
              <c:numCache>
                <c:formatCode>General</c:formatCode>
                <c:ptCount val="13"/>
                <c:pt idx="0">
                  <c:v>12.0</c:v>
                </c:pt>
                <c:pt idx="1">
                  <c:v>13.0</c:v>
                </c:pt>
                <c:pt idx="2">
                  <c:v>8.0</c:v>
                </c:pt>
                <c:pt idx="3">
                  <c:v>8.0</c:v>
                </c:pt>
                <c:pt idx="4">
                  <c:v>9.0</c:v>
                </c:pt>
                <c:pt idx="5">
                  <c:v>10.0</c:v>
                </c:pt>
                <c:pt idx="6">
                  <c:v>14.0</c:v>
                </c:pt>
                <c:pt idx="7">
                  <c:v>13.0</c:v>
                </c:pt>
                <c:pt idx="8">
                  <c:v>9.0</c:v>
                </c:pt>
                <c:pt idx="9">
                  <c:v>9.0</c:v>
                </c:pt>
                <c:pt idx="10">
                  <c:v>8.0</c:v>
                </c:pt>
                <c:pt idx="11">
                  <c:v>11.0</c:v>
                </c:pt>
                <c:pt idx="12">
                  <c:v>8.0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Flores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</c:strCache>
            </c:strRef>
          </c:cat>
          <c:val>
            <c:numRef>
              <c:f>Sheet1!$D$2:$D$14</c:f>
              <c:numCache>
                <c:formatCode>General</c:formatCode>
                <c:ptCount val="13"/>
                <c:pt idx="0">
                  <c:v>6.0</c:v>
                </c:pt>
                <c:pt idx="1">
                  <c:v>4.0</c:v>
                </c:pt>
                <c:pt idx="2">
                  <c:v>6.0</c:v>
                </c:pt>
                <c:pt idx="3">
                  <c:v>4.0</c:v>
                </c:pt>
                <c:pt idx="4">
                  <c:v>4.0</c:v>
                </c:pt>
                <c:pt idx="5">
                  <c:v>4.0</c:v>
                </c:pt>
                <c:pt idx="6">
                  <c:v>2.0</c:v>
                </c:pt>
                <c:pt idx="7">
                  <c:v>4.0</c:v>
                </c:pt>
                <c:pt idx="8">
                  <c:v>1.0</c:v>
                </c:pt>
                <c:pt idx="9">
                  <c:v>2.0</c:v>
                </c:pt>
                <c:pt idx="10">
                  <c:v>1.0</c:v>
                </c:pt>
                <c:pt idx="11">
                  <c:v>4.0</c:v>
                </c:pt>
                <c:pt idx="12">
                  <c:v>3.0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Manggarai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</c:strCache>
            </c:strRef>
          </c:cat>
          <c:val>
            <c:numRef>
              <c:f>Sheet1!$E$2:$E$14</c:f>
              <c:numCache>
                <c:formatCode>General</c:formatCode>
                <c:ptCount val="13"/>
                <c:pt idx="0">
                  <c:v>16.0</c:v>
                </c:pt>
                <c:pt idx="1">
                  <c:v>15.0</c:v>
                </c:pt>
                <c:pt idx="2">
                  <c:v>10.0</c:v>
                </c:pt>
                <c:pt idx="3">
                  <c:v>1.0</c:v>
                </c:pt>
                <c:pt idx="4">
                  <c:v>15.0</c:v>
                </c:pt>
                <c:pt idx="5">
                  <c:v>12.0</c:v>
                </c:pt>
                <c:pt idx="6">
                  <c:v>14.0</c:v>
                </c:pt>
                <c:pt idx="7">
                  <c:v>13.0</c:v>
                </c:pt>
                <c:pt idx="8">
                  <c:v>10.0</c:v>
                </c:pt>
                <c:pt idx="9">
                  <c:v>11.0</c:v>
                </c:pt>
                <c:pt idx="10">
                  <c:v>4.0</c:v>
                </c:pt>
                <c:pt idx="11">
                  <c:v>10.0</c:v>
                </c:pt>
                <c:pt idx="12">
                  <c:v>9.0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Flores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23.0</c:v>
                </c:pt>
                <c:pt idx="1">
                  <c:v>21.0</c:v>
                </c:pt>
                <c:pt idx="2">
                  <c:v>18.0</c:v>
                </c:pt>
                <c:pt idx="3">
                  <c:v>15.0</c:v>
                </c:pt>
                <c:pt idx="4">
                  <c:v>22.0</c:v>
                </c:pt>
                <c:pt idx="5">
                  <c:v>26.0</c:v>
                </c:pt>
                <c:pt idx="6">
                  <c:v>24.0</c:v>
                </c:pt>
                <c:pt idx="7">
                  <c:v>27.0</c:v>
                </c:pt>
                <c:pt idx="8">
                  <c:v>34.0</c:v>
                </c:pt>
                <c:pt idx="9">
                  <c:v>16.0</c:v>
                </c:pt>
                <c:pt idx="10">
                  <c:v>9.0</c:v>
                </c:pt>
                <c:pt idx="11">
                  <c:v>22.0</c:v>
                </c:pt>
                <c:pt idx="12">
                  <c:v>26.0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Ende Sikka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</c:strCache>
            </c:strRef>
          </c:cat>
          <c:val>
            <c:numRef>
              <c:f>Sheet1!$C$2:$C$14</c:f>
              <c:numCache>
                <c:formatCode>General</c:formatCode>
                <c:ptCount val="13"/>
                <c:pt idx="0">
                  <c:v>9.0</c:v>
                </c:pt>
                <c:pt idx="1">
                  <c:v>9.0</c:v>
                </c:pt>
                <c:pt idx="2">
                  <c:v>7.0</c:v>
                </c:pt>
                <c:pt idx="3">
                  <c:v>7.0</c:v>
                </c:pt>
                <c:pt idx="4">
                  <c:v>9.0</c:v>
                </c:pt>
                <c:pt idx="5">
                  <c:v>12.0</c:v>
                </c:pt>
                <c:pt idx="6">
                  <c:v>11.0</c:v>
                </c:pt>
                <c:pt idx="7">
                  <c:v>7.0</c:v>
                </c:pt>
                <c:pt idx="8">
                  <c:v>16.0</c:v>
                </c:pt>
                <c:pt idx="9">
                  <c:v>8.0</c:v>
                </c:pt>
                <c:pt idx="10">
                  <c:v>6.0</c:v>
                </c:pt>
                <c:pt idx="11">
                  <c:v>12.0</c:v>
                </c:pt>
                <c:pt idx="12">
                  <c:v>8.0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Flores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</c:strCache>
            </c:strRef>
          </c:cat>
          <c:val>
            <c:numRef>
              <c:f>Sheet1!$D$2:$D$14</c:f>
              <c:numCache>
                <c:formatCode>General</c:formatCode>
                <c:ptCount val="13"/>
                <c:pt idx="0">
                  <c:v>5.0</c:v>
                </c:pt>
                <c:pt idx="1">
                  <c:v>3.0</c:v>
                </c:pt>
                <c:pt idx="2">
                  <c:v>3.0</c:v>
                </c:pt>
                <c:pt idx="3">
                  <c:v>3.0</c:v>
                </c:pt>
                <c:pt idx="4">
                  <c:v>4.0</c:v>
                </c:pt>
                <c:pt idx="5">
                  <c:v>3.0</c:v>
                </c:pt>
                <c:pt idx="6">
                  <c:v>4.0</c:v>
                </c:pt>
                <c:pt idx="7">
                  <c:v>4.0</c:v>
                </c:pt>
                <c:pt idx="8">
                  <c:v>4.0</c:v>
                </c:pt>
                <c:pt idx="9">
                  <c:v>2.0</c:v>
                </c:pt>
                <c:pt idx="10">
                  <c:v>1.0</c:v>
                </c:pt>
                <c:pt idx="11">
                  <c:v>1.0</c:v>
                </c:pt>
                <c:pt idx="12">
                  <c:v>3.0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Manggarai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</c:strCache>
            </c:strRef>
          </c:cat>
          <c:val>
            <c:numRef>
              <c:f>Sheet1!$E$2:$E$14</c:f>
              <c:numCache>
                <c:formatCode>General</c:formatCode>
                <c:ptCount val="13"/>
                <c:pt idx="0">
                  <c:v>9.0</c:v>
                </c:pt>
                <c:pt idx="1">
                  <c:v>9.0</c:v>
                </c:pt>
                <c:pt idx="2">
                  <c:v>8.0</c:v>
                </c:pt>
                <c:pt idx="3">
                  <c:v>5.0</c:v>
                </c:pt>
                <c:pt idx="4">
                  <c:v>9.0</c:v>
                </c:pt>
                <c:pt idx="5">
                  <c:v>11.0</c:v>
                </c:pt>
                <c:pt idx="6">
                  <c:v>9.0</c:v>
                </c:pt>
                <c:pt idx="7">
                  <c:v>16.0</c:v>
                </c:pt>
                <c:pt idx="8">
                  <c:v>14.0</c:v>
                </c:pt>
                <c:pt idx="9">
                  <c:v>6.0</c:v>
                </c:pt>
                <c:pt idx="10">
                  <c:v>2.0</c:v>
                </c:pt>
                <c:pt idx="11">
                  <c:v>9.0</c:v>
                </c:pt>
                <c:pt idx="12">
                  <c:v>15.0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Oct 2026 vs MTD-1 01–13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1.455,9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41,9%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845,9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1.182,5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39,4%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716,5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72,0%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+4,4 pp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+45,5%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Flores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43,0%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337,1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+24,9%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44,0%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269,1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28,6%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256,6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26,0%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216,1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49,5%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255,2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43,6%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231,3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Nagekeo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Lembata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Oct 2026 vs MTD-1 01–13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749808"/>
            <a:ext cx="329184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SF Register: 150 → 143  (-4,7%)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73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1368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-16,1%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87   Δ -14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70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-14,6%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82   Δ -12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16952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52   Current DJP unavailable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24744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1.428   Current DJP unavailable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2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1088"/>
                <a:gridCol w="613666"/>
                <a:gridCol w="613666"/>
                <a:gridCol w="613666"/>
                <a:gridCol w="681852"/>
                <a:gridCol w="681852"/>
                <a:gridCol w="681852"/>
                <a:gridCol w="681852"/>
                <a:gridCol w="681852"/>
                <a:gridCol w="681852"/>
                <a:gridCol w="664805"/>
                <a:gridCol w="664805"/>
                <a:gridCol w="664805"/>
                <a:gridCol w="767083"/>
                <a:gridCol w="767083"/>
                <a:gridCol w="767083"/>
              </a:tblGrid>
              <a:tr h="323088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3088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TOTAL 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-4,7%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-16,1%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-14,6%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1.428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-7,7%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644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-41,2%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-41,2%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-7,3%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-7,7%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791456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Flores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5065776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519672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Oct 2026 vs MTD-1 01–13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13 / 13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57 / 129 (44,2%)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-17,4% | Turun 34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70 / 143 (49,0%)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-15,7% | Turun 39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5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19 / 45 (42,2%)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-13,6% | Turun 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24 / 50 (48,0%)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-11,1% | Turun 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9 / 21 (42,9%)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-40,0%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10 / 23 (43,5%)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-41,2% | Turun 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7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29 / 63 (46,0%)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-9,4% | Turun 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36 / 70 (51,4%)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-7,7% | Turun 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107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+32,1%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279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+4,9%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386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+6,9%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128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170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158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 / 13 (46,2%)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+100,0%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8 / 129 (6,2%)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+33,3% | Turun 34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14 / 143 (9,8%)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+40,0% | Turun 39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5 (40,0%)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45 (13,3%)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+100,0% | Turun 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 / 50 (16,0%)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+60,0% | Turun 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21 (9,5%)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23 (13,0%)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7 (42,9%)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+200,0%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63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70 (4,3%)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+50,0% | Turun 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Oct 2026 vs MTD-1 01–13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Oct 2026 vs MTD-1 01–13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-31,0%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+61,9%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14553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Flores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491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2.047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2.636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6.064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33,8%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236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139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Oct 2026 vs MTD-1 01–13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103,9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85,0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15,9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73 | MoM -16,1%
PS: 70 | MoM -14,6%
• Junior
  RE: 60 | Active 46,5% | MoM -17,8%
  PS: 57 | Active 44,2% | MoM -16,2%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13 | Active 100,0% | MoM 0,0%
  PS: 13 | Active 100,0% | MoM 0,0%
• Junior Plus
  RE: 0 | Active 0,0% | MoM -100,0%
  PS: 0 | Active 0,0% | MoM -100,0%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Bajawa: PS +66,7%, Gap 2
• Grapari Ende: PS +40,0%, Gap 6
• Grapari Kalabahi: PS +16,7%, Gap 2
• Grapari Labuan Bajo: PS -37,5%, Gap -3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Larantuka: PS 0,0%, Gap 0
• Grapari Maumere: PS +85,7%, Gap 6
• Grapari Ruteng: PS -16,7%, Gap -1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Flores Timur: RE -36 (-32,1%), PS -26 (-31,0%)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Manggarai: RE -4 (-30,8%), PS -4 (-57,1%)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Ende Sikka: RE 2 (+100,0%), PS -2 (-100,0%)
• Flores Timur: RE 1 (+100,0%), PS -2 (-100,0%)
• Manggarai: RE -4 (-80,0%), PS -1 (-100,0%)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Manggarai: RE -1 (-50,0%), PS -2 (-100,0%)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Oct 2026 vs MTD-1 01–13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+24,9%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Oct 2026 vs MTD-1 01–13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46,2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46,9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29,2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34,9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20,3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23,9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190,0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18,4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570,0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15,7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930,0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870,0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930,0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930,0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96,7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105,0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37,2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47,6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+28,0%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22,1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16,8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-24,0%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37,1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40,6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Oct 2026 vs MTD-1 01–13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THERESIA NETIANA DELOS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SPLEL24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RATNA PATI 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SPNAT35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ROSALINA GETRUDIS MONGGO EDY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SPRGE76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KLAUDIUS IVANTUS LAJAR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KLA3857151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STEFANI WEA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SPESS73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Florida Bhalu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FLO9073003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EMANUEL MARYANUS DE ORNAY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EMA7688343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JANUARIUS PAULUS KOPONG HADA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JAN6694249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+128,6%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Putu Wira Anggrawan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IPU6453975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LUKAS ALFREDO LODANG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LUK7951132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+114,3%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THERESIA NETIANA DELOS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SPLEL24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BENYAMIN NDEWI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SPBEN72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EMANUEL MARYANUS DE ORNAY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EMA7688343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RATNA PATI 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SPNAT35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Santorio De Jesus Koro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SAN5304530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JANUARIUS PAULUS KOPONG HADA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JAN6694249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NOBERTUS BUU BATE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NOB2604035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FERDINANDUS PENO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FER4126457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Rahmad syukur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RAH9224740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TEOFELUS EPIPEO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SPTFL84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Oct 2026 vs MTD-1 01–13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umar mangu laga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UMA8300566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VALENTINUS S LEIN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SPVAL77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FELIX LABA GOLE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SPLBG95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YOHANES NATALIS TOLEK KELEN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SPISE19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YOHANES LABA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SPLBA98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Balla panja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BAL4069900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YOSAFAT SUDARSO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SPYSS79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FRANSISKUS XAVERIUS LENGU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SPVXK18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GUSTI KOMANG SUKAYANA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SPSTI73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WILLYAM RICSKY SAUDALE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WIL7359783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Yohannes moa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YOH4255803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VALENTINUS S LEIN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SPVAL77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FELIX LABA GOLE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SPLBG95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YOHANES LABA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SPLBA98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Balla panja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BAL4069900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YOSAFAT SUDARSO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SPYSS79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FRANSISKUS XAVERIUS LENGU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SPVXK18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WILLYAM RICSKY SAUDALE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WIL7359783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DOMINGGUS RATU LELE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SPOIL46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Elias Vitus Watu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ELI8004604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BILCO Performance — FLORES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21792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C3MR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22.66%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26.53% | MoM -3.88 pp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15184" y="621792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TARGET / GAP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96.70%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-74.04 pp | Rp-7.56 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10328" y="621792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PAID RATE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22.17%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25.47% | MoM -3.30 pp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05472" y="621792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PAYMENT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Rp2.31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Rp2.70 M | MoM -14.2%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0616" y="621792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BILLING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Rp10.21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MoM +0.5%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554480"/>
          <a:ext cx="11548869" cy="2240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9479"/>
                <a:gridCol w="898939"/>
                <a:gridCol w="898939"/>
                <a:gridCol w="973850"/>
                <a:gridCol w="898939"/>
                <a:gridCol w="1310953"/>
                <a:gridCol w="898939"/>
                <a:gridCol w="898939"/>
                <a:gridCol w="898939"/>
                <a:gridCol w="1310953"/>
              </a:tblGrid>
              <a:tr h="448056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C3MR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Paid Rate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Payment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Gap %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Gap Rp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FLORES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22.66%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-3.88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22.17%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-3.30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Rp2.31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-14.2%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-74.04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Rp-7.56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21.25%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-3.91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20.54%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-3.31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Rp842.2 Jt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-14.5%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-75.45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Rp-2.99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21.36%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-5.92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21.41%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-5.37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Rp472.0 Jt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-20.9%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-75.34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Rp-1.66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24.75%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-2.71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24.31%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-2.04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Rp999.4 Jt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-10.3%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-71.95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Rp-2.91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402336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BILCO by LOS — Branch &amp; WOK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4315968"/>
          <a:ext cx="11548868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1580"/>
                <a:gridCol w="2299322"/>
                <a:gridCol w="2299322"/>
                <a:gridCol w="2299322"/>
                <a:gridCol w="2299322"/>
              </a:tblGrid>
              <a:tr h="280851"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FLORES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ENDE SIKKA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FLORES TIMUR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MANGGARAI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80851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55.08% / -6.82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50.96% / -7.09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51.64% / -18.32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61.60% / +0.77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80851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33.37% / -1.09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28.67% / -3.10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34.96% / -0.29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37.57% / +0.64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80851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20.22% / -3.40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18.72% / -2.19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17.34% / -7.79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23.57% / -1.69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80851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19.71% / -1.70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16.41% / -1.55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22.14% / -2.60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21.74% / -1.53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80851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18.24% / -2.68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14.88% / -2.52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18.01% / -5.90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21.39% / -1.22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80854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23.07% / -4.79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22.76% / -4.88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20.64% / -6.45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24.70% / -3.78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CAPS Performance — FLORES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CAPS M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1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M-1 2 | MoM -50.0%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632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9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Batas CAPS bulan berjalan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064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GAP 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-8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CAPS M - Target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496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Δ M vs M-1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-1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Perubahan jumlah CAPS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508760"/>
          <a:ext cx="11548871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0300"/>
                <a:gridCol w="1443609"/>
                <a:gridCol w="1443609"/>
                <a:gridCol w="1154887"/>
                <a:gridCol w="1299248"/>
                <a:gridCol w="1443609"/>
                <a:gridCol w="1443609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Δ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FLORES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-8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61188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CAPS by LOS — Branch &amp;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931920"/>
          <a:ext cx="11548870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78874"/>
                <a:gridCol w="2242499"/>
                <a:gridCol w="2242499"/>
                <a:gridCol w="2242499"/>
                <a:gridCol w="2242499"/>
              </a:tblGrid>
              <a:tr h="777240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FLORES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ENDE SIKKA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FLORES TIMUR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MANGGARAI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0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0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77724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 / -50.0%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0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0 / -100.0%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 / +0.0%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