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Flores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Sheet1!$A$2:$A$14</c:f>
              <c:strCache>
                <c:ptCount val="13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</c:strCache>
            </c:strRef>
          </c:cat>
          <c:val>
            <c:numRef>
              <c:f>Sheet1!$B$2:$B$14</c:f>
              <c:numCache>
                <c:formatCode>General</c:formatCode>
                <c:ptCount val="13"/>
                <c:pt idx="0">
                  <c:v>34.0</c:v>
                </c:pt>
                <c:pt idx="1">
                  <c:v>32.0</c:v>
                </c:pt>
                <c:pt idx="2">
                  <c:v>24.0</c:v>
                </c:pt>
                <c:pt idx="3">
                  <c:v>13.0</c:v>
                </c:pt>
                <c:pt idx="4">
                  <c:v>28.0</c:v>
                </c:pt>
                <c:pt idx="5">
                  <c:v>26.0</c:v>
                </c:pt>
                <c:pt idx="6">
                  <c:v>30.0</c:v>
                </c:pt>
                <c:pt idx="7">
                  <c:v>30.0</c:v>
                </c:pt>
                <c:pt idx="8">
                  <c:v>20.0</c:v>
                </c:pt>
                <c:pt idx="9">
                  <c:v>22.0</c:v>
                </c:pt>
                <c:pt idx="10">
                  <c:v>13.0</c:v>
                </c:pt>
                <c:pt idx="11">
                  <c:v>25.0</c:v>
                </c:pt>
                <c:pt idx="12">
                  <c:v>20.0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Ende Sikka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Sheet1!$A$2:$A$14</c:f>
              <c:strCache>
                <c:ptCount val="13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</c:strCache>
            </c:strRef>
          </c:cat>
          <c:val>
            <c:numRef>
              <c:f>Sheet1!$C$2:$C$14</c:f>
              <c:numCache>
                <c:formatCode>General</c:formatCode>
                <c:ptCount val="13"/>
                <c:pt idx="0">
                  <c:v>12.0</c:v>
                </c:pt>
                <c:pt idx="1">
                  <c:v>13.0</c:v>
                </c:pt>
                <c:pt idx="2">
                  <c:v>8.0</c:v>
                </c:pt>
                <c:pt idx="3">
                  <c:v>8.0</c:v>
                </c:pt>
                <c:pt idx="4">
                  <c:v>9.0</c:v>
                </c:pt>
                <c:pt idx="5">
                  <c:v>10.0</c:v>
                </c:pt>
                <c:pt idx="6">
                  <c:v>14.0</c:v>
                </c:pt>
                <c:pt idx="7">
                  <c:v>13.0</c:v>
                </c:pt>
                <c:pt idx="8">
                  <c:v>9.0</c:v>
                </c:pt>
                <c:pt idx="9">
                  <c:v>9.0</c:v>
                </c:pt>
                <c:pt idx="10">
                  <c:v>8.0</c:v>
                </c:pt>
                <c:pt idx="11">
                  <c:v>11.0</c:v>
                </c:pt>
                <c:pt idx="12">
                  <c:v>8.0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Flores Timur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Sheet1!$A$2:$A$14</c:f>
              <c:strCache>
                <c:ptCount val="13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</c:strCache>
            </c:strRef>
          </c:cat>
          <c:val>
            <c:numRef>
              <c:f>Sheet1!$D$2:$D$14</c:f>
              <c:numCache>
                <c:formatCode>General</c:formatCode>
                <c:ptCount val="13"/>
                <c:pt idx="0">
                  <c:v>6.0</c:v>
                </c:pt>
                <c:pt idx="1">
                  <c:v>4.0</c:v>
                </c:pt>
                <c:pt idx="2">
                  <c:v>6.0</c:v>
                </c:pt>
                <c:pt idx="3">
                  <c:v>4.0</c:v>
                </c:pt>
                <c:pt idx="4">
                  <c:v>4.0</c:v>
                </c:pt>
                <c:pt idx="5">
                  <c:v>4.0</c:v>
                </c:pt>
                <c:pt idx="6">
                  <c:v>2.0</c:v>
                </c:pt>
                <c:pt idx="7">
                  <c:v>4.0</c:v>
                </c:pt>
                <c:pt idx="8">
                  <c:v>1.0</c:v>
                </c:pt>
                <c:pt idx="9">
                  <c:v>2.0</c:v>
                </c:pt>
                <c:pt idx="10">
                  <c:v>1.0</c:v>
                </c:pt>
                <c:pt idx="11">
                  <c:v>4.0</c:v>
                </c:pt>
                <c:pt idx="12">
                  <c:v>3.0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Manggarai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Sheet1!$A$2:$A$14</c:f>
              <c:strCache>
                <c:ptCount val="13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</c:strCache>
            </c:strRef>
          </c:cat>
          <c:val>
            <c:numRef>
              <c:f>Sheet1!$E$2:$E$14</c:f>
              <c:numCache>
                <c:formatCode>General</c:formatCode>
                <c:ptCount val="13"/>
                <c:pt idx="0">
                  <c:v>16.0</c:v>
                </c:pt>
                <c:pt idx="1">
                  <c:v>15.0</c:v>
                </c:pt>
                <c:pt idx="2">
                  <c:v>10.0</c:v>
                </c:pt>
                <c:pt idx="3">
                  <c:v>1.0</c:v>
                </c:pt>
                <c:pt idx="4">
                  <c:v>15.0</c:v>
                </c:pt>
                <c:pt idx="5">
                  <c:v>12.0</c:v>
                </c:pt>
                <c:pt idx="6">
                  <c:v>14.0</c:v>
                </c:pt>
                <c:pt idx="7">
                  <c:v>13.0</c:v>
                </c:pt>
                <c:pt idx="8">
                  <c:v>10.0</c:v>
                </c:pt>
                <c:pt idx="9">
                  <c:v>11.0</c:v>
                </c:pt>
                <c:pt idx="10">
                  <c:v>4.0</c:v>
                </c:pt>
                <c:pt idx="11">
                  <c:v>10.0</c:v>
                </c:pt>
                <c:pt idx="12">
                  <c:v>9.0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Flores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Sheet1!$A$2:$A$14</c:f>
              <c:strCache>
                <c:ptCount val="13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</c:strCache>
            </c:strRef>
          </c:cat>
          <c:val>
            <c:numRef>
              <c:f>Sheet1!$B$2:$B$14</c:f>
              <c:numCache>
                <c:formatCode>General</c:formatCode>
                <c:ptCount val="13"/>
                <c:pt idx="0">
                  <c:v>23.0</c:v>
                </c:pt>
                <c:pt idx="1">
                  <c:v>21.0</c:v>
                </c:pt>
                <c:pt idx="2">
                  <c:v>18.0</c:v>
                </c:pt>
                <c:pt idx="3">
                  <c:v>15.0</c:v>
                </c:pt>
                <c:pt idx="4">
                  <c:v>22.0</c:v>
                </c:pt>
                <c:pt idx="5">
                  <c:v>26.0</c:v>
                </c:pt>
                <c:pt idx="6">
                  <c:v>24.0</c:v>
                </c:pt>
                <c:pt idx="7">
                  <c:v>27.0</c:v>
                </c:pt>
                <c:pt idx="8">
                  <c:v>34.0</c:v>
                </c:pt>
                <c:pt idx="9">
                  <c:v>16.0</c:v>
                </c:pt>
                <c:pt idx="10">
                  <c:v>9.0</c:v>
                </c:pt>
                <c:pt idx="11">
                  <c:v>22.0</c:v>
                </c:pt>
                <c:pt idx="12">
                  <c:v>26.0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Ende Sikka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Sheet1!$A$2:$A$14</c:f>
              <c:strCache>
                <c:ptCount val="13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</c:strCache>
            </c:strRef>
          </c:cat>
          <c:val>
            <c:numRef>
              <c:f>Sheet1!$C$2:$C$14</c:f>
              <c:numCache>
                <c:formatCode>General</c:formatCode>
                <c:ptCount val="13"/>
                <c:pt idx="0">
                  <c:v>9.0</c:v>
                </c:pt>
                <c:pt idx="1">
                  <c:v>9.0</c:v>
                </c:pt>
                <c:pt idx="2">
                  <c:v>7.0</c:v>
                </c:pt>
                <c:pt idx="3">
                  <c:v>7.0</c:v>
                </c:pt>
                <c:pt idx="4">
                  <c:v>9.0</c:v>
                </c:pt>
                <c:pt idx="5">
                  <c:v>12.0</c:v>
                </c:pt>
                <c:pt idx="6">
                  <c:v>11.0</c:v>
                </c:pt>
                <c:pt idx="7">
                  <c:v>7.0</c:v>
                </c:pt>
                <c:pt idx="8">
                  <c:v>16.0</c:v>
                </c:pt>
                <c:pt idx="9">
                  <c:v>8.0</c:v>
                </c:pt>
                <c:pt idx="10">
                  <c:v>6.0</c:v>
                </c:pt>
                <c:pt idx="11">
                  <c:v>12.0</c:v>
                </c:pt>
                <c:pt idx="12">
                  <c:v>8.0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Flores Timur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Sheet1!$A$2:$A$14</c:f>
              <c:strCache>
                <c:ptCount val="13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</c:strCache>
            </c:strRef>
          </c:cat>
          <c:val>
            <c:numRef>
              <c:f>Sheet1!$D$2:$D$14</c:f>
              <c:numCache>
                <c:formatCode>General</c:formatCode>
                <c:ptCount val="13"/>
                <c:pt idx="0">
                  <c:v>5.0</c:v>
                </c:pt>
                <c:pt idx="1">
                  <c:v>3.0</c:v>
                </c:pt>
                <c:pt idx="2">
                  <c:v>3.0</c:v>
                </c:pt>
                <c:pt idx="3">
                  <c:v>3.0</c:v>
                </c:pt>
                <c:pt idx="4">
                  <c:v>4.0</c:v>
                </c:pt>
                <c:pt idx="5">
                  <c:v>3.0</c:v>
                </c:pt>
                <c:pt idx="6">
                  <c:v>4.0</c:v>
                </c:pt>
                <c:pt idx="7">
                  <c:v>4.0</c:v>
                </c:pt>
                <c:pt idx="8">
                  <c:v>4.0</c:v>
                </c:pt>
                <c:pt idx="9">
                  <c:v>2.0</c:v>
                </c:pt>
                <c:pt idx="10">
                  <c:v>1.0</c:v>
                </c:pt>
                <c:pt idx="11">
                  <c:v>1.0</c:v>
                </c:pt>
                <c:pt idx="12">
                  <c:v>3.0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Manggarai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Sheet1!$A$2:$A$14</c:f>
              <c:strCache>
                <c:ptCount val="13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</c:strCache>
            </c:strRef>
          </c:cat>
          <c:val>
            <c:numRef>
              <c:f>Sheet1!$E$2:$E$14</c:f>
              <c:numCache>
                <c:formatCode>General</c:formatCode>
                <c:ptCount val="13"/>
                <c:pt idx="0">
                  <c:v>9.0</c:v>
                </c:pt>
                <c:pt idx="1">
                  <c:v>9.0</c:v>
                </c:pt>
                <c:pt idx="2">
                  <c:v>8.0</c:v>
                </c:pt>
                <c:pt idx="3">
                  <c:v>5.0</c:v>
                </c:pt>
                <c:pt idx="4">
                  <c:v>9.0</c:v>
                </c:pt>
                <c:pt idx="5">
                  <c:v>11.0</c:v>
                </c:pt>
                <c:pt idx="6">
                  <c:v>9.0</c:v>
                </c:pt>
                <c:pt idx="7">
                  <c:v>16.0</c:v>
                </c:pt>
                <c:pt idx="8">
                  <c:v>14.0</c:v>
                </c:pt>
                <c:pt idx="9">
                  <c:v>6.0</c:v>
                </c:pt>
                <c:pt idx="10">
                  <c:v>2.0</c:v>
                </c:pt>
                <c:pt idx="11">
                  <c:v>9.0</c:v>
                </c:pt>
                <c:pt idx="12">
                  <c:v>15.0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Area &amp; Product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01–13 Oct 2026 vs MTD-1 01–13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Branch Performance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33271"/>
          <a:ext cx="5394957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1824"/>
                <a:gridCol w="683868"/>
                <a:gridCol w="683868"/>
                <a:gridCol w="683868"/>
                <a:gridCol w="835838"/>
                <a:gridCol w="759853"/>
                <a:gridCol w="835838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Target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1.455,9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41,9%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845,9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1.182,5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39,4%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716,5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011680"/>
            <a:ext cx="53949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Target Branch = agregasi target 3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221992"/>
          <a:ext cx="5394958" cy="3017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7331"/>
                <a:gridCol w="1412965"/>
                <a:gridCol w="1412965"/>
                <a:gridCol w="1241697"/>
              </a:tblGrid>
              <a:tr h="3017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to RE Ratio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MTD-1: 72,0%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MTD: 76,4%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+4,4 pp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44768" y="749808"/>
            <a:ext cx="57150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RE &amp; PS Performance by Speed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44768" y="1033271"/>
          <a:ext cx="5714998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6630"/>
                <a:gridCol w="559076"/>
                <a:gridCol w="559076"/>
                <a:gridCol w="559076"/>
                <a:gridCol w="559076"/>
                <a:gridCol w="559076"/>
                <a:gridCol w="559076"/>
                <a:gridCol w="434836"/>
                <a:gridCol w="559076"/>
              </a:tblGrid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Kontrib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77,3%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53,4%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+45,5%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+22,5%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+17,0%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84,0%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28,1%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3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054096"/>
            <a:ext cx="987552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WOK Performance — seluruh WOK Flores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20040" y="3337560"/>
          <a:ext cx="9646911" cy="12435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5727"/>
                <a:gridCol w="742070"/>
                <a:gridCol w="742070"/>
                <a:gridCol w="742070"/>
                <a:gridCol w="742070"/>
                <a:gridCol w="816277"/>
                <a:gridCol w="742070"/>
                <a:gridCol w="742070"/>
                <a:gridCol w="742070"/>
                <a:gridCol w="742070"/>
                <a:gridCol w="816277"/>
                <a:gridCol w="74207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+11,9%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43,0%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337,1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+24,9%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44,0%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269,1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-28,0%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28,6%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256,6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26,0%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216,1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73,8%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49,5%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255,2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+9,8%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43,6%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231,3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71,6%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320040" y="4828031"/>
            <a:ext cx="115214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Kabupaten Performance — Top 3 &amp; Bottom 3 by MoM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37D3F"/>
                </a:solidFill>
                <a:latin typeface="Arial"/>
              </a:rPr>
              <a:t>Top 3 (MoM PS Tertinggi)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7648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D73527"/>
                </a:solidFill>
                <a:latin typeface="Arial"/>
              </a:rPr>
              <a:t>Bottom 3 (MoM PS Terendah)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5321807"/>
          <a:ext cx="5559550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5378"/>
                <a:gridCol w="958543"/>
                <a:gridCol w="958543"/>
                <a:gridCol w="958543"/>
                <a:gridCol w="958543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Nagekeo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+35,6%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327648" y="5321807"/>
          <a:ext cx="5541262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9702"/>
                <a:gridCol w="955390"/>
                <a:gridCol w="955390"/>
                <a:gridCol w="955390"/>
                <a:gridCol w="955390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Lembata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-21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Unknown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-28,8%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Sales Force &amp; DJP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01–13 Oct 2026 vs MTD-1 01–13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Sales Force Scorecard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49640" y="749808"/>
            <a:ext cx="329184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000" b="0" i="1">
                <a:solidFill>
                  <a:srgbClr val="687386"/>
                </a:solidFill>
                <a:latin typeface="Arial"/>
              </a:rPr>
              <a:t>SF Register: 150 → 143  (-4,7%)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73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01368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-16,1%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87   Δ -14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27832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7560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70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09160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-14,6%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7560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82   Δ -12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35624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5352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DJP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45352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N/A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16952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687386"/>
                </a:solidFill>
                <a:latin typeface="Arial"/>
              </a:rPr>
              <a:t>Data Transition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5352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0">
                <a:solidFill>
                  <a:srgbClr val="687386"/>
                </a:solidFill>
                <a:latin typeface="Arial"/>
              </a:rPr>
              <a:t>MTD-1: 52   Current DJP unavailable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43416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53144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Aktivitas DJP — Total Visit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53144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N/A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524744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687386"/>
                </a:solidFill>
                <a:latin typeface="Arial"/>
              </a:rPr>
              <a:t>Data Transition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53144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0">
                <a:solidFill>
                  <a:srgbClr val="687386"/>
                </a:solidFill>
                <a:latin typeface="Arial"/>
              </a:rPr>
              <a:t>MTD-1: 1.428   Current DJP unavailable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2221992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&amp; DJP by WOK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20040" y="2505456"/>
          <a:ext cx="11548862" cy="19385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1088"/>
                <a:gridCol w="613666"/>
                <a:gridCol w="613666"/>
                <a:gridCol w="613666"/>
                <a:gridCol w="681852"/>
                <a:gridCol w="681852"/>
                <a:gridCol w="681852"/>
                <a:gridCol w="681852"/>
                <a:gridCol w="681852"/>
                <a:gridCol w="681852"/>
                <a:gridCol w="664805"/>
                <a:gridCol w="664805"/>
                <a:gridCol w="664805"/>
                <a:gridCol w="767083"/>
                <a:gridCol w="767083"/>
                <a:gridCol w="767083"/>
              </a:tblGrid>
              <a:tr h="323088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Register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Active 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Active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6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DJP Activity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3088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TOTAL 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-4,7%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-16,1%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-14,6%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1.428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-5,7%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-13,8%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-7,7%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644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-11,5%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-41,2%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-41,2%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-7,3%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-7,7%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550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320040" y="4791456"/>
            <a:ext cx="9601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SF Active RE &amp; PS by Speed — Branch Flores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20040" y="5065776"/>
          <a:ext cx="7680955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1819"/>
                <a:gridCol w="908500"/>
                <a:gridCol w="908500"/>
                <a:gridCol w="743318"/>
                <a:gridCol w="908500"/>
                <a:gridCol w="908500"/>
                <a:gridCol w="743318"/>
                <a:gridCol w="908500"/>
              </a:tblGrid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+11,8%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320040" y="6519672"/>
            <a:ext cx="8229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SF Active dihitung berdasarkan SF Code unik per kelompok; Aktivitas DJP merupakan total visit.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SF Class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01–13 Oct 2026 vs MTD-1 01–13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22376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SF Active PS per Class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987552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13 / 13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4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57 / 129 (44,2%)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-17,4% | Turun 34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-100,0% | Turun 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70 / 143 (49,0%)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-15,7% | Turun 39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 / 5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19 / 45 (42,2%)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-13,6% | Turun 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24 / 50 (48,0%)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-11,1% | Turun 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9 / 21 (42,9%)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-40,0% | Turun 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10 / 23 (43,5%)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-41,2% | Turun 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 / 7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29 / 63 (46,0%)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-9,4% | Turun 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36 / 70 (51,4%)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-7,7% | Turun 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386584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PS per Class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651760"/>
          <a:ext cx="1154887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107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+32,1%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279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+4,9%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386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+6,9%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+23,5%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128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+19,6%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170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46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58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105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158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+16,2%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3886200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SF Productive per Class (minimum 10 PS)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151376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6 / 13 (46,2%)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+100,0% | Turun 4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8 / 129 (6,2%)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+33,3% | Turun 34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-100,0% | Turun 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14 / 143 (9,8%)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+40,0% | Turun 39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5 (40,0%)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 / 45 (13,3%)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+100,0% | Turun 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8 / 50 (16,0%)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+60,0% | Turun 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N/A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21 (9,5%)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 / 23 (13,0%)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 / 7 (42,9%)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+200,0%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0 / 63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 / 70 (4,3%)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+50,0% | Turun 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559612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1">
                <a:solidFill>
                  <a:srgbClr val="687386"/>
                </a:solidFill>
                <a:latin typeface="Arial"/>
              </a:rPr>
              <a:t>Active = minimum 1 PS. Turun = jumlah SF dengan PS MTD lebih rendah dibanding MTD-1 pada periode tanggal yang sama.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Daily SF Active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01–13 Oct 2026 vs MTD-1 01–13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SF Active RE Harian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320040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327648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PS Harian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327648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4645152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Ringkasan Produktivitas Harian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956048"/>
          <a:ext cx="7955277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6049"/>
                <a:gridCol w="1735697"/>
                <a:gridCol w="1108917"/>
                <a:gridCol w="1735697"/>
                <a:gridCol w="1108917"/>
              </a:tblGrid>
              <a:tr h="2377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RE/Hari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PS/Hari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377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377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377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377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623620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Total Branch merupakan SF Code unik per hari; angka WOK tidak dijumlahkan jika satu SF beraktivitas pada lebih dari satu WOK.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Channel &amp; ODP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01–13 Oct 2026 vs MTD-1 01–13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Agency Performance by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07008"/>
          <a:ext cx="5541260" cy="143560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+11,8%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75,6%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-32,1%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-31,0%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76,3%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327648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Grapari Performance by WOK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7648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327648" y="1207008"/>
          <a:ext cx="5541260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+26,9%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+61,9%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103,0%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+14,3%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84,2%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53,6%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Unknown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145536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Channel Scorecard — Total Branch Flores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3438144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AGENCY TOTAL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20040" y="3703320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491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-0,2%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327648" y="3438144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GRAPARI TOTAL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327648" y="3703320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+22,6%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320040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ODP Occupancy Summary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4928616"/>
          <a:ext cx="5413243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0202"/>
                <a:gridCol w="880202"/>
                <a:gridCol w="880202"/>
                <a:gridCol w="880202"/>
                <a:gridCol w="880202"/>
                <a:gridCol w="1012233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ORANGE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YELLOW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GREEN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BLACK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 ODP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2.047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2.636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1.138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6.064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33,8%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43,5%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327648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E.  DJP pada ODP Khusus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27648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55664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D73527"/>
                </a:solidFill>
                <a:latin typeface="Arial"/>
              </a:rPr>
              <a:t>ODP BLACK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55664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236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55664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0 (0,0%)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5664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36408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D73527"/>
                </a:solidFill>
                <a:latin typeface="Arial"/>
              </a:rPr>
              <a:t>0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72016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00032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37D3F"/>
                </a:solidFill>
                <a:latin typeface="Arial"/>
              </a:rPr>
              <a:t>ODP GREENFIELD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00032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139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00032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0 (0,0%)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0032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0776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137D3F"/>
                </a:solidFill>
                <a:latin typeface="Arial"/>
              </a:rPr>
              <a:t>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Performance RE &amp; PS per Channel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01–13 Oct 2026 vs MTD-1 01–13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Channel Scorecard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24128"/>
          <a:ext cx="11548867" cy="157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3834"/>
                <a:gridCol w="1077894"/>
                <a:gridCol w="1077894"/>
                <a:gridCol w="975238"/>
                <a:gridCol w="1077894"/>
                <a:gridCol w="1077894"/>
                <a:gridCol w="975238"/>
                <a:gridCol w="1385864"/>
                <a:gridCol w="1129223"/>
                <a:gridCol w="1077894"/>
              </a:tblGrid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% Contr.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103,9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Agency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-0,2%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85,0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+9,1%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Grapari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+22,6%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15,9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+18,9%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Web &amp; Apps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-21,4%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3,1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B2B2C &amp; Others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Sobi Affiliate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85292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Kontributor Penurunan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8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Agency SF Class Active (%, MoM)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SF ACTIVE TOTAL
RE: 73 | MoM -16,1%
PS: 70 | MoM -14,6%
• Junior
  RE: 60 | Active 46,5% | MoM -17,8%
  PS: 57 | Active 44,2% | MoM -16,2%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36976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Greenfield
  RE: 13 | Active 100,0% | MoM 0,0%
  PS: 13 | Active 100,0% | MoM 0,0%
• Junior Plus
  RE: 0 | Active 0,0% | MoM -100,0%
  PS: 0 | Active 0,0% | MoM -100,0%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72783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GraPARI Performance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59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Bajawa: PS +66,7%, Gap 2
• Grapari Ende: PS +40,0%, Gap 6
• Grapari Kalabahi: PS +16,7%, Gap 2
• Grapari Labuan Bajo: PS -37,5%, Gap -3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9992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Larantuka: PS 0,0%, Gap 0
• Grapari Maumere: PS +85,7%, Gap 6
• Grapari Ruteng: PS -16,7%, Gap -1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0040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479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Agency per WOK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Flores Timur: RE -36 (-32,1%), PS -26 (-31,0%)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236976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28416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Web &amp; Apps per WOK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46704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Manggarai: RE -4 (-30,8%), PS -4 (-57,1%)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53912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5351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B2B2C &amp; Others per WOK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Ende Sikka: RE 2 (+100,0%), PS -2 (-100,0%)
• Flores Timur: RE 1 (+100,0%), PS -2 (-100,0%)
• Manggarai: RE -4 (-80,0%), PS -1 (-100,0%)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70848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62288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SOBI Affiliate per WOK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0576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Manggarai: RE -1 (-50,0%), PS -2 (-100,0%)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0040" y="6181344"/>
            <a:ext cx="114300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Gap = perubahan absolut MTD terhadap MTD-1 pada periode tanggal yang sama. Angka dalam kurung menunjukkan MoM.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01–13 Oct 2026 vs MTD-1 01–13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PS by Speed — Total Branch &amp; WOK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53,4%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+22,5%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+17,0%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28,1%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+17,8%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59,7%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+56,8%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32,7%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51,3%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+15,1%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+12,5%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-13,9%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-11,8%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+45,5%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+24,9%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+9,8%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01–13 Oct 2026 vs MTD-1 01–13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Revenue New Sales by Speed — Total Branch &amp;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777240"/>
            <a:ext cx="420624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 i="1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46,2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46,9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44,7%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11,4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+18,2%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29,2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34,9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+19,4%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33,2%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20,3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23,9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+17,6%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50,1%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190,0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11,4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18,4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+60,6%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38,5%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12,3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43,8%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570,0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47,6%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13,6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15,7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38,6%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10,6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26,2%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10,1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10,9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+7,9%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930,0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310,0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870,0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310,0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+41,3%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930,0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930,0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96,7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105,0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37,2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47,6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+28,0%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22,1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16,8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-24,0%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37,1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40,6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+9,4%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Appendix — Top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01–13 Oct 2026 vs MTD-1 01–13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THERESIA NETIANA DELOS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SPLEL24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RATNA PATI 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SPNAT35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ROSALINA GETRUDIS MONGGO EDY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SPRGE76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KLAUDIUS IVANTUS LAJAR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KLA3857151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STEFANI WEA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SPESS73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Florida Bhalu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FLO9073003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+233,3%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EMANUEL MARYANUS DE ORNAY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EMA7688343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JANUARIUS PAULUS KOPONG HADA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JAN6694249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9,0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+128,6%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Putu Wira Anggrawan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IPU6453975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+116,7%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LUKAS ALFREDO LODANG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LUK7951132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+114,3%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THERESIA NETIANA DELOS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SPLEL24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BENYAMIN NDEWI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SPBEN72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EMANUEL MARYANUS DE ORNAY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EMA7688343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RATNA PATI 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SPNAT35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Santorio De Jesus Koro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SAN5304530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JANUARIUS PAULUS KOPONG HADA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JAN6694249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NOBERTUS BUU BATE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NOB2604035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FERDINANDUS PENO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FER4126457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Rahmad syukur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RAH9224740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TEOFELUS EPIPEO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SPTFL84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137D3F"/>
                </a:solidFill>
                <a:latin typeface="Arial"/>
              </a:rPr>
              <a:t>Top 10 branch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Appendix — Bottom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01–13 Oct 2026 vs MTD-1 01–13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umar mangu laga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UMA8300566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VALENTINUS S LEIN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SPVAL77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-18,0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FELIX LABA GOLE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SPLBG95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YOHANES NATALIS TOLEK KELEN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SPISE19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YOHANES LABA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SPLBA98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Balla panja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BAL4069900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YOSAFAT SUDARSO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SPYSS79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FRANSISKUS XAVERIUS LENGU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SPVXK18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GUSTI KOMANG SUKAYANA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SPSTI73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WILLYAM RICSKY SAUDALE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WIL7359783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Yohannes moa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YOH4255803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VALENTINUS S LEIN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SPVAL77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FELIX LABA GOLE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SPLBG95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YOHANES LABA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SPLBA98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Balla panja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BAL4069900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YOSAFAT SUDARSO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SPYSS79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FRANSISKUS XAVERIUS LENGU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SPVXK18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WILLYAM RICSKY SAUDALE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WIL7359783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DOMINGGUS RATU LELE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SPOIL46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Elias Vitus Watu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ELI8004604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D73527"/>
                </a:solidFill>
                <a:latin typeface="Arial"/>
              </a:rPr>
              <a:t>Bottom 10 branch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201168"/>
            <a:ext cx="8869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173C64"/>
                </a:solidFill>
                <a:latin typeface="Arial"/>
              </a:defRPr>
            </a:pPr>
            <a:r>
              <a:t>BILCO Performance — FLORES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3920" y="228600"/>
            <a:ext cx="33375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64748B"/>
                </a:solidFill>
                <a:latin typeface="Arial"/>
              </a:defRPr>
            </a:pPr>
            <a:r>
              <a:t>Snapshot 2026-10-13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621792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C3MR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22.66%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M-1 26.53% | MoM -3.88 pp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15184" y="621792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TARGET / GAP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96.70%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-74.04 pp | Rp-7.56 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910328" y="621792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PAID RATE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22.17%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M-1 25.47% | MoM -3.30 pp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205472" y="621792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PAYMENT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Rp2.31 M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M-1 Rp2.70 M | MoM -14.2%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0616" y="621792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BILLING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Rp10.21 M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MoM +0.5%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554480"/>
          <a:ext cx="11548869" cy="2240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9479"/>
                <a:gridCol w="898939"/>
                <a:gridCol w="898939"/>
                <a:gridCol w="973850"/>
                <a:gridCol w="898939"/>
                <a:gridCol w="1310953"/>
                <a:gridCol w="898939"/>
                <a:gridCol w="898939"/>
                <a:gridCol w="898939"/>
                <a:gridCol w="1310953"/>
              </a:tblGrid>
              <a:tr h="448056"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C3MR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Paid Rate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Payment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Gap %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Gap Rp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FLORES (BRANCH)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22.66%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-3.88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22.17%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-3.30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Rp2.31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-14.2%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96.70%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-74.04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Rp-7.56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ENDE SIKKA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21.25%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-3.91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20.54%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-3.31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Rp842.2 Jt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-14.5%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96.70%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-75.45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Rp-2.99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FLORES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21.36%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-5.92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21.41%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-5.37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Rp472.0 Jt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-20.9%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96.70%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-75.34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Rp-1.66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MANGGARAI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24.75%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-2.71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24.31%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-2.04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Rp999.4 Jt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-10.3%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96.70%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-71.95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Rp-2.91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402336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73C64"/>
                </a:solidFill>
                <a:latin typeface="Arial"/>
              </a:defRPr>
            </a:pPr>
            <a:r>
              <a:t>BILCO by LOS — Branch &amp; WOK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4315968"/>
          <a:ext cx="11548868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51580"/>
                <a:gridCol w="2299322"/>
                <a:gridCol w="2299322"/>
                <a:gridCol w="2299322"/>
                <a:gridCol w="2299322"/>
              </a:tblGrid>
              <a:tr h="280851"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LOS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FLORES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ENDE SIKKA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FLORES TIMUR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MANGGARAI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280851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NEW_SALES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55.08% / -6.82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50.96% / -7.09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51.64% / -18.32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61.60% / +0.77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80851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1 - 3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33.37% / -1.09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28.67% / -3.10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34.96% / -0.29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37.57% / +0.64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80851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4 - 6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20.22% / -3.40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18.72% / -2.19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17.34% / -7.79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23.57% / -1.69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80851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7 - 12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19.71% / -1.70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16.41% / -1.55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22.14% / -2.60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21.74% / -1.53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80851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1 - 2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18.24% / -2.68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14.88% / -2.52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18.01% / -5.90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21.39% / -1.22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80854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&gt;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23.07% / -4.79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22.76% / -4.88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20.64% / -6.45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24.70% / -3.78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