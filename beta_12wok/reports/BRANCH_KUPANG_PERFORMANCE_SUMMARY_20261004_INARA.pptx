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23.0</c:v>
                </c:pt>
                <c:pt idx="1">
                  <c:v>22.0</c:v>
                </c:pt>
                <c:pt idx="2">
                  <c:v>16.0</c:v>
                </c:pt>
                <c:pt idx="3">
                  <c:v>11.0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19.0</c:v>
                </c:pt>
                <c:pt idx="1">
                  <c:v>16.0</c:v>
                </c:pt>
                <c:pt idx="2">
                  <c:v>16.0</c:v>
                </c:pt>
                <c:pt idx="3">
                  <c:v>14.0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2.002,3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1.882,3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1.624,5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1.527,5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-3,7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860,9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556,4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317,8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258,7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Sabu Raijua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Selatan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156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44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-38,9%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72   Δ -28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41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-41,4%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70   Δ -29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-100,0%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39   Δ -39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-100,0%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674   Δ -674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SF/DJP Level Branch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0040" y="2505456"/>
            <a:ext cx="11548872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2679192"/>
            <a:ext cx="111556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0" i="0">
                <a:solidFill>
                  <a:srgbClr val="20252B"/>
                </a:solidFill>
                <a:latin typeface="Arial"/>
              </a:rPr>
              <a:t>Detail WOK SF tidak ditampilkan pada PPT selama ownership 12 WOK masih dalam masa transisi.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" y="3383280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20040" y="3657600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320040" y="5111496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 / 9 (22,2%)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-33,3%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35 / 143 (24,5%)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-45,3% | Turun 40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41 / 156 (26,3%)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-42,3% | Turun 45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-38,7%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-54,2%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-40,6%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143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4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156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45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SF Class pada PPT Branch ditampilkan pada level Branch sampai ownership 12 WOK resmi tersedia.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Trend SF ditampilkan pada level Branch selama masa transisi ownership 12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2.418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5.049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9.986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24,2%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392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167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44 | MoM -38,9%
PS: 41 | MoM -41,4%
• Junior
  RE: 37 | Active 25,9% | MoM -43,1%
  PS: 35 | Active 24,5% | MoM -44,4%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3 | Active 33,3% | MoM 0,0%
  PS: 2 | Active 22,2% | MoM -33,3%
• Junior Plus
  RE: 4 | Active 100,0% | MoM 0,0%
  PS: 4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Atambua: PS 0,0%, Gap 0
• Grapari Baa Rote: PS 0,0%, Gap 0
• Grapari Kefamenanu: PS +100,0%, Gap 1
• Grapari Kupang: PS -50,0%, Gap 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Malaka: PS -100,0%, Gap -1
• Grapari Soe: PS +100,0%, Gap 1
• Grapari Waikabubak: PS N/A, Gap 1
• Grapari Waingapu: PS -50,0%, Gap -1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Kupang Rote: RE -10 (-17,5%), PS -21 (-36,2%)
• Malaka Timtim Belu: RE -33 (-60,0%), PS -19 (-45,2%)
• Sumba: RE -21 (-52,5%), PS -15 (-44,1%)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0 (0,0%), PS -1 (-100,0%)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SPEMA28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SPEMA28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SPUYL51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SPUYL51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SPXRYN88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SPXRYN88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SPXXMD19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SPXXMD19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SPLIS04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SPLIS04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SPWSI90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SPWSI90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JOE4357109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JOE4357109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SPVEN05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SPVEN05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SPEMA28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SPEMA28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FAN5086386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FAN5086386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SPWSI90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SPWSI90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SPXRYN88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SPXRYN88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PAU3512746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PAU3512746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SPXXMD19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SPXXMD19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SPUYL51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SPUYL51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SPTUN00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SPTUN00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SPBNE43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SPBNE43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SPUUE13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SPUUE13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SPEIA79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SPEIA79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COR5804367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COR5804367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CHR2660088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CHR2660088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MIS1468588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MIS1468588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SPNUT73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SPNUT73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SPHYZ89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SPHYZ89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SPXXJF19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SPXXJF19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ZEL9504682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ZEL9504682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SPFIN88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SPFIN88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COR5804367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COR5804367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CHR2660088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CHR2660088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MIS1468588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MIS1468588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SPNUT73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SPNUT73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SPHYZ89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SPHYZ89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ZEL9504682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ZEL9504682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SPFIN88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SPFIN88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ZEF3712155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ZEF3712155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SPFEE84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SPFEE84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ANI1534039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ANI1534039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