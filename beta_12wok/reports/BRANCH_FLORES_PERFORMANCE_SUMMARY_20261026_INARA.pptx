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Sheet1!$D$2:$D$27</c:f>
              <c:numCache>
                <c:formatCode>General</c:formatCode>
                <c:ptCount val="26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Sheet1!$E$2:$E$27</c:f>
              <c:numCache>
                <c:formatCode>General</c:formatCode>
                <c:ptCount val="26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11.0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Sheet1!$A$2:$A$27</c:f>
              <c:strCache>
                <c:ptCount val="2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</c:strCache>
            </c:strRef>
          </c:cat>
          <c:val>
            <c:numRef>
              <c:f>Sheet1!$F$2:$F$27</c:f>
              <c:numCache>
                <c:formatCode>General</c:formatCode>
                <c:ptCount val="2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-11,8%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93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2.394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-17,7%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21 (61,9%)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23 (60,9%)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71 (43,7%)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78 (48,7%)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137 (12,4%)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 | Turun 40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 | Turun 44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45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50 (32,0%)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71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78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-11,8%
PS: 78 | MoM -15,2%
• Junior
  RE: 69 | Active 50,4% | MoM -12,7%
  PS: 65 | Active 47,4% | MoM -16,7%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-33,3%, Gap -4
• Grapari Ende: PS -23,7%, Gap -9
• Grapari Kalabahi: PS +15,8%, Gap 3
• Grapari Labuan Bajo: PS -25,0%, Gap -4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-61,5%, Gap -8
• Grapari Maumere: PS +60,0%, Gap 9
• Grapari Ruteng: PS -20,0%,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-87 (-38,5%), PS -68 (-40,2%)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-2 (-13,3%), PS -2 (-16,7%)
• Manggarai: RE -7 (-30,4%), PS -2 (-18,2%)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(+50,0%), PS -2 (-50,0%)
• Flores Timur: RE 1 (+50,0%), PS -2 (-100,0%)
• Manggarai: RE -5 (-71,4%),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-3 (-75,0%), PS -4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199,1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Oct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89.65%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91.86% | MoM -2.21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-7.05 pp | Rp-719.4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88.74%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90.74% | MoM -2.00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Rp9.15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Rp9.33 M | MoM -1.9%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89.65%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88.74%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Rp9.15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-7.05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92.07%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80.65%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Rp-347.7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Rp-188.2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95.85% / +1.28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96.92% / +3.31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89.21% / -6.67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98.61% / +3.84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88.31% / 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89.54% / +1.14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83.74% / -7.24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90.16% / +3.44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82.41% / -3.32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83.39% / -0.09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73.41% / -14.17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87.12% / +0.38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85.74% / -2.17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85.92% / -0.46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79.91% / -10.42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88.85% / +0.63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87.38% / -2.44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88.91% / -0.87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77.76% / -11.10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90.31% / +0.03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91.76% / -2.27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95.11% / +0.63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82.41% / -11.83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93.61% / 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5 | MoM -20.0%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14,233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70.8%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5,875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77.6%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89.2%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78.6%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74.2%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69.3%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73.2%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79.4%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67.4%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71.7%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74.8%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77.3%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63.4%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61.2%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66.4%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58.1%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55.6%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54.8%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62.1%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51.6%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55.5%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47.2%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41.1%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59.2%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63.4%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