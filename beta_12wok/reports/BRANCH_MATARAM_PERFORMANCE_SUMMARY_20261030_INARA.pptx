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60.0</c:v>
                </c:pt>
                <c:pt idx="22">
                  <c:v>39.0</c:v>
                </c:pt>
                <c:pt idx="23">
                  <c:v>45.0</c:v>
                </c:pt>
                <c:pt idx="24">
                  <c:v>31.0</c:v>
                </c:pt>
                <c:pt idx="25">
                  <c:v>51.0</c:v>
                </c:pt>
                <c:pt idx="26">
                  <c:v>51.0</c:v>
                </c:pt>
                <c:pt idx="27">
                  <c:v>43.0</c:v>
                </c:pt>
                <c:pt idx="28">
                  <c:v>45.0</c:v>
                </c:pt>
                <c:pt idx="29">
                  <c:v>42.0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37.0</c:v>
                </c:pt>
                <c:pt idx="22">
                  <c:v>22.0</c:v>
                </c:pt>
                <c:pt idx="23">
                  <c:v>28.0</c:v>
                </c:pt>
                <c:pt idx="24">
                  <c:v>15.0</c:v>
                </c:pt>
                <c:pt idx="25">
                  <c:v>30.0</c:v>
                </c:pt>
                <c:pt idx="26">
                  <c:v>27.0</c:v>
                </c:pt>
                <c:pt idx="27">
                  <c:v>24.0</c:v>
                </c:pt>
                <c:pt idx="28">
                  <c:v>24.0</c:v>
                </c:pt>
                <c:pt idx="29">
                  <c:v>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  <c:pt idx="22">
                  <c:v>5.0</c:v>
                </c:pt>
                <c:pt idx="23">
                  <c:v>8.0</c:v>
                </c:pt>
                <c:pt idx="24">
                  <c:v>6.0</c:v>
                </c:pt>
                <c:pt idx="25">
                  <c:v>9.0</c:v>
                </c:pt>
                <c:pt idx="26">
                  <c:v>8.0</c:v>
                </c:pt>
                <c:pt idx="27">
                  <c:v>7.0</c:v>
                </c:pt>
                <c:pt idx="28">
                  <c:v>7.0</c:v>
                </c:pt>
                <c:pt idx="29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  <c:pt idx="22">
                  <c:v>12.0</c:v>
                </c:pt>
                <c:pt idx="23">
                  <c:v>9.0</c:v>
                </c:pt>
                <c:pt idx="24">
                  <c:v>10.0</c:v>
                </c:pt>
                <c:pt idx="25">
                  <c:v>12.0</c:v>
                </c:pt>
                <c:pt idx="26">
                  <c:v>16.0</c:v>
                </c:pt>
                <c:pt idx="27">
                  <c:v>12.0</c:v>
                </c:pt>
                <c:pt idx="28">
                  <c:v>14.0</c:v>
                </c:pt>
                <c:pt idx="29">
                  <c:v>12.0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  <c:pt idx="22">
                  <c:v>37.0</c:v>
                </c:pt>
                <c:pt idx="23">
                  <c:v>36.0</c:v>
                </c:pt>
                <c:pt idx="24">
                  <c:v>30.0</c:v>
                </c:pt>
                <c:pt idx="25">
                  <c:v>44.0</c:v>
                </c:pt>
                <c:pt idx="26">
                  <c:v>40.0</c:v>
                </c:pt>
                <c:pt idx="27">
                  <c:v>49.0</c:v>
                </c:pt>
                <c:pt idx="28">
                  <c:v>48.0</c:v>
                </c:pt>
                <c:pt idx="29">
                  <c:v>35.0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  <c:pt idx="22">
                  <c:v>22.0</c:v>
                </c:pt>
                <c:pt idx="23">
                  <c:v>20.0</c:v>
                </c:pt>
                <c:pt idx="24">
                  <c:v>21.0</c:v>
                </c:pt>
                <c:pt idx="25">
                  <c:v>25.0</c:v>
                </c:pt>
                <c:pt idx="26">
                  <c:v>21.0</c:v>
                </c:pt>
                <c:pt idx="27">
                  <c:v>32.0</c:v>
                </c:pt>
                <c:pt idx="28">
                  <c:v>27.0</c:v>
                </c:pt>
                <c:pt idx="29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  <c:pt idx="22">
                  <c:v>6.0</c:v>
                </c:pt>
                <c:pt idx="23">
                  <c:v>5.0</c:v>
                </c:pt>
                <c:pt idx="24">
                  <c:v>1.0</c:v>
                </c:pt>
                <c:pt idx="25">
                  <c:v>11.0</c:v>
                </c:pt>
                <c:pt idx="26">
                  <c:v>7.0</c:v>
                </c:pt>
                <c:pt idx="27">
                  <c:v>4.0</c:v>
                </c:pt>
                <c:pt idx="28">
                  <c:v>6.0</c:v>
                </c:pt>
                <c:pt idx="29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  <c:pt idx="22">
                  <c:v>9.0</c:v>
                </c:pt>
                <c:pt idx="23">
                  <c:v>11.0</c:v>
                </c:pt>
                <c:pt idx="24">
                  <c:v>8.0</c:v>
                </c:pt>
                <c:pt idx="25">
                  <c:v>8.0</c:v>
                </c:pt>
                <c:pt idx="26">
                  <c:v>12.0</c:v>
                </c:pt>
                <c:pt idx="27">
                  <c:v>13.0</c:v>
                </c:pt>
                <c:pt idx="28">
                  <c:v>15.0</c:v>
                </c:pt>
                <c:pt idx="29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  <c:pt idx="28">
                  <c:v>29 Oct</c:v>
                </c:pt>
                <c:pt idx="29">
                  <c:v>30 Oct</c:v>
                </c:pt>
              </c:strCache>
            </c:strRef>
          </c:cat>
          <c:val>
            <c:numRef>
              <c:f>Sheet1!$F$2:$F$31</c:f>
              <c:numCache>
                <c:formatCode>General</c:formatCode>
                <c:ptCount val="3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240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195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191   Δ -17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195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4.998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4.998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1.979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151 / 212 (71,2%)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174 / 240 (72,5%)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-10,3%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 / 127 (67,7%)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-14,9%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 / 145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36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39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49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56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1.626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041648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352544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 / 212 (20,8%)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+7,3%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59 / 240 (24,6%)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 | Turun 114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127 (19,7%)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145 (23,4%)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 | Turun 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36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39 (25,6%)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49 (22,4%)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56 (26,8%)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760720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1.518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755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(Jumlah SF, % Active, MoM RE atau 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RE: 180 SF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-11,0%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Active PS: 174 SF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-7,0%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Performer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-48,0%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-34,0%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157 SF | Active 74,1%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-6,2%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151 SF | Active 71,2%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Greenfield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13 SF | Active 72,2%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-25,9%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13 SF | Active 72,2%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-23,1%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 Plus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RE: 9 SF | Active 100,0% | MoM RE </a:t>
            </a:r>
            <a:r>
              <a:rPr sz="830" b="1">
                <a:solidFill>
                  <a:srgbClr val="D73527"/>
                </a:solidFill>
                <a:latin typeface="Arial"/>
              </a:rPr>
              <a:t>-9,6%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  PS: 9 SF | Active 100,0% | MoM PS </a:t>
            </a:r>
            <a:r>
              <a:rPr sz="830" b="1">
                <a:solidFill>
                  <a:srgbClr val="D73527"/>
                </a:solidFill>
                <a:latin typeface="Arial"/>
              </a:rPr>
              <a:t>-12,3%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Bima: PS </a:t>
            </a:r>
            <a:r>
              <a:rPr sz="850" b="1">
                <a:solidFill>
                  <a:srgbClr val="D73527"/>
                </a:solidFill>
                <a:latin typeface="Arial"/>
              </a:rPr>
              <a:t>-30,4%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-14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Dompu: PS +80,0%, Gap 8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Lombok Timur: PS +100,0%, Gap 2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Maluk: PS +33,3%, Gap 1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Mataram: PS </a:t>
            </a:r>
            <a:r>
              <a:rPr sz="850" b="1">
                <a:solidFill>
                  <a:srgbClr val="D73527"/>
                </a:solidFill>
                <a:latin typeface="Arial"/>
              </a:rPr>
              <a:t>-28,9%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-13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Sumbawa: PS </a:t>
            </a:r>
            <a:r>
              <a:rPr sz="850" b="1">
                <a:solidFill>
                  <a:srgbClr val="D73527"/>
                </a:solidFill>
                <a:latin typeface="Arial"/>
              </a:rPr>
              <a:t>-50,0%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-5</a:t>
            </a:r>
          </a:p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• Grapari Taliwang: PS </a:t>
            </a:r>
            <a:r>
              <a:rPr sz="850" b="1">
                <a:solidFill>
                  <a:srgbClr val="D73527"/>
                </a:solidFill>
                <a:latin typeface="Arial"/>
              </a:rPr>
              <a:t>-33,3%</a:t>
            </a:r>
            <a:r>
              <a:rPr sz="850" b="0">
                <a:solidFill>
                  <a:srgbClr val="20252B"/>
                </a:solidFill>
                <a:latin typeface="Arial"/>
              </a:rPr>
              <a:t>, Gap </a:t>
            </a:r>
            <a:r>
              <a:rPr sz="850" b="1">
                <a:solidFill>
                  <a:srgbClr val="D73527"/>
                </a:solidFill>
                <a:latin typeface="Arial"/>
              </a:rPr>
              <a:t>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-11,8%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-77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-7,4%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-64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-17,1%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-27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-10,5%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-34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-5,6%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-15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-28,8%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-45,2%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Barat: RE </a:t>
            </a:r>
            <a:r>
              <a:rPr sz="830" b="1">
                <a:solidFill>
                  <a:srgbClr val="D73527"/>
                </a:solidFill>
                <a:latin typeface="Arial"/>
              </a:rPr>
              <a:t>-14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-46,7%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-61,1%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-9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-52,9%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-8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-34,8%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-1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-8,3%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</a:t>
            </a:r>
            <a:r>
              <a:rPr sz="830" b="1">
                <a:solidFill>
                  <a:srgbClr val="D73527"/>
                </a:solidFill>
                <a:latin typeface="Arial"/>
              </a:rPr>
              <a:t>-4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-66,7%</a:t>
            </a:r>
            <a:r>
              <a:rPr sz="830" b="0">
                <a:solidFill>
                  <a:srgbClr val="20252B"/>
                </a:solidFill>
                <a:latin typeface="Arial"/>
              </a:rPr>
              <a:t>), PS </a:t>
            </a:r>
            <a:r>
              <a:rPr sz="830" b="1">
                <a:solidFill>
                  <a:srgbClr val="D73527"/>
                </a:solidFill>
                <a:latin typeface="Arial"/>
              </a:rPr>
              <a:t>-2</a:t>
            </a:r>
            <a:r>
              <a:rPr sz="830" b="0">
                <a:solidFill>
                  <a:srgbClr val="20252B"/>
                </a:solidFill>
                <a:latin typeface="Arial"/>
              </a:rPr>
              <a:t> (</a:t>
            </a:r>
            <a:r>
              <a:rPr sz="830" b="1">
                <a:solidFill>
                  <a:srgbClr val="D73527"/>
                </a:solidFill>
                <a:latin typeface="Arial"/>
              </a:rPr>
              <a:t>-66,7%</a:t>
            </a:r>
            <a:r>
              <a:rPr sz="830" b="0">
                <a:solidFill>
                  <a:srgbClr val="20252B"/>
                </a:solidFill>
                <a:latin typeface="Arial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RAHMAN MAULANA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LAL5388342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ARINDA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SPARIND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ERN3856335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Oct 2026 vs MTD-1 01–30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LISNAWATI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SPISWAT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HAMZAN WADI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HAM9341456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yedik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LAL6636669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HIDAYATULLAH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ANDRIANI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SPSPFIT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Prayadi sanip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PRA1168844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HAMZAN WADI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HAM9341456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10/30/2026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96.06%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96.32% | MoM -0.26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-1.39 pp | Rp-349.1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95.77%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95.86% | MoM -0.09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Rp24.13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Rp23.82 M | MoM +1.3%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96.06%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95.77%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Rp24.13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Rp-349.1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96.36%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96.01%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Rp13.24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Rp-150.2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95.58%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95.76%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95.43%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Rp6.34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Rp-112.2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98.58% / -1.10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99.97% / +0.12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98.86% / -0.10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95.84% / -3.83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94.05% / -3.17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94.72% / -2.48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92.39% / -3.93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93.51% / -4.36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92.90% / +0.36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92.79% / +0.06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92.49% / -0.88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93.36% / +1.56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94.11% / 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94.55% / +0.29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93.14% / -0.93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94.01% / 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95.22% / +0.42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95.72% / +0.52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95.23% / +0.42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94.38% / +0.26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96.89% / 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97.02% / -0.25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96.47% / -0.36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96.90% / -0.28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M-1 104 | MoM -4.8%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 / 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-19.0%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+33.3%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75 / 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66 / -2.9%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30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34,076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74.8%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11,455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94.6%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93.9%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91.1%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83.2%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93.5%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84.8%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95.5%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91.0%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82.5%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80.0%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77.7%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72.1%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75.6%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79.1%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74.3%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62.7%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56.3%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70.7%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69.9%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66.3%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70.8%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51.2%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62.8%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58.2%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49.6%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