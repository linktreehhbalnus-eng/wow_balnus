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25/09</c:v>
                </c:pt>
                <c:pt idx="1">
                  <c:v>26/09</c:v>
                </c:pt>
                <c:pt idx="2">
                  <c:v>27/09</c:v>
                </c:pt>
                <c:pt idx="3">
                  <c:v>28/09</c:v>
                </c:pt>
                <c:pt idx="4">
                  <c:v>29/09</c:v>
                </c:pt>
                <c:pt idx="5">
                  <c:v>30/09</c:v>
                </c:pt>
                <c:pt idx="6">
                  <c:v>01/10</c:v>
                </c:pt>
                <c:pt idx="7">
                  <c:v>02/10</c:v>
                </c:pt>
                <c:pt idx="8">
                  <c:v>03/10</c:v>
                </c:pt>
                <c:pt idx="9">
                  <c:v>04/10</c:v>
                </c:pt>
                <c:pt idx="10">
                  <c:v>05/10</c:v>
                </c:pt>
                <c:pt idx="11">
                  <c:v>06/10</c:v>
                </c:pt>
                <c:pt idx="12">
                  <c:v>07/10</c:v>
                </c:pt>
                <c:pt idx="13">
                  <c:v>08/10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303.0</c:v>
                </c:pt>
                <c:pt idx="1">
                  <c:v>248.0</c:v>
                </c:pt>
                <c:pt idx="2">
                  <c:v>150.0</c:v>
                </c:pt>
                <c:pt idx="3">
                  <c:v>315.0</c:v>
                </c:pt>
                <c:pt idx="4">
                  <c:v>321.0</c:v>
                </c:pt>
                <c:pt idx="5">
                  <c:v>271.0</c:v>
                </c:pt>
                <c:pt idx="6">
                  <c:v>352.0</c:v>
                </c:pt>
                <c:pt idx="7">
                  <c:v>332.0</c:v>
                </c:pt>
                <c:pt idx="8">
                  <c:v>257.0</c:v>
                </c:pt>
                <c:pt idx="9">
                  <c:v>184.0</c:v>
                </c:pt>
                <c:pt idx="10">
                  <c:v>335.0</c:v>
                </c:pt>
                <c:pt idx="11">
                  <c:v>304.0</c:v>
                </c:pt>
                <c:pt idx="12">
                  <c:v>330.0</c:v>
                </c:pt>
                <c:pt idx="13">
                  <c:v>307.0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25/09</c:v>
                </c:pt>
                <c:pt idx="1">
                  <c:v>26/09</c:v>
                </c:pt>
                <c:pt idx="2">
                  <c:v>27/09</c:v>
                </c:pt>
                <c:pt idx="3">
                  <c:v>28/09</c:v>
                </c:pt>
                <c:pt idx="4">
                  <c:v>29/09</c:v>
                </c:pt>
                <c:pt idx="5">
                  <c:v>30/09</c:v>
                </c:pt>
                <c:pt idx="6">
                  <c:v>01/10</c:v>
                </c:pt>
                <c:pt idx="7">
                  <c:v>02/10</c:v>
                </c:pt>
                <c:pt idx="8">
                  <c:v>03/10</c:v>
                </c:pt>
                <c:pt idx="9">
                  <c:v>04/10</c:v>
                </c:pt>
                <c:pt idx="10">
                  <c:v>05/10</c:v>
                </c:pt>
                <c:pt idx="11">
                  <c:v>06/10</c:v>
                </c:pt>
                <c:pt idx="12">
                  <c:v>07/10</c:v>
                </c:pt>
                <c:pt idx="13">
                  <c:v>08/10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239.0</c:v>
                </c:pt>
                <c:pt idx="1">
                  <c:v>173.0</c:v>
                </c:pt>
                <c:pt idx="2">
                  <c:v>131.0</c:v>
                </c:pt>
                <c:pt idx="3">
                  <c:v>241.0</c:v>
                </c:pt>
                <c:pt idx="4">
                  <c:v>240.0</c:v>
                </c:pt>
                <c:pt idx="5">
                  <c:v>239.0</c:v>
                </c:pt>
                <c:pt idx="6">
                  <c:v>238.0</c:v>
                </c:pt>
                <c:pt idx="7">
                  <c:v>225.0</c:v>
                </c:pt>
                <c:pt idx="8">
                  <c:v>205.0</c:v>
                </c:pt>
                <c:pt idx="9">
                  <c:v>154.0</c:v>
                </c:pt>
                <c:pt idx="10">
                  <c:v>237.0</c:v>
                </c:pt>
                <c:pt idx="11">
                  <c:v>221.0</c:v>
                </c:pt>
                <c:pt idx="12">
                  <c:v>283.0</c:v>
                </c:pt>
                <c:pt idx="13">
                  <c:v>240.0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-8,1% &amp; PS -9,7% MoM — Achievement Mencapai 20,3% (RE) / 18,9%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Okt 2026 vs MTD-1 01–08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Stabil, PS Menguat pada 8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Okt 2026 vs MTD-1 01–08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01–08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(+5,3%), Denpasar Terdalam (-15,0%)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Okt 2026 vs MTD-1 01–08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+5,3%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-7,3%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-10,7%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-15,0%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21,4%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20,2%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19,1%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14,8%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(+19,8%), Bali Barat Terdalam (-40,9%)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Okt 2026 vs MTD-1 01–08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Penyumbang PS Absolut Terbesar (+18), Ngada Tumbuh Tertinggi (+100,0%)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Okt 2026 vs MTD-1 01–08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44 kabupaten: Top 5 menyumbang +58, Bottom 5 -169, dan perubahan PS regional -193.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(-0,8%), TSEL One &gt;30 Mbps Turun Terdalam (-25,0%)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Okt 2026 vs MTD-1 01–08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-3,1% MoM, DJP Data Transition — SF Register 883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Okt 2026 vs MTD-1 01–08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37.795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24.841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5.296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1.475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2.167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1.015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1.783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Okt 2026 vs MTD-1 01–08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01–08 Okt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20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105 / 306 (34,3%)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 | Turun 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140 / 347 (40,3%)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 | Turun 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 / 129 (38,0%)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-7,5% | Turun 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61 / 143 (42,7%)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-7,6%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9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 / 143 (48,3%)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-11,5%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 / 156 (50,6%)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-8,1%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+44,4%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106 / 210 (50,5%)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-0,9% | Turun 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130 / 237 (54,9%)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+2,4% | Turun 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46 / 58 (79,3%)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+15,0% | Turun 19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329 / 788 (41,8%)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-6,0% | Turun 190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410 / 901 (45,5%)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-3,8% | Turun 234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974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1.565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306 (1,3%)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347 (5,5%)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 | Turun 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13 (7,7%)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129 (0,8%)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143 (1,4%)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143 (0,7%)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156 (0,6%)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210 (1,0%)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-60,0% | Turun 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237 (2,5%)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58 (5,2%)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— | Turun 19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788 (1,0%)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-42,9% | Turun 190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28 / 901 (3,1%)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-26,3% | Turun 234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Okt 2026 vs MTD-1 01–08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HILDEGARDIS SALLY DOMAKING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AWANG DARMAWAN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 widyastuti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MIRAH PADMINI,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JILDER FINA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LUKAS ALFREDO LODANG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FELIKS VENTIANUS MARIO JEMA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 widyastuti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JANUARIUS PAULUS KOPONG HADA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KOMANG AGUS ARTANA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SUPAMRI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FELIKS VENTIANUS MARIO JEMA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JILDER FINA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Okt 2026 vs MTD-1 01–08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FRANSISKUS NDAGANG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anggarita arya sukma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Herpan jayadi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Sumiyati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Edy Susilo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A A NGR BISMA ADIK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 ALAM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Yohannes moa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Okt 2026 vs MTD-1 01–08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01–08 Okt 2026 vs MTD-1 01–08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01–08 Okt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1.996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1.803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01–08 Okt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01–08 Okt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2.614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2.401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1.996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1.803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401,7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2.200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1.990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1.736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1.565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340,9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470,0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-69,1%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434 | MoM -7,3%
PS: 410 | MoM -3,1%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354 | Active 44,9% | MoM -7,3%
  PS: 329 | Active 41,8% | MoM -5,2%
• Greenfield
  RE: 45 | Active 77,6% | MoM -10,0%
  PS: 46 | Active 79,3% | MoM +15,0%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-12,5%, Gap -4
• Flores: PS -5,3%, Gap -2
• Kupang: PS -12,5%, Gap -2
• Mataram: PS -25,6%, Gap 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Baa Rote (Kupang): -100,0%, Gap -1
• Grapari Malaka (Kupang): -100,0%, Gap -1
• Grapari Tabanan (Denpasar): -75,0%, Gap -3
• Grapari Mataram (Mataram): -66,7%, Gap -14
• Grapari Bima (Mataram): -53,3%, Gap -8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-98 (-32,1%), PS -117 (-41,9%)
• Lombok: RE -48 (-14,3%), PS -33 (-12,3%)
• Sumba: RE -24 (-30,8%), PS -24 (-38,7%)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+2 (+10,0%), PS -5 (-31,2%)
• Sumbawa Timur: RE -5 (-35,7%), PS -5 (-71,4%)
• Manggarai: RE -4 (-40,0%), PS -4 (-80,0%)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-6 (-75,0%), PS -2 (-40,0%)
• Bali Barat: RE -3 (-75,0%), PS -1 (-100,0%)
• Ende Sikka: RE +2 (+200,0%), PS -1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-2 (-66,7%), PS -2 (-66,7%)
• Bali Timur: RE -2 (-100,0%), PS -1 (-100,0%)
• Manggarai: RE -1 (-50,0%),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Regional, Branch &amp; 12 WOK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C3MR BALINUSRA 32.01%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72237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97.21% | Gap -65.20 pp | M-1 36.83%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346"/>
                <a:gridCol w="860022"/>
                <a:gridCol w="860022"/>
                <a:gridCol w="860022"/>
                <a:gridCol w="1412893"/>
                <a:gridCol w="1412893"/>
                <a:gridCol w="921452"/>
                <a:gridCol w="921452"/>
                <a:gridCol w="921452"/>
                <a:gridCol w="1044312"/>
              </a:tblGrid>
              <a:tr h="309282"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202.393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75.413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Rp56.23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-60.19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Rp10.21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Rp2.31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-74.04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48.594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11.736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Rp15.44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-70.90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83.478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Rp25.12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</a:tr>
              <a:tr h="309288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by LOS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54886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534"/>
                <a:gridCol w="863467"/>
                <a:gridCol w="863467"/>
                <a:gridCol w="863467"/>
                <a:gridCol w="1295200"/>
                <a:gridCol w="1295200"/>
                <a:gridCol w="917433"/>
                <a:gridCol w="917433"/>
                <a:gridCol w="971400"/>
                <a:gridCol w="1187267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01. 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48.77%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Rp509.2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59.52%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-9.77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Rp156.781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02. 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Rp3.47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Rp1.20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Rp255.294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03. 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21.593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5.768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Rp5.25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-4.01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Rp248.935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04. 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9.376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Rp8.88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Rp2.45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-2.55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Rp260.812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05. 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55.545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Rp14.70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Rp3.77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-3.72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Rp274.548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06. 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234.345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80.431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Rp73.69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Rp24.89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33.77%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-5.32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Rp309.406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Catatan: seluruh angka C3MR dibaca dari output SQL; PPT tidak menghitung ulang formula.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330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M-1 304 | MoM +8.6%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-347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+26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6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7969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79712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1154887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009"/>
                <a:gridCol w="2080877"/>
                <a:gridCol w="1768746"/>
                <a:gridCol w="1768746"/>
                <a:gridCol w="1768746"/>
                <a:gridCol w="1768746"/>
              </a:tblGrid>
              <a:tr h="102412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56 / +12.0%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265 / +4.3%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