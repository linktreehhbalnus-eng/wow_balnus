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2" r:id="rId23"/>
    <p:sldId id="273" r:id="rId24"/>
    <p:sldId id="274" r:id="rId25"/>
    <p:sldId id="275" r:id="rId26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9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22/09</c:v>
                </c:pt>
                <c:pt idx="1">
                  <c:v>23/09</c:v>
                </c:pt>
                <c:pt idx="2">
                  <c:v>24/09</c:v>
                </c:pt>
                <c:pt idx="3">
                  <c:v>25/09</c:v>
                </c:pt>
                <c:pt idx="4">
                  <c:v>26/09</c:v>
                </c:pt>
                <c:pt idx="5">
                  <c:v>27/09</c:v>
                </c:pt>
                <c:pt idx="6">
                  <c:v>28/09</c:v>
                </c:pt>
                <c:pt idx="7">
                  <c:v>29/09</c:v>
                </c:pt>
                <c:pt idx="8">
                  <c:v>30/09</c:v>
                </c:pt>
                <c:pt idx="9">
                  <c:v>01/10</c:v>
                </c:pt>
                <c:pt idx="10">
                  <c:v>02/10</c:v>
                </c:pt>
                <c:pt idx="11">
                  <c:v>03/10</c:v>
                </c:pt>
                <c:pt idx="12">
                  <c:v>04/10</c:v>
                </c:pt>
                <c:pt idx="13">
                  <c:v>05/10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316.0</c:v>
                </c:pt>
                <c:pt idx="1">
                  <c:v>299.0</c:v>
                </c:pt>
                <c:pt idx="2">
                  <c:v>309.0</c:v>
                </c:pt>
                <c:pt idx="3">
                  <c:v>303.0</c:v>
                </c:pt>
                <c:pt idx="4">
                  <c:v>248.0</c:v>
                </c:pt>
                <c:pt idx="5">
                  <c:v>150.0</c:v>
                </c:pt>
                <c:pt idx="6">
                  <c:v>315.0</c:v>
                </c:pt>
                <c:pt idx="7">
                  <c:v>321.0</c:v>
                </c:pt>
                <c:pt idx="8">
                  <c:v>271.0</c:v>
                </c:pt>
                <c:pt idx="9">
                  <c:v>352.0</c:v>
                </c:pt>
                <c:pt idx="10">
                  <c:v>332.0</c:v>
                </c:pt>
                <c:pt idx="11">
                  <c:v>257.0</c:v>
                </c:pt>
                <c:pt idx="12">
                  <c:v>184.0</c:v>
                </c:pt>
                <c:pt idx="13">
                  <c:v>329.0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22/09</c:v>
                </c:pt>
                <c:pt idx="1">
                  <c:v>23/09</c:v>
                </c:pt>
                <c:pt idx="2">
                  <c:v>24/09</c:v>
                </c:pt>
                <c:pt idx="3">
                  <c:v>25/09</c:v>
                </c:pt>
                <c:pt idx="4">
                  <c:v>26/09</c:v>
                </c:pt>
                <c:pt idx="5">
                  <c:v>27/09</c:v>
                </c:pt>
                <c:pt idx="6">
                  <c:v>28/09</c:v>
                </c:pt>
                <c:pt idx="7">
                  <c:v>29/09</c:v>
                </c:pt>
                <c:pt idx="8">
                  <c:v>30/09</c:v>
                </c:pt>
                <c:pt idx="9">
                  <c:v>01/10</c:v>
                </c:pt>
                <c:pt idx="10">
                  <c:v>02/10</c:v>
                </c:pt>
                <c:pt idx="11">
                  <c:v>03/10</c:v>
                </c:pt>
                <c:pt idx="12">
                  <c:v>04/10</c:v>
                </c:pt>
                <c:pt idx="13">
                  <c:v>05/10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271.0</c:v>
                </c:pt>
                <c:pt idx="1">
                  <c:v>247.0</c:v>
                </c:pt>
                <c:pt idx="2">
                  <c:v>254.0</c:v>
                </c:pt>
                <c:pt idx="3">
                  <c:v>239.0</c:v>
                </c:pt>
                <c:pt idx="4">
                  <c:v>173.0</c:v>
                </c:pt>
                <c:pt idx="5">
                  <c:v>131.0</c:v>
                </c:pt>
                <c:pt idx="6">
                  <c:v>241.0</c:v>
                </c:pt>
                <c:pt idx="7">
                  <c:v>240.0</c:v>
                </c:pt>
                <c:pt idx="8">
                  <c:v>239.0</c:v>
                </c:pt>
                <c:pt idx="9">
                  <c:v>238.0</c:v>
                </c:pt>
                <c:pt idx="10">
                  <c:v>225.0</c:v>
                </c:pt>
                <c:pt idx="11">
                  <c:v>205.0</c:v>
                </c:pt>
                <c:pt idx="12">
                  <c:v>154.0</c:v>
                </c:pt>
                <c:pt idx="13">
                  <c:v>233.0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-14,6% &amp; PS -18,6% MoM — Achievement Mencapai 12,4% (RE) / 11,1%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Okt 2026 vs MTD-1 01–05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10.276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pada 5 Oktober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Okt 2026 vs MTD-1 01–05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01–05 Oktober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10.276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 Pendorong Utama PS (-10,2%), Kupang Terdalam (-23,5%)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Okt 2026 vs MTD-1 01–05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-10,2%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-13,6%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-23,3%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-23,5%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12,2%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12,2%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11,3%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Sumbawa Timur Tertinggi (+2,1%), Bali Barat Terdalam (-48,1%) — 12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Okt 2026 vs MTD-1 01–05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12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43484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Bangli Penyumbang PS Absolut Terbesar (+6), Karang Asem Tumbuh Tertinggi (+66,7%)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Okt 2026 vs MTD-1 01–05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+20, Bottom 5 -148, dan perubahan PS regional -241.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50 Mbps Tumbuh Tertinggi (-7,3%), TSEL One &gt;30 Mbps Turun Terdalam (-25,0%)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Okt 2026 vs MTD-1 01–05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-8,2% MoM, DJP Data Transition — SF Register 883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Okt 2026 vs MTD-1 01–05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Register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SF/DJP per Branch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15.259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37.865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24.697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5.249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83.134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5.249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1.404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346704"/>
          <a:ext cx="926286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540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615024"/>
                <a:gridCol w="615024"/>
                <a:gridCol w="540021"/>
              </a:tblGrid>
              <a:tr h="152400">
                <a:tc rowSpan="2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Branch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Aktivitas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524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1.383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1.204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Okt 2026 vs MTD-1 01–05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01–05 Okt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20 (65,0%)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-7,1%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85 / 306 (27,8%)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-7,6% | Turun 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118 / 347 (34,0%)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-6,3% | Turun 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13 (92,3%)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 / 129 (28,7%)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-11,9% | Turun 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49 / 143 (34,3%)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-10,9% | Turun 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9 (22,2%)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 / 143 (30,8%)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-35,3% | Turun 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50 / 156 (32,1%)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16 (62,5%)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+11,1%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88 / 210 (41,9%)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+8,6% | Turun 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109 / 237 (46,0%)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+7,9% | Turun 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37 / 58 (63,8%)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-2,6% | Turun 16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254 / 788 (32,2%)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-10,2% | Turun 174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 / 20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-5,3% | Turun 13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326 / 901 (36,2%)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-8,7% | Turun 216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+11,2%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550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-19,0%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-31,0%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-7,1%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-29,4%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913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-18,6%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20 (5,0%)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306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6 (16,7%)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10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-55,6%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347 (2,0%)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-53,3% | Turun 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129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143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143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4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156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210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237 (0,4%)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58 (1,7%)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— | Turun 16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788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174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13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7 (14,3%)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10 (40,0%)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-55,6%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901 (0,9%)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-55,6% | Turun 216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Okt 2026 vs MTD-1 01–05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Handoko Priadtmono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HILDEGARDIS SALLY DOMAKING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MADE AWANG DARMAWAN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MELSI ORIANA TAELA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USAMAH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MADE MAWAYANA 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Septian Adiputra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LUH KARTINI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BAMBANG WAHYUDDIN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FELIKS VENTIANUS MARIO JEMA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MELSI ORIANA TAELA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MARIANIS TAPIN WOKAL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JANUARIUS PAULUS KOPONG HADA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Anmisa putrianingsih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MADE MAWAYANA 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JEVRIANUS DIMA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IMAM BUDIYANSYAH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Handoko Priadtmono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YUSUF MARIO BENNY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Okt 2026 vs MTD-1 01–05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Indra syah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JEPRIANUS MUJI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Linda Ariyani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Damarbudi prakoso 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Lalu anggarita arya sukma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IRMA NUR 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Made Sri Pradnya 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Herpan jayadi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ROBERTUS BEDA KOTEN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Cornelis Desanto Karo Karel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Minhaq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ALVIN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HERLINA JULIANTHI EDDY 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Sumiyati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Edy Susilo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MISION NARIS POIK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WINDA SAPUTRI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YUNESTI DIMA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ROSA NINGRUM FATMALA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12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Okt 2026 vs MTD-1 01–05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12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Okt 2026 vs MTD-1 01–05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01–05 Okt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1.296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1.055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01–05 Okt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68,7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49,7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875,0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116,7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01–05 Okt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1.703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1.454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1.296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1.055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232,9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1.423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1.187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-16,6%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1.123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913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-18,7%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197,1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17,5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230,0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-70,1%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358 | MoM -9,8%
PS: 326 | MoM -8,2%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284 | Active 36,0% | MoM -11,2%
  PS: 254 | Active 32,2% | MoM -9,6%
• Greenfield
  RE: 39 | Active 67,2% | MoM -4,9%
  PS: 37 | Active 63,8% | MoM -2,6%
• Junior Plus
  RE: 18 | Active 90,0% | MoM -5,3%
  PS: 18 | Active 90,0% | MoM -5,3%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-24,0%, Gap -6
• Flores: PS 0,0%, Gap 0
• Kupang: PS -10,0%, Gap -1
• Mataram: PS -43,3%, Gap -13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Singaraja (Denpasar): -100,0%, Gap -1
• Grapari Ubud (Denpasar): -100,0%, Gap -3
• Grapari Bajawa (Flores): -100,0%, Gap -1
• Grapari Malaka (Kupang): -100,0%, Gap -1
• Grapari Mataram (Mataram): -78,6%, Gap -11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-85 (-37,8%), PS -101 (-50,8%)
• Bali Timur: RE -35 (-30,2%), PS -18 (-22,5%)
• Lombok: RE -31 (-14,6%), PS -16 (-9,8%)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+9 (+28,1%), PS -5 (-21,7%)
• Lombok: RE -3 (-18,8%), PS -4 (-40,0%)
• Ende Sikka: RE -1 (-20,0%), PS -3 (-75,0%)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-3 (-25,0%), PS -4 (-50,0%)
• Bali Timur: RE 0 (0,0%), PS -2 (-100,0%)
• Ende Sikka: RE +2 (—), PS -1 (-100,0%)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Timur: RE -1 (-100,0%), PS -1 (-100,0%)
• Manggarai: RE 0 (0,0%), PS -1 (-100,0%)
• Sumbawa Timur: RE -1 (-100,0%), PS -1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Regional, Branch &amp; 12 WOK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C3MR BALINUSRA 32.01%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72237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97.21% | Gap -65.20 pp | M-1 36.83%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4346"/>
                <a:gridCol w="860022"/>
                <a:gridCol w="860022"/>
                <a:gridCol w="860022"/>
                <a:gridCol w="1412893"/>
                <a:gridCol w="1412893"/>
                <a:gridCol w="921452"/>
                <a:gridCol w="921452"/>
                <a:gridCol w="921452"/>
                <a:gridCol w="1044312"/>
              </a:tblGrid>
              <a:tr h="309282"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202.393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75.413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37.26%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Rp56.23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Rp21.02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42.77%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37.39%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-60.19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Rp10.21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Rp2.31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-74.04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48.594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11.736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Rp15.44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Rp3.85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28.89%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-70.90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83.478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Rp25.12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Rp7.06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28.12%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-69.33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42.264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13.867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33.81%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-63.77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113.620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45.875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40.38%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Rp31.61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Rp12.65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45.23%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40.01%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-57.57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46.509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33.69%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Rp13.52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-63.39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Rp3.96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Rp842.2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25.16%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-75.45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1.569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Rp472.0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-75.34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Rp8.61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Rp2.40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31.91%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-67.99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18.98%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Rp3.86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Rp760.9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-76.13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Rp4.04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Rp999.4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-71.95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9.251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Rp2.97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Rp692.7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-72.52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44.841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Rp13.74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-62.87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Rp4.76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29.23%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25.36%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-72.09 pp</a:t>
                      </a:r>
                    </a:p>
                  </a:txBody>
                  <a:tcPr/>
                </a:tc>
              </a:tr>
              <a:tr h="309288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Rp6.62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-80.74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by LOS — BALINUSRA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51560"/>
          <a:ext cx="1154886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4534"/>
                <a:gridCol w="863467"/>
                <a:gridCol w="863467"/>
                <a:gridCol w="863467"/>
                <a:gridCol w="1295200"/>
                <a:gridCol w="1295200"/>
                <a:gridCol w="917433"/>
                <a:gridCol w="917433"/>
                <a:gridCol w="971400"/>
                <a:gridCol w="1187267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01. 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6.660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3.248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48.77%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Rp1.02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Rp509.2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59.52%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49.75%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-9.77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Rp156.781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02. 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13.729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4.703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Rp3.47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Rp1.20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-3.88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Rp255.294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03. 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21.593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5.768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Rp5.25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Rp1.44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31.38%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27.37%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-4.01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Rp248.935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04. 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35.106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9.376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Rp8.88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Rp2.45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30.08%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27.54%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-2.55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Rp260.812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05. 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55.545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13.745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Rp14.70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Rp3.77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29.40%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25.68%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-3.72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Rp274.548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06. 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234.345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80.431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Rp73.69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Rp24.89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33.77%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-5.32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Rp309.406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42519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Catatan: seluruh angka C3MR dibaca dari output SQL; PPT tidak menghitung ulang formula.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BALINUSRA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330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M-1 304 | MoM +8.6%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677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-347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+26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6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6141"/>
                <a:gridCol w="1461882"/>
                <a:gridCol w="1461882"/>
                <a:gridCol w="1169506"/>
                <a:gridCol w="1315694"/>
                <a:gridCol w="1461882"/>
                <a:gridCol w="1461882"/>
              </a:tblGrid>
              <a:tr h="27969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-271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-48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-49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-157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-65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-42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279712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by LOS — Regional &amp; 4 Branch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143000"/>
          <a:ext cx="1154887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3009"/>
                <a:gridCol w="2080877"/>
                <a:gridCol w="1768746"/>
                <a:gridCol w="1768746"/>
                <a:gridCol w="1768746"/>
                <a:gridCol w="1768746"/>
              </a:tblGrid>
              <a:tr h="102412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BALINUSRA M / 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56 / +12.0%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 / +200.0%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265 / +4.3%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209 / +3.5%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17 / +70.0%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 / -5.0%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