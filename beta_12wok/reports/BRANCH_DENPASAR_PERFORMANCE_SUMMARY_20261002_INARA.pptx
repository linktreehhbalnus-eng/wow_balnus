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Denpasar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</c:f>
              <c:strCache>
                <c:ptCount val="2"/>
                <c:pt idx="0">
                  <c:v>01 Oct</c:v>
                </c:pt>
                <c:pt idx="1">
                  <c:v>02 Oct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60.0</c:v>
                </c:pt>
                <c:pt idx="1">
                  <c:v>61.0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Denpasar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</c:f>
              <c:strCache>
                <c:ptCount val="2"/>
                <c:pt idx="0">
                  <c:v>01 Oct</c:v>
                </c:pt>
                <c:pt idx="1">
                  <c:v>02 Oct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54.0</c:v>
                </c:pt>
                <c:pt idx="1">
                  <c:v>53.0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01–02 Oct 2026 vs MTD-1 01–02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5.105,7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4.831,7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-27,5%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4.142,2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3.950,2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3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77,0%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70,1%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-7,0 pp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-34,8%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-40,7%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41,7%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63,0%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-23,7%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Denpasar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-34,3%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1.202,4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-53,1%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987,1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64,8%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2.709,2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2.212,8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-40,6%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920,1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-34,1%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750,3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828031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321807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Karang Asem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Klungkung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Kota 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321807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Buleleng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-41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-67,2%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Jembrana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-58,3%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Gianyar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-55,6%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01–02 Oct 2026 vs MTD-1 01–02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0" y="749808"/>
            <a:ext cx="23317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Registered SF: 351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92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-16,4%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110   Δ -18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80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28032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-8,0%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87   Δ -7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226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35824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+3,2%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219   Δ 7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7.035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43616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+9,6%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6.419   Δ 616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SF/DJP Level Branch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20040" y="2505456"/>
            <a:ext cx="11548872" cy="65836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02920" y="2679192"/>
            <a:ext cx="111556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0" i="0">
                <a:solidFill>
                  <a:srgbClr val="20252B"/>
                </a:solidFill>
                <a:latin typeface="Arial"/>
              </a:rPr>
              <a:t>Detail WOK SF tidak ditampilkan pada PPT selama ownership 12 WOK masih dalam masa transisi.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0040" y="3383280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Denpasar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320040" y="3657600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-31,5%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+24,0%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-35,3%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-28,6%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-28,6%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4" name="TextBox 33"/>
          <p:cNvSpPr txBox="1"/>
          <p:nvPr/>
        </p:nvSpPr>
        <p:spPr>
          <a:xfrm>
            <a:off x="320040" y="5111496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01–02 Oct 2026 vs MTD-1 01–02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6400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6400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8 / 20 (40,0%)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+14,3% | Turun 5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52 / 310 (16,8%)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-17,5% | Turun 43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 / 5 (80,0%)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6 / 6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+500,0% | Turun 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-9,1% | Turun 8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80 / 351 (22,8%)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-7,0% | Turun 61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55778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55778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13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-23,5%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75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-41,4%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11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-45,0%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+283,3%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44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-38,9%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166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-31,7%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6400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6400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20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5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0 / 310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-100,0% | Turun 43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0 / 5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-100,0% | Turun 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6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0 / 10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-100,0% | Turun 8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0 / 351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-100,0% | Turun 61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1">
                <a:solidFill>
                  <a:srgbClr val="687386"/>
                </a:solidFill>
                <a:latin typeface="Arial"/>
              </a:rPr>
              <a:t>Active = minimum 1 PS. SF Class pada PPT Branch ditampilkan pada level Branch sampai ownership 12 WOK resmi tersedia.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Daily SF Active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01–02 Oct 2026 vs MTD-1 01–02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SF Active RE Harian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20040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27648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PS Harian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27648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4645152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Ringkasan Produktivitas Harian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956048"/>
          <a:ext cx="7955277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6049"/>
                <a:gridCol w="1735697"/>
                <a:gridCol w="1108917"/>
                <a:gridCol w="1735697"/>
                <a:gridCol w="1108917"/>
              </a:tblGrid>
              <a:tr h="5943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RE/Hari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PS/Hari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5943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60,5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53,5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623620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Trend SF ditampilkan pada level Branch selama masa transisi ownership 12 WOK.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01–02 Oct 2026 vs MTD-1 01–02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4356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-43,4%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-38,0%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-57,1%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67,7%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4356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2825496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Denpasar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3118103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383279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294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-32,0%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3118103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383279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-47,1%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7.639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21.209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15.163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3.251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47.292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16,2%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44,8%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3.251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710 (21,8%)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1.927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569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433 (76,1%)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1.199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01–02 Oct 2026 vs MTD-1 01–02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Channel Scorecard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24128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3834"/>
                <a:gridCol w="1077894"/>
                <a:gridCol w="1077894"/>
                <a:gridCol w="975238"/>
                <a:gridCol w="1077894"/>
                <a:gridCol w="1077894"/>
                <a:gridCol w="975238"/>
                <a:gridCol w="1385864"/>
                <a:gridCol w="1129223"/>
                <a:gridCol w="1077894"/>
              </a:tblGrid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-27,9%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39,4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-32,0%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32,4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-27,4%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-47,1%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+22,2%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+22,7%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+55,6%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3,9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+56,2%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704,4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230,0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85292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Kontributor Penurunan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SF ACTIVE TOTAL
RE: 92 | MoM -16,4%
PS: 80 | MoM -8,0%
• Elite
  RE: 10 | Active 100,0% | MoM 0,0%
  PS: 10 | Active 100,0% | MoM 0,0%
• Performer
  RE: 6 | Active 100,0% | MoM 0,0%
  PS: 6 | Active 100,0% | MoM 0,0%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36976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Junior
  RE: 63 | Active 20,3% | MoM -19,2%
  PS: 52 | Active 16,8% | MoM -13,3%
• Greenfield
  RE: 10 | Active 50,0% | MoM -16,7%
  PS: 8 | Active 40,0% | MoM +14,3%
• Junior Plus
  RE: 3 | Active 60,0% | MoM -25,0%
  PS: 4 | Active 80,0% | MoM 0,0%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72783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GraPARI Performance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59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Amlapura: PS -100,0%, Gap -1
• Grapari Gatsu Tengah: PS 0,0%, Gap 0
• Grapari Jimbaran: PS -75,0%, Gap -3
• Grapari Kuta: PS N/A, Gap 2
• Grapari Negara: PS 0,0%, Gap 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9992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Renon: PS +100,0%, Gap 2
• Grapari Singaraja: PS 0,0%, Gap 0
• Grapari Tabanan: PS N/A, Gap 1
• Grapari Ubud: PS -100,0%, Gap -1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79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Bali Barat: RE -38 (-38,0%), PS -56 (-57,1%)
• Bali Timur: RE -23 (-43,4%), PS -12 (-33,3%)
• Bali Tengah: RE -4 (-2,8%), PS -10 (-9,1%)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36976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28416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46704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Tidak ada penurunan PS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53912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5351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Bali Tengah: RE -2 (-33,3%), PS -1 (-33,3%)
• Bali Timur: RE 0 (0,0%), PS -1 (-100,0%)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70848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62288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0576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Tidak ada penurunan PS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01–02 Oct 2026 vs MTD-1 01–02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41,7%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-9,1%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+19,0%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-23,7%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-27,5%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-53,1%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-34,1%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01–02 Oct 2026 vs MTD-1 01–02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19,3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12,8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460,0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865,0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-54,9%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+14,6%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886,2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920,0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-25,1%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285,0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-29,6%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-23,4%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285,0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615,0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-59,9%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49,8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39,6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13,8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8,6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-37,3%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27,6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25,7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8,4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5,2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-37,5%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01–02 Oct 2026 vs MTD-1 01–02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Dody Setyawan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DOD4949153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WINARSIH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SPNAR92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WAYAN HENDRA KARJAYA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SPXYH91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 LUH PUTU SETIASIH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SPXSET75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 NYOMAN RAKA TRISNAYANTI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SPXRAK75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MADE MAWAYANA SE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SPXYM59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AHMAD AMMAR DANI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SPARH69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HANDINI WINARTI SIWO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SPSWT73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EMANUEL LAGA TIFAONA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EMA8643140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Septian Adiputra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SEP6298129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SHINTIA SRIGANTINY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SPSSG22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BAYU KRISNA ADHYATMA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SPBKA89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WINARSIH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SPNAR92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Ignasius paga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IGN7412146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DEWA AGUNG GEDE ADI UTAMA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SPXXYIM7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EMANUEL LAGA TIFAONA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EMA8643140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GEDE WISADA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SPXJRO75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ALLAN SUHERLAN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ALL3716833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AHMAD AMMAR DANI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SPARH69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 PUTU AYU SUPASTIYANI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NIP1334283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01–02 Oct 2026 vs MTD-1 01–02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IRMA NUR AINI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SPIRN91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Indra syah putra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IND7163324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Ida ayu Made Sri Pradnya tari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IDA4047575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GEDE JULIANTARA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SPXXGD91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Edy Susilo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EDY7689399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Vira dwi agustin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VIR7434347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ROSA NINGRUM FATMALA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SPRNF95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KADEK RIDAYANI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KAD9086567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wayan pebri wirianta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IWA2475863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Muhammad Fajar Nanda Imani0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MUH5235053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Reno dhika nur febriansyah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REN8141561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Harry Mulia Sobari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HAR9686163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 KADEK DWI PRADNYAWATI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NIK7858155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HERLINA JULIANTHI EDDY PUTRI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SPNRU39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Vira dwi agustin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VIR7434347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ROSA NINGRUM FATMALA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SPRNF95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NOVRIANI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SPVRI72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KADEK RIDAYANI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KAD9086567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SRI ANGGRAINI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SRI9155608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wayan pebri wirianta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IWA2475863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