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1" r:id="rId22"/>
    <p:sldId id="264" r:id="rId10"/>
    <p:sldId id="265" r:id="rId11"/>
    <p:sldId id="266" r:id="rId12"/>
    <p:sldId id="267" r:id="rId13"/>
    <p:sldId id="268" r:id="rId19"/>
    <p:sldId id="269" r:id="rId20"/>
    <p:sldId id="270" r:id="rId21"/>
    <p:sldId id="272" r:id="rId23"/>
    <p:sldId id="273" r:id="rId24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9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</c:v>
                </c:pt>
              </c:strCache>
            </c:strRef>
          </c:tx>
          <c:spPr>
            <a:solidFill>
              <a:srgbClr val="132A4C"/>
            </a:solidFill>
            <a:ln w="31750" cap="flat">
              <a:solidFill>
                <a:srgbClr val="132A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32A4C"/>
              </a:solidFill>
              <a:ln w="9525" cap="flat">
                <a:solidFill>
                  <a:srgbClr val="132A4C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29/09</c:v>
                </c:pt>
                <c:pt idx="1">
                  <c:v>30/09</c:v>
                </c:pt>
                <c:pt idx="2">
                  <c:v>01/10</c:v>
                </c:pt>
                <c:pt idx="3">
                  <c:v>02/10</c:v>
                </c:pt>
                <c:pt idx="4">
                  <c:v>03/10</c:v>
                </c:pt>
                <c:pt idx="5">
                  <c:v>04/10</c:v>
                </c:pt>
                <c:pt idx="6">
                  <c:v>05/10</c:v>
                </c:pt>
                <c:pt idx="7">
                  <c:v>06/10</c:v>
                </c:pt>
                <c:pt idx="8">
                  <c:v>07/10</c:v>
                </c:pt>
                <c:pt idx="9">
                  <c:v>08/10</c:v>
                </c:pt>
                <c:pt idx="10">
                  <c:v>09/10</c:v>
                </c:pt>
                <c:pt idx="11">
                  <c:v>10/10</c:v>
                </c:pt>
                <c:pt idx="12">
                  <c:v>11/10</c:v>
                </c:pt>
                <c:pt idx="13">
                  <c:v>12/10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321.0</c:v>
                </c:pt>
                <c:pt idx="1">
                  <c:v>271.0</c:v>
                </c:pt>
                <c:pt idx="2">
                  <c:v>352.0</c:v>
                </c:pt>
                <c:pt idx="3">
                  <c:v>332.0</c:v>
                </c:pt>
                <c:pt idx="4">
                  <c:v>257.0</c:v>
                </c:pt>
                <c:pt idx="5">
                  <c:v>184.0</c:v>
                </c:pt>
                <c:pt idx="6">
                  <c:v>335.0</c:v>
                </c:pt>
                <c:pt idx="7">
                  <c:v>304.0</c:v>
                </c:pt>
                <c:pt idx="8">
                  <c:v>330.0</c:v>
                </c:pt>
                <c:pt idx="9">
                  <c:v>307.0</c:v>
                </c:pt>
                <c:pt idx="10">
                  <c:v>236.0</c:v>
                </c:pt>
                <c:pt idx="11">
                  <c:v>237.0</c:v>
                </c:pt>
                <c:pt idx="12">
                  <c:v>170.0</c:v>
                </c:pt>
                <c:pt idx="13">
                  <c:v>294.0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PS</c:v>
                </c:pt>
              </c:strCache>
            </c:strRef>
          </c:tx>
          <c:spPr>
            <a:solidFill>
              <a:srgbClr val="E4022D"/>
            </a:solidFill>
            <a:ln w="31750" cap="flat">
              <a:solidFill>
                <a:srgbClr val="E402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4022D"/>
              </a:solidFill>
              <a:ln w="9525" cap="flat">
                <a:solidFill>
                  <a:srgbClr val="E4022D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29/09</c:v>
                </c:pt>
                <c:pt idx="1">
                  <c:v>30/09</c:v>
                </c:pt>
                <c:pt idx="2">
                  <c:v>01/10</c:v>
                </c:pt>
                <c:pt idx="3">
                  <c:v>02/10</c:v>
                </c:pt>
                <c:pt idx="4">
                  <c:v>03/10</c:v>
                </c:pt>
                <c:pt idx="5">
                  <c:v>04/10</c:v>
                </c:pt>
                <c:pt idx="6">
                  <c:v>05/10</c:v>
                </c:pt>
                <c:pt idx="7">
                  <c:v>06/10</c:v>
                </c:pt>
                <c:pt idx="8">
                  <c:v>07/10</c:v>
                </c:pt>
                <c:pt idx="9">
                  <c:v>08/10</c:v>
                </c:pt>
                <c:pt idx="10">
                  <c:v>09/10</c:v>
                </c:pt>
                <c:pt idx="11">
                  <c:v>10/10</c:v>
                </c:pt>
                <c:pt idx="12">
                  <c:v>11/10</c:v>
                </c:pt>
                <c:pt idx="13">
                  <c:v>12/10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240.0</c:v>
                </c:pt>
                <c:pt idx="1">
                  <c:v>239.0</c:v>
                </c:pt>
                <c:pt idx="2">
                  <c:v>238.0</c:v>
                </c:pt>
                <c:pt idx="3">
                  <c:v>225.0</c:v>
                </c:pt>
                <c:pt idx="4">
                  <c:v>205.0</c:v>
                </c:pt>
                <c:pt idx="5">
                  <c:v>154.0</c:v>
                </c:pt>
                <c:pt idx="6">
                  <c:v>237.0</c:v>
                </c:pt>
                <c:pt idx="7">
                  <c:v>221.0</c:v>
                </c:pt>
                <c:pt idx="8">
                  <c:v>283.0</c:v>
                </c:pt>
                <c:pt idx="9">
                  <c:v>240.0</c:v>
                </c:pt>
                <c:pt idx="10">
                  <c:v>241.0</c:v>
                </c:pt>
                <c:pt idx="11">
                  <c:v>188.0</c:v>
                </c:pt>
                <c:pt idx="12">
                  <c:v>126.0</c:v>
                </c:pt>
                <c:pt idx="13">
                  <c:v>214.0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E9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 -12,5% &amp; PS -12,8% MoM — Achievement Mencapai 28,3% (RE) / 27,0% (PS)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01–12 Okt 2026 vs MTD-1 01–12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Executive Scorecard — BALINUSRA Regional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86410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51560"/>
                <a:gridCol w="1051560"/>
                <a:gridCol w="1005840"/>
                <a:gridCol w="914400"/>
                <a:gridCol w="1234440"/>
                <a:gridCol w="960120"/>
                <a:gridCol w="12344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11.730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8.408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9.516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6.947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to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-0,2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296265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Regional = agregasi target 10 WOK. IO tidak ditampilkan karena MTD-1/target/MoM IO tidak tersedia di JSON (hanya total MTD di audit reconciliation).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34290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Kontribusi Branch terhadap RE &amp; PS Regional</a:t>
            </a:r>
            <a:endParaRPr lang="en-US" sz="15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03320"/>
          <a:ext cx="8823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51560"/>
                <a:gridCol w="1234440"/>
                <a:gridCol w="960120"/>
                <a:gridCol w="1051560"/>
                <a:gridCol w="1234440"/>
                <a:gridCol w="960120"/>
                <a:gridCol w="9601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 ★ ▼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▲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696712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Kontributor volume PS terbesar     ▲ Pertumbuhan PS terbaik     ▼ Penurunan PS terdalam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 Stabil, PS Melemah pada 12 Oktober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01–12 Okt 2026 vs MTD-1 01–12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Pola Harian RE &amp; PS — 01–12 Oktober 2026 (MTD)</a:t>
            </a:r>
            <a:endParaRPr lang="en-US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20040" y="1353312"/>
          <a:ext cx="11548872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730752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*Grafik menunjukkan pola harian MTD yang tersedia di sumber (bukan rekonsiliasi volume regional). Tren MTD-1 harian tidak tersedia — pembanding MTD-1 hanya ada sebagai total periode (lihat tabel run rate).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41148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Run Rate Summary — Regional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389120"/>
          <a:ext cx="8778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182880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Achievement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11.730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8.408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9.516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6.947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779008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*Target dan achievement mengikuti definisi target pada JSON INARA untuk report date.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 Pendorong Utama PS (+1,7%), Denpasar Terdalam (-18,4%)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01–12 Okt 2026 vs MTD-1 01–12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Branch Performance Detail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9939528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658368"/>
                <a:gridCol w="658368"/>
                <a:gridCol w="621792"/>
                <a:gridCol w="603504"/>
                <a:gridCol w="603504"/>
                <a:gridCol w="685800"/>
                <a:gridCol w="658368"/>
                <a:gridCol w="658368"/>
                <a:gridCol w="621792"/>
                <a:gridCol w="603504"/>
                <a:gridCol w="603504"/>
                <a:gridCol w="685800"/>
                <a:gridCol w="566928"/>
                <a:gridCol w="658368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3.729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-1,2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+3,5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-9,5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+3,8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MoM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245352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Ranking Achievement PS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20040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600200" y="3785616"/>
            <a:ext cx="3383280" cy="182880"/>
          </a:xfrm>
          <a:prstGeom prst="rect">
            <a:avLst/>
          </a:prstGeom>
          <a:solidFill>
            <a:srgbClr val="1E7B45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056632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+1,7%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20040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600200" y="4096512"/>
            <a:ext cx="791251" cy="182880"/>
          </a:xfrm>
          <a:prstGeom prst="rect">
            <a:avLst/>
          </a:prstGeom>
          <a:solidFill>
            <a:srgbClr val="1E7B45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2464603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-10,4%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20040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600200" y="4407408"/>
            <a:ext cx="2864874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4538226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-11,6%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20040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1600200" y="4718304"/>
            <a:ext cx="3219573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4892925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-18,4%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245352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525512" y="3785616"/>
            <a:ext cx="3383280" cy="182880"/>
          </a:xfrm>
          <a:prstGeom prst="rect">
            <a:avLst/>
          </a:prstGeom>
          <a:solidFill>
            <a:srgbClr val="8A6100"/>
          </a:solidFill>
          <a:ln/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10981944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6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32,2%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245352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525512" y="4096512"/>
            <a:ext cx="3045737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10644401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27,9%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245352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7525512" y="4407408"/>
            <a:ext cx="2857341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10456005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27,0%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245352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7525512" y="4718304"/>
            <a:ext cx="2237204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9835868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21,7%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20040" y="526694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Kontribusi Branch terhadap Gap Regional (PS)</a:t>
            </a:r>
            <a:endParaRPr lang="en-US" sz="15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541264"/>
          <a:ext cx="89611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1828800"/>
                <a:gridCol w="1828800"/>
                <a:gridCol w="182880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 (RE)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3.729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Ende Sikka Tertinggi (+21,9%), Bali Barat Terdalam (-38,2%) — 12 WOK MoM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01–12 Okt 2026 vs MTD-1 01–12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WOK Performance — Seluruh 12 WOK (dikelompokkan per Branch)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103327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834640"/>
                <a:gridCol w="777240"/>
                <a:gridCol w="713232"/>
                <a:gridCol w="713232"/>
                <a:gridCol w="777240"/>
                <a:gridCol w="777240"/>
                <a:gridCol w="713232"/>
                <a:gridCol w="713232"/>
                <a:gridCol w="777240"/>
                <a:gridCol w="62179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443484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WOK — MoM PS &amp; Achievement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20040" y="47274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MoM PS</a:t>
            </a:r>
            <a:endParaRPr lang="en-US" sz="105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937760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42234" y="47274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MoM PS</a:t>
            </a:r>
            <a:endParaRPr lang="en-US" sz="105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42234" y="4937760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-38,2%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6164428" y="47274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Achievement PS</a:t>
            </a:r>
            <a:endParaRPr lang="en-US" sz="1050" dirty="0"/>
          </a:p>
        </p:txBody>
      </p:sp>
      <p:graphicFrame>
        <p:nvGraphicFramePr>
          <p:cNvPr id="1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64428" y="4937760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</a:tbl>
          </a:graphicData>
        </a:graphic>
      </p:graphicFrame>
      <p:sp>
        <p:nvSpPr>
          <p:cNvPr id="16" name="Text 10"/>
          <p:cNvSpPr/>
          <p:nvPr/>
        </p:nvSpPr>
        <p:spPr>
          <a:xfrm>
            <a:off x="9086621" y="47274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Achievement PS</a:t>
            </a:r>
            <a:endParaRPr lang="en-US" sz="1050" dirty="0"/>
          </a:p>
        </p:txBody>
      </p:sp>
      <p:graphicFrame>
        <p:nvGraphicFramePr>
          <p:cNvPr id="2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86621" y="4937760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Sikka Penyumbang PS Absolut Terbesar (+20), Sumbawa Barat Tumbuh Tertinggi (+86,7%)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01–12 Okt 2026 vs MTD-1 01–12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Top &amp; Bottom 5 Kabupaten — Pertumbuhan Absolut PS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(Selisih PS Terbesar)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245352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(Selisih PS Terkecil)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32644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Top &amp; Bottom 5 Kabupaten — MoM PS (%)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20040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(MoM PS Tertinggi)</a:t>
            </a:r>
            <a:endParaRPr lang="en-US" sz="1050" dirty="0"/>
          </a:p>
        </p:txBody>
      </p:sp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Nagekeo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0"/>
          <p:cNvSpPr/>
          <p:nvPr/>
        </p:nvSpPr>
        <p:spPr>
          <a:xfrm>
            <a:off x="6245352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(MoM PS Terendah)</a:t>
            </a:r>
            <a:endParaRPr lang="en-US" sz="1050" dirty="0"/>
          </a:p>
        </p:txBody>
      </p:sp>
      <p:graphicFrame>
        <p:nvGraphicFramePr>
          <p:cNvPr id="2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Unknown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 Daya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1"/>
          <p:cNvSpPr/>
          <p:nvPr/>
        </p:nvSpPr>
        <p:spPr>
          <a:xfrm>
            <a:off x="320040" y="54315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Kontribusi Top/Bottom 5 terhadap Perubahan PS Regional</a:t>
            </a:r>
            <a:endParaRPr lang="en-US" sz="1500" dirty="0"/>
          </a:p>
        </p:txBody>
      </p:sp>
      <p:graphicFrame>
        <p:nvGraphicFramePr>
          <p:cNvPr id="2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05856"/>
          <a:ext cx="11548872" cy="914400"/>
        </p:xfrm>
        <a:graphic>
          <a:graphicData uri="http://schemas.openxmlformats.org/drawingml/2006/table">
            <a:tbl>
              <a:tblPr/>
              <a:tblGrid>
                <a:gridCol w="3849624"/>
                <a:gridCol w="3849624"/>
                <a:gridCol w="3849624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Top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Bottom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Perubahan PS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+65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-264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-376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9" name="Text 12"/>
          <p:cNvSpPr/>
          <p:nvPr/>
        </p:nvSpPr>
        <p:spPr>
          <a:xfrm>
            <a:off x="320040" y="652881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46 kabupaten: Top 5 menyumbang +65, Bottom 5 -264, dan perubahan PS regional -376.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50 Mbps Tumbuh Tertinggi (-5,1%), TSEL One &gt;30 Mbps Turun Terdalam (-25,0%)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01–12 Okt 2026 vs MTD-1 01–12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RE &amp; PS Performance by Speed — Regional (6 kelompok, tidak digabung)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461504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777240"/>
                <a:gridCol w="713232"/>
                <a:gridCol w="777240"/>
                <a:gridCol w="777240"/>
                <a:gridCol w="713232"/>
                <a:gridCol w="64008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≥100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&gt;30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6027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High Speed Performance by WOK — PS ≥50 Mbps Reguler (TSEL One dipisah)</a:t>
            </a:r>
            <a:endParaRPr lang="en-US" sz="15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320040" y="534009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speed reguler 50/75/100 Mbps ke atas; TSEL One dipisahkan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320040" y="554126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Channel Performance — Agency vs Grapari (Regional)</a:t>
            </a:r>
            <a:endParaRPr lang="en-US" sz="1500" dirty="0"/>
          </a:p>
        </p:txBody>
      </p:sp>
      <p:graphicFrame>
        <p:nvGraphicFramePr>
          <p:cNvPr id="2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97296"/>
          <a:ext cx="103784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34440"/>
                <a:gridCol w="1234440"/>
                <a:gridCol w="1005840"/>
                <a:gridCol w="1234440"/>
                <a:gridCol w="1234440"/>
                <a:gridCol w="1005840"/>
                <a:gridCol w="914400"/>
                <a:gridCol w="12344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Agency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Grapari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 Active PS -5,1% MoM, DJP Data Transition — SF Register 883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01–12 Okt 2026 vs MTD-1 01–12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Sales Force Scorecard — Regional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1323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1280160"/>
                <a:gridCol w="128016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Indikator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Register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Transition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D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8.853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Transition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10896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SF/DJP per Branch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320040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ODP Occupancy Summary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245352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DJP pada ODP Khusus</a:t>
            </a:r>
            <a:endParaRPr lang="en-US" sz="150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266944"/>
          <a:ext cx="5330952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  <a:gridCol w="868680"/>
                <a:gridCol w="868680"/>
                <a:gridCol w="868680"/>
                <a:gridCol w="98755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ORANGE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BLACK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ODP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15.240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37.795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24.841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5.296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83.236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6245352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  <p:txBody>
          <a:bodyPr/>
          <a:p/>
        </p:txBody>
      </p:sp>
      <p:sp>
        <p:nvSpPr>
          <p:cNvPr id="15" name="Text 10"/>
          <p:cNvSpPr/>
          <p:nvPr/>
        </p:nvSpPr>
        <p:spPr>
          <a:xfrm>
            <a:off x="6355080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BLACK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6355080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5.296
Dikunjungi: 0 (0,0%)
Visit DJP: 0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9201836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  <p:txBody>
          <a:bodyPr/>
          <a:p/>
        </p:txBody>
      </p:sp>
      <p:sp>
        <p:nvSpPr>
          <p:cNvPr id="18" name="Text 13"/>
          <p:cNvSpPr/>
          <p:nvPr/>
        </p:nvSpPr>
        <p:spPr>
          <a:xfrm>
            <a:off x="9311564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GREENFIELD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9311564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1.475
Dikunjungi: 0 (0,0%)
Visit DJP: 0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320040" y="3346704"/>
          <a:ext cx="9262861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2540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615024"/>
                <a:gridCol w="615024"/>
                <a:gridCol w="540021"/>
              </a:tblGrid>
              <a:tr h="152400">
                <a:tc rowSpan="2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Branch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Active DJP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Aktivitas DJP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5240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152400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351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347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-1,1%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180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158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-12,2%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168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159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-5,4%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153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3.328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152400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143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-4,7%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-17,2%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-12,5%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1.397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152400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156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+2,6%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+4,3%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+1,1%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1.403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152400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240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237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-1,2%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165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-10,3%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145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-4,6%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155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2.725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SF Segmentation by Class &amp; Matrix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01–12 Okt 2026 vs MTD-1 01–12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SF by Class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5321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Greenfield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 Plus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245352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by Matrix</a:t>
            </a:r>
            <a:endParaRPr lang="en-US" sz="15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7150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Champion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Efficient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Explorer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 Coaching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287121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Catatan: satu SF dapat aktif pada lebih dari satu kelompok speed — jumlah SF Active tidak dijumlahkan lintas kelompok.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01–12 Okt 2026 vs MTD-1 01–12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16 / 20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-5,9% | Turun 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123 / 306 (40,2%)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-6,1% | Turun 85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159 / 347 (45,8%)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-5,4% | Turun 106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 / 13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57 / 129 (44,2%)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-14,9% | Turun 37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70 / 143 (49,0%)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-13,6% | Turun 42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9 (77,8%)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80 / 143 (55,9%)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-3,6% | Turun 47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91 / 156 (58,3%)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-1,1% | Turun 53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 / 16 (81,2%)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121 / 210 (57,6%)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-5,5% | Turun 69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145 / 237 (61,2%)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-4,6% | Turun 81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49 / 58 (84,5%)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+2,1% | Turun 21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381 / 788 (48,4%)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-6,8% | Turun 238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18 / 20 (90,0%)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-5,3% | Turun 12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465 / 901 (51,6%)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-5,7% | Turun 285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437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-24,7%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-23,7%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-29,5%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287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973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+28,0%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249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345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+36,4%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274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-46,5%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312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426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-13,2%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600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252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+12,0%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1.386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-14,3%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182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-22,6%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123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-24,5%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287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-14,1%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2.230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-13,4%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20 (15,0%)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+50,0% | Turun 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 / 306 (3,9%)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-25,0% | Turun 85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5 (40,0%)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6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 / 10 (90,0%)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-10,0% | Turun 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29 / 347 (8,4%)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-19,4% | Turun 106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13 (30,8%)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+300,0%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 / 129 (6,2%)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+60,0% | Turun 37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 / 143 (8,4%)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+71,4% | Turun 42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9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143 (4,2%)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+100,0% | Turun 47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4 (25,0%)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156 (4,5%)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+40,0% | Turun 53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16 (6,2%)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210 (2,9%)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69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10 (40,0%)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 / 237 (5,1%)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-36,8% | Turun 81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8 / 58 (13,8%)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+100,0% | Turun 21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32 / 788 (4,1%)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-11,1% | Turun 238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 / 20 (35,0%)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-30,0% | Turun 12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7 (57,1%)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-42,9% | Turun 5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9 / 10 (90,0%)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-10,0% | Turun 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60 / 901 (6,7%)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-10,4% | Turun 285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Top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01–12 Okt 2026 vs MTD-1 01–12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RE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FITRI YUSINTA ELIK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THERESIA NETIANA DELOS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SUSANA ASTUTI PIUNG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LITA MELIANA HUSEN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Zakaria Rafiif Ahmad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ARDIANSYAH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Mita muliati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JILDER FINA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ROSALINA GETRUDIS MONGGO EDY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RATNA PATI 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PS</a:t>
            </a:r>
            <a:endParaRPr lang="en-US" sz="11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IDA AYU MIRAH PADMINI, SE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FITRI YUSINTA ELIK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BENYAMIN NDEWI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ALEXANDRA INJEL FERNANDES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EMANUEL MARYANUS DE ORNAY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Winna Fitriany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Zakaria Rafiif Ahmad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RENI HENDRIANI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THERESIA NETIANA DELOS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Santorio De Jesus Koro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Bottom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01–12 Okt 2026 vs MTD-1 01–12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RE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Indra syah putra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HERLINA JULIANTHI EDDY PUTRI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Damarbudi prakoso SH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IRMA NUR AINI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Ida ayu Made Sri Pradnya tari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umar mangu laga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Kunzita Lazuardi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ARIEF RAMADHOAN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Anansavero asfhi riihan 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Marselinus Supardi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PS</a:t>
            </a:r>
            <a:endParaRPr lang="en-US" sz="11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Kunzita Lazuardi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WINDA SAPUTRI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ROSA NINGRUM FATMALA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ARIEF RAMADHOAN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Yohannes moa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Anansavero asfhi riihan 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Marselinus Supardi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VALENTINUS S LEIN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FELIX LABA GOLE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 KADEK DWI PRADNYAWATI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Detail Seluruh 12 WOK &amp; Kabupaten Denpasar, Flores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01–12 Okt 2026 vs MTD-1 01–12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Seluruh 12 WOK  (Br. = Branch: DPS Denpasar, FLR Flores, KPG Kupang, MTR Mataram)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-38,2%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317296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Kabupaten Denpasar &amp; Flores (18 dari 38 kabupaten)</a:t>
            </a:r>
            <a:endParaRPr lang="en-US" sz="1500" dirty="0"/>
          </a:p>
        </p:txBody>
      </p:sp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Bangli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-50,2%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Jembrana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Klaten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Klungkung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Unknown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Kabupaten Kupang &amp; Mataram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01–12 Okt 2026 vs MTD-1 01–12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Kabupaten Kupang &amp; Mataram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-35,2%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+36,0%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Rote Ndao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Sabu Raijua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 Daya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-35,3%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-48,1%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Unknown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Hulu Sungai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4837176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Bersama Slide 11 (Denpasar &amp; Flores), tabel ini mencakup seluruh 38 kabupaten—masing-masing tampil tepat satu kali.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01–12 Okt 2026 vs MTD-1 01–12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PS by Speed — Region &amp; Branch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1.090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904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446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540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511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588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404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+19,5%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220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52,6%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353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346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2.948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2.572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1.369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1.117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418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353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774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684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01–12 Okt 2026 vs MTD-1 01–12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Revenue New Sales by Speed — Region &amp; Branch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777240"/>
            <a:ext cx="43434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180,9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157,1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111,0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102,6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136,1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130,4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87,0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63,7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-26,8%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37,9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43,7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54,6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46,1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43,6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41,5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27,4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32,2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+17,5%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22,9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20,2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-29,6%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35,3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36,6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27,4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44,5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35,3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153,6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126,6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64,2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53,8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52,9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45,5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37,5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825,0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850,0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930,0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77,4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58,9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26,7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22,3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560,0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-51,5%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650,6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574,1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270,8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231,4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91,4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94,5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92,3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83,8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196,0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164,3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01–12 Okt 2026 vs MTD-1 01–12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941832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6280"/>
                <a:gridCol w="1064412"/>
                <a:gridCol w="1064412"/>
                <a:gridCol w="957970"/>
                <a:gridCol w="1064412"/>
                <a:gridCol w="1064412"/>
                <a:gridCol w="957970"/>
                <a:gridCol w="1383735"/>
                <a:gridCol w="1117632"/>
                <a:gridCol w="1117632"/>
              </a:tblGrid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3.815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3.338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D73527"/>
                          </a:solidFill>
                          <a:latin typeface="Arial"/>
                        </a:rPr>
                        <a:t>-12,5%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2.948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2.572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D73527"/>
                          </a:solidFill>
                          <a:latin typeface="Arial"/>
                        </a:rPr>
                        <a:t>-12,8%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Rp 574,1 Jt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D73527"/>
                          </a:solidFill>
                          <a:latin typeface="Arial"/>
                        </a:rPr>
                        <a:t>-11,8%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3.235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2.774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-14,3%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2.575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2.230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-13,4%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485,4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-12,6%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86,7%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267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251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-6,0%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180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165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-8,3%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40,1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-6,2%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232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230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-0,9%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145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134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-7,6%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38,2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-6,7%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5,2%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+9,2%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+14,7%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9,3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+16,6%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2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-71,4%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980,0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-71,3%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20040" y="2761488"/>
            <a:ext cx="4572000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Kontributor Penurunan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3090672"/>
            <a:ext cx="5705856" cy="1847088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317296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" y="3575304"/>
            <a:ext cx="2633472" cy="1307592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SF ACTIVE TOTAL
RE: 476 | MoM -9,5%
PS: 465 | MoM -5,1%
• Elite
  RE: 10 | Active 100,0% | MoM 0,0%
  PS: 10 | Active 100,0% | MoM 0,0%
• Performer
  RE: 7 | Active 100,0% | MoM 0,0%
  PS: 7 | Active 100,0% | MoM 0,0%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6976" y="3575304"/>
            <a:ext cx="2633472" cy="1307592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Junior
  RE: 393 | Active 49,9% | MoM -10,5%
  PS: 381 | Active 48,4% | MoM -6,2%
• Greenfield
  RE: 48 | Active 82,8% | MoM -5,9%
  PS: 49 | Active 84,5% | MoM +2,1%
• Junior Plus
  RE: 18 | Active 90,0% | MoM -5,3%
  PS: 18 | Active 90,0% | MoM -5,3%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3090672"/>
            <a:ext cx="5705856" cy="1847088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2783" y="317296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>
                <a:solidFill>
                  <a:srgbClr val="102C50"/>
                </a:solidFill>
                <a:latin typeface="Arial"/>
              </a:rPr>
              <a:t>GraPARI Performance per Branch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3547872"/>
            <a:ext cx="2633472" cy="133502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PER BRANCH
• Denpasar: PS -31,2%, Gap -15
• Flores: PS +13,5%, Gap +7
• Kupang: PS -18,2%, Gap -4
• Mataram: PS -25,0%, Gap -14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9992" y="3547872"/>
            <a:ext cx="2633472" cy="133502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BOTTOM 5 PS MoM
• Grapari Baa Rote (Kupang): -100,0%, Gap -2
• Grapari Lombok Timur (Mataram): -100,0%, Gap -1
• Grapari Tabanan (Denpasar): -80,0%, Gap -4
• Grapari Singaraja (Denpasar): -66,7%, Gap -2
• Grapari Sumbawa (Mataram): -66,7%, Gap -4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Barat: RE -159 (-36,1%), PS -153 (-39,2%)
• Bali Tengah: RE -74 (-9,8%), PS -67 (-10,5%)
• Lombok: RE -101 (-19,6%), PS -59 (-15,1%)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36976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28416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46704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Sumbawa Timur: RE -3 (-15,0%), PS -7 (-58,3%)
• Bali Timur: RE -1 (-3,7%), PS -5 (-27,8%)
• Manggarai: RE -4 (-30,8%), PS -5 (-71,4%)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53912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5351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Ende Sikka: RE +2 (+100,0%), PS -2 (-100,0%)
• Flores Timur: RE +1 (+100,0%), PS -2 (-100,0%)
• Manggarai: RE -4 (-80,0%), PS -1 (-100,0%)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70848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62288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0576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Timur: RE -3 (-100,0%), PS -3 (-100,0%)
• Malaka Timtim Belu: RE -2 (-100,0%), PS -2 (-100,0%)
• Manggarai: RE -1 (-50,0%), PS -2 (-100,0%)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C3MR Performance — Regional, Branch &amp; 12 WOK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858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2937"/>
                </a:solidFill>
                <a:latin typeface="Arial"/>
              </a:defRPr>
            </a:pPr>
            <a:r>
              <a:t>C3MR BALINUSRA 32.01%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722376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Target 97.21% | Gap -65.20 pp | M-1 36.83%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143000"/>
          <a:ext cx="11548866" cy="525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4346"/>
                <a:gridCol w="860022"/>
                <a:gridCol w="860022"/>
                <a:gridCol w="860022"/>
                <a:gridCol w="1412893"/>
                <a:gridCol w="1412893"/>
                <a:gridCol w="921452"/>
                <a:gridCol w="921452"/>
                <a:gridCol w="921452"/>
                <a:gridCol w="1044312"/>
              </a:tblGrid>
              <a:tr h="309282"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SSL All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SSL Paid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Paid Rate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Billing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C3MR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202.393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75.413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37.26%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Rp56.23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Rp21.02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42.77%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37.39%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-60.19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32.513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7.208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22.17%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Rp10.21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Rp2.31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26.53%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22.66%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-74.04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48.594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11.736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24.15%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Rp15.44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Rp3.85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28.89%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24.93%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-70.90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83.478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22.914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Rp25.12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Rp7.06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32.56%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28.12%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-69.33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42.264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13.867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32.81%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Rp11.11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Rp3.75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39.30%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33.81%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-63.77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113.620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45.875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40.38%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Rp31.61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Rp12.65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45.23%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40.01%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-57.57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46.509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15.671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33.69%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Rp13.52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Rp4.62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39.85%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34.19%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-63.39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12.821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2.633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20.54%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Rp3.96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Rp842.2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25.16%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21.25%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-75.45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7.329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1.569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21.41%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Rp2.21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Rp472.0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27.29%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21.36%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-75.34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26.827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7.246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27.01%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Rp8.61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Rp2.40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31.91%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27.84%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-67.99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12.516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2.375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18.98%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Rp3.86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Rp760.9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23.63%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19.70%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-76.13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12.363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3.006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24.31%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Rp4.04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Rp999.4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24.75%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-71.95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9.251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2.115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22.86%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Rp2.97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Rp692.7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26.88%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23.31%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-72.52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44.841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15.359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34.25%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Rp13.74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Rp4.75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39.73%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34.58%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-62.87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15.433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3.850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24.95%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Rp4.76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Rp1.21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29.23%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25.36%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-72.09 pp</a:t>
                      </a:r>
                    </a:p>
                  </a:txBody>
                  <a:tcPr/>
                </a:tc>
              </a:tr>
              <a:tr h="309288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23.204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3.705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15.97%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Rp6.62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Rp1.11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20.06%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16.71%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-80.74 pp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C3MR by LOS — BALINUSRA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051560"/>
          <a:ext cx="11548868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4534"/>
                <a:gridCol w="863467"/>
                <a:gridCol w="863467"/>
                <a:gridCol w="863467"/>
                <a:gridCol w="1295200"/>
                <a:gridCol w="1295200"/>
                <a:gridCol w="917433"/>
                <a:gridCol w="917433"/>
                <a:gridCol w="971400"/>
                <a:gridCol w="1187267"/>
              </a:tblGrid>
              <a:tr h="418011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SSL All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SSL Paid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Paid Rate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Billing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C3MR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Progress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Avg 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01. 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6.660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3.248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48.77%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Rp1.02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Rp509.2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59.52%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49.75%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-9.77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Rp156.781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02. 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13.729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4.703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34.26%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Rp3.47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Rp1.20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38.47%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34.59%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-3.88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Rp255.294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03. 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21.593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5.768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26.71%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Rp5.25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Rp1.44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31.38%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27.37%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-4.01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Rp248.935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04. 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35.106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9.376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26.71%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Rp8.88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Rp2.45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30.08%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27.54%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-2.55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Rp260.812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05. 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55.545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13.745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24.75%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Rp14.70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Rp3.77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29.40%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25.68%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-3.72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Rp274.548</a:t>
                      </a:r>
                    </a:p>
                  </a:txBody>
                  <a:tcPr/>
                </a:tc>
              </a:tr>
              <a:tr h="418014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06. 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234.345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80.431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34.32%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Rp73.69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Rp24.89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39.09%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33.77%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-5.32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Rp309.406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0040" y="425196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Catatan: seluruh angka C3MR dibaca dari output SQL; PPT tidak menghitung ulang formula.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2026-08-16T22:33:52Z</dcterms:created>
  <dcterms:modified xsi:type="dcterms:W3CDTF">2026-08-16T22:33:52Z</dcterms:modified>
</cp:coreProperties>
</file>