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20/09</c:v>
                </c:pt>
                <c:pt idx="1">
                  <c:v>21/09</c:v>
                </c:pt>
                <c:pt idx="2">
                  <c:v>22/09</c:v>
                </c:pt>
                <c:pt idx="3">
                  <c:v>23/09</c:v>
                </c:pt>
                <c:pt idx="4">
                  <c:v>24/09</c:v>
                </c:pt>
                <c:pt idx="5">
                  <c:v>25/09</c:v>
                </c:pt>
                <c:pt idx="6">
                  <c:v>26/09</c:v>
                </c:pt>
                <c:pt idx="7">
                  <c:v>27/09</c:v>
                </c:pt>
                <c:pt idx="8">
                  <c:v>28/09</c:v>
                </c:pt>
                <c:pt idx="9">
                  <c:v>29/09</c:v>
                </c:pt>
                <c:pt idx="10">
                  <c:v>30/09</c:v>
                </c:pt>
                <c:pt idx="11">
                  <c:v>01/10</c:v>
                </c:pt>
                <c:pt idx="12">
                  <c:v>02/10</c:v>
                </c:pt>
                <c:pt idx="13">
                  <c:v>03/10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193.0</c:v>
                </c:pt>
                <c:pt idx="1">
                  <c:v>378.0</c:v>
                </c:pt>
                <c:pt idx="2">
                  <c:v>316.0</c:v>
                </c:pt>
                <c:pt idx="3">
                  <c:v>299.0</c:v>
                </c:pt>
                <c:pt idx="4">
                  <c:v>309.0</c:v>
                </c:pt>
                <c:pt idx="5">
                  <c:v>303.0</c:v>
                </c:pt>
                <c:pt idx="6">
                  <c:v>248.0</c:v>
                </c:pt>
                <c:pt idx="7">
                  <c:v>150.0</c:v>
                </c:pt>
                <c:pt idx="8">
                  <c:v>315.0</c:v>
                </c:pt>
                <c:pt idx="9">
                  <c:v>321.0</c:v>
                </c:pt>
                <c:pt idx="10">
                  <c:v>271.0</c:v>
                </c:pt>
                <c:pt idx="11">
                  <c:v>352.0</c:v>
                </c:pt>
                <c:pt idx="12">
                  <c:v>332.0</c:v>
                </c:pt>
                <c:pt idx="13">
                  <c:v>257.0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20/09</c:v>
                </c:pt>
                <c:pt idx="1">
                  <c:v>21/09</c:v>
                </c:pt>
                <c:pt idx="2">
                  <c:v>22/09</c:v>
                </c:pt>
                <c:pt idx="3">
                  <c:v>23/09</c:v>
                </c:pt>
                <c:pt idx="4">
                  <c:v>24/09</c:v>
                </c:pt>
                <c:pt idx="5">
                  <c:v>25/09</c:v>
                </c:pt>
                <c:pt idx="6">
                  <c:v>26/09</c:v>
                </c:pt>
                <c:pt idx="7">
                  <c:v>27/09</c:v>
                </c:pt>
                <c:pt idx="8">
                  <c:v>28/09</c:v>
                </c:pt>
                <c:pt idx="9">
                  <c:v>29/09</c:v>
                </c:pt>
                <c:pt idx="10">
                  <c:v>30/09</c:v>
                </c:pt>
                <c:pt idx="11">
                  <c:v>01/10</c:v>
                </c:pt>
                <c:pt idx="12">
                  <c:v>02/10</c:v>
                </c:pt>
                <c:pt idx="13">
                  <c:v>03/10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177.0</c:v>
                </c:pt>
                <c:pt idx="1">
                  <c:v>269.0</c:v>
                </c:pt>
                <c:pt idx="2">
                  <c:v>271.0</c:v>
                </c:pt>
                <c:pt idx="3">
                  <c:v>247.0</c:v>
                </c:pt>
                <c:pt idx="4">
                  <c:v>254.0</c:v>
                </c:pt>
                <c:pt idx="5">
                  <c:v>239.0</c:v>
                </c:pt>
                <c:pt idx="6">
                  <c:v>173.0</c:v>
                </c:pt>
                <c:pt idx="7">
                  <c:v>131.0</c:v>
                </c:pt>
                <c:pt idx="8">
                  <c:v>241.0</c:v>
                </c:pt>
                <c:pt idx="9">
                  <c:v>240.0</c:v>
                </c:pt>
                <c:pt idx="10">
                  <c:v>239.0</c:v>
                </c:pt>
                <c:pt idx="11">
                  <c:v>238.0</c:v>
                </c:pt>
                <c:pt idx="12">
                  <c:v>225.0</c:v>
                </c:pt>
                <c:pt idx="13">
                  <c:v>205.0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-14,5% &amp; PS -22,0% MoM — Achievement Mencapai 8,0% (RE) / 7,0%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Okt 2026 vs MTD-1 01–03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3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Okt 2026 vs MTD-1 01–03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01–03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(-12,3%), Kupang Terdalam (-27,7%)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Okt 2026 vs MTD-1 01–03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-12,3%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-18,3%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-27,0%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-27,7%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Sumbawa Timur Tertinggi (+15,3%), Bali Barat Terdalam (-50,7%)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Okt 2026 vs MTD-1 01–03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Dompu Penyumbang PS Absolut Terbesar (+6), Sabu Raijua Tumbuh Tertinggi (+100,0%)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Okt 2026 vs MTD-1 01–03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+16, Bottom 5 -112, dan perubahan PS regional -188.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50 Mbps Tumbuh Tertinggi (-11,1%), TSEL One &gt;30 Mbps Turun Terdalam (-66,7%)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Okt 2026 vs MTD-1 01–03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-4,6%, Aktivitas DJP -100,0% MoM — Registered SF 883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Okt 2026 vs MTD-1 01–03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-2.058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 (sumber WOK lama selama transisi)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24.697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5.249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1.404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Okt 2026 vs MTD-1 01–03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01–03 Okt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20 (55,0%)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+37,5%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 / 306 (23,9%)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-6,4% | Turun 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104 / 347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-1,9% | Turun 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13 (84,6%)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129 (24,0%)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-6,1% | Turun 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143 (29,4%)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-4,5% | Turun 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9 (11,1%)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143 (23,1%)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 / 156 (24,4%)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-34,5%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16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67 / 210 (31,9%)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+11,7%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 / 237 (36,7%)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+11,5% | Turun 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 / 58 (55,2%)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204 / 788 (25,9%)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-8,1% | Turun 149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271 / 901 (30,1%)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-5,2% | Turun 187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-41,5%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-32,7%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306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347 (1,4%)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129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156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237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58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788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149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20 (5,0%)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7 (14,3%)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— | Turun 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10 (30,0%)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901 (0,6%)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-37,5% | Turun 187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Okt 2026 vs MTD-1 01–03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SPGSD76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SPLSL72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SPDAR84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SPXYM59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DOD4949153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SPEMA28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LUK7951132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HAR9686163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HEL4506624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SEP6298129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SPEMA28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DOD4949153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SPBNE43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IGN7412146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BAM8870058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SPKPG09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SPXYM59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SPARH69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SPXXMD19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SPSSG22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Okt 2026 vs MTD-1 01–03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SPNOT11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IND7163324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SPUUE13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SPEIA79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SPNTB55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KAD9367254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BER7356850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DAM2334423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LAL6459400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SPIRN91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COR5804367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ABD8242555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ALV9273981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SUN4743590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SPNRU39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SUM8202596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EDY7689399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CHR2660088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SPXDWI69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MIS1468588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Okt 2026 vs MTD-1 01–03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Okt 2026 vs MTD-1 01–03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01–03 Okt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01–03 Okt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01–03 Okt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1.100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941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147,1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121,8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-70,1%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289 | MoM -11,6%
PS: 271 | MoM -4,6%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222 | Active 28,2% | MoM -12,6%
  PS: 204 | Active 25,9% | MoM -7,3%
• Greenfield
  RE: 32 | Active 55,2% | MoM -13,5%
  PS: 32 | Active 55,2% | MoM +14,3%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-33,3%, Gap -5
• Flores: PS +12,5%, Gap +2
• Kupang: PS +16,7%, Gap +1
• Mataram: PS -26,3%, Gap 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Amlapura (Denpasar): -100,0%, Gap -1
• Grapari Negara (Denpasar): -100,0%, Gap -1
• Grapari Ubud (Denpasar): -100,0%, Gap -1
• Grapari Malaka (Kupang): -100,0%, Gap -1
• Grapari Mataram (Mataram): -90,0%, Gap -9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-56 (-39,2%), PS -71 (-53,0%)
• Bali Tengah: RE -10 (-4,7%), PS -22 (-12,5%)
• Lombok: RE -22 (-15,0%), PS -17 (-14,7%)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-2 (-25,0%), PS -5 (-62,5%)
• Ende Sikka: RE -1 (-33,3%), PS -2 (-66,7%)
• Sumbawa Timur: RE +3 (+100,0%), PS -2 (-66,7%)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-1 (-12,5%), PS -2 (-50,0%)
• Bali Timur: RE -2 (-50,0%), PS -1 (-100,0%)
• Ende Sikka: RE +1 (—), PS -1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-1 (-100,0%), PS -1 (-100,0%)
• Manggarai: RE -1 (-100,0%), PS -1 (-100,0%)
• Sumbawa Timur: RE -1 (-100,0%),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Regional, Branch &amp; 12 WOK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C3MR BALINUSRA 32.01%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72237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97.21% | Gap -65.20 pp | M-1 36.83%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346"/>
                <a:gridCol w="860022"/>
                <a:gridCol w="860022"/>
                <a:gridCol w="860022"/>
                <a:gridCol w="1412893"/>
                <a:gridCol w="1412893"/>
                <a:gridCol w="921452"/>
                <a:gridCol w="921452"/>
                <a:gridCol w="921452"/>
                <a:gridCol w="1044312"/>
              </a:tblGrid>
              <a:tr h="309282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202.393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75.413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Rp56.23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-60.19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Rp10.21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48.594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Rp15.44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83.478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Rp25.12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</a:tr>
              <a:tr h="309288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by LOS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488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534"/>
                <a:gridCol w="863467"/>
                <a:gridCol w="863467"/>
                <a:gridCol w="863467"/>
                <a:gridCol w="1295200"/>
                <a:gridCol w="1295200"/>
                <a:gridCol w="917433"/>
                <a:gridCol w="917433"/>
                <a:gridCol w="971400"/>
                <a:gridCol w="1187267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01. 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Rp509.2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59.52%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-9.77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Rp156.781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02. 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Rp3.47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Rp255.294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03. 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Rp5.25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-4.01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Rp248.935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04. 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Rp8.88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Rp2.45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-2.55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Rp260.812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05. 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55.545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Rp14.70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Rp3.77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-3.72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Rp274.548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06. 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234.345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80.431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Rp73.69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Rp24.89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-5.32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Rp309.406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Catatan: seluruh angka C3MR dibaca dari output SQL; PPT tidak menghitung ulang formula.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