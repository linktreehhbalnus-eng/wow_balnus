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71" r:id="rId22"/>
    <p:sldId id="264" r:id="rId10"/>
    <p:sldId id="265" r:id="rId11"/>
    <p:sldId id="266" r:id="rId12"/>
    <p:sldId id="267" r:id="rId13"/>
    <p:sldId id="268" r:id="rId19"/>
    <p:sldId id="269" r:id="rId20"/>
    <p:sldId id="270" r:id="rId21"/>
    <p:sldId id="272" r:id="rId23"/>
    <p:sldId id="273" r:id="rId24"/>
    <p:sldId id="274" r:id="rId25"/>
    <p:sldId id="275" r:id="rId26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9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</c:v>
                </c:pt>
              </c:strCache>
            </c:strRef>
          </c:tx>
          <c:spPr>
            <a:solidFill>
              <a:srgbClr val="132A4C"/>
            </a:solidFill>
            <a:ln w="31750" cap="flat">
              <a:solidFill>
                <a:srgbClr val="132A4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132A4C"/>
              </a:solidFill>
              <a:ln w="9525" cap="flat">
                <a:solidFill>
                  <a:srgbClr val="132A4C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20/09</c:v>
                </c:pt>
                <c:pt idx="1">
                  <c:v>21/09</c:v>
                </c:pt>
                <c:pt idx="2">
                  <c:v>22/09</c:v>
                </c:pt>
                <c:pt idx="3">
                  <c:v>23/09</c:v>
                </c:pt>
                <c:pt idx="4">
                  <c:v>24/09</c:v>
                </c:pt>
                <c:pt idx="5">
                  <c:v>25/09</c:v>
                </c:pt>
                <c:pt idx="6">
                  <c:v>26/09</c:v>
                </c:pt>
                <c:pt idx="7">
                  <c:v>27/09</c:v>
                </c:pt>
                <c:pt idx="8">
                  <c:v>28/09</c:v>
                </c:pt>
                <c:pt idx="9">
                  <c:v>29/09</c:v>
                </c:pt>
                <c:pt idx="10">
                  <c:v>30/09</c:v>
                </c:pt>
                <c:pt idx="11">
                  <c:v>01/10</c:v>
                </c:pt>
                <c:pt idx="12">
                  <c:v>02/10</c:v>
                </c:pt>
                <c:pt idx="13">
                  <c:v>03/10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193.0</c:v>
                </c:pt>
                <c:pt idx="1">
                  <c:v>378.0</c:v>
                </c:pt>
                <c:pt idx="2">
                  <c:v>316.0</c:v>
                </c:pt>
                <c:pt idx="3">
                  <c:v>299.0</c:v>
                </c:pt>
                <c:pt idx="4">
                  <c:v>309.0</c:v>
                </c:pt>
                <c:pt idx="5">
                  <c:v>303.0</c:v>
                </c:pt>
                <c:pt idx="6">
                  <c:v>248.0</c:v>
                </c:pt>
                <c:pt idx="7">
                  <c:v>150.0</c:v>
                </c:pt>
                <c:pt idx="8">
                  <c:v>315.0</c:v>
                </c:pt>
                <c:pt idx="9">
                  <c:v>321.0</c:v>
                </c:pt>
                <c:pt idx="10">
                  <c:v>271.0</c:v>
                </c:pt>
                <c:pt idx="11">
                  <c:v>352.0</c:v>
                </c:pt>
                <c:pt idx="12">
                  <c:v>332.0</c:v>
                </c:pt>
                <c:pt idx="13">
                  <c:v>257.0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PS</c:v>
                </c:pt>
              </c:strCache>
            </c:strRef>
          </c:tx>
          <c:spPr>
            <a:solidFill>
              <a:srgbClr val="E4022D"/>
            </a:solidFill>
            <a:ln w="31750" cap="flat">
              <a:solidFill>
                <a:srgbClr val="E4022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E4022D"/>
              </a:solidFill>
              <a:ln w="9525" cap="flat">
                <a:solidFill>
                  <a:srgbClr val="E4022D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20/09</c:v>
                </c:pt>
                <c:pt idx="1">
                  <c:v>21/09</c:v>
                </c:pt>
                <c:pt idx="2">
                  <c:v>22/09</c:v>
                </c:pt>
                <c:pt idx="3">
                  <c:v>23/09</c:v>
                </c:pt>
                <c:pt idx="4">
                  <c:v>24/09</c:v>
                </c:pt>
                <c:pt idx="5">
                  <c:v>25/09</c:v>
                </c:pt>
                <c:pt idx="6">
                  <c:v>26/09</c:v>
                </c:pt>
                <c:pt idx="7">
                  <c:v>27/09</c:v>
                </c:pt>
                <c:pt idx="8">
                  <c:v>28/09</c:v>
                </c:pt>
                <c:pt idx="9">
                  <c:v>29/09</c:v>
                </c:pt>
                <c:pt idx="10">
                  <c:v>30/09</c:v>
                </c:pt>
                <c:pt idx="11">
                  <c:v>01/10</c:v>
                </c:pt>
                <c:pt idx="12">
                  <c:v>02/10</c:v>
                </c:pt>
                <c:pt idx="13">
                  <c:v>03/10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177.0</c:v>
                </c:pt>
                <c:pt idx="1">
                  <c:v>269.0</c:v>
                </c:pt>
                <c:pt idx="2">
                  <c:v>271.0</c:v>
                </c:pt>
                <c:pt idx="3">
                  <c:v>247.0</c:v>
                </c:pt>
                <c:pt idx="4">
                  <c:v>254.0</c:v>
                </c:pt>
                <c:pt idx="5">
                  <c:v>239.0</c:v>
                </c:pt>
                <c:pt idx="6">
                  <c:v>173.0</c:v>
                </c:pt>
                <c:pt idx="7">
                  <c:v>131.0</c:v>
                </c:pt>
                <c:pt idx="8">
                  <c:v>241.0</c:v>
                </c:pt>
                <c:pt idx="9">
                  <c:v>240.0</c:v>
                </c:pt>
                <c:pt idx="10">
                  <c:v>239.0</c:v>
                </c:pt>
                <c:pt idx="11">
                  <c:v>238.0</c:v>
                </c:pt>
                <c:pt idx="12">
                  <c:v>225.0</c:v>
                </c:pt>
                <c:pt idx="13">
                  <c:v>205.0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85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7E9E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 -14,5% &amp; PS -22,0% MoM — Achievement Mencapai 8,0% (RE) / 7,0% (PS)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01–03 Okt 2026 vs MTD-1 01–03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Executive Scorecard — BALINUSRA Regional</a:t>
            </a:r>
            <a:endParaRPr lang="en-US" sz="15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864108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051560"/>
                <a:gridCol w="1051560"/>
                <a:gridCol w="1005840"/>
                <a:gridCol w="914400"/>
                <a:gridCol w="1234440"/>
                <a:gridCol w="960120"/>
                <a:gridCol w="12344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11.730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10.788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to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-6,8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296265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Regional = agregasi target 10 WOK. IO tidak ditampilkan karena MTD-1/target/MoM IO tidak tersedia di JSON (hanya total MTD di audit reconciliation).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34290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Kontribusi Branch terhadap RE &amp; PS Regional</a:t>
            </a:r>
            <a:endParaRPr lang="en-US" sz="1500" dirty="0"/>
          </a:p>
        </p:txBody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03320"/>
          <a:ext cx="882396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051560"/>
                <a:gridCol w="1234440"/>
                <a:gridCol w="960120"/>
                <a:gridCol w="1051560"/>
                <a:gridCol w="1234440"/>
                <a:gridCol w="960120"/>
                <a:gridCol w="9601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 ★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▼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 ▲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696712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Kontributor volume PS terbesar     ▲ Pertumbuhan PS terbaik     ▼ Penurunan PS terdalam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RE–PS Melemah pada 3 Oktober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01–03 Okt 2026 vs MTD-1 01–03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Pola Harian RE &amp; PS — 01–03 Oktober 2026 (MTD)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320040" y="1353312"/>
          <a:ext cx="11548872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730752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*Grafik menunjukkan pola harian MTD yang tersedia di sumber (bukan rekonsiliasi volume regional). Tren MTD-1 harian tidak tersedia — pembanding MTD-1 hanya ada sebagai total periode (lihat tabel run rate).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41148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Run Rate Summary — Regional</a:t>
            </a:r>
            <a:endParaRPr lang="en-US" sz="15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389120"/>
          <a:ext cx="8778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828800"/>
                <a:gridCol w="1828800"/>
                <a:gridCol w="1828800"/>
                <a:gridCol w="18288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Actual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Achievement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11.730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10.788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779008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*Target dan achievement mengikuti definisi target pada JSON INARA untuk report date.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 Pendorong Utama PS (-12,3%), Kupang Terdalam (-27,7%)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01–03 Okt 2026 vs MTD-1 01–03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Branch Performance Detail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9939528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658368"/>
                <a:gridCol w="658368"/>
                <a:gridCol w="621792"/>
                <a:gridCol w="603504"/>
                <a:gridCol w="603504"/>
                <a:gridCol w="685800"/>
                <a:gridCol w="658368"/>
                <a:gridCol w="658368"/>
                <a:gridCol w="621792"/>
                <a:gridCol w="603504"/>
                <a:gridCol w="603504"/>
                <a:gridCol w="685800"/>
                <a:gridCol w="566928"/>
                <a:gridCol w="658368"/>
              </a:tblGrid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ΔPS/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4.702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-7,0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-18,7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-6,7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2.764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+2,9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MoM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6245352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Ranking Achievement PS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320040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1600200" y="3785616"/>
            <a:ext cx="3383280" cy="182880"/>
          </a:xfrm>
          <a:prstGeom prst="rect">
            <a:avLst/>
          </a:prstGeom>
          <a:solidFill>
            <a:srgbClr val="1E7B45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56632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-12,3%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320040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1600200" y="4096512"/>
            <a:ext cx="791251" cy="182880"/>
          </a:xfrm>
          <a:prstGeom prst="rect">
            <a:avLst/>
          </a:prstGeom>
          <a:solidFill>
            <a:srgbClr val="1E7B45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2464603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-18,3%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320040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1600200" y="4407408"/>
            <a:ext cx="2864874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4538226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-27,0%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320040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1600200" y="4718304"/>
            <a:ext cx="3219573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22" name="Text 19"/>
          <p:cNvSpPr/>
          <p:nvPr/>
        </p:nvSpPr>
        <p:spPr>
          <a:xfrm>
            <a:off x="4892925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-27,7%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6245352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7525512" y="3785616"/>
            <a:ext cx="3383280" cy="182880"/>
          </a:xfrm>
          <a:prstGeom prst="rect">
            <a:avLst/>
          </a:prstGeom>
          <a:solidFill>
            <a:srgbClr val="8A6100"/>
          </a:solidFill>
          <a:ln/>
        </p:spPr>
        <p:txBody>
          <a:bodyPr/>
          <a:p/>
        </p:txBody>
      </p:sp>
      <p:sp>
        <p:nvSpPr>
          <p:cNvPr id="25" name="Text 22"/>
          <p:cNvSpPr/>
          <p:nvPr/>
        </p:nvSpPr>
        <p:spPr>
          <a:xfrm>
            <a:off x="10981944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6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8,1%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6245352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7525512" y="4096512"/>
            <a:ext cx="3045737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28" name="Text 25"/>
          <p:cNvSpPr/>
          <p:nvPr/>
        </p:nvSpPr>
        <p:spPr>
          <a:xfrm>
            <a:off x="10644401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7,5%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6245352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7525512" y="4407408"/>
            <a:ext cx="2857341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31" name="Text 28"/>
          <p:cNvSpPr/>
          <p:nvPr/>
        </p:nvSpPr>
        <p:spPr>
          <a:xfrm>
            <a:off x="10456005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7,0%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6245352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7525512" y="4718304"/>
            <a:ext cx="2237204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34" name="Text 31"/>
          <p:cNvSpPr/>
          <p:nvPr/>
        </p:nvSpPr>
        <p:spPr>
          <a:xfrm>
            <a:off x="9835868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5,0%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320040" y="526694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Kontribusi Branch terhadap Gap Regional (PS)</a:t>
            </a:r>
            <a:endParaRPr lang="en-US" sz="15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541264"/>
          <a:ext cx="896112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828800"/>
                <a:gridCol w="1828800"/>
                <a:gridCol w="1828800"/>
                <a:gridCol w="1828800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 (RE)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4.702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2.764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Sumbawa Timur Tertinggi (+15,3%), Bali Barat Terdalam (-50,7%) — 12 WOK MoM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01–03 Okt 2026 vs MTD-1 01–03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WOK Performance — Seluruh 12 WOK (dikelompokkan per Branch)</a:t>
            </a:r>
            <a:endParaRPr lang="en-US" sz="1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103327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2834640"/>
                <a:gridCol w="777240"/>
                <a:gridCol w="713232"/>
                <a:gridCol w="713232"/>
                <a:gridCol w="777240"/>
                <a:gridCol w="777240"/>
                <a:gridCol w="713232"/>
                <a:gridCol w="713232"/>
                <a:gridCol w="777240"/>
                <a:gridCol w="621792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417880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WOK — MoM PS &amp; Achievement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320040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MoM PS</a:t>
            </a:r>
            <a:endParaRPr lang="en-US" sz="105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42234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MoM PS</a:t>
            </a:r>
            <a:endParaRPr lang="en-US" sz="1050" dirty="0"/>
          </a:p>
        </p:txBody>
      </p:sp>
      <p:graphicFrame>
        <p:nvGraphicFramePr>
          <p:cNvPr id="1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42234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-50,7%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-34,5%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4" name="Text 9"/>
          <p:cNvSpPr/>
          <p:nvPr/>
        </p:nvSpPr>
        <p:spPr>
          <a:xfrm>
            <a:off x="6164428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Achievement PS</a:t>
            </a:r>
            <a:endParaRPr lang="en-US" sz="1050" dirty="0"/>
          </a:p>
        </p:txBody>
      </p:sp>
      <p:graphicFrame>
        <p:nvGraphicFramePr>
          <p:cNvPr id="17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64428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</a:tbl>
          </a:graphicData>
        </a:graphic>
      </p:graphicFrame>
      <p:sp>
        <p:nvSpPr>
          <p:cNvPr id="16" name="Text 10"/>
          <p:cNvSpPr/>
          <p:nvPr/>
        </p:nvSpPr>
        <p:spPr>
          <a:xfrm>
            <a:off x="9086621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Achievement PS</a:t>
            </a:r>
            <a:endParaRPr lang="en-US" sz="1050" dirty="0"/>
          </a:p>
        </p:txBody>
      </p:sp>
      <p:graphicFrame>
        <p:nvGraphicFramePr>
          <p:cNvPr id="21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086621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Dompu Penyumbang PS Absolut Terbesar (+6), Sabu Raijua Tumbuh Tertinggi (+100,0%)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01–03 Okt 2026 vs MTD-1 01–03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Top &amp; Bottom 5 Kabupaten — Pertumbuhan Absolut PS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20040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(Selisih PS Terbesar)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Ngada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104,0%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6245352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(Selisih PS Terkecil)</a:t>
            </a:r>
            <a:endParaRPr lang="en-US" sz="105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-32,0%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Gianyar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Tabanan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326440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Top &amp; Bottom 5 Kabupaten — MoM PS (%)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320040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(MoM PS Tertinggi)</a:t>
            </a:r>
            <a:endParaRPr lang="en-US" sz="1050" dirty="0"/>
          </a:p>
        </p:txBody>
      </p:sp>
      <p:graphicFrame>
        <p:nvGraphicFramePr>
          <p:cNvPr id="16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Sabu Raijua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Ngada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104,0%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Text 10"/>
          <p:cNvSpPr/>
          <p:nvPr/>
        </p:nvSpPr>
        <p:spPr>
          <a:xfrm>
            <a:off x="6245352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(MoM PS Terendah)</a:t>
            </a:r>
            <a:endParaRPr lang="en-US" sz="1050" dirty="0"/>
          </a:p>
        </p:txBody>
      </p:sp>
      <p:graphicFrame>
        <p:nvGraphicFramePr>
          <p:cNvPr id="21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Selatan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Jembrana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7" name="Text 11"/>
          <p:cNvSpPr/>
          <p:nvPr/>
        </p:nvSpPr>
        <p:spPr>
          <a:xfrm>
            <a:off x="320040" y="54315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Kontribusi Top/Bottom 5 terhadap Perubahan PS Regional</a:t>
            </a:r>
            <a:endParaRPr lang="en-US" sz="1500" dirty="0"/>
          </a:p>
        </p:txBody>
      </p:sp>
      <p:graphicFrame>
        <p:nvGraphicFramePr>
          <p:cNvPr id="26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05856"/>
          <a:ext cx="11548872" cy="914400"/>
        </p:xfrm>
        <a:graphic>
          <a:graphicData uri="http://schemas.openxmlformats.org/drawingml/2006/table">
            <a:tbl>
              <a:tblPr/>
              <a:tblGrid>
                <a:gridCol w="3849624"/>
                <a:gridCol w="3849624"/>
                <a:gridCol w="3849624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Top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Bottom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Net Perubahan PS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-112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-188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9" name="Text 12"/>
          <p:cNvSpPr/>
          <p:nvPr/>
        </p:nvSpPr>
        <p:spPr>
          <a:xfrm>
            <a:off x="320040" y="652881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Dari 38 kabupaten: Top 5 menyumbang +16, Bottom 5 -112, dan perubahan PS regional -188.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50 Mbps Tumbuh Tertinggi (-11,1%), TSEL One &gt;30 Mbps Turun Terdalam (-66,7%)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01–03 Okt 2026 vs MTD-1 01–03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RE &amp; PS Performance by Speed — Regional (6 kelompok, tidak digabung)</a:t>
            </a:r>
            <a:endParaRPr lang="en-US" sz="1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461504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777240"/>
                <a:gridCol w="713232"/>
                <a:gridCol w="777240"/>
                <a:gridCol w="777240"/>
                <a:gridCol w="713232"/>
                <a:gridCol w="64008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Speed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≥100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&gt;30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6027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High Speed Performance by WOK — PS ≥50 Mbps Reguler (TSEL One dipisah)</a:t>
            </a:r>
            <a:endParaRPr lang="en-US" sz="15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7"/>
          <p:cNvSpPr/>
          <p:nvPr/>
        </p:nvSpPr>
        <p:spPr>
          <a:xfrm>
            <a:off x="320040" y="534009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speed reguler 50/75/100 Mbps ke atas; TSEL One dipisahkan</a:t>
            </a:r>
            <a:endParaRPr lang="en-US" sz="900" dirty="0"/>
          </a:p>
        </p:txBody>
      </p:sp>
      <p:sp>
        <p:nvSpPr>
          <p:cNvPr id="13" name="Text 8"/>
          <p:cNvSpPr/>
          <p:nvPr/>
        </p:nvSpPr>
        <p:spPr>
          <a:xfrm>
            <a:off x="320040" y="554126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Channel Performance — Agency vs Grapari (Regional)</a:t>
            </a:r>
            <a:endParaRPr lang="en-US" sz="1500" dirty="0"/>
          </a:p>
        </p:txBody>
      </p:sp>
      <p:graphicFrame>
        <p:nvGraphicFramePr>
          <p:cNvPr id="2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97296"/>
          <a:ext cx="1037844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234440"/>
                <a:gridCol w="1234440"/>
                <a:gridCol w="1005840"/>
                <a:gridCol w="1234440"/>
                <a:gridCol w="1234440"/>
                <a:gridCol w="1005840"/>
                <a:gridCol w="914400"/>
                <a:gridCol w="123444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Channel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Agency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Grapari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SF Active PS Naik -4,6%, Aktivitas DJP -100,0% MoM — Registered SF 883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01–03 Okt 2026 vs MTD-1 01–03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Sales Force Scorecard — Regional</a:t>
            </a:r>
            <a:endParaRPr lang="en-US" sz="15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1323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280160"/>
                <a:gridCol w="1280160"/>
                <a:gridCol w="1280160"/>
                <a:gridCol w="128016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Indikator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Registered 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Aktivitas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-2.058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10896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SF/DJP per Branch (sumber WOK lama selama transisi)</a:t>
            </a:r>
            <a:endParaRPr lang="en-US" sz="1500" dirty="0"/>
          </a:p>
        </p:txBody>
      </p:sp>
      <p:graphicFrame>
        <p:nvGraphicFramePr>
          <p:cNvPr id="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346704"/>
          <a:ext cx="9262872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640080"/>
                <a:gridCol w="621792"/>
                <a:gridCol w="621792"/>
                <a:gridCol w="594360"/>
                <a:gridCol w="621792"/>
                <a:gridCol w="621792"/>
                <a:gridCol w="594360"/>
                <a:gridCol w="621792"/>
                <a:gridCol w="621792"/>
                <a:gridCol w="594360"/>
                <a:gridCol w="685800"/>
                <a:gridCol w="685800"/>
                <a:gridCol w="640080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Aktivitas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ODP Occupancy Summary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6245352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DJP pada ODP Khusus</a:t>
            </a:r>
            <a:endParaRPr lang="en-US" sz="1500" dirty="0"/>
          </a:p>
        </p:txBody>
      </p:sp>
      <p:graphicFrame>
        <p:nvGraphicFramePr>
          <p:cNvPr id="22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266944"/>
          <a:ext cx="5330952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868680"/>
                <a:gridCol w="868680"/>
                <a:gridCol w="868680"/>
                <a:gridCol w="868680"/>
                <a:gridCol w="98755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ORANGE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YELLOW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BLACK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ODP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15.259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37.865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24.697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5.249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83.134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4" name="Shape 9"/>
          <p:cNvSpPr/>
          <p:nvPr/>
        </p:nvSpPr>
        <p:spPr>
          <a:xfrm>
            <a:off x="6245352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  <p:txBody>
          <a:bodyPr/>
          <a:p/>
        </p:txBody>
      </p:sp>
      <p:sp>
        <p:nvSpPr>
          <p:cNvPr id="15" name="Text 10"/>
          <p:cNvSpPr/>
          <p:nvPr/>
        </p:nvSpPr>
        <p:spPr>
          <a:xfrm>
            <a:off x="6355080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BLACK</a:t>
            </a:r>
            <a:endParaRPr lang="en-US" sz="1050" dirty="0"/>
          </a:p>
        </p:txBody>
      </p:sp>
      <p:sp>
        <p:nvSpPr>
          <p:cNvPr id="16" name="Text 11"/>
          <p:cNvSpPr/>
          <p:nvPr/>
        </p:nvSpPr>
        <p:spPr>
          <a:xfrm>
            <a:off x="6355080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5.249
Dikunjungi: 0 (0,0%)
Visit DJP: 0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9201836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  <p:txBody>
          <a:bodyPr/>
          <a:p/>
        </p:txBody>
      </p:sp>
      <p:sp>
        <p:nvSpPr>
          <p:cNvPr id="18" name="Text 13"/>
          <p:cNvSpPr/>
          <p:nvPr/>
        </p:nvSpPr>
        <p:spPr>
          <a:xfrm>
            <a:off x="9311564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GREENFIELD</a:t>
            </a:r>
            <a:endParaRPr lang="en-US" sz="1050" dirty="0"/>
          </a:p>
        </p:txBody>
      </p:sp>
      <p:sp>
        <p:nvSpPr>
          <p:cNvPr id="19" name="Text 14"/>
          <p:cNvSpPr/>
          <p:nvPr/>
        </p:nvSpPr>
        <p:spPr>
          <a:xfrm>
            <a:off x="9311564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1.404
Dikunjungi: 0 (0,0%)
Visit DJP: 0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SF Segmentation by Class &amp; Matrix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01–03 Okt 2026 vs MTD-1 01–03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SF by Class</a:t>
            </a:r>
            <a:endParaRPr lang="en-US" sz="1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53212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Elite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Performer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Greenfield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 Plus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245352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 by Matrix</a:t>
            </a:r>
            <a:endParaRPr lang="en-US" sz="150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7150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Segmen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Champion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Efficient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Explorer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Need Coaching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287121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Catatan: satu SF dapat aktif pada lebih dari satu kelompok speed — jumlah SF Active tidak dijumlahkan lintas kelompok.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01–03 Okt 2026 vs MTD-1 01–03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 / 20 (55,0%)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+37,5% | Turun 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73 / 306 (23,9%)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-6,4% | Turun 57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104 / 347 (30,0%)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-1,9% | Turun 75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 / 13 (84,6%)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31 / 129 (24,0%)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-6,1% | Turun 23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42 / 143 (29,4%)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-4,5% | Turun 26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9 (11,1%)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-66,7%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33 / 143 (23,1%)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-35,3% | Turun 32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38 / 156 (24,4%)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-34,5% | Turun 38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 / 16 (56,2%)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+28,6%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67 / 210 (31,9%)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+11,7% | Turun 37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87 / 237 (36,7%)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+11,5% | Turun 46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32 / 58 (55,2%)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+14,3% | Turun 12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204 / 788 (25,9%)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-8,1% | Turun 149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18 / 20 (90,0%)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-5,3% | Turun 14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271 / 901 (30,1%)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-5,2% | Turun 187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-36,3%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-35,7%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-17,6%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-32,7%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254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-29,8%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+9,1%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-23,9%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-18,8%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-57,1%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-36,0%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125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173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-8,5%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+15,8%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346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-23,8%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-41,5%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-17,1%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-32,7%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569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-23,8%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20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306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57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5 (20,0%)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6 (16,7%)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—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10 (30,0%)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-25,0% | Turun 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347 (1,4%)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-28,6% | Turun 75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13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129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143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9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143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4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156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38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16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210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10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237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58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12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788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149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20 (5,0%)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-50,0% | Turun 14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7 (14,3%)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— | Turun 4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 / 10 (30,0%)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-25,0% | Turun 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 / 901 (0,6%)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-37,5% | Turun 187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Top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01–03 Okt 2026 vs MTD-1 01–03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RE</a:t>
            </a:r>
            <a:endParaRPr lang="en-US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SPGSD76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SPLSL72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SPDAR84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SPXYM59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DOD4949153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SPEMA28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LUK7951132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HAR9686163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HEL4506624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SEP6298129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PS</a:t>
            </a:r>
            <a:endParaRPr lang="en-US" sz="1100" dirty="0"/>
          </a:p>
        </p:txBody>
      </p:sp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SPEMA28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DOD4949153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SPBNE43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IGN7412146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BAM8870058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SPKPG09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SPXYM59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SPARH69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SPXXMD19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SPSSG22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Bottom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01–03 Okt 2026 vs MTD-1 01–03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RE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SPNOT11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IND7163324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SPUUE13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SPEIA79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SPNTB55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KAD9367254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BER7356850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DAM2334423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LAL6459400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SPIRN91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PS</a:t>
            </a:r>
            <a:endParaRPr lang="en-US" sz="1100" dirty="0"/>
          </a:p>
        </p:txBody>
      </p:sp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COR5804367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ABD8242555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ALV9273981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SUN4743590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SPNRU39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SUM8202596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EDY7689399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CHR2660088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SPXDWI69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MIS1468588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Detail Seluruh 12 WOK &amp; Kabupaten Denpasar, Flores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01–03 Okt 2026 vs MTD-1 01–03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Seluruh 12 WOK  (Br. = Branch: DPS Denpasar, FLR Flores, KPG Kupang, MTR Mataram)</a:t>
            </a:r>
            <a:endParaRPr lang="en-US" sz="15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-37,0%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-50,7%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-34,5%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317296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Kabupaten Denpasar &amp; Flores (18 dari 38 kabupaten)</a:t>
            </a:r>
            <a:endParaRPr lang="en-US" sz="1500" dirty="0"/>
          </a:p>
        </p:txBody>
      </p:sp>
      <p:graphicFrame>
        <p:nvGraphicFramePr>
          <p:cNvPr id="34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Badung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Bangli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-52,4%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-60,3%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Gianyar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-35,1%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-40,5%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Jembrana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Karang Asem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Klungkung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Tabanan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-34,9%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Alor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+88,9%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9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-30,8%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Ngada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+41,7%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Kabupaten Kupang &amp; Mataram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01–03 Okt 2026 vs MTD-1 01–03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Kabupaten Kupang &amp; Mataram</a:t>
            </a:r>
            <a:endParaRPr lang="en-US" sz="15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-30,8%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Rote Ndao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Sabu Raijua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-61,5%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-54,5%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Selatan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-57,9%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104,0%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-32,0%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113,6%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-44,2%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-36,0%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4837176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Bersama Slide 11 (Denpasar &amp; Flores), tabel ini mencakup seluruh 38 kabupaten—masing-masing tampil tepat satu kali.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01–03 Okt 2026 vs MTD-1 01–03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PS by Speed — Region &amp; Branch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253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-41,6%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59,2%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+64,7%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-44,4%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856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668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290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01–03 Okt 2026 vs MTD-1 01–03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Revenue New Sales by Speed — Region &amp; Branch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777240"/>
            <a:ext cx="43434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57,3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44,0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29,7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25,9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36,7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29,4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-35,8%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-24,7%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+65,9%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38,9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560,0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-68,0%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285,0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-47,4%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-46,0%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870,0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-67,8%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20,6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595,0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-52,9%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182,6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147,1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74,8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60,0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26,5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21,5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26,0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19,2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55,4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46,4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01–03 Okt 2026 vs MTD-1 01–03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0040" y="941832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6280"/>
                <a:gridCol w="1064412"/>
                <a:gridCol w="1064412"/>
                <a:gridCol w="957970"/>
                <a:gridCol w="1064412"/>
                <a:gridCol w="1064412"/>
                <a:gridCol w="957970"/>
                <a:gridCol w="1383735"/>
                <a:gridCol w="1117632"/>
                <a:gridCol w="1117632"/>
              </a:tblGrid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1.100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941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-14,5%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856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668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-22,0%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Rp 147,1 Jt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-19,4%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907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765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-15,7%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748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569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-23,9%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121,8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-21,9%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85,2%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-19,0%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-8,8%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12,6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-3,3%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7,8%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+13,1%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+5,7%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10,0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-0,3%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5,5%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-9,1%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-30,8%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2,5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-15,5%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2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-60,0%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230,0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-70,1%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0,1%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20040" y="2761488"/>
            <a:ext cx="4572000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Kontributor Penurunan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3090672"/>
            <a:ext cx="5705856" cy="1847088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317296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" y="3575304"/>
            <a:ext cx="2633472" cy="1307592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SF ACTIVE TOTAL
RE: 289 | MoM -11,6%
PS: 271 | MoM -4,6%
• Elite
  RE: 10 | Active 100,0% | MoM 0,0%
  PS: 10 | Active 100,0% | MoM 0,0%
• Performer
  RE: 7 | Active 100,0% | MoM 0,0%
  PS: 7 | Active 100,0% | MoM 0,0%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36976" y="3575304"/>
            <a:ext cx="2633472" cy="1307592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Junior
  RE: 222 | Active 28,2% | MoM -12,6%
  PS: 204 | Active 25,9% | MoM -7,3%
• Greenfield
  RE: 32 | Active 55,2% | MoM -13,5%
  PS: 32 | Active 55,2% | MoM +14,3%
• Junior Plus
  RE: 18 | Active 90,0% | MoM -5,3%
  PS: 18 | Active 90,0% | MoM -5,3%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3090672"/>
            <a:ext cx="5705856" cy="1847088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72783" y="317296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>
                <a:solidFill>
                  <a:srgbClr val="102C50"/>
                </a:solidFill>
                <a:latin typeface="Arial"/>
              </a:rPr>
              <a:t>GraPARI Performance per Branch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59" y="3547872"/>
            <a:ext cx="2633472" cy="133502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PER BRANCH
• Denpasar: PS -33,3%, Gap -5
• Flores: PS +12,5%, Gap +2
• Kupang: PS +16,7%, Gap +1
• Mataram: PS -26,3%, Gap -5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79992" y="3547872"/>
            <a:ext cx="2633472" cy="133502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BOTTOM 5 PS MoM
• Grapari Amlapura (Denpasar): -100,0%, Gap -1
• Grapari Negara (Denpasar): -100,0%, Gap -1
• Grapari Ubud (Denpasar): -100,0%, Gap -1
• Grapari Malaka (Kupang): -100,0%, Gap -1
• Grapari Mataram (Mataram): -90,0%, Gap -9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0040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79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Barat: RE -56 (-39,2%), PS -71 (-53,0%)
• Bali Tengah: RE -10 (-4,7%), PS -22 (-12,5%)
• Lombok: RE -22 (-15,0%), PS -17 (-14,7%)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36976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328416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46704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Lombok: RE -2 (-25,0%), PS -5 (-62,5%)
• Ende Sikka: RE -1 (-33,3%), PS -2 (-66,7%)
• Sumbawa Timur: RE +3 (+100,0%), PS -2 (-66,7%)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53912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45351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Tengah: RE -1 (-12,5%), PS -2 (-50,0%)
• Bali Timur: RE -2 (-50,0%), PS -1 (-100,0%)
• Ende Sikka: RE +1 (—), PS -1 (-100,0%)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70848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62288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0576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Timur: RE -1 (-100,0%), PS -1 (-100,0%)
• Manggarai: RE -1 (-100,0%), PS -1 (-100,0%)
• Sumbawa Timur: RE -1 (-100,0%), PS -1 (-100,0%)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C3MR Performance — Regional, Branch &amp; 12 WOK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8580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F2937"/>
                </a:solidFill>
                <a:latin typeface="Arial"/>
              </a:defRPr>
            </a:pPr>
            <a:r>
              <a:t>C3MR BALINUSRA 32.01%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722376"/>
            <a:ext cx="5943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F2937"/>
                </a:solidFill>
                <a:latin typeface="Arial"/>
              </a:defRPr>
            </a:pPr>
            <a:r>
              <a:t>Target 97.21% | Gap -65.20 pp | M-1 36.83%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20040" y="1143000"/>
          <a:ext cx="11548866" cy="5257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34346"/>
                <a:gridCol w="860022"/>
                <a:gridCol w="860022"/>
                <a:gridCol w="860022"/>
                <a:gridCol w="1412893"/>
                <a:gridCol w="1412893"/>
                <a:gridCol w="921452"/>
                <a:gridCol w="921452"/>
                <a:gridCol w="921452"/>
                <a:gridCol w="1044312"/>
              </a:tblGrid>
              <a:tr h="309282"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SSL All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SSL Paid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Paid Rate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Billing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C3MR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202.393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75.413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37.26%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Rp56.23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Rp21.02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42.77%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37.39%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-60.19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32.513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7.208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22.17%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Rp10.21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Rp2.31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26.53%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22.66%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-74.04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48.594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11.736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24.15%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Rp15.44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Rp3.85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28.89%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24.93%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-70.90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83.478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22.914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Rp25.12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Rp7.06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32.56%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28.12%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-69.33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42.264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13.867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32.81%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Rp11.11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Rp3.75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39.30%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33.81%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-63.77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113.620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45.875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40.38%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Rp31.61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Rp12.65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45.23%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40.01%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-57.57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46.509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15.671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33.69%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Rp13.52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Rp4.62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39.85%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34.19%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-63.39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12.821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2.633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20.54%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Rp3.96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Rp842.2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25.16%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21.25%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-75.45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7.329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1.569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21.41%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Rp2.21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Rp472.0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27.29%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21.36%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-75.34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26.827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7.246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27.01%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Rp8.61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Rp2.40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31.91%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27.84%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-67.99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12.516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2.375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18.98%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Rp3.86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Rp760.9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23.63%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19.70%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-76.13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12.363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3.006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24.31%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Rp4.04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Rp999.4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24.75%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-71.95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9.251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2.115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22.86%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Rp2.97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Rp692.7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26.88%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23.31%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-72.52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44.841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15.359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34.25%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Rp13.74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Rp4.75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39.73%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34.58%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-62.87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15.433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3.850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24.95%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Rp4.76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Rp1.21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29.23%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25.36%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-72.09 pp</a:t>
                      </a:r>
                    </a:p>
                  </a:txBody>
                  <a:tcPr/>
                </a:tc>
              </a:tr>
              <a:tr h="309288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23.204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3.705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15.97%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Rp6.62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Rp1.11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20.06%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16.71%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-80.74 pp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C3MR by LOS — BALINUSRA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051560"/>
          <a:ext cx="11548868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4534"/>
                <a:gridCol w="863467"/>
                <a:gridCol w="863467"/>
                <a:gridCol w="863467"/>
                <a:gridCol w="1295200"/>
                <a:gridCol w="1295200"/>
                <a:gridCol w="917433"/>
                <a:gridCol w="917433"/>
                <a:gridCol w="971400"/>
                <a:gridCol w="1187267"/>
              </a:tblGrid>
              <a:tr h="418011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SSL All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SSL Paid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Paid Rate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Billing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C3MR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Progress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Avg 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01. 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6.660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3.248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48.77%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Rp1.02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Rp509.2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59.52%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49.75%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-9.77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Rp156.781</a:t>
                      </a:r>
                    </a:p>
                  </a:txBody>
                  <a:tcPr/>
                </a:tc>
              </a:tr>
              <a:tr h="418011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02. 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13.729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4.703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34.26%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Rp3.47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Rp1.20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38.47%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34.59%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-3.88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Rp255.294</a:t>
                      </a:r>
                    </a:p>
                  </a:txBody>
                  <a:tcPr/>
                </a:tc>
              </a:tr>
              <a:tr h="418011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03. 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21.593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5.768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26.71%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Rp5.25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Rp1.44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31.38%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27.37%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-4.01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Rp248.935</a:t>
                      </a:r>
                    </a:p>
                  </a:txBody>
                  <a:tcPr/>
                </a:tc>
              </a:tr>
              <a:tr h="418011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04. 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35.106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9.376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26.71%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Rp8.88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Rp2.45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30.08%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27.54%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-2.55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Rp260.812</a:t>
                      </a:r>
                    </a:p>
                  </a:txBody>
                  <a:tcPr/>
                </a:tc>
              </a:tr>
              <a:tr h="418011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05. 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55.545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13.745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24.75%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Rp14.70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Rp3.77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29.40%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25.68%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-3.72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Rp274.548</a:t>
                      </a:r>
                    </a:p>
                  </a:txBody>
                  <a:tcPr/>
                </a:tc>
              </a:tr>
              <a:tr h="418014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06. 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234.345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80.431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34.32%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Rp73.69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Rp24.89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39.09%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33.77%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-5.32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Rp309.406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20040" y="425196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Catatan: seluruh angka C3MR dibaca dari output SQL; PPT tidak menghitung ulang formula.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CAPS Performance — BALINUSRA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CAPS M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330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M-1 304 | MoM +8.6%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632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677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Batas CAPS bulan berjalan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064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GAP 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-347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CAPS M - Target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496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Δ M vs M-1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+26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Perubahan jumlah CAPS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508760"/>
          <a:ext cx="11548869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16141"/>
                <a:gridCol w="1461882"/>
                <a:gridCol w="1461882"/>
                <a:gridCol w="1169506"/>
                <a:gridCol w="1315694"/>
                <a:gridCol w="1461882"/>
                <a:gridCol w="1461882"/>
              </a:tblGrid>
              <a:tr h="279698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CAPS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CAPS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+6.6%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-271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-8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+35.7%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-20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-48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-49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+22.6%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-157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-65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+22.2%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-12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-42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</a:tr>
              <a:tr h="279712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CAPS by LOS — Regional &amp; 4 Branch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143000"/>
          <a:ext cx="1154887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93009"/>
                <a:gridCol w="2080877"/>
                <a:gridCol w="1768746"/>
                <a:gridCol w="1768746"/>
                <a:gridCol w="1768746"/>
                <a:gridCol w="1768746"/>
              </a:tblGrid>
              <a:tr h="1024128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BALINUSRA M / 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DENPASAR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FLORES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KUPANG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MATARAM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024128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9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9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1024128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0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0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1024128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56 / +12.0%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42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0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 / 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12 / +200.0%</a:t>
                      </a:r>
                    </a:p>
                  </a:txBody>
                  <a:tcPr/>
                </a:tc>
              </a:tr>
              <a:tr h="1024128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265 / +4.3%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209 / +3.5%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1 / 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17 / +70.0%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38 / -5.0%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2026-08-16T22:33:52Z</dcterms:created>
  <dcterms:modified xsi:type="dcterms:W3CDTF">2026-08-16T22:33:52Z</dcterms:modified>
</cp:coreProperties>
</file>