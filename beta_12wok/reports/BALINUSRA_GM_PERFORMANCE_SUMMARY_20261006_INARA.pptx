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71" r:id="rId22"/>
    <p:sldId id="264" r:id="rId10"/>
    <p:sldId id="265" r:id="rId11"/>
    <p:sldId id="266" r:id="rId12"/>
    <p:sldId id="267" r:id="rId13"/>
    <p:sldId id="268" r:id="rId19"/>
    <p:sldId id="269" r:id="rId20"/>
    <p:sldId id="270" r:id="rId21"/>
    <p:sldId id="272" r:id="rId23"/>
    <p:sldId id="273" r:id="rId24"/>
    <p:sldId id="274" r:id="rId25"/>
    <p:sldId id="275" r:id="rId26"/>
    <p:sldId id="276" r:id="rId27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10.xml"/><Relationship Id="rId11" Type="http://schemas.openxmlformats.org/officeDocument/2006/relationships/slide" Target="slides/slide11.xml"/><Relationship Id="rId12" Type="http://schemas.openxmlformats.org/officeDocument/2006/relationships/slide" Target="slides/slide12.xml"/><Relationship Id="rId13" Type="http://schemas.openxmlformats.org/officeDocument/2006/relationships/slide" Target="slides/slide13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9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</c:v>
                </c:pt>
              </c:strCache>
            </c:strRef>
          </c:tx>
          <c:spPr>
            <a:solidFill>
              <a:srgbClr val="132A4C"/>
            </a:solidFill>
            <a:ln w="31750" cap="flat">
              <a:solidFill>
                <a:srgbClr val="132A4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132A4C"/>
              </a:solidFill>
              <a:ln w="9525" cap="flat">
                <a:solidFill>
                  <a:srgbClr val="132A4C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23/09</c:v>
                </c:pt>
                <c:pt idx="1">
                  <c:v>24/09</c:v>
                </c:pt>
                <c:pt idx="2">
                  <c:v>25/09</c:v>
                </c:pt>
                <c:pt idx="3">
                  <c:v>26/09</c:v>
                </c:pt>
                <c:pt idx="4">
                  <c:v>27/09</c:v>
                </c:pt>
                <c:pt idx="5">
                  <c:v>28/09</c:v>
                </c:pt>
                <c:pt idx="6">
                  <c:v>29/09</c:v>
                </c:pt>
                <c:pt idx="7">
                  <c:v>30/09</c:v>
                </c:pt>
                <c:pt idx="8">
                  <c:v>01/10</c:v>
                </c:pt>
                <c:pt idx="9">
                  <c:v>02/10</c:v>
                </c:pt>
                <c:pt idx="10">
                  <c:v>03/10</c:v>
                </c:pt>
                <c:pt idx="11">
                  <c:v>04/10</c:v>
                </c:pt>
                <c:pt idx="12">
                  <c:v>05/10</c:v>
                </c:pt>
                <c:pt idx="13">
                  <c:v>06/10</c:v>
                </c:pt>
              </c:strCache>
            </c:strRef>
          </c:cat>
          <c:val>
            <c:numRef>
              <c:f>Sheet1!$B$2:$B$15</c:f>
              <c:numCache>
                <c:formatCode>General</c:formatCode>
                <c:ptCount val="14"/>
                <c:pt idx="0">
                  <c:v>299.0</c:v>
                </c:pt>
                <c:pt idx="1">
                  <c:v>309.0</c:v>
                </c:pt>
                <c:pt idx="2">
                  <c:v>303.0</c:v>
                </c:pt>
                <c:pt idx="3">
                  <c:v>248.0</c:v>
                </c:pt>
                <c:pt idx="4">
                  <c:v>150.0</c:v>
                </c:pt>
                <c:pt idx="5">
                  <c:v>315.0</c:v>
                </c:pt>
                <c:pt idx="6">
                  <c:v>321.0</c:v>
                </c:pt>
                <c:pt idx="7">
                  <c:v>271.0</c:v>
                </c:pt>
                <c:pt idx="8">
                  <c:v>352.0</c:v>
                </c:pt>
                <c:pt idx="9">
                  <c:v>332.0</c:v>
                </c:pt>
                <c:pt idx="10">
                  <c:v>257.0</c:v>
                </c:pt>
                <c:pt idx="11">
                  <c:v>184.0</c:v>
                </c:pt>
                <c:pt idx="12">
                  <c:v>335.0</c:v>
                </c:pt>
                <c:pt idx="13">
                  <c:v>304.0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PS</c:v>
                </c:pt>
              </c:strCache>
            </c:strRef>
          </c:tx>
          <c:spPr>
            <a:solidFill>
              <a:srgbClr val="E4022D"/>
            </a:solidFill>
            <a:ln w="31750" cap="flat">
              <a:solidFill>
                <a:srgbClr val="E4022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5"/>
            <c:spPr>
              <a:solidFill>
                <a:srgbClr val="E4022D"/>
              </a:solidFill>
              <a:ln w="9525" cap="flat">
                <a:solidFill>
                  <a:srgbClr val="E4022D"/>
                </a:solidFill>
                <a:prstDash val="solid"/>
                <a:round/>
              </a:ln>
              <a:effectLst/>
            </c:spPr>
          </c:marker>
          <c:cat>
            <c:strRef>
              <c:f>Sheet1!$A$2:$A$15</c:f>
              <c:strCache>
                <c:ptCount val="14"/>
                <c:pt idx="0">
                  <c:v>23/09</c:v>
                </c:pt>
                <c:pt idx="1">
                  <c:v>24/09</c:v>
                </c:pt>
                <c:pt idx="2">
                  <c:v>25/09</c:v>
                </c:pt>
                <c:pt idx="3">
                  <c:v>26/09</c:v>
                </c:pt>
                <c:pt idx="4">
                  <c:v>27/09</c:v>
                </c:pt>
                <c:pt idx="5">
                  <c:v>28/09</c:v>
                </c:pt>
                <c:pt idx="6">
                  <c:v>29/09</c:v>
                </c:pt>
                <c:pt idx="7">
                  <c:v>30/09</c:v>
                </c:pt>
                <c:pt idx="8">
                  <c:v>01/10</c:v>
                </c:pt>
                <c:pt idx="9">
                  <c:v>02/10</c:v>
                </c:pt>
                <c:pt idx="10">
                  <c:v>03/10</c:v>
                </c:pt>
                <c:pt idx="11">
                  <c:v>04/10</c:v>
                </c:pt>
                <c:pt idx="12">
                  <c:v>05/10</c:v>
                </c:pt>
                <c:pt idx="13">
                  <c:v>06/10</c:v>
                </c:pt>
              </c:strCache>
            </c:strRef>
          </c:cat>
          <c:val>
            <c:numRef>
              <c:f>Sheet1!$C$2:$C$15</c:f>
              <c:numCache>
                <c:formatCode>General</c:formatCode>
                <c:ptCount val="14"/>
                <c:pt idx="0">
                  <c:v>247.0</c:v>
                </c:pt>
                <c:pt idx="1">
                  <c:v>254.0</c:v>
                </c:pt>
                <c:pt idx="2">
                  <c:v>239.0</c:v>
                </c:pt>
                <c:pt idx="3">
                  <c:v>173.0</c:v>
                </c:pt>
                <c:pt idx="4">
                  <c:v>131.0</c:v>
                </c:pt>
                <c:pt idx="5">
                  <c:v>241.0</c:v>
                </c:pt>
                <c:pt idx="6">
                  <c:v>240.0</c:v>
                </c:pt>
                <c:pt idx="7">
                  <c:v>239.0</c:v>
                </c:pt>
                <c:pt idx="8">
                  <c:v>238.0</c:v>
                </c:pt>
                <c:pt idx="9">
                  <c:v>225.0</c:v>
                </c:pt>
                <c:pt idx="10">
                  <c:v>205.0</c:v>
                </c:pt>
                <c:pt idx="11">
                  <c:v>154.0</c:v>
                </c:pt>
                <c:pt idx="12">
                  <c:v>237.0</c:v>
                </c:pt>
                <c:pt idx="13">
                  <c:v>221.0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7E9ED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5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 -7,2% &amp; PS -12,0% MoM — Achievement Mencapai 15,0% (RE) / 13,5% (PS)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Executive Scorecard — BALINUSRA Regional</a:t>
            </a:r>
            <a:endParaRPr lang="en-US" sz="1500" dirty="0"/>
          </a:p>
        </p:txBody>
      </p:sp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8641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051560"/>
                <a:gridCol w="1051560"/>
                <a:gridCol w="1005840"/>
                <a:gridCol w="914400"/>
                <a:gridCol w="1234440"/>
                <a:gridCol w="960120"/>
                <a:gridCol w="12344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1.901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to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296265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Regional = agregasi target 10 WOK. IO tidak ditampilkan karena MTD-1/target/MoM IO tidak tersedia di JSON (hanya total MTD di audit reconciliation).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34290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Kontribusi Branch terhadap RE &amp; PS Regional</a:t>
            </a:r>
            <a:endParaRPr lang="en-US" sz="1500" dirty="0"/>
          </a:p>
        </p:txBody>
      </p:sp>
      <p:graphicFrame>
        <p:nvGraphicFramePr>
          <p:cNvPr id="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03320"/>
          <a:ext cx="8823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1051560"/>
                <a:gridCol w="1234440"/>
                <a:gridCol w="960120"/>
                <a:gridCol w="1051560"/>
                <a:gridCol w="1234440"/>
                <a:gridCol w="960120"/>
                <a:gridCol w="960120"/>
              </a:tblGrid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 ★ ▼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▲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696712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★ Kontributor volume PS terbesar     ▲ Pertumbuhan PS terbaik     ▼ Penurunan PS terdalam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RE–PS Menguat pada 6 Oktober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Pola Harian RE &amp; PS — 01–06 Oktober 2026 (MTD)</a:t>
            </a:r>
            <a:endParaRPr lang="en-US" sz="1500" dirty="0"/>
          </a:p>
        </p:txBody>
      </p:sp>
      <p:graphicFrame>
        <p:nvGraphicFramePr>
          <p:cNvPr id="8" name="Chart 0" descr=""/>
          <p:cNvGraphicFramePr/>
          <p:nvPr/>
        </p:nvGraphicFramePr>
        <p:xfrm>
          <a:off x="320040" y="1353312"/>
          <a:ext cx="11548872" cy="2331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730752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*Grafik menunjukkan pola harian MTD yang tersedia di sumber (bukan rekonsiliasi volume regional). Tren MTD-1 harian tidak tersedia — pembanding MTD-1 hanya ada sebagai total periode (lihat tabel run rate).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320040" y="411480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Run Rate Summary — Regional</a:t>
            </a:r>
            <a:endParaRPr lang="en-US" sz="15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389120"/>
          <a:ext cx="87782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828800"/>
                <a:gridCol w="1828800"/>
                <a:gridCol w="1828800"/>
                <a:gridCol w="18288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Metric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 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Achievement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11.730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9.966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9.516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8.236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5779008"/>
            <a:ext cx="115488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*Target dan achievement mengikuti definisi target pada JSON INARA untuk report date.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 Pendorong Utama PS (+0,5%), Denpasar Terdalam (-19,2%)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Branch Performance Detail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9939528" cy="914400"/>
        </p:xfrm>
        <a:graphic>
          <a:graphicData uri="http://schemas.openxmlformats.org/drawingml/2006/table">
            <a:tbl>
              <a:tblPr/>
              <a:tblGrid>
                <a:gridCol w="1051560"/>
                <a:gridCol w="658368"/>
                <a:gridCol w="658368"/>
                <a:gridCol w="621792"/>
                <a:gridCol w="603504"/>
                <a:gridCol w="603504"/>
                <a:gridCol w="685800"/>
                <a:gridCol w="658368"/>
                <a:gridCol w="658368"/>
                <a:gridCol w="621792"/>
                <a:gridCol w="603504"/>
                <a:gridCol w="603504"/>
                <a:gridCol w="685800"/>
                <a:gridCol w="566928"/>
                <a:gridCol w="658368"/>
              </a:tblGrid>
              <a:tr h="40233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ΔPS/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-5,8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-9,3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-12,1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+6,2 pp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MoM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6245352" y="34290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Ranking Achievement PS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320040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1600200" y="3785616"/>
            <a:ext cx="3383280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3" name="Text 10"/>
          <p:cNvSpPr/>
          <p:nvPr/>
        </p:nvSpPr>
        <p:spPr>
          <a:xfrm>
            <a:off x="5056632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+0,5%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320040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1600200" y="4096512"/>
            <a:ext cx="791251" cy="182880"/>
          </a:xfrm>
          <a:prstGeom prst="rect">
            <a:avLst/>
          </a:prstGeom>
          <a:solidFill>
            <a:srgbClr val="1E7B45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2464603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-6,9%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320040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1600200" y="4407408"/>
            <a:ext cx="286487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19" name="Text 16"/>
          <p:cNvSpPr/>
          <p:nvPr/>
        </p:nvSpPr>
        <p:spPr>
          <a:xfrm>
            <a:off x="4538226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-8,9%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320040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1600200" y="4718304"/>
            <a:ext cx="3219573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2" name="Text 19"/>
          <p:cNvSpPr/>
          <p:nvPr/>
        </p:nvSpPr>
        <p:spPr>
          <a:xfrm>
            <a:off x="4892925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-19,2%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6245352" y="374904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Flores</a:t>
            </a:r>
            <a:endParaRPr lang="en-US" sz="1050" dirty="0"/>
          </a:p>
        </p:txBody>
      </p:sp>
      <p:sp>
        <p:nvSpPr>
          <p:cNvPr id="24" name="Shape 21"/>
          <p:cNvSpPr/>
          <p:nvPr/>
        </p:nvSpPr>
        <p:spPr>
          <a:xfrm>
            <a:off x="7525512" y="3785616"/>
            <a:ext cx="3383280" cy="182880"/>
          </a:xfrm>
          <a:prstGeom prst="rect">
            <a:avLst/>
          </a:prstGeom>
          <a:solidFill>
            <a:srgbClr val="8A6100"/>
          </a:solidFill>
          <a:ln/>
        </p:spPr>
        <p:txBody>
          <a:bodyPr/>
          <a:p/>
        </p:txBody>
      </p:sp>
      <p:sp>
        <p:nvSpPr>
          <p:cNvPr id="25" name="Text 22"/>
          <p:cNvSpPr/>
          <p:nvPr/>
        </p:nvSpPr>
        <p:spPr>
          <a:xfrm>
            <a:off x="10981944" y="3749040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8A61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15,8%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6245352" y="4059936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Mataram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7525512" y="4096512"/>
            <a:ext cx="3045737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28" name="Text 25"/>
          <p:cNvSpPr/>
          <p:nvPr/>
        </p:nvSpPr>
        <p:spPr>
          <a:xfrm>
            <a:off x="10644401" y="4059936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13,8%</a:t>
            </a:r>
            <a:endParaRPr lang="en-US" sz="1050" dirty="0"/>
          </a:p>
        </p:txBody>
      </p:sp>
      <p:sp>
        <p:nvSpPr>
          <p:cNvPr id="29" name="Text 26"/>
          <p:cNvSpPr/>
          <p:nvPr/>
        </p:nvSpPr>
        <p:spPr>
          <a:xfrm>
            <a:off x="6245352" y="4370832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Denpasar</a:t>
            </a:r>
            <a:endParaRPr lang="en-US" sz="1050" dirty="0"/>
          </a:p>
        </p:txBody>
      </p:sp>
      <p:sp>
        <p:nvSpPr>
          <p:cNvPr id="30" name="Shape 27"/>
          <p:cNvSpPr/>
          <p:nvPr/>
        </p:nvSpPr>
        <p:spPr>
          <a:xfrm>
            <a:off x="7525512" y="4407408"/>
            <a:ext cx="2857341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1" name="Text 28"/>
          <p:cNvSpPr/>
          <p:nvPr/>
        </p:nvSpPr>
        <p:spPr>
          <a:xfrm>
            <a:off x="10456005" y="4370832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13,6%</a:t>
            </a:r>
            <a:endParaRPr lang="en-US" sz="1050" dirty="0"/>
          </a:p>
        </p:txBody>
      </p:sp>
      <p:sp>
        <p:nvSpPr>
          <p:cNvPr id="32" name="Text 29"/>
          <p:cNvSpPr/>
          <p:nvPr/>
        </p:nvSpPr>
        <p:spPr>
          <a:xfrm>
            <a:off x="6245352" y="4681728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Kupang</a:t>
            </a:r>
            <a:endParaRPr lang="en-US" sz="1050" dirty="0"/>
          </a:p>
        </p:txBody>
      </p:sp>
      <p:sp>
        <p:nvSpPr>
          <p:cNvPr id="33" name="Shape 30"/>
          <p:cNvSpPr/>
          <p:nvPr/>
        </p:nvSpPr>
        <p:spPr>
          <a:xfrm>
            <a:off x="7525512" y="4718304"/>
            <a:ext cx="2237204" cy="182880"/>
          </a:xfrm>
          <a:prstGeom prst="rect">
            <a:avLst/>
          </a:prstGeom>
          <a:solidFill>
            <a:srgbClr val="C0392B"/>
          </a:solidFill>
          <a:ln/>
        </p:spPr>
        <p:txBody>
          <a:bodyPr/>
          <a:p/>
        </p:txBody>
      </p:sp>
      <p:sp>
        <p:nvSpPr>
          <p:cNvPr id="34" name="Text 31"/>
          <p:cNvSpPr/>
          <p:nvPr/>
        </p:nvSpPr>
        <p:spPr>
          <a:xfrm>
            <a:off x="9835868" y="4681728"/>
            <a:ext cx="777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10,6%</a:t>
            </a:r>
            <a:endParaRPr lang="en-US" sz="1050" dirty="0"/>
          </a:p>
        </p:txBody>
      </p:sp>
      <p:sp>
        <p:nvSpPr>
          <p:cNvPr id="35" name="Text 32"/>
          <p:cNvSpPr/>
          <p:nvPr/>
        </p:nvSpPr>
        <p:spPr>
          <a:xfrm>
            <a:off x="320040" y="526694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Kontribusi Branch terhadap Gap Regional (PS)</a:t>
            </a:r>
            <a:endParaRPr lang="en-US" sz="1500" dirty="0"/>
          </a:p>
        </p:txBody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541264"/>
          <a:ext cx="896112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828800"/>
                <a:gridCol w="1828800"/>
                <a:gridCol w="1828800"/>
                <a:gridCol w="1828800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 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 thd Gap Regional (RE)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3.579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4.360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1.764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2.112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2.556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Ende Sikka Tertinggi (+15,9%), Bali Barat Terdalam (-49,0%) — 12 WOK MoM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WOK Performance — Seluruh 12 WOK (dikelompokkan per Branch)</a:t>
            </a:r>
            <a:endParaRPr lang="en-US" sz="15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10332720" cy="914400"/>
        </p:xfrm>
        <a:graphic>
          <a:graphicData uri="http://schemas.openxmlformats.org/drawingml/2006/table">
            <a:tbl>
              <a:tblPr/>
              <a:tblGrid>
                <a:gridCol w="914400"/>
                <a:gridCol w="2834640"/>
                <a:gridCol w="777240"/>
                <a:gridCol w="713232"/>
                <a:gridCol w="713232"/>
                <a:gridCol w="777240"/>
                <a:gridCol w="777240"/>
                <a:gridCol w="713232"/>
                <a:gridCol w="713232"/>
                <a:gridCol w="777240"/>
                <a:gridCol w="621792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Achv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Gap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1.091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2.441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1.980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+17,5%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1.076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2402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443484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Ranking WOK — MoM PS &amp; Achievement PS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320040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MoM PS</a:t>
            </a:r>
            <a:endParaRPr lang="en-US" sz="105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42234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MoM PS</a:t>
            </a:r>
            <a:endParaRPr lang="en-US" sz="1050" dirty="0"/>
          </a:p>
        </p:txBody>
      </p:sp>
      <p:graphicFrame>
        <p:nvGraphicFramePr>
          <p:cNvPr id="1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42234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164428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3 — Achievement PS</a:t>
            </a:r>
            <a:endParaRPr lang="en-US" sz="1050" dirty="0"/>
          </a:p>
        </p:txBody>
      </p:sp>
      <p:graphicFrame>
        <p:nvGraphicFramePr>
          <p:cNvPr id="17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64428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8A61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6E2"/>
                    </a:solidFill>
                  </a:tcPr>
                </a:tc>
              </a:tr>
            </a:tbl>
          </a:graphicData>
        </a:graphic>
      </p:graphicFrame>
      <p:sp>
        <p:nvSpPr>
          <p:cNvPr id="16" name="Text 10"/>
          <p:cNvSpPr/>
          <p:nvPr/>
        </p:nvSpPr>
        <p:spPr>
          <a:xfrm>
            <a:off x="9086621" y="472744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3 — Achievement PS</a:t>
            </a:r>
            <a:endParaRPr lang="en-US" sz="1050" dirty="0"/>
          </a:p>
        </p:txBody>
      </p:sp>
      <p:graphicFrame>
        <p:nvGraphicFramePr>
          <p:cNvPr id="21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9086621" y="4937760"/>
          <a:ext cx="2743200" cy="914400"/>
        </p:xfrm>
        <a:graphic>
          <a:graphicData uri="http://schemas.openxmlformats.org/drawingml/2006/table">
            <a:tbl>
              <a:tblPr/>
              <a:tblGrid>
                <a:gridCol w="187452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Kota Denpasar Penyumbang PS Absolut Terbesar (+12), Karang Asem Tumbuh Tertinggi (+66,7%)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Top &amp; Bottom 5 Kabupaten — Pertumbuhan Absolut PS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20040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(Selisih PS Terbesar)</a:t>
            </a:r>
            <a:endParaRPr lang="en-US" sz="10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6245352" y="1389888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(Selisih PS Terkecil)</a:t>
            </a:r>
            <a:endParaRPr lang="en-US" sz="105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609344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8"/>
          <p:cNvSpPr/>
          <p:nvPr/>
        </p:nvSpPr>
        <p:spPr>
          <a:xfrm>
            <a:off x="320040" y="326440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Top &amp; Bottom 5 Kabupaten — MoM PS (%)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20040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5 (MoM PS Tertinggi)</a:t>
            </a:r>
            <a:endParaRPr lang="en-US" sz="1050" dirty="0"/>
          </a:p>
        </p:txBody>
      </p:sp>
      <p:graphicFrame>
        <p:nvGraphicFramePr>
          <p:cNvPr id="16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5" name="Text 10"/>
          <p:cNvSpPr/>
          <p:nvPr/>
        </p:nvSpPr>
        <p:spPr>
          <a:xfrm>
            <a:off x="6245352" y="3557016"/>
            <a:ext cx="56052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5 (MoM PS Terendah)</a:t>
            </a:r>
            <a:endParaRPr lang="en-US" sz="1050" dirty="0"/>
          </a:p>
        </p:txBody>
      </p:sp>
      <p:graphicFrame>
        <p:nvGraphicFramePr>
          <p:cNvPr id="21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776472"/>
          <a:ext cx="5477256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868680"/>
                <a:gridCol w="713232"/>
                <a:gridCol w="713232"/>
                <a:gridCol w="658368"/>
                <a:gridCol w="713232"/>
                <a:gridCol w="57607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7" name="Text 11"/>
          <p:cNvSpPr/>
          <p:nvPr/>
        </p:nvSpPr>
        <p:spPr>
          <a:xfrm>
            <a:off x="320040" y="54315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Kontribusi Top/Bottom 5 terhadap Perubahan PS Regional</a:t>
            </a:r>
            <a:endParaRPr lang="en-US" sz="1500" dirty="0"/>
          </a:p>
        </p:txBody>
      </p:sp>
      <p:graphicFrame>
        <p:nvGraphicFramePr>
          <p:cNvPr id="26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05856"/>
          <a:ext cx="11548872" cy="914400"/>
        </p:xfrm>
        <a:graphic>
          <a:graphicData uri="http://schemas.openxmlformats.org/drawingml/2006/table">
            <a:tbl>
              <a:tblPr/>
              <a:tblGrid>
                <a:gridCol w="3849624"/>
                <a:gridCol w="3849624"/>
                <a:gridCol w="3849624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Top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Selisih PS — Bottom 5 Kabupaten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Net Perubahan PS Regional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-169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600" b="1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-175</a:t>
                      </a:r>
                      <a:endParaRPr lang="en-US" sz="16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9" name="Text 12"/>
          <p:cNvSpPr/>
          <p:nvPr/>
        </p:nvSpPr>
        <p:spPr>
          <a:xfrm>
            <a:off x="320040" y="6528816"/>
            <a:ext cx="11548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Dari 38 kabupaten: Top 5 menyumbang +40, Bottom 5 -169, dan perubahan PS regional -175.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75 Mbps Tumbuh Tertinggi (+2,8%), TSEL One ≤30 Mbps Turun Terdalam (-23,6%)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RE &amp; PS Performance by Speed — Regional (6 kelompok, tidak digabung)</a:t>
            </a:r>
            <a:endParaRPr lang="en-US" sz="15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46150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777240"/>
                <a:gridCol w="777240"/>
                <a:gridCol w="713232"/>
                <a:gridCol w="777240"/>
                <a:gridCol w="777240"/>
                <a:gridCol w="713232"/>
                <a:gridCol w="640080"/>
                <a:gridCol w="868680"/>
              </a:tblGrid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Speed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≥100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≤30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TSEL One &gt;30 Mbps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602736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High Speed Performance by WOK — PS ≥50 Mbps Reguler (TSEL One dipisah)</a:t>
            </a:r>
            <a:endParaRPr lang="en-US" sz="1500" dirty="0"/>
          </a:p>
        </p:txBody>
      </p:sp>
      <p:graphicFrame>
        <p:nvGraphicFramePr>
          <p:cNvPr id="1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19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858768"/>
          <a:ext cx="5184648" cy="914400"/>
        </p:xfrm>
        <a:graphic>
          <a:graphicData uri="http://schemas.openxmlformats.org/drawingml/2006/table">
            <a:tbl>
              <a:tblPr/>
              <a:tblGrid>
                <a:gridCol w="2423160"/>
                <a:gridCol w="713232"/>
                <a:gridCol w="713232"/>
                <a:gridCol w="621792"/>
                <a:gridCol w="71323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WOK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+16,1%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2" name="Text 7"/>
          <p:cNvSpPr/>
          <p:nvPr/>
        </p:nvSpPr>
        <p:spPr>
          <a:xfrm>
            <a:off x="320040" y="534009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PS speed reguler 50/75/100 Mbps ke atas; TSEL One dipisahkan</a:t>
            </a:r>
            <a:endParaRPr lang="en-US" sz="900" dirty="0"/>
          </a:p>
        </p:txBody>
      </p:sp>
      <p:sp>
        <p:nvSpPr>
          <p:cNvPr id="13" name="Text 8"/>
          <p:cNvSpPr/>
          <p:nvPr/>
        </p:nvSpPr>
        <p:spPr>
          <a:xfrm>
            <a:off x="320040" y="5541264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Channel Performance — Agency vs Grapari (Regional)</a:t>
            </a:r>
            <a:endParaRPr lang="en-US" sz="1500" dirty="0"/>
          </a:p>
        </p:txBody>
      </p:sp>
      <p:graphicFrame>
        <p:nvGraphicFramePr>
          <p:cNvPr id="2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797296"/>
          <a:ext cx="10378440" cy="914400"/>
        </p:xfrm>
        <a:graphic>
          <a:graphicData uri="http://schemas.openxmlformats.org/drawingml/2006/table">
            <a:tbl>
              <a:tblPr/>
              <a:tblGrid>
                <a:gridCol w="1280160"/>
                <a:gridCol w="1234440"/>
                <a:gridCol w="1234440"/>
                <a:gridCol w="1005840"/>
                <a:gridCol w="1234440"/>
                <a:gridCol w="1234440"/>
                <a:gridCol w="1005840"/>
                <a:gridCol w="914400"/>
                <a:gridCol w="123444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Channel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Agency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1.608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1.448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1.264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1.106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-12,5%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Grapari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SF Active PS -4,0% MoM, DJP Data Transition — SF Register 883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Sales Force Scorecard — Regional</a:t>
            </a:r>
            <a:endParaRPr lang="en-US" sz="15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713232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280160"/>
                <a:gridCol w="1280160"/>
                <a:gridCol w="1280160"/>
                <a:gridCol w="128016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Indikator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Register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356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 Active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Aktivitas 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4.052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N/A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Data Transition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320040" y="310896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SF/DJP per Branch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320040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C.  ODP Occupancy Summary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6245352" y="5010912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D.  DJP pada ODP Khusus</a:t>
            </a:r>
            <a:endParaRPr lang="en-US" sz="1500" dirty="0"/>
          </a:p>
        </p:txBody>
      </p:sp>
      <p:graphicFrame>
        <p:nvGraphicFramePr>
          <p:cNvPr id="22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5266944"/>
          <a:ext cx="5330952" cy="914400"/>
        </p:xfrm>
        <a:graphic>
          <a:graphicData uri="http://schemas.openxmlformats.org/drawingml/2006/table">
            <a:tbl>
              <a:tblPr/>
              <a:tblGrid>
                <a:gridCol w="868680"/>
                <a:gridCol w="868680"/>
                <a:gridCol w="868680"/>
                <a:gridCol w="868680"/>
                <a:gridCol w="868680"/>
                <a:gridCol w="987552"/>
              </a:tblGrid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ORANGE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YELLOW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BLACK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ODP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15.259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37.865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24.697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5.249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83.134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B4570"/>
                    </a:solidFill>
                  </a:tcPr>
                </a:tc>
              </a:tr>
              <a:tr h="20116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29,7%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Shape 9"/>
          <p:cNvSpPr/>
          <p:nvPr/>
        </p:nvSpPr>
        <p:spPr>
          <a:xfrm>
            <a:off x="6245352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5" name="Text 10"/>
          <p:cNvSpPr/>
          <p:nvPr/>
        </p:nvSpPr>
        <p:spPr>
          <a:xfrm>
            <a:off x="6355080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BLACK</a:t>
            </a:r>
            <a:endParaRPr lang="en-US" sz="1050" dirty="0"/>
          </a:p>
        </p:txBody>
      </p:sp>
      <p:sp>
        <p:nvSpPr>
          <p:cNvPr id="16" name="Text 11"/>
          <p:cNvSpPr/>
          <p:nvPr/>
        </p:nvSpPr>
        <p:spPr>
          <a:xfrm>
            <a:off x="6355080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5.249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9201836" y="5266944"/>
            <a:ext cx="2819324" cy="960120"/>
          </a:xfrm>
          <a:prstGeom prst="roundRect">
            <a:avLst>
              <a:gd name="adj" fmla="val 2857"/>
            </a:avLst>
          </a:prstGeom>
          <a:solidFill>
            <a:srgbClr val="F5F6F8"/>
          </a:solidFill>
          <a:ln w="12700">
            <a:solidFill>
              <a:srgbClr val="DCE0E6"/>
            </a:solidFill>
            <a:prstDash val="solid"/>
          </a:ln>
        </p:spPr>
        <p:txBody>
          <a:bodyPr/>
          <a:p/>
        </p:txBody>
      </p:sp>
      <p:sp>
        <p:nvSpPr>
          <p:cNvPr id="18" name="Text 13"/>
          <p:cNvSpPr/>
          <p:nvPr/>
        </p:nvSpPr>
        <p:spPr>
          <a:xfrm>
            <a:off x="9311564" y="5340096"/>
            <a:ext cx="25998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ODP GREENFIELD</a:t>
            </a:r>
            <a:endParaRPr lang="en-US" sz="1050" dirty="0"/>
          </a:p>
        </p:txBody>
      </p:sp>
      <p:sp>
        <p:nvSpPr>
          <p:cNvPr id="19" name="Text 14"/>
          <p:cNvSpPr/>
          <p:nvPr/>
        </p:nvSpPr>
        <p:spPr>
          <a:xfrm>
            <a:off x="9311564" y="5541264"/>
            <a:ext cx="2599868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Jumlah ODP: 1.404
Dikunjungi: 0 (0,0%)
Visit DJP: 0</a:t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2427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pPr indent="0" marL="0">
              <a:lnSpc>
                <a:spcPts val="1300"/>
              </a:lnSpc>
              <a:buNone/>
            </a:pPr>
            <a:r>
              <a:rPr lang="en-US" sz="115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/>
            </a:r>
            <a:endParaRPr lang="en-US" sz="100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320040" y="3346704"/>
          <a:ext cx="9262861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2540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540021"/>
                <a:gridCol w="615024"/>
                <a:gridCol w="615024"/>
                <a:gridCol w="540021"/>
              </a:tblGrid>
              <a:tr h="152400">
                <a:tc rowSpan="2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Branch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SF Register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RE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Active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3">
                  <a:txBody>
                    <a:bodyPr anchor="ctr"/>
                    <a:lstStyle/>
                    <a:p>
                      <a:pPr algn="ctr"/>
                      <a:r>
                        <a:rPr sz="840" b="1">
                          <a:solidFill>
                            <a:srgbClr val="FFFFFF"/>
                          </a:solidFill>
                          <a:latin typeface="Arial"/>
                        </a:rPr>
                        <a:t>Aktivitas DJP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152400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5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351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347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1.492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-4,7%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514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152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+2,6%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72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152400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237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127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-5,5%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1.349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687386"/>
                          </a:solidFill>
                          <a:latin typeface="Arial"/>
                        </a:rPr>
                        <a:t>N/A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SF Segmentation by Class &amp; Matrix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SF by Class</a:t>
            </a:r>
            <a:endParaRPr lang="en-US" sz="15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53212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Elite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1,1%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Performer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0,8%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314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Greenfield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6,6%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Junior Plus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2,3%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245352" y="10972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SF by Matrix</a:t>
            </a:r>
            <a:endParaRPr lang="en-US" sz="15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71500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868680"/>
                <a:gridCol w="868680"/>
                <a:gridCol w="868680"/>
                <a:gridCol w="868680"/>
                <a:gridCol w="868680"/>
              </a:tblGrid>
              <a:tr h="27432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Segmen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Reg.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SF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Kontribusi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Active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DJP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Champion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27,2%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Efficient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8,5%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Explorer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29,4%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 Coaching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308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34,9%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5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2871216"/>
            <a:ext cx="115488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Catatan: satu SF dapat aktif pada lebih dari satu kelompok speed — jumlah SF Active tidak dijumlahkan lintas kelompok.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SF Class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22376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A. SF Active PS per Class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987552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 / 20 (70,0%)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89 / 306 (29,1%)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-6,3%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5 (80,0%)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6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123 / 347 (35,4%)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-4,7%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 / 13 (92,3%)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42 / 129 (32,6%)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-12,5% | Turun 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54 / 143 (37,8%)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-11,5%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9 (44,4%)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55 / 143 (38,5%)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-19,1%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 / 4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63 / 156 (40,4%)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-17,1%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16 (62,5%)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+11,1%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95 / 210 (45,2%)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+9,2%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 (100,0%)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116 / 237 (48,9%)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+8,4%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40 / 58 (69,0%)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+2,6%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281 / 788 (35,7%)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-5,7% | Turun 175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18 / 20 (90,0%)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-5,3%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7 / 7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 / 10 (100,0%)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356 / 901 (39,5%)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-4,6% | Turun 216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2386584"/>
            <a:ext cx="73152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B. PS per Class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2651760"/>
          <a:ext cx="11548870" cy="11155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53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34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492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51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+30,8%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170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+75,0%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147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+4,8%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214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-0,9%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52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9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+12,5%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297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85928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+22,0%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673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100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-26,5%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-8,5%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135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-24,2%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-12,4%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320040" y="3886200"/>
            <a:ext cx="822960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400" b="1">
                <a:solidFill>
                  <a:srgbClr val="102C50"/>
                </a:solidFill>
                <a:latin typeface="Arial"/>
              </a:rPr>
              <a:t>C. SF Productive per Class (minimum 10 PS)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4151376"/>
          <a:ext cx="11548870" cy="1280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45438"/>
                <a:gridCol w="1607317"/>
                <a:gridCol w="1607317"/>
                <a:gridCol w="1607317"/>
                <a:gridCol w="1607317"/>
                <a:gridCol w="1607317"/>
                <a:gridCol w="1666847"/>
              </a:tblGrid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Greenfield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Junior Plus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Performer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Elite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—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306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5 (20,0%)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-50,0%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2 / 6 (33,3%)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-40,0%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11 / 347 (3,2%)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-35,3% | Turun 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129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9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143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34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4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156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D73527"/>
                          </a:solidFill>
                          <a:latin typeface="Arial"/>
                        </a:rPr>
                        <a:t>MoM -100,0% | Turun 40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16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210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43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10 (10,0%)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1 (0,0%)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0 / 0 (—)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1 / 237 (0,4%)</a:t>
                      </a:r>
                    </a:p>
                    <a:p>
                      <a:pPr algn="ctr"/>
                      <a:r>
                        <a:rPr sz="770" b="0">
                          <a:solidFill>
                            <a:srgbClr val="20252B"/>
                          </a:solidFill>
                          <a:latin typeface="Arial"/>
                        </a:rPr>
                        <a:t>MoM 0,0% | Turun 53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13360"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58 (3,4%)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— | Turun 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0 / 788 (0,0%)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-100,0% | Turun 175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20 (10,0%)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-50,0% | Turun 13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2 / 7 (28,6%)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MoM 0,0% | Turun 3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6 / 10 (60,0%)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7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70" b="1">
                          <a:solidFill>
                            <a:srgbClr val="20252B"/>
                          </a:solidFill>
                          <a:latin typeface="Arial"/>
                        </a:rPr>
                        <a:t>12 / 901 (1,3%)</a:t>
                      </a:r>
                    </a:p>
                    <a:p>
                      <a:pPr algn="ctr"/>
                      <a:r>
                        <a:rPr sz="770" b="1">
                          <a:solidFill>
                            <a:srgbClr val="D73527"/>
                          </a:solidFill>
                          <a:latin typeface="Arial"/>
                        </a:rPr>
                        <a:t>MoM -40,0% | Turun 216</a:t>
                      </a:r>
                    </a:p>
                  </a:txBody>
                  <a:tcPr marL="18288" marR="18288" marT="0" marB="0">
                    <a:solidFill>
                      <a:srgbClr val="E9EDF2"/>
                    </a:solidFill>
                  </a:tcPr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320040" y="5596128"/>
            <a:ext cx="11338560" cy="201168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19" b="0">
                <a:solidFill>
                  <a:srgbClr val="687386"/>
                </a:solidFill>
                <a:latin typeface="Arial"/>
              </a:rPr>
              <a:t>Active = minimum 1 PS. Turun = jumlah SF dengan PS MTD lebih rendah dibanding MTD-1 pada periode tanggal yang sama.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Top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RE</a:t>
            </a:r>
            <a:endParaRPr lang="en-US" sz="11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AWANG DARMAWAN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FITRI YUSINTA ELIK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Novi Rohmatul hazijah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HILDEGARDIS SALLY DOMAKING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MIRAH PADMINI,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[TECHNICIAN] USAMAH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ALEXANDRA INJEL FERNANDES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THERESIA NETIANA DELOS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Handoko Priadtmono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Septian Adiputra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7B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10 — Growth PS</a:t>
            </a:r>
            <a:endParaRPr lang="en-US" sz="1100" dirty="0"/>
          </a:p>
        </p:txBody>
      </p:sp>
      <p:graphicFrame>
        <p:nvGraphicFramePr>
          <p:cNvPr id="1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MARIANIS TAPIN WOKAL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Anmisa putrianingsih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IMAM BUDIYANSYAH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JANUARIUS PAULUS KOPONG HADA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 MADE MAWAYANA 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YUSUF MARIO BENNY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Suryani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JEVRIANUS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Fanny Aulia Andita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SHINTIA SRIGANTINY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Bottom 10 SF berdasarkan Pertumbuhan RE &amp; PS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RE</a:t>
            </a:r>
            <a:endParaRPr lang="en-US" sz="11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Indra syah putra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FIRMANSYAH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Damarbudi prakoso SH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Lalu anggarita arya sukma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IRMA NUR 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Ida ayu Made Sri Pradnya tari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Herpan jayadi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ROBERTUS BEDA KOTEN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umar mangu laga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Kunzita Lazuardi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187288" y="1115568"/>
            <a:ext cx="568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039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Bottom 10 — Growth PS</a:t>
            </a:r>
            <a:endParaRPr lang="en-US" sz="11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187288" y="1335024"/>
          <a:ext cx="4946904" cy="914400"/>
        </p:xfrm>
        <a:graphic>
          <a:graphicData uri="http://schemas.openxmlformats.org/drawingml/2006/table">
            <a:tbl>
              <a:tblPr/>
              <a:tblGrid>
                <a:gridCol w="1965960"/>
                <a:gridCol w="658368"/>
                <a:gridCol w="566928"/>
                <a:gridCol w="566928"/>
                <a:gridCol w="566928"/>
                <a:gridCol w="621792"/>
              </a:tblGrid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Nama SF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Branch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Selisih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Growth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Abdul Minhaq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ALVIN HIDAYAT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HERLINA JULIANTHI EDDY 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Sumiyati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Edy Susilo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MISION NARIS POIK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WINDA SAPUTRI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YUNESTI DIMA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ROSA NINGRUM FATMALA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DIANA TRI ANGGRAINI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320040" y="4590288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(%) dihitung dari volume RE/PS periode berjalan terhadap periode sebelumnya per SF Code.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Detail Seluruh 12 WOK &amp; Kabupaten Denpasar, Flores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Seluruh 12 WOK  (Br. = Branch: DPS Denpasar, FLR Flores, KPG Kupang, MTR Mataram)</a:t>
            </a:r>
            <a:endParaRPr lang="en-US" sz="15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67,9%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 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+29,3%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3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53312"/>
          <a:ext cx="5632704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 Rote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 Timtim 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3172968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B.  Kabupaten Denpasar &amp; Flores (18 dari 38 kabupaten)</a:t>
            </a:r>
            <a:endParaRPr lang="en-US" sz="1500" dirty="0"/>
          </a:p>
        </p:txBody>
      </p:sp>
      <p:graphicFrame>
        <p:nvGraphicFramePr>
          <p:cNvPr id="34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Badung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Bangli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95,2%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Buleleng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-47,4%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-61,0%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Gianyar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Jembrana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-32,1%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Karang Asem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62,5%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Klungkung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+14,3%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Denpasar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Tabanan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45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3410712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Alor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Ende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+34,0%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Flores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Lembata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—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9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Manggarai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+36,2%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59,4%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Ngada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+38,1%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37744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Sikka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E4022D"/>
          </a:solidFill>
          <a:ln/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320040" y="73152"/>
            <a:ext cx="9418320" cy="658368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 — Kabupaten Kupang &amp; Mataram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20040" y="749808"/>
            <a:ext cx="9418320" cy="16459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MTD 01–06 Okt 2026 vs MTD-1 01–06 Sep 2026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778240" y="109728"/>
            <a:ext cx="3090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Telkomsel — BALINUSRA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778240" y="4023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FBD9D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GM Regional Performance Review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20040" y="1097280"/>
            <a:ext cx="11548872" cy="256032"/>
          </a:xfrm>
          <a:prstGeom prst="rect">
            <a:avLst/>
          </a:prstGeom>
          <a:noFill/>
          <a:ln/>
        </p:spPr>
        <p:txBody>
          <a:bodyPr wrap="square" lIns="0" tIns="38100" rIns="2540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32A4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A.  Kabupaten Kupang &amp; Mataram</a:t>
            </a:r>
            <a:endParaRPr lang="en-US" sz="15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Belu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Kupang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+32,7%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-8,9%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63,1%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Malaka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C039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C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Rote Ndao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+133,3%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Sabu Raijua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+50,0%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-35,7%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-60,0%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+11,1%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Selatan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Timor Tengah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KPG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-9,1%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2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245352" y="1371600"/>
          <a:ext cx="5084064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365760"/>
                <a:gridCol w="365760"/>
                <a:gridCol w="457200"/>
                <a:gridCol w="530352"/>
                <a:gridCol w="365760"/>
                <a:gridCol w="457200"/>
                <a:gridCol w="530352"/>
                <a:gridCol w="548640"/>
              </a:tblGrid>
              <a:tr h="21945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Area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Br.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M-1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MTD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PS/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A4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-4,8%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Dompu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+40,9%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Bima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-13,3%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Kota Mataram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-23,5%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+2,9%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Tengah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+37,1%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-15,4%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45,8%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Timur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E7B45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+18,8%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Lombok Utara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17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-19,0%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13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-7,7%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-50,6%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D73527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-16,7%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9E7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79,5%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Sumbawa Barat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MTR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21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+75,0%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6B728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37D3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+66,7%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5F4E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4272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71,4%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38100" marR="38100" marT="12700" marB="12700" anchor="ctr">
                    <a:lnL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CE0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320040" y="4837176"/>
            <a:ext cx="115488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Bersama Slide 11 (Denpasar &amp; Flores), tabel ini mencakup seluruh 38 kabupaten—masing-masing tampil tepat satu kali.</a:t>
            </a:r>
            <a:endParaRPr lang="en-US" sz="9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PS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PS by Speed — Region &amp; Branch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+19,5%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16,3%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102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113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54,9%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+16,7%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94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13,7%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+6,6%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79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-30,4%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-50,0%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71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62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83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24,6%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-33,3%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697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563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206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190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173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363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338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Appendix — Revenue New Sales by Speed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" y="7589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A.  Revenue New Sales by Speed — Region &amp; Branch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98079" y="777240"/>
            <a:ext cx="43434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850" b="0">
                <a:solidFill>
                  <a:srgbClr val="687386"/>
                </a:solidFill>
                <a:latin typeface="Arial"/>
              </a:rPr>
              <a:t>Revenue = total price_package dari PS unik per order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20040" y="1078992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50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75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95,5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-15,1%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51,8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49,8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33,3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-31,4%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28,0%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20,7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+15,8%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17,4%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25,5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22,9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45,9%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14,8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+17,9%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11,5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8,6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16,9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+5,6%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43,1%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12,5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+38,7%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21,0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20,5%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7,7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9,3%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320040" y="3273552"/>
            <a:ext cx="6583680" cy="25603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B.  Kelompok Speed Lanjutan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20040" y="3584448"/>
          <a:ext cx="11548872" cy="1965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  <a:gridCol w="798576"/>
              </a:tblGrid>
              <a:tr h="280851">
                <a:tc rowSpan="2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Area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≥100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≤30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gridSpan="4"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TSEL One &gt;30 Mbps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80851">
                <a:tc v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36577D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69,0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63,0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-21,9%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8,8%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23,7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25,9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+8,9%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21,8%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17,9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13,8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-22,9%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285,0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11,1%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930,0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2,0%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1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6,6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-19,9%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12,8%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0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—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1,1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615,0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-46,5%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80854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33,2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26,7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-19,6%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33,5%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14,2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-20,7%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14,2%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875,0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560,0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-36,0%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0,7%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20040" y="5760720"/>
          <a:ext cx="7315197" cy="71323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7138"/>
                <a:gridCol w="1405179"/>
                <a:gridCol w="1405179"/>
                <a:gridCol w="1239864"/>
                <a:gridCol w="1487837"/>
              </a:tblGrid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900" b="1">
                          <a:solidFill>
                            <a:srgbClr val="FFFFFF"/>
                          </a:solidFill>
                          <a:latin typeface="Arial"/>
                        </a:rPr>
                        <a:t>Contribution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Balinusra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313,3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286,3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Denpasar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133,9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118,9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Flores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45,4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46,4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137D3F"/>
                          </a:solidFill>
                          <a:latin typeface="Arial"/>
                        </a:rPr>
                        <a:t>+2,3%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Kupang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44,5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41,3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-7,1%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Mataram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Rp 89,5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1">
                          <a:solidFill>
                            <a:srgbClr val="20252B"/>
                          </a:solidFill>
                          <a:latin typeface="Arial"/>
                        </a:rPr>
                        <a:t>Rp 79,7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D73527"/>
                          </a:solidFill>
                          <a:latin typeface="Arial"/>
                        </a:rPr>
                        <a:t>-11,0%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50" b="0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310896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rial"/>
              </a:rPr>
              <a:t>Performance RE &amp; PS per Channel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93192"/>
            <a:ext cx="685800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050" b="0">
                <a:solidFill>
                  <a:srgbClr val="FFFFFF"/>
                </a:solidFill>
                <a:latin typeface="Arial"/>
              </a:rPr>
              <a:t>MTD 01–06 Okt 2026 vs MTD-1 01–06 Sep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0" y="109728"/>
            <a:ext cx="2697480" cy="22860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1300" b="1">
                <a:solidFill>
                  <a:srgbClr val="FFFFFF"/>
                </a:solidFill>
                <a:latin typeface="Arial"/>
              </a:rPr>
              <a:t>Telkomsel — BALINUSRA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0" y="384048"/>
            <a:ext cx="2697480" cy="164592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r"/>
            <a:r>
              <a:rPr sz="950" b="0">
                <a:solidFill>
                  <a:srgbClr val="FFFFFF"/>
                </a:solidFill>
                <a:latin typeface="Arial"/>
              </a:rPr>
              <a:t>GM Regional Performance Review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941832"/>
          <a:ext cx="11548867" cy="1572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6280"/>
                <a:gridCol w="1064412"/>
                <a:gridCol w="1064412"/>
                <a:gridCol w="957970"/>
                <a:gridCol w="1064412"/>
                <a:gridCol w="1064412"/>
                <a:gridCol w="957970"/>
                <a:gridCol w="1383735"/>
                <a:gridCol w="1117632"/>
                <a:gridCol w="1117632"/>
              </a:tblGrid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Channel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MTD-1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PS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MTD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Rev NS MoM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800" b="1">
                          <a:solidFill>
                            <a:srgbClr val="FFFFFF"/>
                          </a:solidFill>
                          <a:latin typeface="Arial"/>
                        </a:rPr>
                        <a:t>% Contr. PS</a:t>
                      </a:r>
                    </a:p>
                  </a:txBody>
                  <a:tcPr marL="18288" marR="18288" marT="0" marB="0">
                    <a:solidFill>
                      <a:srgbClr val="102C50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Total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1.901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1.764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1.455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1.280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-12,0%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Rp 286,3 Jt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D73527"/>
                          </a:solidFill>
                          <a:latin typeface="Arial"/>
                        </a:rPr>
                        <a:t>-8,6%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100,0%</a:t>
                      </a:r>
                    </a:p>
                  </a:txBody>
                  <a:tcPr marL="18288" marR="18288" marT="0" marB="0">
                    <a:solidFill>
                      <a:srgbClr val="F4F6F8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Agency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1.608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1.448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1.264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1.106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-12,5%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242,0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-9,2%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86,4%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Grapari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144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146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97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87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-10,3%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20,6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-6,0%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6,8%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Web &amp; Apps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106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126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+18,9%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66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67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+1,5%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18,7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+1,4%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5,2%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1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B2B2C &amp; Others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36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39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137D3F"/>
                          </a:solidFill>
                          <a:latin typeface="Arial"/>
                        </a:rPr>
                        <a:t>+8,3%</a:t>
                      </a:r>
                    </a:p>
                  </a:txBody>
                  <a:tcPr marL="18288" marR="18288" marT="0" marB="0">
                    <a:solidFill>
                      <a:srgbClr val="E5F4EA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24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-20,8%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4,7 Jt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-12,6%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1,5%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  <a:tr h="224682"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Sobi Affiliate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7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-28,6%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1">
                          <a:solidFill>
                            <a:srgbClr val="20252B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-75,0%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Rp 230,0 Rb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D73527"/>
                          </a:solidFill>
                          <a:latin typeface="Arial"/>
                        </a:rPr>
                        <a:t>-77,2%</a:t>
                      </a:r>
                    </a:p>
                  </a:txBody>
                  <a:tcPr marL="18288" marR="18288" marT="0" marB="0">
                    <a:solidFill>
                      <a:srgbClr val="FBE9E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780" b="0">
                          <a:solidFill>
                            <a:srgbClr val="20252B"/>
                          </a:solidFill>
                          <a:latin typeface="Arial"/>
                        </a:rPr>
                        <a:t>0,1%</a:t>
                      </a:r>
                    </a:p>
                  </a:txBody>
                  <a:tcPr marL="18288" marR="18288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20040" y="2761488"/>
            <a:ext cx="4572000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1500" b="1">
                <a:solidFill>
                  <a:srgbClr val="102C50"/>
                </a:solidFill>
                <a:latin typeface="Arial"/>
              </a:rPr>
              <a:t>Kontributor Penurunan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9768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Agency SF Class Active (%, MoM)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SF ACTIVE TOTAL
RE: 390 | MoM -5,6%
PS: 356 | MoM -4,0%
• Elite
  RE: 10 | Active 100,0% | MoM 0,0%
  PS: 10 | Active 100,0% | MoM 0,0%
• Performer
  RE: 7 | Active 100,0% | MoM 0,0%
  PS: 7 | Active 100,0% | MoM 0,0%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36976" y="3575304"/>
            <a:ext cx="2633472" cy="1307592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Junior
  RE: 314 | Active 39,8% | MoM -6,5%
  PS: 281 | Active 35,7% | MoM -5,1%
• Greenfield
  RE: 41 | Active 70,7% | MoM 0,0%
  PS: 40 | Active 69,0% | MoM +2,6%
• Junior Plus
  RE: 18 | Active 90,0% | MoM -5,3%
  PS: 18 | Active 90,0% | MoM -5,3%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63055" y="3090672"/>
            <a:ext cx="5705856" cy="1847088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72783" y="3172968"/>
            <a:ext cx="5486400" cy="27432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50" b="1">
                <a:solidFill>
                  <a:srgbClr val="102C50"/>
                </a:solidFill>
                <a:latin typeface="Arial"/>
              </a:rPr>
              <a:t>GraPARI Performance per Branch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59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PER BRANCH
• Denpasar: PS -23,1%, Gap -6
• Flores: PS +15,4%, Gap +4
• Kupang: PS 0,0%, Gap 0
• Mataram: PS -37,5%, Gap -12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79992" y="3547872"/>
            <a:ext cx="2633472" cy="133502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50" b="0">
                <a:solidFill>
                  <a:srgbClr val="20252B"/>
                </a:solidFill>
                <a:latin typeface="Arial"/>
              </a:rPr>
              <a:t>BOTTOM 5 PS MoM
• Grapari Singaraja (Denpasar): -100,0%, Gap -1
• Grapari Malaka (Kupang): -100,0%, Gap -1
• Grapari Mataram (Mataram): -81,2%, Gap -13
• Grapari Tabanan (Denpasar): -66,7%, Gap -2
• Grapari Ubud (Denpasar): -66,7%, Gap -2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20040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79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Agency per WOK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29768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-101 (-38,1%), PS -117 (-51,3%)
• Bali Timur: RE -23 (-18,3%), PS -22 (-23,2%)
• Lombok: RE -23 (-9,4%), PS -15 (-8,5%)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36976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328416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Web &amp; Apps per WOK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46704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Manggarai: RE 0 (0,0%), PS -3 (-100,0%)
• Lombok: RE 0 (0,0%), PS -2 (-18,2%)
• Sumba: RE +1 (+100,0%), PS -2 (-100,0%)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53912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245351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B2B2C &amp; Others per WOK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63640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Tengah: RE -2 (-15,4%), PS -4 (-44,4%)
• Sumbawa Timur: RE -6 (-100,0%), PS -2 (-40,0%)
• Bali Timur: RE +1 (+25,0%), PS -1 (-50,0%)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070848" y="5074920"/>
            <a:ext cx="2788920" cy="1005840"/>
          </a:xfrm>
          <a:prstGeom prst="roundRect">
            <a:avLst/>
          </a:prstGeom>
          <a:solidFill>
            <a:srgbClr val="F4F6F8"/>
          </a:solidFill>
          <a:ln>
            <a:solidFill>
              <a:srgbClr val="D8DE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162288" y="5148072"/>
            <a:ext cx="2606039" cy="237744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ctr"/>
            <a:r>
              <a:rPr sz="919" b="1">
                <a:solidFill>
                  <a:srgbClr val="102C50"/>
                </a:solidFill>
                <a:latin typeface="Arial"/>
              </a:rPr>
              <a:t>SOBI Affiliate per WOK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80576" y="5468112"/>
            <a:ext cx="2569463" cy="466344"/>
          </a:xfrm>
          <a:prstGeom prst="rect">
            <a:avLst/>
          </a:prstGeom>
          <a:noFill/>
        </p:spPr>
        <p:txBody>
          <a:bodyPr wrap="none" lIns="27432" rIns="27432" tIns="0" bIns="0" anchor="t">
            <a:spAutoFit/>
          </a:bodyPr>
          <a:lstStyle/>
          <a:p>
            <a:pPr algn="l"/>
            <a:r>
              <a:rPr sz="830" b="0">
                <a:solidFill>
                  <a:srgbClr val="20252B"/>
                </a:solidFill>
                <a:latin typeface="Arial"/>
              </a:rPr>
              <a:t>• Bali Barat: RE 0 (0,0%), PS -1 (-100,0%)
• Bali Timur: RE -1 (-100,0%), PS -1 (-100,0%)
• Manggarai: RE 0 (0,0%), PS -1 (-100,0%)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6181344"/>
            <a:ext cx="11430000" cy="182880"/>
          </a:xfrm>
          <a:prstGeom prst="rect">
            <a:avLst/>
          </a:prstGeom>
          <a:noFill/>
        </p:spPr>
        <p:txBody>
          <a:bodyPr wrap="none" lIns="27432" rIns="27432" tIns="0" bIns="0" anchor="ctr">
            <a:spAutoFit/>
          </a:bodyPr>
          <a:lstStyle/>
          <a:p>
            <a:pPr algn="l"/>
            <a:r>
              <a:rPr sz="850" b="0">
                <a:solidFill>
                  <a:srgbClr val="687386"/>
                </a:solidFill>
                <a:latin typeface="Arial"/>
              </a:rPr>
              <a:t>Gap = perubahan absolut MTD terhadap MTD-1 pada periode tanggal yang sama. Angka dalam kurung menunjukkan MoM.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Performance — Regional, Branch &amp; 12 WOK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85800"/>
            <a:ext cx="27432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700" b="1">
                <a:solidFill>
                  <a:srgbClr val="1F2937"/>
                </a:solidFill>
                <a:latin typeface="Arial"/>
              </a:defRPr>
            </a:pPr>
            <a:r>
              <a:t>C3MR BALINUSRA 32.01%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17520" y="722376"/>
            <a:ext cx="5943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1F2937"/>
                </a:solidFill>
                <a:latin typeface="Arial"/>
              </a:defRPr>
            </a:pPr>
            <a:r>
              <a:t>Target 97.21% | Gap -65.20 pp | M-1 36.83%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48866" cy="525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4346"/>
                <a:gridCol w="860022"/>
                <a:gridCol w="860022"/>
                <a:gridCol w="860022"/>
                <a:gridCol w="1412893"/>
                <a:gridCol w="1412893"/>
                <a:gridCol w="921452"/>
                <a:gridCol w="921452"/>
                <a:gridCol w="921452"/>
                <a:gridCol w="1044312"/>
              </a:tblGrid>
              <a:tr h="309282"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77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202.393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75.413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Rp56.23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37.39%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-60.19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22.17%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Rp10.21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Rp2.31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26.53%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22.66%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-74.04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48.594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11.736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24.15%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Rp15.44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28.89%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-70.90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83.478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22.914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Rp25.12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Rp7.06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32.56%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28.12%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-69.33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42.264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13.867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32.81%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33.81%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-63.77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113.620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45.875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Rp31.61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Rp12.65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45.23%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40.01%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-57.57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46.509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15.671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33.69%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Rp13.52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39.85%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34.19%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-63.39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12.821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2.633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Rp3.96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Rp842.2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25.16%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-75.45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7.329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21.41%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Rp472.0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27.29%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21.36%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-75.34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7.246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27.01%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Rp8.61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Rp2.40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31.91%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27.84%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-67.99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12.516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2.375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18.98%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Rp3.86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Rp760.9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23.63%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19.70%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-76.13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12.363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3.006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Rp4.04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Rp999.4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96.70%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-71.95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9.251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2.115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22.86%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Rp2.97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Rp692.7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26.88%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23.31%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95.83%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-72.52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44.841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15.359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34.25%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Rp13.74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39.73%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34.58%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-62.87 pp</a:t>
                      </a:r>
                    </a:p>
                  </a:txBody>
                  <a:tcPr/>
                </a:tc>
              </a:tr>
              <a:tr h="309282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15.433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3.850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24.95%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Rp4.76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Rp1.21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29.23%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25.36%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-72.09 pp</a:t>
                      </a:r>
                    </a:p>
                  </a:txBody>
                  <a:tcPr/>
                </a:tc>
              </a:tr>
              <a:tr h="309288">
                <a:tc>
                  <a:txBody>
                    <a:bodyPr/>
                    <a:lstStyle/>
                    <a:p>
                      <a:pPr algn="l">
                        <a:defRPr sz="77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23.204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3.705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15.97%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Rp6.62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Rp1.11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20.06%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16.71%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97.45%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770">
                          <a:latin typeface="Arial"/>
                        </a:defRPr>
                      </a:pPr>
                      <a:r>
                        <a:t>-80.74 pp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C3MR by LOS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51560"/>
          <a:ext cx="1154886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4534"/>
                <a:gridCol w="863467"/>
                <a:gridCol w="863467"/>
                <a:gridCol w="863467"/>
                <a:gridCol w="1295200"/>
                <a:gridCol w="1295200"/>
                <a:gridCol w="917433"/>
                <a:gridCol w="917433"/>
                <a:gridCol w="971400"/>
                <a:gridCol w="1187267"/>
              </a:tblGrid>
              <a:tr h="418011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All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SSL Paid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Paid Rate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Billing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C3MR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Progress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Avg Payment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01. 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6.660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3.248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48.77%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Rp1.02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Rp509.2 Jt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59.52%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49.75%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-9.77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Rp156.781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02. 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4.703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34.26%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Rp3.47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Rp1.20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34.59%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-3.88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Rp255.294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03. 4 - 6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21.593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5.768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Rp5.25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Rp1.44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31.38%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27.37%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-4.01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Rp248.935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04. 7 - 12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35.106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9.376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26.71%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Rp8.88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Rp2.45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30.08%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27.54%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-2.55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Rp260.812</a:t>
                      </a:r>
                    </a:p>
                  </a:txBody>
                  <a:tcPr/>
                </a:tc>
              </a:tr>
              <a:tr h="418011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05. 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55.545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13.745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24.75%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Rp14.70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Rp3.77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29.40%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25.68%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-3.72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Rp274.548</a:t>
                      </a:r>
                    </a:p>
                  </a:txBody>
                  <a:tcPr/>
                </a:tc>
              </a:tr>
              <a:tr h="418014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06. 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234.345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80.431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34.32%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Rp73.69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Rp24.89 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39.09%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33.77%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-5.32 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Rp309.406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20040" y="4251960"/>
            <a:ext cx="109728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Catatan: seluruh angka C3MR dibaca dari output SQL; PPT tidak menghitung ulang formula.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Performance — BALINUSRA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CAPS M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330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M-1 304 | MoM +8.6%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0632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677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Batas CAPS bulan berjalan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8064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GAP TARGET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-347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CAPS M - 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49640" y="621792"/>
            <a:ext cx="2560320" cy="731520"/>
          </a:xfrm>
          <a:prstGeom prst="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1F2937"/>
                </a:solidFill>
                <a:latin typeface="Arial"/>
              </a:defRPr>
            </a:pPr>
            <a:r>
              <a:t>Δ M vs M-1</a:t>
            </a:r>
          </a:p>
          <a:p>
            <a:pPr>
              <a:defRPr sz="1600" b="1">
                <a:solidFill>
                  <a:srgbClr val="1F2937"/>
                </a:solidFill>
                <a:latin typeface="Arial"/>
              </a:defRPr>
            </a:pPr>
            <a:r>
              <a:t>+26</a:t>
            </a:r>
          </a:p>
          <a:p>
            <a:pPr>
              <a:defRPr sz="750" b="1">
                <a:solidFill>
                  <a:srgbClr val="1F2937"/>
                </a:solidFill>
                <a:latin typeface="Arial"/>
              </a:defRPr>
            </a:pPr>
            <a:r>
              <a:t>Perubahan jumlah CAPS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1508760"/>
          <a:ext cx="11548869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16141"/>
                <a:gridCol w="1461882"/>
                <a:gridCol w="1461882"/>
                <a:gridCol w="1169506"/>
                <a:gridCol w="1315694"/>
                <a:gridCol w="1461882"/>
                <a:gridCol w="1461882"/>
              </a:tblGrid>
              <a:tr h="279698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M-1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CAPS 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Δ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Gap Target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-271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-48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-49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TENGAH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-157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BALI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-28.3%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-65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ENDE SIKKA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FLORES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KUPANG ROTE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MALAKA TIMTIM BELU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MANGGARAI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-3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LOMBOK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84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-42</a:t>
                      </a:r>
                    </a:p>
                  </a:txBody>
                  <a:tcPr/>
                </a:tc>
              </a:tr>
              <a:tr h="279698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BARAT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</a:tr>
              <a:tr h="279712">
                <a:tc>
                  <a:txBody>
                    <a:bodyPr/>
                    <a:lstStyle/>
                    <a:p>
                      <a:pPr algn="l">
                        <a:defRPr sz="800">
                          <a:latin typeface="Arial"/>
                        </a:defRPr>
                      </a:pPr>
                      <a:r>
                        <a:t>SUMBAWA TIMUR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-20.0%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Arial"/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-6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20040" y="201168"/>
            <a:ext cx="8869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73C64"/>
                </a:solidFill>
                <a:latin typeface="Arial"/>
              </a:defRPr>
            </a:pPr>
            <a:r>
              <a:t>CAPS by LOS — Regional &amp; 4 Branch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503920" y="228600"/>
            <a:ext cx="33375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 b="0">
                <a:solidFill>
                  <a:srgbClr val="64748B"/>
                </a:solidFill>
                <a:latin typeface="Arial"/>
              </a:defRPr>
            </a:pPr>
            <a:r>
              <a:t>Snapshot 2026-10-13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143000"/>
          <a:ext cx="11548870" cy="5120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93009"/>
                <a:gridCol w="2080877"/>
                <a:gridCol w="1768746"/>
                <a:gridCol w="1768746"/>
                <a:gridCol w="1768746"/>
                <a:gridCol w="1768746"/>
              </a:tblGrid>
              <a:tr h="1024128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LOS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BALINUSRA M / MoM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DENPASAR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FLORES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KUPANG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</a:defRPr>
                      </a:pPr>
                      <a:r>
                        <a:t>MATARAM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NEW_SALES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9 / +100.0%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1 - 3 MONTHS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1 - 2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56 / +12.0%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42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0 / +0.0%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2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12 / +200.0%</a:t>
                      </a:r>
                    </a:p>
                  </a:txBody>
                  <a:tcPr/>
                </a:tc>
              </a:tr>
              <a:tr h="1024128">
                <a:tc>
                  <a:txBody>
                    <a:bodyPr/>
                    <a:lstStyle/>
                    <a:p>
                      <a:pPr algn="l">
                        <a:defRPr sz="900">
                          <a:latin typeface="Arial"/>
                        </a:defRPr>
                      </a:pPr>
                      <a:r>
                        <a:t>&gt; 2 YEARS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265 / +4.3%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209 / +3.5%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8783E"/>
                          </a:solidFill>
                          <a:latin typeface="Arial"/>
                        </a:defRPr>
                      </a:pPr>
                      <a:r>
                        <a:t>1 / -50.0%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C51E27"/>
                          </a:solidFill>
                          <a:latin typeface="Arial"/>
                        </a:defRPr>
                      </a:pPr>
                      <a:r>
                        <a:t>17 / +70.0%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Arial"/>
                        </a:defRPr>
                      </a:pPr>
                      <a:r>
                        <a:t>38 / -5.0%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21792"/>
          </a:xfrm>
          <a:prstGeom prst="rect">
            <a:avLst/>
          </a:prstGeom>
          <a:solidFill>
            <a:srgbClr val="ED0033"/>
          </a:solidFill>
          <a:ln>
            <a:solidFill>
              <a:srgbClr val="ED00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20040" y="73152"/>
            <a:ext cx="8686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750" b="1">
                <a:solidFill>
                  <a:srgbClr val="FFFFFF"/>
                </a:solidFill>
                <a:latin typeface="Arial"/>
              </a:defRPr>
            </a:pPr>
            <a:r>
              <a:t>Healthy Sales — BALINUSRA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384048"/>
            <a:ext cx="6400800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950" b="0">
                <a:solidFill>
                  <a:srgbClr val="FFFFFF"/>
                </a:solidFill>
                <a:latin typeface="Arial"/>
              </a:defRPr>
            </a:pPr>
            <a:r>
              <a:t>15 Okt 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35440" y="109728"/>
            <a:ext cx="265176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300" b="1">
                <a:solidFill>
                  <a:srgbClr val="FFFFFF"/>
                </a:solidFill>
                <a:latin typeface="Arial"/>
              </a:defRPr>
            </a:pPr>
            <a:r>
              <a:t>Telkomsel — BALINUSRA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WO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175,231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00400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1012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PAID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1012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44,619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075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90488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HEALTHY SALES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90488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25.5%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19" y="749808"/>
            <a:ext cx="2651760" cy="566928"/>
          </a:xfrm>
          <a:prstGeom prst="roundRect">
            <a:avLst/>
          </a:prstGeom>
          <a:solidFill>
            <a:srgbClr val="F8FAFC"/>
          </a:solidFill>
          <a:ln>
            <a:solidFill>
              <a:srgbClr val="D2DC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070847" y="804672"/>
            <a:ext cx="1280160" cy="1463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750" b="1">
                <a:solidFill>
                  <a:srgbClr val="64748B"/>
                </a:solidFill>
                <a:latin typeface="Arial"/>
              </a:defRPr>
            </a:pPr>
            <a:r>
              <a:t>UNPAID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70847" y="960120"/>
            <a:ext cx="22860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 b="1">
                <a:solidFill>
                  <a:srgbClr val="1F2937"/>
                </a:solidFill>
                <a:latin typeface="Arial"/>
              </a:defRPr>
            </a:pPr>
            <a:r>
              <a:t>130,612</a:t>
            </a:r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320040" y="1481328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7,099 / 55.0%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7,308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7,469 / 35.1%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7,203 / 31.2%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7,971 / 27.6%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7,683 / 27.0%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3,106 / 57.8%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3,306 / 46.5%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3,354 / 37.6%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2,988 / 35.6%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3,398 / 30.7%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3,325 / 30.6%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1,010 / 62.9%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894 / 43.6%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997 / 34.6%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955 / 23.2%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1,159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1,057 / 20.1%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943 / 48.4%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951 / 34.7%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1,104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1,284 / 23.6%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1,369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1,342 / 21.9%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2,040 / 50.1%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2,157 / 43.0%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2,014 / 34.2%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1,976 / 33.2%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2,045 / 30.0%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1,959 / 28.2%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320040" y="2752344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7,715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6,964 / 27.1%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7,164 / 26.1%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7,111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6,489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7,849 / 22.2%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3,413 / 32.9%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2,962 / 30.4%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3,103 / 29.4%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3,350 / 28.1%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2,790 / 27.4%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3,773 / 24.3%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1,200 / 21.9%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966 / 21.6%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861 / 19.7%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921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831 / 17.1%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1,509 / 21.1%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1,276 / 22.1%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1,088 / 21.3%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1,063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1,247 / 19.6%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1,593 / 25.4%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1,760 / 28.0%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1,954 / 26.4%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1,866 / 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1,715 / 24.2%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1,998 / 21.9%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320040" y="4023360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B15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B16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B17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B18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6,837 / 20.4%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7,515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8,014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7,517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7,658 / 19.8%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7,174 / 19.8%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3,134 / 23.7%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3,494 / 25.3%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3,969 / 23.9%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3,612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3,772 / 22.8%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3,480 / 23.4%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696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811 / 14.7%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686 / 14.9%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727 / 13.8%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749 / 15.9%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15.6%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1,273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1,202 / 17.1%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1,295 / 14.4%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1,163 / 15.4%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1,132 / 14.5%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1,805 / 19.1%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1,937 / 21.4%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2,032 / 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1,924 / 20.5%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1,996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1,813 / 17.6%</a:t>
                      </a:r>
                    </a:p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320040" y="5294376"/>
          <a:ext cx="11548868" cy="10607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06015"/>
                <a:gridCol w="1022556"/>
                <a:gridCol w="902255"/>
                <a:gridCol w="1203007"/>
                <a:gridCol w="1203007"/>
                <a:gridCol w="1203007"/>
                <a:gridCol w="1203007"/>
                <a:gridCol w="1203007"/>
                <a:gridCol w="1203007"/>
              </a:tblGrid>
              <a:tr h="176784"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Area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Total WO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HS Total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B19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B20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B21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B22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B23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650" b="1">
                          <a:solidFill>
                            <a:srgbClr val="FFFFFF"/>
                          </a:solidFill>
                        </a:defRPr>
                      </a:pPr>
                      <a:r>
                        <a:t>B24</a:t>
                      </a:r>
                    </a:p>
                  </a:txBody>
                  <a:tcPr>
                    <a:solidFill>
                      <a:srgbClr val="173C64"/>
                    </a:solidFill>
                  </a:tcPr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BALINUSRA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175,231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6,985 / 21.2%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7,134 / 19.5%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7,691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7,472 / 18.8%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6,644 / 18.4%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6,565 / 17.9%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DENPASAR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80,711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3,403 / 26.7%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3,381 / 24.1%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3,839 / 23.1%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3,450 / 23.0%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3,102 / 22.4%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3,207 / 22.1%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FLORES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20,108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21.8%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776 / 11.7%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705 / 12.3%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626 / 16.3%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669 / 14.8%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574 / 13.1%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620 / 12.7%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KUPANG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28,881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19.6%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1,262 / 13.4%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1,180 / 13.9%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1,207 / 15.2%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1,246 / 12.2%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1,227 / 11.9%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1,070 / 12.0%</a:t>
                      </a:r>
                    </a:p>
                  </a:txBody>
                  <a:tcPr/>
                </a:tc>
              </a:tr>
              <a:tr h="176784">
                <a:tc>
                  <a:txBody>
                    <a:bodyPr/>
                    <a:lstStyle/>
                    <a:p>
                      <a:pPr algn="l">
                        <a:defRPr sz="620">
                          <a:latin typeface="Arial"/>
                        </a:defRPr>
                      </a:pPr>
                      <a:r>
                        <a:t>MATARAM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45,531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25.1%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1,544 / 20.1%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1,868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2,019 / 18.7%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2,107 / 17.3%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1,741 / 17.5%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620">
                          <a:latin typeface="Arial"/>
                        </a:defRPr>
                      </a:pPr>
                      <a:r>
                        <a:t>1,668 / 15.5%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2026-08-16T22:33:52Z</dcterms:created>
  <dcterms:modified xsi:type="dcterms:W3CDTF">2026-08-16T22:33:52Z</dcterms:modified>
</cp:coreProperties>
</file>