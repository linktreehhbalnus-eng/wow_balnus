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  <c:pt idx="25">
                  <c:v>51.0</c:v>
                </c:pt>
                <c:pt idx="26">
                  <c:v>51.0</c:v>
                </c:pt>
                <c:pt idx="27">
                  <c:v>43.0</c:v>
                </c:pt>
                <c:pt idx="28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  <c:pt idx="25">
                  <c:v>30.0</c:v>
                </c:pt>
                <c:pt idx="26">
                  <c:v>27.0</c:v>
                </c:pt>
                <c:pt idx="27">
                  <c:v>24.0</c:v>
                </c:pt>
                <c:pt idx="28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  <c:pt idx="25">
                  <c:v>9.0</c:v>
                </c:pt>
                <c:pt idx="26">
                  <c:v>8.0</c:v>
                </c:pt>
                <c:pt idx="27">
                  <c:v>7.0</c:v>
                </c:pt>
                <c:pt idx="28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  <c:pt idx="25">
                  <c:v>12.0</c:v>
                </c:pt>
                <c:pt idx="26">
                  <c:v>16.0</c:v>
                </c:pt>
                <c:pt idx="27">
                  <c:v>12.0</c:v>
                </c:pt>
                <c:pt idx="28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  <c:pt idx="25">
                  <c:v>44.0</c:v>
                </c:pt>
                <c:pt idx="26">
                  <c:v>40.0</c:v>
                </c:pt>
                <c:pt idx="27">
                  <c:v>49.0</c:v>
                </c:pt>
                <c:pt idx="28">
                  <c:v>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  <c:pt idx="25">
                  <c:v>25.0</c:v>
                </c:pt>
                <c:pt idx="26">
                  <c:v>21.0</c:v>
                </c:pt>
                <c:pt idx="27">
                  <c:v>32.0</c:v>
                </c:pt>
                <c:pt idx="28">
                  <c:v>27.0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  <c:pt idx="25">
                  <c:v>11.0</c:v>
                </c:pt>
                <c:pt idx="26">
                  <c:v>7.0</c:v>
                </c:pt>
                <c:pt idx="27">
                  <c:v>4.0</c:v>
                </c:pt>
                <c:pt idx="28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  <c:pt idx="25">
                  <c:v>8.0</c:v>
                </c:pt>
                <c:pt idx="26">
                  <c:v>12.0</c:v>
                </c:pt>
                <c:pt idx="27">
                  <c:v>13.0</c:v>
                </c:pt>
                <c:pt idx="28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240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4.944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150 / 212 (70,8%)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173 / 240 (72,1%)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-9,9%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 / 127 (67,7%)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 / 145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36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39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49 (83,7%)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56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1.583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 / 212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+12,8% | Turun 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59 / 240 (24,6%)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+3,5% | Turun 106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127 (19,7%)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145 (23,4%)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36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39 (25,6%)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49 (22,4%)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56 (26,8%)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1.518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180 SF | MoM SF Active </a:t>
            </a:r>
            <a:r>
              <a:rPr sz="830" b="1">
                <a:solidFill>
                  <a:srgbClr val="D73527"/>
                </a:solidFill>
                <a:latin typeface="Arial"/>
              </a:rPr>
              <a:t>-7,7%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173 SF | MoM SF Active </a:t>
            </a:r>
            <a:r>
              <a:rPr sz="830" b="1">
                <a:solidFill>
                  <a:srgbClr val="D73527"/>
                </a:solidFill>
                <a:latin typeface="Arial"/>
              </a:rPr>
              <a:t>-8,5%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Performer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 SF | Active 100,0% | MoM RE 0,0%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 SF | Active 100,0% | MoM PS 0,0%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157 SF | Active 74,1%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-7,1%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150 SF | Active 70,8%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13 SF | Active 72,2%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-18,8%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13 SF | Active 72,2%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-13,3%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9 SF | Active 100,0% | MoM RE 0,0%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9 SF | Active 100,0% | MoM PS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Bima: PS </a:t>
            </a:r>
            <a:r>
              <a:rPr sz="850" b="1">
                <a:solidFill>
                  <a:srgbClr val="D73527"/>
                </a:solidFill>
                <a:latin typeface="Arial"/>
              </a:rPr>
              <a:t>-25,6%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Dompu: PS +60,0%, Gap 6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Lombok Timur: PS +100,0%, Gap 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Maluk: PS +100,0%, Gap 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Mataram: PS </a:t>
            </a:r>
            <a:r>
              <a:rPr sz="850" b="1">
                <a:solidFill>
                  <a:srgbClr val="D73527"/>
                </a:solidFill>
                <a:latin typeface="Arial"/>
              </a:rPr>
              <a:t>-27,3%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Sumbawa: PS </a:t>
            </a:r>
            <a:r>
              <a:rPr sz="850" b="1">
                <a:solidFill>
                  <a:srgbClr val="D73527"/>
                </a:solidFill>
                <a:latin typeface="Arial"/>
              </a:rPr>
              <a:t>-50,0%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-5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Taliwang: PS </a:t>
            </a:r>
            <a:r>
              <a:rPr sz="850" b="1">
                <a:solidFill>
                  <a:srgbClr val="D73527"/>
                </a:solidFill>
                <a:latin typeface="Arial"/>
              </a:rPr>
              <a:t>-33,3%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-143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-11,3%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-63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-61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-16,9%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-8,8%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-28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-30,0%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-48,4%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-13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-44,8%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-10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-58,8%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-9,1%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-42,9%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-66,7%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-66,7%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500,5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HAMZAN WADI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HAM9341456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95.98% | MoM -0.13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-1.60 pp | Rp-402.9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95.54%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95.48% | MoM +0.06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Rp24.08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Rp23.73 M | MoM +1.5%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Rp24.08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Rp-402.9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96.18%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95.38%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95.29%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95.49%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95.13%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Rp6.32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Rp-129.9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98.50% / -0.56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99.97% / +0.12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98.29% / +1.78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95.84% / -2.64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93.60% / -1.10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94.26% / -1.02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91.91% / -0.55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93.13% / -2.07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92.72% / +0.52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92.60% / -0.02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92.41% / -0.35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93.14% / +1.85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93.79% / 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94.23% / +0.28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92.69% / -0.94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93.76% / +0.22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94.93% / +0.48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95.59% / +0.73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94.80% / +0.24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93.92% / +0.21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96.71% / 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96.87% / -0.25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96.30% / -0.27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96.68% / 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M-1 102 | MoM -6.9%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 / 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-19.0%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 / 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64 / 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34,076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74.8%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11,455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83.2%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93.5%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84.8%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95.5%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82.5%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72.1%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75.6%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74.3%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62.7%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56.3%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66.3%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51.2%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62.8%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49.6%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