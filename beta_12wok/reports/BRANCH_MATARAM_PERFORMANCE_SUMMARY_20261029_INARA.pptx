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  <c:pt idx="18">
                  <c:v>56.0</c:v>
                </c:pt>
                <c:pt idx="19">
                  <c:v>65.0</c:v>
                </c:pt>
                <c:pt idx="20">
                  <c:v>44.0</c:v>
                </c:pt>
                <c:pt idx="21">
                  <c:v>60.0</c:v>
                </c:pt>
                <c:pt idx="22">
                  <c:v>39.0</c:v>
                </c:pt>
                <c:pt idx="23">
                  <c:v>45.0</c:v>
                </c:pt>
                <c:pt idx="24">
                  <c:v>31.0</c:v>
                </c:pt>
                <c:pt idx="25">
                  <c:v>51.0</c:v>
                </c:pt>
                <c:pt idx="26">
                  <c:v>51.0</c:v>
                </c:pt>
                <c:pt idx="27">
                  <c:v>43.0</c:v>
                </c:pt>
                <c:pt idx="28">
                  <c:v>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  <c:pt idx="18">
                  <c:v>31.0</c:v>
                </c:pt>
                <c:pt idx="19">
                  <c:v>38.0</c:v>
                </c:pt>
                <c:pt idx="20">
                  <c:v>24.0</c:v>
                </c:pt>
                <c:pt idx="21">
                  <c:v>37.0</c:v>
                </c:pt>
                <c:pt idx="22">
                  <c:v>22.0</c:v>
                </c:pt>
                <c:pt idx="23">
                  <c:v>28.0</c:v>
                </c:pt>
                <c:pt idx="24">
                  <c:v>15.0</c:v>
                </c:pt>
                <c:pt idx="25">
                  <c:v>30.0</c:v>
                </c:pt>
                <c:pt idx="26">
                  <c:v>27.0</c:v>
                </c:pt>
                <c:pt idx="27">
                  <c:v>24.0</c:v>
                </c:pt>
                <c:pt idx="28">
                  <c:v>23.0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  <c:pt idx="18">
                  <c:v>11.0</c:v>
                </c:pt>
                <c:pt idx="19">
                  <c:v>10.0</c:v>
                </c:pt>
                <c:pt idx="20">
                  <c:v>11.0</c:v>
                </c:pt>
                <c:pt idx="21">
                  <c:v>12.0</c:v>
                </c:pt>
                <c:pt idx="22">
                  <c:v>5.0</c:v>
                </c:pt>
                <c:pt idx="23">
                  <c:v>8.0</c:v>
                </c:pt>
                <c:pt idx="24">
                  <c:v>6.0</c:v>
                </c:pt>
                <c:pt idx="25">
                  <c:v>9.0</c:v>
                </c:pt>
                <c:pt idx="26">
                  <c:v>8.0</c:v>
                </c:pt>
                <c:pt idx="27">
                  <c:v>7.0</c:v>
                </c:pt>
                <c:pt idx="28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  <c:pt idx="18">
                  <c:v>14.0</c:v>
                </c:pt>
                <c:pt idx="19">
                  <c:v>17.0</c:v>
                </c:pt>
                <c:pt idx="20">
                  <c:v>9.0</c:v>
                </c:pt>
                <c:pt idx="21">
                  <c:v>11.0</c:v>
                </c:pt>
                <c:pt idx="22">
                  <c:v>12.0</c:v>
                </c:pt>
                <c:pt idx="23">
                  <c:v>9.0</c:v>
                </c:pt>
                <c:pt idx="24">
                  <c:v>10.0</c:v>
                </c:pt>
                <c:pt idx="25">
                  <c:v>12.0</c:v>
                </c:pt>
                <c:pt idx="26">
                  <c:v>16.0</c:v>
                </c:pt>
                <c:pt idx="27">
                  <c:v>12.0</c:v>
                </c:pt>
                <c:pt idx="28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  <c:pt idx="18">
                  <c:v>53.0</c:v>
                </c:pt>
                <c:pt idx="19">
                  <c:v>50.0</c:v>
                </c:pt>
                <c:pt idx="20">
                  <c:v>52.0</c:v>
                </c:pt>
                <c:pt idx="21">
                  <c:v>59.0</c:v>
                </c:pt>
                <c:pt idx="22">
                  <c:v>37.0</c:v>
                </c:pt>
                <c:pt idx="23">
                  <c:v>36.0</c:v>
                </c:pt>
                <c:pt idx="24">
                  <c:v>30.0</c:v>
                </c:pt>
                <c:pt idx="25">
                  <c:v>44.0</c:v>
                </c:pt>
                <c:pt idx="26">
                  <c:v>40.0</c:v>
                </c:pt>
                <c:pt idx="27">
                  <c:v>49.0</c:v>
                </c:pt>
                <c:pt idx="28">
                  <c:v>48.0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  <c:pt idx="18">
                  <c:v>34.0</c:v>
                </c:pt>
                <c:pt idx="19">
                  <c:v>30.0</c:v>
                </c:pt>
                <c:pt idx="20">
                  <c:v>32.0</c:v>
                </c:pt>
                <c:pt idx="21">
                  <c:v>33.0</c:v>
                </c:pt>
                <c:pt idx="22">
                  <c:v>22.0</c:v>
                </c:pt>
                <c:pt idx="23">
                  <c:v>20.0</c:v>
                </c:pt>
                <c:pt idx="24">
                  <c:v>21.0</c:v>
                </c:pt>
                <c:pt idx="25">
                  <c:v>25.0</c:v>
                </c:pt>
                <c:pt idx="26">
                  <c:v>21.0</c:v>
                </c:pt>
                <c:pt idx="27">
                  <c:v>32.0</c:v>
                </c:pt>
                <c:pt idx="28">
                  <c:v>27.0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  <c:pt idx="18">
                  <c:v>8.0</c:v>
                </c:pt>
                <c:pt idx="19">
                  <c:v>9.0</c:v>
                </c:pt>
                <c:pt idx="20">
                  <c:v>9.0</c:v>
                </c:pt>
                <c:pt idx="21">
                  <c:v>11.0</c:v>
                </c:pt>
                <c:pt idx="22">
                  <c:v>6.0</c:v>
                </c:pt>
                <c:pt idx="23">
                  <c:v>5.0</c:v>
                </c:pt>
                <c:pt idx="24">
                  <c:v>1.0</c:v>
                </c:pt>
                <c:pt idx="25">
                  <c:v>11.0</c:v>
                </c:pt>
                <c:pt idx="26">
                  <c:v>7.0</c:v>
                </c:pt>
                <c:pt idx="27">
                  <c:v>4.0</c:v>
                </c:pt>
                <c:pt idx="28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  <c:pt idx="18">
                  <c:v>11.0</c:v>
                </c:pt>
                <c:pt idx="19">
                  <c:v>11.0</c:v>
                </c:pt>
                <c:pt idx="20">
                  <c:v>11.0</c:v>
                </c:pt>
                <c:pt idx="21">
                  <c:v>15.0</c:v>
                </c:pt>
                <c:pt idx="22">
                  <c:v>9.0</c:v>
                </c:pt>
                <c:pt idx="23">
                  <c:v>11.0</c:v>
                </c:pt>
                <c:pt idx="24">
                  <c:v>8.0</c:v>
                </c:pt>
                <c:pt idx="25">
                  <c:v>8.0</c:v>
                </c:pt>
                <c:pt idx="26">
                  <c:v>12.0</c:v>
                </c:pt>
                <c:pt idx="27">
                  <c:v>13.0</c:v>
                </c:pt>
                <c:pt idx="28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240  (0,0%)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195   Δ -15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189   Δ -16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194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4.944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4.944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1.973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18 (72,2%)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150 / 212 (70,8%)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173 / 240 (72,1%)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-9,9% | Turun 106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13 (61,5%)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86 / 127 (67,7%)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99 / 145 (68,3%)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 | Turun 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 / 36 (63,9%)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39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 / 49 (83,7%)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56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1.583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041648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352544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18 (33,3%)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 / 212 (20,8%)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+12,8%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59 / 240 (24,6%)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+3,5% | Turun 106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13 (30,8%)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127 (19,7%)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 / 145 (23,4%)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36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39 (25,6%)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49 (22,4%)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56 (26,8%)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760720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2.202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20.035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1.518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755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429,9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(Jumlah SF, % Active, MoM RE atau PS)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RE: 180 SF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-10,5%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PS: 173 SF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-5,7%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Performer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 SF | Active 100,0%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-46,6%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 SF | Active 100,0%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-32,7%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157 SF | Active 74,1%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-5,8%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150 SF | Active 70,8% | MoM PS +0,2%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Greenfield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13 SF | Active 72,2%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-25,1%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13 SF | Active 72,2%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-19,7%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 Plus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9 SF | Active 100,0%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-8,3%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9 SF | Active 100,0%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-13,3%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Bima: PS </a:t>
            </a:r>
            <a:r>
              <a:rPr sz="850" b="1">
                <a:solidFill>
                  <a:srgbClr val="D73527"/>
                </a:solidFill>
                <a:latin typeface="Arial"/>
              </a:rPr>
              <a:t>-25,6%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Dompu: PS +60,0%, Gap 6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Lombok Timur: PS +100,0%, Gap 2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Lombok Utara: PS +100,0%,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Maluk: PS +100,0%, Gap 2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Mataram: PS </a:t>
            </a:r>
            <a:r>
              <a:rPr sz="850" b="1">
                <a:solidFill>
                  <a:srgbClr val="D73527"/>
                </a:solidFill>
                <a:latin typeface="Arial"/>
              </a:rPr>
              <a:t>-27,3%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-12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Sumbawa: PS </a:t>
            </a:r>
            <a:r>
              <a:rPr sz="850" b="1">
                <a:solidFill>
                  <a:srgbClr val="D73527"/>
                </a:solidFill>
                <a:latin typeface="Arial"/>
              </a:rPr>
              <a:t>-50,0%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-5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Taliwang: PS </a:t>
            </a:r>
            <a:r>
              <a:rPr sz="850" b="1">
                <a:solidFill>
                  <a:srgbClr val="D73527"/>
                </a:solidFill>
                <a:latin typeface="Arial"/>
              </a:rPr>
              <a:t>-33,3%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</a:t>
            </a:r>
            <a:r>
              <a:rPr sz="830" b="1">
                <a:solidFill>
                  <a:srgbClr val="D73527"/>
                </a:solidFill>
                <a:latin typeface="Arial"/>
              </a:rPr>
              <a:t>-143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-11,3%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-63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-6,3%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Barat: RE </a:t>
            </a:r>
            <a:r>
              <a:rPr sz="830" b="1">
                <a:solidFill>
                  <a:srgbClr val="D73527"/>
                </a:solidFill>
                <a:latin typeface="Arial"/>
              </a:rPr>
              <a:t>-61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-16,9%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-8,8%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-28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-15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-30,0%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-48,4%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Barat: RE </a:t>
            </a:r>
            <a:r>
              <a:rPr sz="830" b="1">
                <a:solidFill>
                  <a:srgbClr val="D73527"/>
                </a:solidFill>
                <a:latin typeface="Arial"/>
              </a:rPr>
              <a:t>-13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-44,8%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-10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-58,8%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-9,1%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-6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-42,9%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-66,7%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-66,7%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500,5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ARINDA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SPARIND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YUNIARTI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ARINDA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SPARIND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fitriah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NUR5794369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Prayadi sanip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PRA1168844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HAMZAN WADI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HAM9341456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yedik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LAL6636669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HIDAYATULLAH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Prayadi sanip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PRA1168844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yedik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LAL6636669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95.98% | MoM -0.13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-1.60 pp | Rp-402.9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95.54%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95.48% | MoM +0.06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Rp24.08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Rp23.73 M | MoM +1.5%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Rp24.08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Rp-402.9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96.18%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Rp-174.1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95.38%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95.29%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Rp4.54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Rp-98.8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95.49%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95.13%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Rp6.32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Rp-129.9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98.50% / -0.56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99.97% / +0.12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98.29% / +1.78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95.84% / -2.64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93.60% / -1.10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94.26% / -1.02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91.91% / -0.55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93.13% / -2.07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92.72% / +0.52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92.60% / -0.02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92.41% / -0.35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93.14% / +1.85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93.79% / 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94.23% / +0.28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92.69% / -0.94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93.76% / +0.22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94.93% / +0.48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95.59% / +0.73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94.80% / +0.24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93.92% / +0.21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96.71% / -0.25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96.87% / -0.25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96.30% / -0.27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96.68% / -0.24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M-1 102 | MoM -6.9%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 / -4.2%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-19.0%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 / +33.3%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71 / -9.0%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64 / -4.5%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30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34,076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74.8%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11,455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94.7%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92.5%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91.1%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87.7%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83.2%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99.9%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94.6%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93.9%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91.1%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88.8%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83.2%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98.4%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93.5%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90.0%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87.5%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84.8%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97.8%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95.5%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91.0%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91.7%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85.7%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82.5%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80.8%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79.4%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77.4%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73.4%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79.0%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77.7%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76.3%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72.1%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81.7%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80.9%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78.1%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75.6%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75.6%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82.5%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76.7%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73.7%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74.3%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71.1%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62.5%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69.4%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1,052 / 69.4%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65.2%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62.7%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310 / 68.4%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72.8%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56.3%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70.4%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70.7%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69.9%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66.3%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52.8%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60.2%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55.5%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51.2%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62.8%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49.6%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