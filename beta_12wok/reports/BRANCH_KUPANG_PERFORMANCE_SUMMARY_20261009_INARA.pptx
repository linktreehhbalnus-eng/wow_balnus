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23.0</c:v>
                </c:pt>
                <c:pt idx="1">
                  <c:v>22.0</c:v>
                </c:pt>
                <c:pt idx="2">
                  <c:v>16.0</c:v>
                </c:pt>
                <c:pt idx="3">
                  <c:v>11.0</c:v>
                </c:pt>
                <c:pt idx="4">
                  <c:v>33.0</c:v>
                </c:pt>
                <c:pt idx="5">
                  <c:v>38.0</c:v>
                </c:pt>
                <c:pt idx="6">
                  <c:v>36.0</c:v>
                </c:pt>
                <c:pt idx="7">
                  <c:v>32.0</c:v>
                </c:pt>
                <c:pt idx="8">
                  <c:v>28.0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12.0</c:v>
                </c:pt>
                <c:pt idx="1">
                  <c:v>11.0</c:v>
                </c:pt>
                <c:pt idx="2">
                  <c:v>9.0</c:v>
                </c:pt>
                <c:pt idx="3">
                  <c:v>4.0</c:v>
                </c:pt>
                <c:pt idx="4">
                  <c:v>14.0</c:v>
                </c:pt>
                <c:pt idx="5">
                  <c:v>19.0</c:v>
                </c:pt>
                <c:pt idx="6">
                  <c:v>19.0</c:v>
                </c:pt>
                <c:pt idx="7">
                  <c:v>16.0</c:v>
                </c:pt>
                <c:pt idx="8">
                  <c:v>12.0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</c:strCache>
            </c: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6.0</c:v>
                </c:pt>
                <c:pt idx="1">
                  <c:v>7.0</c:v>
                </c:pt>
                <c:pt idx="2">
                  <c:v>3.0</c:v>
                </c:pt>
                <c:pt idx="3">
                  <c:v>5.0</c:v>
                </c:pt>
                <c:pt idx="4">
                  <c:v>13.0</c:v>
                </c:pt>
                <c:pt idx="5">
                  <c:v>11.0</c:v>
                </c:pt>
                <c:pt idx="6">
                  <c:v>10.0</c:v>
                </c:pt>
                <c:pt idx="7">
                  <c:v>10.0</c:v>
                </c:pt>
                <c:pt idx="8">
                  <c:v>10.0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</c:strCache>
            </c:strRef>
          </c:cat>
          <c:val>
            <c:numRef>
              <c:f>Sheet1!$E$2:$E$10</c:f>
              <c:numCache>
                <c:formatCode>General</c:formatCode>
                <c:ptCount val="9"/>
                <c:pt idx="0">
                  <c:v>5.0</c:v>
                </c:pt>
                <c:pt idx="1">
                  <c:v>4.0</c:v>
                </c:pt>
                <c:pt idx="2">
                  <c:v>4.0</c:v>
                </c:pt>
                <c:pt idx="3">
                  <c:v>2.0</c:v>
                </c:pt>
                <c:pt idx="4">
                  <c:v>6.0</c:v>
                </c:pt>
                <c:pt idx="5">
                  <c:v>8.0</c:v>
                </c:pt>
                <c:pt idx="6">
                  <c:v>7.0</c:v>
                </c:pt>
                <c:pt idx="7">
                  <c:v>6.0</c:v>
                </c:pt>
                <c:pt idx="8">
                  <c:v>6.0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19.0</c:v>
                </c:pt>
                <c:pt idx="1">
                  <c:v>16.0</c:v>
                </c:pt>
                <c:pt idx="2">
                  <c:v>16.0</c:v>
                </c:pt>
                <c:pt idx="3">
                  <c:v>14.0</c:v>
                </c:pt>
                <c:pt idx="4">
                  <c:v>22.0</c:v>
                </c:pt>
                <c:pt idx="5">
                  <c:v>26.0</c:v>
                </c:pt>
                <c:pt idx="6">
                  <c:v>25.0</c:v>
                </c:pt>
                <c:pt idx="7">
                  <c:v>25.0</c:v>
                </c:pt>
                <c:pt idx="8">
                  <c:v>24.0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8.0</c:v>
                </c:pt>
                <c:pt idx="1">
                  <c:v>7.0</c:v>
                </c:pt>
                <c:pt idx="2">
                  <c:v>7.0</c:v>
                </c:pt>
                <c:pt idx="3">
                  <c:v>7.0</c:v>
                </c:pt>
                <c:pt idx="4">
                  <c:v>12.0</c:v>
                </c:pt>
                <c:pt idx="5">
                  <c:v>12.0</c:v>
                </c:pt>
                <c:pt idx="6">
                  <c:v>17.0</c:v>
                </c:pt>
                <c:pt idx="7">
                  <c:v>13.0</c:v>
                </c:pt>
                <c:pt idx="8">
                  <c:v>11.0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</c:strCache>
            </c: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6.0</c:v>
                </c:pt>
                <c:pt idx="1">
                  <c:v>6.0</c:v>
                </c:pt>
                <c:pt idx="2">
                  <c:v>4.0</c:v>
                </c:pt>
                <c:pt idx="3">
                  <c:v>6.0</c:v>
                </c:pt>
                <c:pt idx="4">
                  <c:v>6.0</c:v>
                </c:pt>
                <c:pt idx="5">
                  <c:v>9.0</c:v>
                </c:pt>
                <c:pt idx="6">
                  <c:v>6.0</c:v>
                </c:pt>
                <c:pt idx="7">
                  <c:v>8.0</c:v>
                </c:pt>
                <c:pt idx="8">
                  <c:v>7.0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</c:strCache>
            </c:strRef>
          </c:cat>
          <c:val>
            <c:numRef>
              <c:f>Sheet1!$E$2:$E$10</c:f>
              <c:numCache>
                <c:formatCode>General</c:formatCode>
                <c:ptCount val="9"/>
                <c:pt idx="0">
                  <c:v>5.0</c:v>
                </c:pt>
                <c:pt idx="1">
                  <c:v>3.0</c:v>
                </c:pt>
                <c:pt idx="2">
                  <c:v>6.0</c:v>
                </c:pt>
                <c:pt idx="3">
                  <c:v>1.0</c:v>
                </c:pt>
                <c:pt idx="4">
                  <c:v>4.0</c:v>
                </c:pt>
                <c:pt idx="5">
                  <c:v>5.0</c:v>
                </c:pt>
                <c:pt idx="6">
                  <c:v>2.0</c:v>
                </c:pt>
                <c:pt idx="7">
                  <c:v>4.0</c:v>
                </c:pt>
                <c:pt idx="8">
                  <c:v>6.0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Oct 2026 vs MTD-1 01–09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2.002,3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19,1%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1.619,3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1.624,5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1.348,5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-9,6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Kupang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20,5%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734,9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18,4%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618,4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15,1%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506,4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23,8%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223,7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Rote Ndao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Barat Daya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Timor Tengah Selatan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Oct 2026 vs MTD-1 01–09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152 → 156  (+2,6%)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93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+5,7%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88   Δ 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83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-4,6%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87   Δ -4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56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1.141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1.141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Kupang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Oct 2026 vs MTD-1 01–09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9 (66,7%)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73 / 143 (51,0%)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-8,8% | Turun 38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83 / 156 (53,2%)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-6,7% | Turun 45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6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+33,3%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37 / 57 (64,9%)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-2,6% | Turun 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42 / 64 (65,6%)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26 / 56 (46,4%)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-3,7%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30 / 60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 / 30 (33,3%)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11 / 32 (34,4%)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-35,3% | Turun 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+11,1%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212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-51,3%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241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-11,7%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143 (0,7%)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 / 4 (25,0%)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 / 156 (1,3%)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-33,3% | Turun 45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57 (1,8%)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64 (1,6%)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56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60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30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32 (3,1%)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Oct 2026 vs MTD-1 01–09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Oct 2026 vs MTD-1 01–09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82549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Kupang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2.408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5.063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10.003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24,1%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406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176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Oct 2026 vs MTD-1 01–09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+39,3%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+45,8%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93 | MoM +5,7%
PS: 83 | MoM -4,6%
• Junior
  RE: 82 | Active 57,3% | MoM +6,5%
  PS: 73 | Active 51,0% | MoM -6,4%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7 | Active 77,8% | MoM 0,0%
  PS: 6 | Active 66,7% | MoM +20,0%
• Junior Plus
  RE: 4 | Active 100,0% | MoM 0,0%
  PS: 4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Atambua: PS -50,0%, Gap -1
• Grapari Baa Rote: PS -100,0%, Gap -1
• Grapari Kefamenanu: PS -33,3%, Gap -1
• Grapari Kupang: PS -25,0%, Gap -1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Malaka: PS 0,0%, Gap 0
• Grapari Soe: PS 0,0%, Gap 0
• Grapari Waikabubak: PS +300,0%, Gap 3
• Grapari Waingapu: PS -25,0%, Gap -1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Sumba: RE -17 (-20,5%), PS -25 (-34,7%)
• Malaka Timtim Belu: RE -15 (-13,6%), PS -15 (-17,6%)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Sumba: RE 0 (0,0%), PS -1 (-50,0%)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Malaka Timtim Belu: RE -2 (-100,0%), PS -1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Oct 2026 vs MTD-1 01–09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Oct 2026 vs MTD-1 01–09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720,0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615,0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620,0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71,7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Oct 2026 vs MTD-1 01–09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SUSANA ASTUTI PIUNG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SUS1184223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YUSINTA ELIK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SPLFS12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JILDER FINA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SPXXJF19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ALEXANDRA INJEL FERNANDES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SPIEE10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Sebastian Frederick Imanuel Lada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SEB6384011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ANJELICHA KAREK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ANJ6480240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FANCE AFI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FAN5911104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THOMAS A.BAYU P.KANTHIKA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SPBAK47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MELSI ORIANA TAELA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SPEMA28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Joehanis Daniel Steven Pah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JOE4357109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YUSINTA ELIK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SPLFS12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ALEXANDRA INJEL FERNANDES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SPIEE10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JILDER FINA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SPXXJF19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LITA MELIANA HUSEN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SPNLU74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Sebastian Frederick Imanuel Lada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SEB6384011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YUSUF MARIO BENNY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SPBNE43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ANJELICHA KAREK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ANJ6480240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FANCE AFI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FAN5911104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THOMAS A.BAYU P.KANTHIKA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SPBAK47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MELSI ORIANA TAELA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SPEMA28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Oct 2026 vs MTD-1 01–09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MARLIN DA SILVA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SPRLN81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YAKOB MONI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SPNOM19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ALFANDI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SPKRL00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ADRIANI NELSIANA ABUK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SPRNA14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INLY OLIFA PABALA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INL7633136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SEMUEL EDWIN KOBY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SPSEK85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DJORGHY RIZALDHY GA LONI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DJO4406952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SONYA IMELDA TUTFAUT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SPXLDA74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JAMES RICHARTUS YEFERSON BANU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JAM3016480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DELFIANA SILLA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DEL6256816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ZELA TRIANINGSIH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ZEL9504682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NORMA NATALIA AMALO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NOR8152023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MARLIN DA SILVA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SPRLN81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ALFANDI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SPKRL00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ADRIANI NELSIANA ABUK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SPRNA14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INLY OLIFA PABALA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INL7633136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FAUZI ABDULA LATIF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SPLAA46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SEMUEL EDWIN KOBY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SPSEK85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Septania Rice Dapawole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SEP5137402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Imelda Fridolyn Lende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IME8270714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Performance — KUPANG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2937"/>
                </a:solidFill>
                <a:latin typeface="Arial"/>
              </a:defRPr>
            </a:pPr>
            <a:r>
              <a:t>Branch C3MR 24.93%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694944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F2937"/>
                </a:solidFill>
                <a:latin typeface="Arial"/>
              </a:defRPr>
            </a:pPr>
            <a:r>
              <a:t>Target 95.83% | Gap -70.90 pp | M-1 28.89%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48866" cy="2020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4747"/>
                <a:gridCol w="763658"/>
                <a:gridCol w="763658"/>
                <a:gridCol w="822401"/>
                <a:gridCol w="1233602"/>
                <a:gridCol w="1233602"/>
                <a:gridCol w="845899"/>
                <a:gridCol w="845899"/>
                <a:gridCol w="845899"/>
                <a:gridCol w="963385"/>
                <a:gridCol w="1116116"/>
              </a:tblGrid>
              <a:tr h="505206"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WOK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Avg 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26.827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7.246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27.01%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Rp8.61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Rp2.40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31.91%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27.84%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-67.99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Rp330.594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12.516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2.375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18.98%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Rp3.86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Rp760.9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23.63%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19.70%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-76.13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Rp320.397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9.251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2.115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22.86%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Rp2.97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Rp692.7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26.88%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23.31%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-72.52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Rp327.529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" y="425196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LOS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4507992"/>
          <a:ext cx="557783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3503"/>
                <a:gridCol w="1138334"/>
                <a:gridCol w="1366001"/>
              </a:tblGrid>
              <a:tr h="195942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Progress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42.53%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-10.60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27.61%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-1.04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20.49%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-3.67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21.29%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-2.06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19.02%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-3.13 pp</a:t>
                      </a:r>
                    </a:p>
                  </a:txBody>
                  <a:tcPr/>
                </a:tc>
              </a:tr>
              <a:tr h="195948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27.04%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-4.54 pp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CAPS Performance — KUPANG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19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14 | MoM +35.7%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632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39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064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-20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+5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508760"/>
          <a:ext cx="11548871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KUPANG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61188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931920"/>
          <a:ext cx="1154887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8874"/>
                <a:gridCol w="2242499"/>
                <a:gridCol w="2242499"/>
                <a:gridCol w="2242499"/>
                <a:gridCol w="2242499"/>
              </a:tblGrid>
              <a:tr h="77724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KUPANG ROTE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MALAKA TIMTIM BELU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SUMBA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0 / -100.0%</a:t>
                      </a:r>
                    </a:p>
                  </a:txBody>
                  <a:tcPr/>
                </a:tc>
              </a:tr>
              <a:tr h="77724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17 / +70.0%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 / +42.9%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 / +66.7%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KUPANG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15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28,881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5,656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19.6%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23,225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943 / 48.4%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951 / 34.7%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1,104 / 30.0%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1,284 / 23.6%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1,369 / 21.4%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1,342 / 21.9%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408 / 53.4%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443 / 36.6%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498 / 30.5%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591 / 26.1%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636 / 21.7%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643 / 21.3%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9,003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308 / 40.6%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303 / 27.1%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373 / 21.7%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480 / 19.0%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522 / 19.9%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479 / 22.3%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227 / 49.8%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205 / 42.0%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233 / 42.1%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213 / 27.2%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211 / 24.2%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220 / 22.7%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1,509 / 21.1%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1,276 / 22.1%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1,246 / 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1,088 / 21.3%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1,063 / 20.4%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1,247 / 19.6%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700 / 22.6%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596 / 23.7%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575 / 26.1%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554 / 22.7%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597 / 23.6%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672 / 20.7%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9,003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562 / 18.0%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463 / 16.6%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463 / 18.4%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364 / 18.7%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291 / 15.8%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350 / 15.1%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247 / 24.3%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217 / 29.5%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208 / 17.8%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170 / 22.4%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 / 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225 / 23.6%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1,202 / 15.6%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1,273 / 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1,202 / 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1,295 / 14.4%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1,163 / 15.4%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1,132 / 14.5%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629 / 16.4%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709 / 17.6%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603 / 15.8%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703 / 14.4%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621 / 16.3%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644 / 13.8%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9,003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352 / 14.2%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367 / 15.5%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386 / 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372 / 12.6%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309 / 12.6%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314 / 13.4%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221 / 15.4%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197 / 17.8%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213 / 20.7%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220 / 17.7%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233 / 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174 / 19.0%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1,262 / 13.4%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1,180 / 13.9%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1,207 / 15.2%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1,246 / 12.2%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1,227 / 11.9%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1,070 / 12.0%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685 / 14.6%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678 / 15.6%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700 / 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682 / 14.4%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698 / 12.8%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649 / 12.6%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9,003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359 / 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311 / 10.6%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305 / 11.8%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374 / 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356 / 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240 / 10.8%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218 / 17.4%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191 / 13.1%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202 / 15.3%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190 / 15.8%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173 / 13.3%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181 / 11.1%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