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48.0</c:v>
                </c:pt>
                <c:pt idx="1">
                  <c:v>54.0</c:v>
                </c:pt>
                <c:pt idx="2">
                  <c:v>40.0</c:v>
                </c:pt>
                <c:pt idx="3">
                  <c:v>28.0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48.0</c:v>
                </c:pt>
                <c:pt idx="1">
                  <c:v>47.0</c:v>
                </c:pt>
                <c:pt idx="2">
                  <c:v>36.0</c:v>
                </c:pt>
                <c:pt idx="3">
                  <c:v>30.0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3.019,5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2.720,5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2.449,7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2.215,7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+6,8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1.126,2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111   Δ -12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96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81   Δ -81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-100,0%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926   Δ -926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SF/DJP Level Branch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20040" y="2505456"/>
            <a:ext cx="11548872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679192"/>
            <a:ext cx="111556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0" i="0">
                <a:solidFill>
                  <a:srgbClr val="20252B"/>
                </a:solidFill>
                <a:latin typeface="Arial"/>
              </a:rPr>
              <a:t>Detail WOK SF tidak ditampilkan pada PPT selama ownership 12 WOK masih dalam masa transisi.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20040" y="3383280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320040" y="3657600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0040" y="5111496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16 (62,5%)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+42,9%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75 / 210 (35,7%)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+1,4%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96 / 237 (40,5%)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+4,3% | Turun 58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5778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146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-13,8%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6400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16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210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10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237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58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SF Class pada PPT Branch ditampilkan pada level Branch sampai ownership 12 WOK resmi tersedia.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5943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Trend SF ditampilkan pada level Branch selama masa transisi ownership 12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3.077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9.016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15,5%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1.379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549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99 | MoM -10,8%
PS: 96 | MoM +4,3%
• Performer
  RE: 1 | Active 100,0% | MoM 0,0%
  PS: 1 | Active 100,0% | MoM 0,0%
• Junior
  RE: 80 | Active 38,1% | MoM -11,1%
  PS: 75 | Active 35,7% | MoM +1,4%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50,0% | MoM -20,0%
  PS: 10 | Active 62,5% | MoM +42,9%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-62,5%, Gap -5
• Grapari Dompu: PS +100,0%, Gap 2
• Grapari Lombok Timur: PS 0,0%, Gap 0
• Grapari Lombok Utara: PS N/A,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N/A, Gap 2
• Grapari Mataram: PS -92,3%, Gap -12
• Grapari Sumbawa: PS -33,3%, Gap -1
• Grapari Taliwang: PS N/A,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-32 (-18,2%), PS -23 (-16,2%)
• Sumbawa Barat: RE -30 (-51,7%), PS -14 (-41,2%)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(-23,1%), PS -7 (-70,0%)
• Sumbawa Barat: RE -1 (-33,3%), PS -2 (-40,0%)
• Sumbawa Timur: RE 3 (+75,0%), PS -2 (-66,7%)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Timur: RE -1 (-100,0%),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860,0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875,0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SPGWW15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SPRFA73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ERN3856335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SPLSL72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SPXECHI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SPUIA69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SUN4743590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SPRNN41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IDA4692342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SPSLR09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SPKPG09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SPDEDEW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TED7472620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SPDNM72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APR8993939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FAN4159846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ABD6099896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MAL5772768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SPYNR75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01–04 Oct 2026 vs MTD-1 01–04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SPNOT11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SPNTB55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DAM2334423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LAL6459400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HER1161525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SRI1682242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AYU1444446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SPSLD07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SPAAM23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ABD8242555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ALV9273981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IDH6810961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IRU7539291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SPMRR82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LAL9017900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TAJ5596872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NIL9865359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AHM2513922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SPNUA43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SPNUA43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28.12%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97.45% | Gap -69.33 pp | M-1 32.56%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44.841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15.359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Rp13.74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Rp4.75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39.73%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34.58%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-62.87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Rp309.289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15.433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3.850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24.95%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Rp4.76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29.23%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-72.09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Rp313.758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23.204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3.705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15.97%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Rp6.62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Rp1.11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20.06%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16.71%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-80.74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Rp298.590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43.94%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-12.42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-4.96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28.12%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-3.79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26.62%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23.26%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-3.37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28.83%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-4.86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MATARAM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44 | MoM +13.6%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-48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+6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MATARAM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LOMBOK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SUMBAWA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 / +200.0%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38 / 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 / +3.0%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 / -60.0%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