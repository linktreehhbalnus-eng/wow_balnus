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21.0</c:v>
                </c:pt>
                <c:pt idx="1">
                  <c:v>22.0</c:v>
                </c:pt>
                <c:pt idx="2">
                  <c:v>16.0</c:v>
                </c:pt>
                <c:pt idx="3">
                  <c:v>11.0</c:v>
                </c:pt>
                <c:pt idx="4">
                  <c:v>33.0</c:v>
                </c:pt>
                <c:pt idx="5">
                  <c:v>37.0</c:v>
                </c:pt>
                <c:pt idx="6">
                  <c:v>35.0</c:v>
                </c:pt>
                <c:pt idx="7">
                  <c:v>32.0</c:v>
                </c:pt>
                <c:pt idx="8">
                  <c:v>27.0</c:v>
                </c:pt>
                <c:pt idx="9">
                  <c:v>22.0</c:v>
                </c:pt>
                <c:pt idx="10">
                  <c:v>13.0</c:v>
                </c:pt>
                <c:pt idx="11">
                  <c:v>23.0</c:v>
                </c:pt>
                <c:pt idx="12">
                  <c:v>30.0</c:v>
                </c:pt>
                <c:pt idx="13">
                  <c:v>31.0</c:v>
                </c:pt>
                <c:pt idx="14">
                  <c:v>33.0</c:v>
                </c:pt>
                <c:pt idx="15">
                  <c:v>30.0</c:v>
                </c:pt>
                <c:pt idx="16">
                  <c:v>26.0</c:v>
                </c:pt>
                <c:pt idx="17">
                  <c:v>11.0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10.0</c:v>
                </c:pt>
                <c:pt idx="1">
                  <c:v>11.0</c:v>
                </c:pt>
                <c:pt idx="2">
                  <c:v>9.0</c:v>
                </c:pt>
                <c:pt idx="3">
                  <c:v>4.0</c:v>
                </c:pt>
                <c:pt idx="4">
                  <c:v>14.0</c:v>
                </c:pt>
                <c:pt idx="5">
                  <c:v>18.0</c:v>
                </c:pt>
                <c:pt idx="6">
                  <c:v>19.0</c:v>
                </c:pt>
                <c:pt idx="7">
                  <c:v>16.0</c:v>
                </c:pt>
                <c:pt idx="8">
                  <c:v>11.0</c:v>
                </c:pt>
                <c:pt idx="9">
                  <c:v>11.0</c:v>
                </c:pt>
                <c:pt idx="10">
                  <c:v>5.0</c:v>
                </c:pt>
                <c:pt idx="11">
                  <c:v>12.0</c:v>
                </c:pt>
                <c:pt idx="12">
                  <c:v>10.0</c:v>
                </c:pt>
                <c:pt idx="13">
                  <c:v>9.0</c:v>
                </c:pt>
                <c:pt idx="14">
                  <c:v>13.0</c:v>
                </c:pt>
                <c:pt idx="15">
                  <c:v>13.0</c:v>
                </c:pt>
                <c:pt idx="16">
                  <c:v>14.0</c:v>
                </c:pt>
                <c:pt idx="17">
                  <c:v>4.0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6.0</c:v>
                </c:pt>
                <c:pt idx="1">
                  <c:v>7.0</c:v>
                </c:pt>
                <c:pt idx="2">
                  <c:v>3.0</c:v>
                </c:pt>
                <c:pt idx="3">
                  <c:v>5.0</c:v>
                </c:pt>
                <c:pt idx="4">
                  <c:v>13.0</c:v>
                </c:pt>
                <c:pt idx="5">
                  <c:v>11.0</c:v>
                </c:pt>
                <c:pt idx="6">
                  <c:v>10.0</c:v>
                </c:pt>
                <c:pt idx="7">
                  <c:v>10.0</c:v>
                </c:pt>
                <c:pt idx="8">
                  <c:v>10.0</c:v>
                </c:pt>
                <c:pt idx="9">
                  <c:v>6.0</c:v>
                </c:pt>
                <c:pt idx="10">
                  <c:v>4.0</c:v>
                </c:pt>
                <c:pt idx="11">
                  <c:v>5.0</c:v>
                </c:pt>
                <c:pt idx="12">
                  <c:v>14.0</c:v>
                </c:pt>
                <c:pt idx="13">
                  <c:v>14.0</c:v>
                </c:pt>
                <c:pt idx="14">
                  <c:v>14.0</c:v>
                </c:pt>
                <c:pt idx="15">
                  <c:v>11.0</c:v>
                </c:pt>
                <c:pt idx="16">
                  <c:v>7.0</c:v>
                </c:pt>
                <c:pt idx="1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5.0</c:v>
                </c:pt>
                <c:pt idx="1">
                  <c:v>4.0</c:v>
                </c:pt>
                <c:pt idx="2">
                  <c:v>4.0</c:v>
                </c:pt>
                <c:pt idx="3">
                  <c:v>2.0</c:v>
                </c:pt>
                <c:pt idx="4">
                  <c:v>6.0</c:v>
                </c:pt>
                <c:pt idx="5">
                  <c:v>8.0</c:v>
                </c:pt>
                <c:pt idx="6">
                  <c:v>6.0</c:v>
                </c:pt>
                <c:pt idx="7">
                  <c:v>6.0</c:v>
                </c:pt>
                <c:pt idx="8">
                  <c:v>6.0</c:v>
                </c:pt>
                <c:pt idx="9">
                  <c:v>5.0</c:v>
                </c:pt>
                <c:pt idx="10">
                  <c:v>4.0</c:v>
                </c:pt>
                <c:pt idx="11">
                  <c:v>6.0</c:v>
                </c:pt>
                <c:pt idx="12">
                  <c:v>6.0</c:v>
                </c:pt>
                <c:pt idx="13">
                  <c:v>8.0</c:v>
                </c:pt>
                <c:pt idx="14">
                  <c:v>6.0</c:v>
                </c:pt>
                <c:pt idx="15">
                  <c:v>6.0</c:v>
                </c:pt>
                <c:pt idx="16">
                  <c:v>5.0</c:v>
                </c:pt>
                <c:pt idx="17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Kupang</c:v>
                </c:pt>
              </c:strCache>
            </c:strRef>
          </c:tx>
          <c:spPr>
            <a:ln w="31750"/>
          </c:spPr>
          <c:marker>
            <c:size val="6"/>
          </c:marker>
          <c:dLbls>
            <c:txPr>
              <a:bodyPr/>
              <a:lstStyle/>
              <a:p>
                <a:pPr>
                  <a:defRPr sz="8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18.0</c:v>
                </c:pt>
                <c:pt idx="1">
                  <c:v>16.0</c:v>
                </c:pt>
                <c:pt idx="2">
                  <c:v>16.0</c:v>
                </c:pt>
                <c:pt idx="3">
                  <c:v>14.0</c:v>
                </c:pt>
                <c:pt idx="4">
                  <c:v>22.0</c:v>
                </c:pt>
                <c:pt idx="5">
                  <c:v>25.0</c:v>
                </c:pt>
                <c:pt idx="6">
                  <c:v>25.0</c:v>
                </c:pt>
                <c:pt idx="7">
                  <c:v>25.0</c:v>
                </c:pt>
                <c:pt idx="8">
                  <c:v>24.0</c:v>
                </c:pt>
                <c:pt idx="9">
                  <c:v>21.0</c:v>
                </c:pt>
                <c:pt idx="10">
                  <c:v>9.0</c:v>
                </c:pt>
                <c:pt idx="11">
                  <c:v>25.0</c:v>
                </c:pt>
                <c:pt idx="12">
                  <c:v>25.0</c:v>
                </c:pt>
                <c:pt idx="13">
                  <c:v>23.0</c:v>
                </c:pt>
                <c:pt idx="14">
                  <c:v>31.0</c:v>
                </c:pt>
                <c:pt idx="15">
                  <c:v>22.0</c:v>
                </c:pt>
                <c:pt idx="16">
                  <c:v>19.0</c:v>
                </c:pt>
                <c:pt idx="17">
                  <c:v>13.0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Kupang Rote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7.0</c:v>
                </c:pt>
                <c:pt idx="1">
                  <c:v>7.0</c:v>
                </c:pt>
                <c:pt idx="2">
                  <c:v>7.0</c:v>
                </c:pt>
                <c:pt idx="3">
                  <c:v>7.0</c:v>
                </c:pt>
                <c:pt idx="4">
                  <c:v>12.0</c:v>
                </c:pt>
                <c:pt idx="5">
                  <c:v>11.0</c:v>
                </c:pt>
                <c:pt idx="6">
                  <c:v>17.0</c:v>
                </c:pt>
                <c:pt idx="7">
                  <c:v>13.0</c:v>
                </c:pt>
                <c:pt idx="8">
                  <c:v>11.0</c:v>
                </c:pt>
                <c:pt idx="9">
                  <c:v>9.0</c:v>
                </c:pt>
                <c:pt idx="10">
                  <c:v>6.0</c:v>
                </c:pt>
                <c:pt idx="11">
                  <c:v>11.0</c:v>
                </c:pt>
                <c:pt idx="12">
                  <c:v>9.0</c:v>
                </c:pt>
                <c:pt idx="13">
                  <c:v>12.0</c:v>
                </c:pt>
                <c:pt idx="14">
                  <c:v>10.0</c:v>
                </c:pt>
                <c:pt idx="15">
                  <c:v>7.0</c:v>
                </c:pt>
                <c:pt idx="16">
                  <c:v>11.0</c:v>
                </c:pt>
                <c:pt idx="17">
                  <c:v>6.0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Malaka Timtim Belu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6.0</c:v>
                </c:pt>
                <c:pt idx="1">
                  <c:v>6.0</c:v>
                </c:pt>
                <c:pt idx="2">
                  <c:v>4.0</c:v>
                </c:pt>
                <c:pt idx="3">
                  <c:v>6.0</c:v>
                </c:pt>
                <c:pt idx="4">
                  <c:v>6.0</c:v>
                </c:pt>
                <c:pt idx="5">
                  <c:v>9.0</c:v>
                </c:pt>
                <c:pt idx="6">
                  <c:v>6.0</c:v>
                </c:pt>
                <c:pt idx="7">
                  <c:v>8.0</c:v>
                </c:pt>
                <c:pt idx="8">
                  <c:v>7.0</c:v>
                </c:pt>
                <c:pt idx="9">
                  <c:v>7.0</c:v>
                </c:pt>
                <c:pt idx="10">
                  <c:v>2.0</c:v>
                </c:pt>
                <c:pt idx="11">
                  <c:v>5.0</c:v>
                </c:pt>
                <c:pt idx="12">
                  <c:v>11.0</c:v>
                </c:pt>
                <c:pt idx="13">
                  <c:v>5.0</c:v>
                </c:pt>
                <c:pt idx="14">
                  <c:v>13.0</c:v>
                </c:pt>
                <c:pt idx="15">
                  <c:v>11.0</c:v>
                </c:pt>
                <c:pt idx="16">
                  <c:v>2.0</c:v>
                </c:pt>
                <c:pt idx="17">
                  <c:v>4.0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Sumba</c:v>
                </c:pt>
              </c:strCache>
            </c:strRef>
          </c:tx>
          <c:spPr>
            <a:ln w="20320"/>
          </c:spPr>
          <c:marker>
            <c:size val="4"/>
          </c:marker>
          <c:dLbls>
            <c:txPr>
              <a:bodyPr/>
              <a:lstStyle/>
              <a:p>
                <a:pPr>
                  <a:defRPr sz="75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Sheet1!$A$2:$A$19</c:f>
              <c:strCache>
                <c:ptCount val="18"/>
                <c:pt idx="0">
                  <c:v>01 Oct</c:v>
                </c:pt>
                <c:pt idx="1">
                  <c:v>02 Oct</c:v>
                </c:pt>
                <c:pt idx="2">
                  <c:v>03 Oct</c:v>
                </c:pt>
                <c:pt idx="3">
                  <c:v>04 Oct</c:v>
                </c:pt>
                <c:pt idx="4">
                  <c:v>05 Oct</c:v>
                </c:pt>
                <c:pt idx="5">
                  <c:v>06 Oct</c:v>
                </c:pt>
                <c:pt idx="6">
                  <c:v>07 Oct</c:v>
                </c:pt>
                <c:pt idx="7">
                  <c:v>08 Oct</c:v>
                </c:pt>
                <c:pt idx="8">
                  <c:v>09 Oct</c:v>
                </c:pt>
                <c:pt idx="9">
                  <c:v>10 Oct</c:v>
                </c:pt>
                <c:pt idx="10">
                  <c:v>11 Oct</c:v>
                </c:pt>
                <c:pt idx="11">
                  <c:v>12 Oct</c:v>
                </c:pt>
                <c:pt idx="12">
                  <c:v>13 Oct</c:v>
                </c:pt>
                <c:pt idx="13">
                  <c:v>14 Oct</c:v>
                </c:pt>
                <c:pt idx="14">
                  <c:v>15 Oct</c:v>
                </c:pt>
                <c:pt idx="15">
                  <c:v>16 Oct</c:v>
                </c:pt>
                <c:pt idx="16">
                  <c:v>17 Oct</c:v>
                </c:pt>
                <c:pt idx="17">
                  <c:v>18 Oct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5.0</c:v>
                </c:pt>
                <c:pt idx="1">
                  <c:v>3.0</c:v>
                </c:pt>
                <c:pt idx="2">
                  <c:v>6.0</c:v>
                </c:pt>
                <c:pt idx="3">
                  <c:v>1.0</c:v>
                </c:pt>
                <c:pt idx="4">
                  <c:v>4.0</c:v>
                </c:pt>
                <c:pt idx="5">
                  <c:v>5.0</c:v>
                </c:pt>
                <c:pt idx="6">
                  <c:v>2.0</c:v>
                </c:pt>
                <c:pt idx="7">
                  <c:v>4.0</c:v>
                </c:pt>
                <c:pt idx="8">
                  <c:v>6.0</c:v>
                </c:pt>
                <c:pt idx="9">
                  <c:v>5.0</c:v>
                </c:pt>
                <c:pt idx="10">
                  <c:v>1.0</c:v>
                </c:pt>
                <c:pt idx="11">
                  <c:v>9.0</c:v>
                </c:pt>
                <c:pt idx="12">
                  <c:v>5.0</c:v>
                </c:pt>
                <c:pt idx="13">
                  <c:v>6.0</c:v>
                </c:pt>
                <c:pt idx="14">
                  <c:v>8.0</c:v>
                </c:pt>
                <c:pt idx="15">
                  <c:v>4.0</c:v>
                </c:pt>
                <c:pt idx="16">
                  <c:v>6.0</c:v>
                </c:pt>
                <c:pt idx="17">
                  <c:v>3.0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1.511,8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808,8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1.227,8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43,4%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694,8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3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75,8%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 pp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+13,1%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Kupang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362,4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308,9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42,6%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39,1%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255,9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74,5%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150,4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130,0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28031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11495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21807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Tengah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21807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 Barat Daya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-44,4%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Sabu Raijua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749808"/>
            <a:ext cx="329184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SF Register: 152 → 164  (+7,9%)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+10,7%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103   Δ 11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+2,9%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102   Δ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68   Current DJP unavailable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N/A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24744" y="1362456"/>
            <a:ext cx="11430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687386"/>
                </a:solidFill>
                <a:latin typeface="Arial"/>
              </a:rPr>
              <a:t>Data Transition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0">
                <a:solidFill>
                  <a:srgbClr val="687386"/>
                </a:solidFill>
                <a:latin typeface="Arial"/>
              </a:rPr>
              <a:t>MTD-1: 2.080   Current DJP unavailable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1548862" cy="1938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1088"/>
                <a:gridCol w="613666"/>
                <a:gridCol w="613666"/>
                <a:gridCol w="613666"/>
                <a:gridCol w="681852"/>
                <a:gridCol w="681852"/>
                <a:gridCol w="681852"/>
                <a:gridCol w="681852"/>
                <a:gridCol w="681852"/>
                <a:gridCol w="681852"/>
                <a:gridCol w="664805"/>
                <a:gridCol w="664805"/>
                <a:gridCol w="664805"/>
                <a:gridCol w="767083"/>
                <a:gridCol w="767083"/>
                <a:gridCol w="767083"/>
              </a:tblGrid>
              <a:tr h="323088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SF Active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6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DJP Activity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3088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Visit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TOTAL 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+7,9%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2.080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+13,3%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1.257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+10,5%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D73527"/>
                          </a:solidFill>
                          <a:latin typeface="Arial"/>
                        </a:rPr>
                        <a:t>-5,0%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483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30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137D3F"/>
                          </a:solidFill>
                          <a:latin typeface="Arial"/>
                        </a:rPr>
                        <a:t>+5,9%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20252B"/>
                          </a:solidFill>
                          <a:latin typeface="Arial"/>
                        </a:rPr>
                        <a:t>340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19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791456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Kupang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5065776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519672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8 / 9 (88,9%)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+14,3%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93 / 151 (61,6%)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-1,1%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105 / 164 (64,0%)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 / 6 (83,3%)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+25,0%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43 / 58 (74,1%)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+2,4%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 / 65 (75,4%)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+4,3%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34 / 59 (57,6%)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-5,6%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38 / 63 (60,3%)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34 (47,1%)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18 / 36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+33,3%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412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-6,4%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-32,8%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473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-8,3%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208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-94,7%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3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+150,0%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311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-33,3%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83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107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6 / 151 (4,0%)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50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2 / 4 (50,0%)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8 / 164 (4,9%)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-42,9% | Turun 54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58 (5,2%)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65 (4,6%)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59 (1,7%)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1 / 2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63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60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2 / 34 (5,9%)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(N/A)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3 / 36 (8,3%)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 i="1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Daily SF Active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SF Active RE Harian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20040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27648" y="786384"/>
            <a:ext cx="55778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PS Harian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327648" y="1097280"/>
          <a:ext cx="55321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4645152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Ringkasan Produktivitas Harian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956048"/>
          <a:ext cx="7955277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6049"/>
                <a:gridCol w="1735697"/>
                <a:gridCol w="1108917"/>
                <a:gridCol w="1735697"/>
                <a:gridCol w="1108917"/>
              </a:tblGrid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RE/Hari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Avg SF Active PS/Hari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377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623620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Total Branch merupakan SF Code unik per hari; angka WOK tidak dijumlahkan jika satu SF beraktivitas pada lebih dari satu WOK.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263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-19,5%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Unknown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2075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Lombok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-54,8%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Sumbawa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459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46557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Kupang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75818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402336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75818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402336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2.242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10.028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22,4%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432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0 (0,0%)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Channel Scorecard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24128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3834"/>
                <a:gridCol w="1077894"/>
                <a:gridCol w="1077894"/>
                <a:gridCol w="975238"/>
                <a:gridCol w="1077894"/>
                <a:gridCol w="1077894"/>
                <a:gridCol w="975238"/>
                <a:gridCol w="1385864"/>
                <a:gridCol w="1129223"/>
                <a:gridCol w="1077894"/>
              </a:tblGrid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122,1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112,3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1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+61,2%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68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240,0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-76,2%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85292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Kontributor Penurunan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SF ACTIVE TOTAL
RE: 114 | MoM +10,7%
PS: 105 | MoM +2,9%
• Junior
  RE: 102 | Active 67,5% | MoM +10,9%
  PS: 93 | Active 61,6% | MoM +2,2%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6976" y="3602736"/>
            <a:ext cx="2633472" cy="128016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Greenfield
  RE: 8 | Active 88,9% | MoM +14,3%
  PS: 8 | Active 88,9% | MoM +14,3%
• Junior Plus
  RE: 4 | Active 100,0% | MoM 0,0%
  PS: 4 | Active 100,0% | MoM 0,0%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3182112"/>
            <a:ext cx="5705856" cy="184708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3" y="326440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 i="0">
                <a:solidFill>
                  <a:srgbClr val="102C50"/>
                </a:solidFill>
                <a:latin typeface="Arial"/>
              </a:rPr>
              <a:t>GraPARI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59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Atambua: PS 0,0%, Gap 0
• Grapari Baa Rote: PS 0,0%, Gap 0
• Grapari Kefamenanu: PS -100,0%, Gap -1
• Grapari Kupang: PS -33,3%, Gap -1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3621024"/>
            <a:ext cx="2633472" cy="1234440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 i="0">
                <a:solidFill>
                  <a:srgbClr val="20252B"/>
                </a:solidFill>
                <a:latin typeface="Arial"/>
              </a:rPr>
              <a:t>• Grapari Malaka: PS 0,0%, Gap 0
• Grapari Soe: PS 0,0%, Gap 0
• Grapari Waikabubak: PS +100,0%, Gap 1
• Grapari Waingapu: PS -100,0%, Gap 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0040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79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-17 (-11,6%), PS -26 (-19,5%)
• Malaka Timtim Belu: RE -9 (-4,5%), PS -21 (-12,7%)
• Unknown: RE -1 (-100,0%), PS -1 (-100,0%)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36976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28416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6704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Sumba: RE 0 (0,0%), PS -4 (-80,0%)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53912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5351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Tidak ada penurunan 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70848" y="5166360"/>
            <a:ext cx="2788920" cy="100584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62288" y="523951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 i="0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0576" y="555955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 i="0">
                <a:solidFill>
                  <a:srgbClr val="20252B"/>
                </a:solidFill>
                <a:latin typeface="Arial"/>
              </a:rPr>
              <a:t>• Malaka Timtim Belu: RE -2 (-100,0%), PS -2 (-100,0%)
• Kupang Rote: RE 0 (0,0%), PS -1 (-50,0%)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PS by Speed — Total Branch &amp; WOK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52,6%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-57,1%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Revenue New Sales by Speed — Total Branch &amp;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777240"/>
            <a:ext cx="420624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 i="1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34,4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-27,7%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53,7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18,0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46,2%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11,7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480,0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4008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327660">
                <a:tc rowSpan="2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2766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36577D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2766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2,0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620,0 Rb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138,1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127,1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Kupang Rote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59,3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59,6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Malaka Timtim Belu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44,8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38,9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1426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Sumba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Rp 33,8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Rp 28,5 Jt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Top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Top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20,0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LITA MELIANA HUSEN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SPNLU74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Ipradictus Fransis Adipapa Blegur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IPR5851776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7,0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+140,0%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MELSI ORIANA TAELA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SPEMA28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FITRI YUSINTA ELIK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SPLFS12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14,0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ANJELICHA KAREK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ANJ6480240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FANCE AFI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FAN5911104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SUSANA ASTUTI PIUNG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SUS1184223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ISABELLA THALL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SPLEL22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THOMAS A.BAYU P.KANTHIKA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SPBAK47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WIHELMINA DAFROSA BATA BESU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SPLRA54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ALEXANDRA INJEL FERNANDES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SPIEE10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+166,7%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YUSUF MARIO BENNY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SPBNE43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9,0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Sebastian Frederick Imanuel Lada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SEB6384011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3,0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137D3F"/>
                </a:solidFill>
                <a:latin typeface="Arial"/>
              </a:rPr>
              <a:t>Top 10 branch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Kupang Appendix — Bottom 10 SF berdasarkan Pertumbuhan RE &amp; 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01–18 Oct 2026 vs MTD-1 01–18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Kupang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7648" y="804672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Bottom 10 — Growth PS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-7,0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SONYA IMELDA TUTFAUT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SPXLDA74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27648" y="1115568"/>
          <a:ext cx="5532117" cy="44988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4363"/>
                <a:gridCol w="1289265"/>
                <a:gridCol w="562588"/>
                <a:gridCol w="562588"/>
                <a:gridCol w="562588"/>
                <a:gridCol w="640725"/>
              </a:tblGrid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Nama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 ID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ALFANDI KAREL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SPKRL00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DELFIANA SILLA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DEL6256816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ADRIANI NELSIANA ABUK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SPRNA14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ABDIL RAHMAN MUSA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SPUHH88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INLY OLIFA PABALA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INL7633136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ARIS AGUSTA MANSULA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SPSLR91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Septania Rice Dapawole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SEP5137402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Maria Wilhelmina Lusong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MAR6409329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NATALIA EMERALDA DELIMA NDAOMANU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NAT6540224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40898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SEMUEL EDWIN KOBY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SPSEK85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5742432"/>
            <a:ext cx="1138428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1">
                <a:solidFill>
                  <a:srgbClr val="687386"/>
                </a:solidFill>
                <a:latin typeface="Arial"/>
              </a:rPr>
              <a:t>Growth (%) dihitung dari volume RE/PS periode berjalan terhadap periode sebelumnya per SF Code. Ranking hanya mencakup SF pada branch ini; detail WOK tidak ditampilkan selama masa transisi.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144768"/>
            <a:ext cx="132588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00" b="1" i="0">
                <a:solidFill>
                  <a:srgbClr val="D73527"/>
                </a:solidFill>
                <a:latin typeface="Arial"/>
              </a:rPr>
              <a:t>Bottom 10 branch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BILCO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C3MR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37.48%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38.22% | MoM -0.74 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5184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TARGET / GAP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95.83%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-58.35 pp | Rp-9.01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10328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PAID RATE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36.30%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36.80% | MoM -0.51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5472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PAYMENT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Rp5.79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M-1 Rp5.92 M | MoM -2.2%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0616" y="749808"/>
            <a:ext cx="2148840" cy="713232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 rIns="73152" tIns="54864">
            <a:spAutoFit/>
          </a:bodyPr>
          <a:lstStyle/>
          <a:p>
            <a:pPr>
              <a:defRPr sz="800" b="1">
                <a:solidFill>
                  <a:srgbClr val="64748B"/>
                </a:solidFill>
              </a:defRPr>
            </a:pPr>
            <a:r>
              <a:t>BILLING M</a:t>
            </a:r>
          </a:p>
          <a:p>
            <a:pPr>
              <a:defRPr sz="1600" b="1">
                <a:solidFill>
                  <a:srgbClr val="173C64"/>
                </a:solidFill>
              </a:defRPr>
            </a:pPr>
            <a:r>
              <a:t>Rp15.44 M</a:t>
            </a:r>
          </a:p>
          <a:p>
            <a:pPr>
              <a:defRPr sz="750" b="1">
                <a:solidFill>
                  <a:srgbClr val="505F73"/>
                </a:solidFill>
              </a:defRPr>
            </a:pPr>
            <a:r>
              <a:t>MoM -0.3%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664208"/>
          <a:ext cx="11548869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9479"/>
                <a:gridCol w="898939"/>
                <a:gridCol w="898939"/>
                <a:gridCol w="973850"/>
                <a:gridCol w="898939"/>
                <a:gridCol w="1310953"/>
                <a:gridCol w="898939"/>
                <a:gridCol w="898939"/>
                <a:gridCol w="898939"/>
                <a:gridCol w="1310953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C3MR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Paid Rate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Payment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%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Gap Rp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37.48%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36.30%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Rp5.79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-2.2%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-58.35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Rp-9.01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41.29%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-0.16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39.94%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+0.01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Rp3.55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-1.2%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-54.54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Rp-4.69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30.65%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-1.87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29.70%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-1.38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Rp1.18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-5.8%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-65.18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Rp-2.52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>
                        <a:defRPr sz="85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35.30%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-0.86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34.67%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-0.75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Rp1.05 M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-1.7%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-60.53 pp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Rp-1.80 M</a:t>
                      </a:r>
                    </a:p>
                  </a:txBody>
                  <a:tcPr>
                    <a:solidFill>
                      <a:srgbClr val="EBF8F1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0040" y="3913632"/>
            <a:ext cx="3657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BILCO by LOS — Branch &amp; WOK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20040" y="4187952"/>
          <a:ext cx="11548868" cy="166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1580"/>
                <a:gridCol w="2299322"/>
                <a:gridCol w="2299322"/>
                <a:gridCol w="2299322"/>
                <a:gridCol w="2299322"/>
              </a:tblGrid>
              <a:tr h="238397"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58.01% / -2.26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63.82% / +4.86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49.94% / -6.49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58.58% / -11.21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40.28% / +0.32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41.98% / -2.39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32.39% / +0.98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49.32% / +2.86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32.10% / -0.03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34.41% / +1.13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28.34% / -0.24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34.44% / -2.72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32.43% / +0.69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36.76% / +1.94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25.69% / -1.13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34.04% / +1.51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7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29.47% / -0.84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32.67% / -0.27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24.14% / -1.42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28.76% / -1.17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  <a:tr h="238398">
                <a:tc>
                  <a:txBody>
                    <a:bodyPr/>
                    <a:lstStyle/>
                    <a:p>
                      <a:pPr algn="l">
                        <a:defRPr sz="78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40.39% / -1.02 pp</a:t>
                      </a:r>
                    </a:p>
                  </a:txBody>
                  <a:tcPr>
                    <a:solidFill>
                      <a:srgbClr val="FF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44.02% / -0.49 pp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34.13% / -2.49 pp</a:t>
                      </a:r>
                    </a:p>
                  </a:txBody>
                  <a:tcPr>
                    <a:solidFill>
                      <a:srgbClr val="F2EF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8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35.91% / -1.07 pp</a:t>
                      </a:r>
                    </a:p>
                  </a:txBody>
                  <a:tcPr>
                    <a:solidFill>
                      <a:srgbClr val="FFF7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50" b="1">
                <a:solidFill>
                  <a:srgbClr val="FFFFFF"/>
                </a:solidFill>
                <a:latin typeface="Arial"/>
              </a:defRPr>
            </a:pPr>
            <a:r>
              <a:t>CAPS Performance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0">
                <a:solidFill>
                  <a:srgbClr val="FFFFFF"/>
                </a:solidFill>
                <a:latin typeface="Arial"/>
              </a:defRPr>
            </a:pPr>
            <a:r>
              <a:t>Snapshot 10/18/2026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20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19 | MoM +5.3%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-19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749808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+1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1664208"/>
          <a:ext cx="11548871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0300"/>
                <a:gridCol w="1443609"/>
                <a:gridCol w="1443609"/>
                <a:gridCol w="1154887"/>
                <a:gridCol w="1299248"/>
                <a:gridCol w="1443609"/>
                <a:gridCol w="1443609"/>
              </a:tblGrid>
              <a:tr h="23408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(BRANCH)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-19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</a:t>
                      </a:r>
                    </a:p>
                  </a:txBody>
                  <a:tcPr/>
                </a:tc>
              </a:tr>
              <a:tr h="234086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3408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299923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73C64"/>
                </a:solidFill>
                <a:latin typeface="Arial"/>
              </a:defRPr>
            </a:pPr>
            <a:r>
              <a:t>CAPS by LOS — Branch &amp; WOK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3310128"/>
          <a:ext cx="11548868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740"/>
                <a:gridCol w="2298282"/>
                <a:gridCol w="2298282"/>
                <a:gridCol w="2298282"/>
                <a:gridCol w="2298282"/>
              </a:tblGrid>
              <a:tr h="3505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KUPANG ROTE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MALAKA TIMTIM BELU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SUMBA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0 / -100.0%</a:t>
                      </a:r>
                    </a:p>
                  </a:txBody>
                  <a:tcPr/>
                </a:tc>
              </a:tr>
              <a:tr h="350520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 / +20.0%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 / 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5 / -16.7%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2 / +100.0%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KUPANG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28,881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5,656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19.6%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23,225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408 / 53.4%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443 / 36.6%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498 / 30.5%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591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636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643 / 21.3%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308 / 40.6%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303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373 / 21.7%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480 / 19.0%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522 / 19.9%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479 / 22.3%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227 / 49.8%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205 / 42.0%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42.1%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211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22.7%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596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575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554 / 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597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672 / 20.7%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562 / 18.0%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463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364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291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350 / 15.1%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247 / 24.3%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217 / 29.5%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208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170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225 / 23.6%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629 / 16.4%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709 / 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603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703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621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644 / 13.8%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352 / 14.2%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367 / 15.5%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386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372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309 / 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314 / 13.4%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221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197 / 17.8%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213 / 20.7%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220 / 17.7%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233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174 / 19.0%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9222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14,914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685 / 14.6%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678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700 / 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682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698 / 12.8%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649 / 12.6%</a:t>
                      </a:r>
                    </a:p>
                  </a:txBody>
                  <a:tcPr/>
                </a:tc>
              </a:tr>
              <a:tr h="179222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359 / 8.6%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311 / 10.6%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305 / 11.8%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374 / 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356 / 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240 / 10.8%</a:t>
                      </a:r>
                    </a:p>
                  </a:txBody>
                  <a:tcPr/>
                </a:tc>
              </a:tr>
              <a:tr h="17922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4,964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22.7%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218 / 17.4%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191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202 / 15.3%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190 / 15.8%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173 / 13.3%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181 / 11.1%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