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Flores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34.0</c:v>
                </c:pt>
                <c:pt idx="1">
                  <c:v>32.0</c:v>
                </c:pt>
                <c:pt idx="2">
                  <c:v>24.0</c:v>
                </c:pt>
                <c:pt idx="3">
                  <c:v>13.0</c:v>
                </c:pt>
                <c:pt idx="4">
                  <c:v>27.0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Ende Sikka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12.0</c:v>
                </c:pt>
                <c:pt idx="1">
                  <c:v>13.0</c:v>
                </c:pt>
                <c:pt idx="2">
                  <c:v>8.0</c:v>
                </c:pt>
                <c:pt idx="3">
                  <c:v>8.0</c:v>
                </c:pt>
                <c:pt idx="4">
                  <c:v>9.0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Flores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6.0</c:v>
                </c:pt>
                <c:pt idx="1">
                  <c:v>4.0</c:v>
                </c:pt>
                <c:pt idx="2">
                  <c:v>6.0</c:v>
                </c:pt>
                <c:pt idx="3">
                  <c:v>4.0</c:v>
                </c:pt>
                <c:pt idx="4">
                  <c:v>4.0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Manggarai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</c:strCache>
            </c: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16.0</c:v>
                </c:pt>
                <c:pt idx="1">
                  <c:v>15.0</c:v>
                </c:pt>
                <c:pt idx="2">
                  <c:v>10.0</c:v>
                </c:pt>
                <c:pt idx="3">
                  <c:v>1.0</c:v>
                </c:pt>
                <c:pt idx="4">
                  <c:v>14.0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Flores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23.0</c:v>
                </c:pt>
                <c:pt idx="1">
                  <c:v>21.0</c:v>
                </c:pt>
                <c:pt idx="2">
                  <c:v>18.0</c:v>
                </c:pt>
                <c:pt idx="3">
                  <c:v>15.0</c:v>
                </c:pt>
                <c:pt idx="4">
                  <c:v>22.0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Ende Sikka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9.0</c:v>
                </c:pt>
                <c:pt idx="1">
                  <c:v>9.0</c:v>
                </c:pt>
                <c:pt idx="2">
                  <c:v>7.0</c:v>
                </c:pt>
                <c:pt idx="3">
                  <c:v>7.0</c:v>
                </c:pt>
                <c:pt idx="4">
                  <c:v>9.0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Flores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5.0</c:v>
                </c:pt>
                <c:pt idx="1">
                  <c:v>3.0</c:v>
                </c:pt>
                <c:pt idx="2">
                  <c:v>3.0</c:v>
                </c:pt>
                <c:pt idx="3">
                  <c:v>3.0</c:v>
                </c:pt>
                <c:pt idx="4">
                  <c:v>4.0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Manggarai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</c:strCache>
            </c: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9.0</c:v>
                </c:pt>
                <c:pt idx="1">
                  <c:v>9.0</c:v>
                </c:pt>
                <c:pt idx="2">
                  <c:v>8.0</c:v>
                </c:pt>
                <c:pt idx="3">
                  <c:v>5.0</c:v>
                </c:pt>
                <c:pt idx="4">
                  <c:v>9.0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01–05 Oct 2026 vs MTD-1 01–05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1.602,0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16,6%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1.336,0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1.299,7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12,2%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1.140,7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3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69,7%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59,8%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-9,9 pp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57,2%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-56,2%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Flores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17,1%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520,1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13,7%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442,2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15,7%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327,2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10,9%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277,5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16,7%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488,7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11,6%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421,0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828031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321807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+27,3%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Ngada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321807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Lembata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01–05 Oct 2026 vs MTD-1 01–05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49640" y="749808"/>
            <a:ext cx="329184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SF Register: 150 → 143  (-4,7%)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57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01368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-9,5%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63   Δ -6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49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09160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-9,3%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54   Δ -5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16952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24   Current DJP unavailable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24744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470   Current DJP unavailable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2" cy="1938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1088"/>
                <a:gridCol w="613666"/>
                <a:gridCol w="613666"/>
                <a:gridCol w="613666"/>
                <a:gridCol w="681852"/>
                <a:gridCol w="681852"/>
                <a:gridCol w="681852"/>
                <a:gridCol w="681852"/>
                <a:gridCol w="681852"/>
                <a:gridCol w="681852"/>
                <a:gridCol w="664805"/>
                <a:gridCol w="664805"/>
                <a:gridCol w="664805"/>
                <a:gridCol w="767083"/>
                <a:gridCol w="767083"/>
                <a:gridCol w="767083"/>
              </a:tblGrid>
              <a:tr h="323088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Register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3088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TOTAL 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-4,7%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-9,5%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-9,3%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-5,7%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-15,8%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-11,5%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-43,8%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-27,3%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+3,8%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+4,2%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791456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Flores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5065776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-28,6%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6519672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01–05 Oct 2026 vs MTD-1 01–05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12 / 13 (92,3%)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37 / 129 (28,7%)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-11,9% | Turun 26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49 / 143 (34,3%)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-10,9% | Turun 32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5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11 / 45 (24,4%)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-26,7% | Turun 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16 / 50 (32,0%)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-20,0% | Turun 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7 / 21 (33,3%)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-22,2% | Turun 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8 / 23 (34,8%)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-27,3% | Turun 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7 (85,7%)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19 / 63 (30,2%)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+5,6% | Turun 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25 / 70 (35,7%)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+4,2% | Turun 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+20,0%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90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-17,4%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132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-12,0%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55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50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13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129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26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143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32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5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45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50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21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23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7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63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70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01–05 Oct 2026 vs MTD-1 01–05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01–05 Oct 2026 vs MTD-1 01–05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+19,2%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+27,3%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-30,8%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+23,1%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2825496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Flores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118103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383279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3118103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383279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2.125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2.591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6.043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35,2%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227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119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01–05 Oct 2026 vs MTD-1 01–05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34,7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28,4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5,8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-71,4%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500,0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-76,5%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57 | MoM -9,5%
PS: 49 | MoM -9,3%
• Junior
  RE: 45 | Active 34,9% | MoM -11,8%
  PS: 37 | Active 28,7% | MoM -9,8%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Greenfield
  RE: 12 | Active 92,3% | MoM +9,1%
  PS: 12 | Active 92,3% | MoM 0,0%
• Junior Plus
  RE: 0 | Active 0,0% | MoM -100,0%
  PS: 0 | Active 0,0% | MoM -100,0%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Bajawa: PS -100,0%, Gap -1
• Grapari Ende: PS +66,7%, Gap 4
• Grapari Kalabahi: PS 0,0%, Gap 0
• Grapari Labuan Bajo: PS -50,0%, Gap -2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Larantuka: PS -50,0%, Gap -1
• Grapari Maumere: PS -20,0%, Gap -1
• Grapari Ruteng: PS +100,0%, Gap 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Flores Timur: RE -7 (-12,7%), PS -8 (-22,9%)
• Ende Sikka: RE 14 (+19,2%), PS -6 (-9,8%)
• Manggarai: RE 1 (+1,4%), PS -4 (-7,4%)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Ende Sikka: RE -1 (-20,0%), PS -3 (-75,0%)
• Manggarai: RE -1 (-20,0%), PS -2 (-100,0%)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Ende Sikka: RE 2 (N/A), PS -1 (-100,0%)
• Flores Timur: RE 0 (0,0%), PS -1 (-100,0%)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Manggarai: RE 0 (0,0%), PS -1 (-100,0%)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01–05 Oct 2026 vs MTD-1 01–05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57,2%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01–05 Oct 2026 vs MTD-1 01–05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20,2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17,2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11,8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-47,2%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930,0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325,0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350,0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280,0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930,0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40,9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35,0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17,1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14,9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9,3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7,7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14,6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12,4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01–05 Oct 2026 vs MTD-1 01–05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HILDEGARDIS SALLY DOMAKING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SPGSD76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JANUARIUS PAULUS KOPONG HADA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JAN6694249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helmina dianafri jon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HEL4506624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LUKAS ALFREDO LODANG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LUK7951132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THERESIA NETIANA DELOS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SPLEL24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Rahmad syukur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RAH9224740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SUPAMRI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SPIRU12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Anmisa putrianingsih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ANM2815952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BENYAMIN NDEWI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SPBEN72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AGUSTINO OSWALDUS SUDIN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SPOLS08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MARIANIS TAPIN WOKAL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MAR1806995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JANUARIUS PAULUS KOPONG HADA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JAN6694249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Anmisa putrianingsih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ANM2815952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LUKAS ALFREDO LODANG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LUK7951132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YANTI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SPNTI75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HILDEGARDIS SALLY DOMAKING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SPGSD76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YOHANES RADJO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YOH3951876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TEOFELUS EPIPEO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SPTFL84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AGUSTINO OSWALDUS SUDIN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SPOLS08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TURWEN HENCI MOLOM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SPOWO44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01–05 Oct 2026 vs MTD-1 01–05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ROBERTUS BEDA KOTEN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SPBRU61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umar mangu laga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UMA8300566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VALENTINUS S LEIN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SPVAL77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FELIX LABA GOLE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SPLBG95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YOHANES NATALIS TOLEK KELEN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SPISE19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MAGDALENA JULIANITA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SPLIT85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Yesualdus Harsen Pande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YES1480927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MARIO MAXIMILIANO AGUSTO WIO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MAR2648963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YOHANES LABA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SPLBA98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Balla panja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BAL4069900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Yohannes moa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YOH4255803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VALENTINUS S LEIN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SPVAL77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FELIX LABA GOLE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SPLBG95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Yanuri Nona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MAR7897934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BERRTOLOMEUS DONBOSCO DEMO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BER6428042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KLAUDIUS IVANTUS LAJAR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KLA3857151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Yesualdus Harsen Pande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YES1480927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MARIO MAXIMILIANO AGUSTO WIO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MAR2648963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Valentina isabela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MAR3906643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VINSENSIUS JEMADA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VIN2925601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869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73C64"/>
                </a:solidFill>
                <a:latin typeface="Arial"/>
              </a:defRPr>
            </a:pPr>
            <a:r>
              <a:t>C3MR Performance — FLORES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28600"/>
            <a:ext cx="3337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Arial"/>
              </a:defRPr>
            </a:pPr>
            <a:r>
              <a:t>Snapshot 2026-10-13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58368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1F2937"/>
                </a:solidFill>
                <a:latin typeface="Arial"/>
              </a:defRPr>
            </a:pPr>
            <a:r>
              <a:t>Branch C3MR 22.66%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0" y="694944"/>
            <a:ext cx="5943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F2937"/>
                </a:solidFill>
                <a:latin typeface="Arial"/>
              </a:defRPr>
            </a:pPr>
            <a:r>
              <a:t>Target 96.70% | Gap -74.04 pp | M-1 26.53%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20040" y="1143000"/>
          <a:ext cx="11548866" cy="20208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4747"/>
                <a:gridCol w="763658"/>
                <a:gridCol w="763658"/>
                <a:gridCol w="822401"/>
                <a:gridCol w="1233602"/>
                <a:gridCol w="1233602"/>
                <a:gridCol w="845899"/>
                <a:gridCol w="845899"/>
                <a:gridCol w="845899"/>
                <a:gridCol w="963385"/>
                <a:gridCol w="1116116"/>
              </a:tblGrid>
              <a:tr h="505206"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WOK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SSL All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SSL Paid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Paid Rate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Billing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Payment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C3MR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C3MR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Gap 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Avg Payment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505206">
                <a:tc>
                  <a:txBody>
                    <a:bodyPr/>
                    <a:lstStyle/>
                    <a:p>
                      <a:pPr algn="l">
                        <a:defRPr sz="819">
                          <a:latin typeface="Arial"/>
                        </a:defRPr>
                      </a:pPr>
                      <a:r>
                        <a:t>ENDE SIKKA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12.821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2.633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20.54%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Rp3.96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Rp842.2 Jt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25.16%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21.25%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-75.45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Rp319.857</a:t>
                      </a:r>
                    </a:p>
                  </a:txBody>
                  <a:tcPr/>
                </a:tc>
              </a:tr>
              <a:tr h="505206">
                <a:tc>
                  <a:txBody>
                    <a:bodyPr/>
                    <a:lstStyle/>
                    <a:p>
                      <a:pPr algn="l">
                        <a:defRPr sz="819">
                          <a:latin typeface="Arial"/>
                        </a:defRPr>
                      </a:pPr>
                      <a:r>
                        <a:t>FLORES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7.329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1.569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21.41%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Rp2.21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Rp472.0 Jt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27.29%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21.36%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-75.34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Rp300.803</a:t>
                      </a:r>
                    </a:p>
                  </a:txBody>
                  <a:tcPr/>
                </a:tc>
              </a:tr>
              <a:tr h="505206">
                <a:tc>
                  <a:txBody>
                    <a:bodyPr/>
                    <a:lstStyle/>
                    <a:p>
                      <a:pPr algn="l">
                        <a:defRPr sz="819">
                          <a:latin typeface="Arial"/>
                        </a:defRPr>
                      </a:pPr>
                      <a:r>
                        <a:t>MANGGARAI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12.363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3.006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24.31%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Rp4.04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Rp999.4 Jt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27.45%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24.75%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-71.95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Rp332.479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320040" y="4251960"/>
            <a:ext cx="1828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LOS Branch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4507992"/>
          <a:ext cx="5577838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73503"/>
                <a:gridCol w="1138334"/>
                <a:gridCol w="1366001"/>
              </a:tblGrid>
              <a:tr h="195942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C3MR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Progress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55.08%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-6.82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33.37%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-1.09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4 - 6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20.22%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-3.40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7 - 12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19.71%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-1.70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18.24%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-2.68 pp</a:t>
                      </a:r>
                    </a:p>
                  </a:txBody>
                  <a:tcPr/>
                </a:tc>
              </a:tr>
              <a:tr h="195948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23.07%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-4.79 pp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