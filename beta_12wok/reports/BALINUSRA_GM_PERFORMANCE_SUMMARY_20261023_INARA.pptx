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10/10</c:v>
                </c:pt>
                <c:pt idx="1">
                  <c:v>11/10</c:v>
                </c:pt>
                <c:pt idx="2">
                  <c:v>12/10</c:v>
                </c:pt>
                <c:pt idx="3">
                  <c:v>13/10</c:v>
                </c:pt>
                <c:pt idx="4">
                  <c:v>14/10</c:v>
                </c:pt>
                <c:pt idx="5">
                  <c:v>15/10</c:v>
                </c:pt>
                <c:pt idx="6">
                  <c:v>16/10</c:v>
                </c:pt>
                <c:pt idx="7">
                  <c:v>17/10</c:v>
                </c:pt>
                <c:pt idx="8">
                  <c:v>18/10</c:v>
                </c:pt>
                <c:pt idx="9">
                  <c:v>19/10</c:v>
                </c:pt>
                <c:pt idx="10">
                  <c:v>20/10</c:v>
                </c:pt>
                <c:pt idx="11">
                  <c:v>21/10</c:v>
                </c:pt>
                <c:pt idx="12">
                  <c:v>22/10</c:v>
                </c:pt>
                <c:pt idx="13">
                  <c:v>23/10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231.0</c:v>
                </c:pt>
                <c:pt idx="1">
                  <c:v>159.0</c:v>
                </c:pt>
                <c:pt idx="2">
                  <c:v>287.0</c:v>
                </c:pt>
                <c:pt idx="3">
                  <c:v>276.0</c:v>
                </c:pt>
                <c:pt idx="4">
                  <c:v>273.0</c:v>
                </c:pt>
                <c:pt idx="5">
                  <c:v>281.0</c:v>
                </c:pt>
                <c:pt idx="6">
                  <c:v>283.0</c:v>
                </c:pt>
                <c:pt idx="7">
                  <c:v>216.0</c:v>
                </c:pt>
                <c:pt idx="8">
                  <c:v>206.0</c:v>
                </c:pt>
                <c:pt idx="9">
                  <c:v>321.0</c:v>
                </c:pt>
                <c:pt idx="10">
                  <c:v>341.0</c:v>
                </c:pt>
                <c:pt idx="11">
                  <c:v>273.0</c:v>
                </c:pt>
                <c:pt idx="12">
                  <c:v>298.0</c:v>
                </c:pt>
                <c:pt idx="13">
                  <c:v>244.0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10/10</c:v>
                </c:pt>
                <c:pt idx="1">
                  <c:v>11/10</c:v>
                </c:pt>
                <c:pt idx="2">
                  <c:v>12/10</c:v>
                </c:pt>
                <c:pt idx="3">
                  <c:v>13/10</c:v>
                </c:pt>
                <c:pt idx="4">
                  <c:v>14/10</c:v>
                </c:pt>
                <c:pt idx="5">
                  <c:v>15/10</c:v>
                </c:pt>
                <c:pt idx="6">
                  <c:v>16/10</c:v>
                </c:pt>
                <c:pt idx="7">
                  <c:v>17/10</c:v>
                </c:pt>
                <c:pt idx="8">
                  <c:v>18/10</c:v>
                </c:pt>
                <c:pt idx="9">
                  <c:v>19/10</c:v>
                </c:pt>
                <c:pt idx="10">
                  <c:v>20/10</c:v>
                </c:pt>
                <c:pt idx="11">
                  <c:v>21/10</c:v>
                </c:pt>
                <c:pt idx="12">
                  <c:v>22/10</c:v>
                </c:pt>
                <c:pt idx="13">
                  <c:v>23/10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184.0</c:v>
                </c:pt>
                <c:pt idx="1">
                  <c:v>121.0</c:v>
                </c:pt>
                <c:pt idx="2">
                  <c:v>206.0</c:v>
                </c:pt>
                <c:pt idx="3">
                  <c:v>225.0</c:v>
                </c:pt>
                <c:pt idx="4">
                  <c:v>212.0</c:v>
                </c:pt>
                <c:pt idx="5">
                  <c:v>206.0</c:v>
                </c:pt>
                <c:pt idx="6">
                  <c:v>212.0</c:v>
                </c:pt>
                <c:pt idx="7">
                  <c:v>190.0</c:v>
                </c:pt>
                <c:pt idx="8">
                  <c:v>146.0</c:v>
                </c:pt>
                <c:pt idx="9">
                  <c:v>256.0</c:v>
                </c:pt>
                <c:pt idx="10">
                  <c:v>261.0</c:v>
                </c:pt>
                <c:pt idx="11">
                  <c:v>249.0</c:v>
                </c:pt>
                <c:pt idx="12">
                  <c:v>220.0</c:v>
                </c:pt>
                <c:pt idx="13">
                  <c:v>196.0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-11,2% &amp; PS -12,3% MoM — Achievement Mencapai 54,6% (RE) / 52,8%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Okt 2026 vs MTD-1 01–23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23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Okt 2026 vs MTD-1 01–23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01–23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(-0,9%), Denpasar Terdalam (-21,6%)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Okt 2026 vs MTD-1 01–23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-0,9%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-2,7%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-8,0%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-21,6%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66,6%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59,6%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54,0%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46,2%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(+13,3%), Flores Timur Terdalam (-37,2%)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Okt 2026 vs MTD-1 01–23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Sikka Penyumbang PS Absolut Terbesar (+37), Lombok Utara Tumbuh Tertinggi (+25,5%)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Okt 2026 vs MTD-1 01–23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-685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47 kabupaten: Top 5 menyumbang +110, Bottom 5 -525, dan perubahan PS regional -685.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(-5,8%), TSEL One &gt;30 Mbps Turun Terdalam (-32,3%)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Okt 2026 vs MTD-1 01–23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-9,1% MoM, DJP Data Transition — SF Register 946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Okt 2026 vs MTD-1 01–23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14.649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14.481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38.148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25.335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83.483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5.455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1.732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5.909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2.265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2.204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4.271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Okt 2026 vs MTD-1 01–23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01–23 Okt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139 / 337 (41,2%)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-19,7% | Turun 108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178 / 378 (47,1%)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-16,0% | Turun 132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 / 137 (46,0%)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-19,2%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76 / 151 (50,3%)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-17,4% | Turun 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105 / 151 (69,5%)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+6,1% | Turun 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117 / 164 (71,3%)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+6,4% | Turun 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146 / 227 (64,3%)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-7,6% | Turun 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169 / 253 (66,8%)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-8,2% | Turun 101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 / 58 (91,4%)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-1,9% | Turun 27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453 / 852 (53,2%)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-10,8% | Turun 275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19 (89,5%)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-10,5% | Turun 14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542 / 965 (56,2%)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-9,5% | Turun 334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1.680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655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1.263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2.745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-28,0%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-31,2%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4.263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20 (15,0%)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 / 337 (7,1%)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 / 378 (12,2%)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-20,7% | Turun 132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137 (10,9%)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-11,8%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 / 151 (16,6%)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-10,7% | Turun 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9 (11,1%)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151 (12,6%)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 / 164 (13,4%)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-4,3% | Turun 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 / 227 (15,0%)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+9,7% | Turun 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253 (18,6%)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+2,2% | Turun 101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58 (31,0%)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27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92 / 852 (10,8%)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-7,1% | Turun 275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19 (73,7%)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-26,3% | Turun 14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141 / 965 (14,6%)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-9,0% | Turun 334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Okt 2026 vs MTD-1 01–23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GST BAGUS AGUNG ADIATMA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USWATUN HASANAH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FANCE AFI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FANCE AFI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 PATI 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Baiq desi aryani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GST BAGUS AGUNG ADIATMA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Nuroktavia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Okt 2026 vs MTD-1 01–23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DELFIANA SILLA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DELFIANA SILLA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ERNAWATU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ADRIANI NELSIANA ABUK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Okt 2026 vs MTD-1 01–23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01–23 Okt 2026 vs MTD-1 01–23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01–23 Okt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2.007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1.700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5.574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4.889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2.462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1.929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1.566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1.441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01–23 Okt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01–23 Okt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7.035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6.249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5.574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4.889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1,1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5.949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5.232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4.866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4.263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934,7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74,1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-54,5%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-54,1%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560 | MoM -8,8%
PS: 540 | MoM -9,1%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474 | Active 55,6% | MoM -9,5%
  PS: 453 | Active 53,2% | MoM -10,3%
• Greenfield
  RE: 52 | Active 89,7% | MoM -5,5%
  PS: 53 | Active 91,4% | MoM -1,9%
• Junior Plus
  RE: 17 | Active 89,5% | MoM -5,6%
  PS: 17 | Active 89,5% | MoM -5,6%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-40,2%, Gap -37
• Flores: PS -1,0%, Gap -1
• Kupang: PS -15,0%, Gap -6
• Mataram: PS -17,1%, Gap -18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Malaka (Kupang): -75,0%, Gap -3
• Grapari Baa Rote (Kupang): -66,7%, Gap -2
• Grapari Gatsu Tengah (Denpasar): -60,0%, Gap -3
• Grapari Larantuka (Flores): -60,0%, Gap -6
• Grapari Soe (Kupang): -60,0%, Gap -3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-245 (-30,7%), PS -259 (-36,7%)
• Bali Tengah: RE -183 (-13,7%), PS -163 (-14,5%)
• Bali Timur: RE -119 (-26,3%), PS -74 (-21,3%)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Barat: RE -10 (-41,7%), PS -9 (-64,3%)
• Bali Tengah: RE -8 (-5,8%), PS -8 (-7,8%)
• Sumbawa Timur: RE -8 (-19,5%), PS -8 (-34,8%)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+3 (+21,4%), PS -4 (-40,0%)
• Ende Sikka: RE +1 (+25,0%), PS -3 (-75,0%)
• Bali Tengah: RE -8 (-18,2%), PS -2 (-7,4%)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-2 (-40,0%), PS -3 (-60,0%)
• Manggarai: RE -3 (-75,0%), PS -3 (-100,0%)
• Bali Timur: RE -1 (-16,7%), PS -2 (-40,0%)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92.10%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92.44% | MoM -0.35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97.21%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-5.11 pp | Rp-5.47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91.51%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91.65% | MoM -0.14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Rp98.55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Rp98.40 M | MoM +0.1%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Rp107.01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27632"/>
          <a:ext cx="1154886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819"/>
                <a:gridCol w="918805"/>
                <a:gridCol w="918805"/>
                <a:gridCol w="995372"/>
                <a:gridCol w="918805"/>
                <a:gridCol w="1339924"/>
                <a:gridCol w="918805"/>
                <a:gridCol w="918805"/>
                <a:gridCol w="918805"/>
                <a:gridCol w="1339924"/>
              </a:tblGrid>
              <a:tr h="271630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94.63%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94.03%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Rp53.21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-2.95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Rp-1.66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87.03%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-1.88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85.90%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Rp8.89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-9.67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Rp-987.6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88.43%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87.48%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Rp13.65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-7.40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Rp-1.14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90.75%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89.94%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Rp22.80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-6.70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Rp-1.68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93.53%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92.80%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Rp10.39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-4.05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Rp-449.9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94.81%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94.22%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Rp29.97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-2.77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Rp-875.4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95.10%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94.67%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Rp12.86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-2.48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Rp-335.7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89.82%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88.35%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+0.84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Rp3.56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-6.88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Rp-272.7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78.59%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-11.47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78.22%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-10.89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Rp1.74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-18.11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Rp-400.0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89.82%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88.83%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Rp7.73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-6.01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Rp-517.4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85.64%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84.62%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Rp3.31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-10.19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Rp-393.5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88.90%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+0.93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87.92%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+1.23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Rp3.59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-7.80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Rp-314.9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88.06%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87.43%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Rp2.62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-7.77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Rp-230.9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92.02%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91.25%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Rp12.64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-5.43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Rp-745.4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89.89%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89.34%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Rp4.28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-7.56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Rp-360.2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4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88.71%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87.83%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Rp5.87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-8.74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Rp-578.5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28600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REGIONAL 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92.10%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-0.35 pp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664208"/>
          <a:ext cx="11548871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554"/>
                <a:gridCol w="2095149"/>
                <a:gridCol w="1788542"/>
                <a:gridCol w="1788542"/>
                <a:gridCol w="1788542"/>
                <a:gridCol w="1788542"/>
              </a:tblGrid>
              <a:tr h="33310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94.92% / +0.75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95.34% / -0.52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95.40% / +1.86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92.79% / +1.68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95.16% / +1.67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88.38% / +1.65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89.38% / +1.30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86.35% / +1.07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85.45% / +4.25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89.29% / +0.30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84.09% / -0.46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85.49% / -0.23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79.19% / -3.04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79.97% / -1.09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87.42% / +0.71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86.74% / -0.59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90.06% / -0.31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81.97% / -1.74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82.93% / -1.27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86.34% / +0.13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88.49% / -0.57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91.84% / -0.18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83.61% / -1.71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84.36% / -0.96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87.07% / -0.55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94.17% / -0.36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96.16% / -0.02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89.60% / -2.11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91.30% / -0.27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92.54% / -0.62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754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Format sel: C3MR M / MoM (pp). Fokus pada posisi bulan berjalan dan perubahan vs M-1.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10/22/2026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575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M-1 579 | MoM -0.7%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-102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6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5549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-67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-18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-35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55496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10/22/2026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64748B"/>
                </a:solidFill>
                <a:latin typeface="Arial"/>
              </a:defRPr>
            </a:pPr>
            <a:r>
              <a:t>CAPS M / MoM vs M-1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25296"/>
          <a:ext cx="11548872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147"/>
                <a:gridCol w="2085213"/>
                <a:gridCol w="1817878"/>
                <a:gridCol w="1817878"/>
                <a:gridCol w="1817878"/>
                <a:gridCol w="1817878"/>
              </a:tblGrid>
              <a:tr h="26778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BALINUSRA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 / +3.3%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71 / +6.0%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 / +5.6%</a:t>
                      </a:r>
                    </a:p>
                  </a:txBody>
                  <a:tcPr/>
                </a:tc>
              </a:tr>
              <a:tr h="267791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469 / -3.7%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382 / -2.1%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22 / -12.0%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63 / -6.0%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23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175,231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115,082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65.7%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60,149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7,099 / 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7,308 / 88.9%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7,469 / 82.5%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7,203 / 78.7%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7,971 / 76.0%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7,683 / 73.7%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94.9%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90.3%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84.2%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81.3%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78.3%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75.8%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94.7%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88.0%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79.7%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67.8%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86.2%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76.9%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72.6%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70.6%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69.1%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84.2%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82.3%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78.6%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76.5%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7,715 / 71.9%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6,964 / 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7,164 / 70.4%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7,111 / 67.4%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6,489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7,849 / 63.0%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75.0%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74.9%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72.9%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70.1%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64.3%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67.7%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59.5%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67.9%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60.5%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66.3%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63.8%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6,837 / 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7,515 / 61.0%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8,014 / 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7,517 / 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7,658 / 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7,174 / 55.3%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63.0%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63.5%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63.0%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60.9%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58.6%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56.5%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51.3%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50.7%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51.4%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52.1%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57.3%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56.2%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49.7%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48.3%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51.9%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62.6%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57.4%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57.5%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52.5%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6,985 / 56.5%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7,134 / 54.8%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7,691 / 54.9%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7,472 / 52.0%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6,644 / 52.0%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6,565 / 48.6%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58.6%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56.1%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56.7%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53.5%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50.3%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47.1%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46.3%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47.9%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42.5%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42.1%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39.2%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55.2%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53.9%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52.3%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51.8%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46.3%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