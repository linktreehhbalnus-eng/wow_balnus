
<file path=[Content_Types].xml><?xml version="1.0" encoding="utf-8"?>
<Types xmlns="http://schemas.openxmlformats.org/package/2006/content-types"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71" r:id="rId22"/>
    <p:sldId id="264" r:id="rId10"/>
    <p:sldId id="265" r:id="rId11"/>
    <p:sldId id="266" r:id="rId12"/>
    <p:sldId id="267" r:id="rId13"/>
    <p:sldId id="268" r:id="rId19"/>
    <p:sldId id="269" r:id="rId20"/>
    <p:sldId id="270" r:id="rId21"/>
    <p:sldId id="272" r:id="rId23"/>
    <p:sldId id="273" r:id="rId24"/>
    <p:sldId id="274" r:id="rId25"/>
    <p:sldId id="275" r:id="rId26"/>
    <p:sldId id="276" r:id="rId27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9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</c:v>
                </c:pt>
              </c:strCache>
            </c:strRef>
          </c:tx>
          <c:spPr>
            <a:solidFill>
              <a:srgbClr val="132A4C"/>
            </a:solidFill>
            <a:ln w="31750" cap="flat">
              <a:solidFill>
                <a:srgbClr val="132A4C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132A4C"/>
              </a:solidFill>
              <a:ln w="9525" cap="flat">
                <a:solidFill>
                  <a:srgbClr val="132A4C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13/10</c:v>
                </c:pt>
                <c:pt idx="1">
                  <c:v>14/10</c:v>
                </c:pt>
                <c:pt idx="2">
                  <c:v>15/10</c:v>
                </c:pt>
                <c:pt idx="3">
                  <c:v>16/10</c:v>
                </c:pt>
                <c:pt idx="4">
                  <c:v>17/10</c:v>
                </c:pt>
                <c:pt idx="5">
                  <c:v>18/10</c:v>
                </c:pt>
                <c:pt idx="6">
                  <c:v>19/10</c:v>
                </c:pt>
                <c:pt idx="7">
                  <c:v>20/10</c:v>
                </c:pt>
                <c:pt idx="8">
                  <c:v>21/10</c:v>
                </c:pt>
                <c:pt idx="9">
                  <c:v>22/10</c:v>
                </c:pt>
                <c:pt idx="10">
                  <c:v>23/10</c:v>
                </c:pt>
                <c:pt idx="11">
                  <c:v>24/10</c:v>
                </c:pt>
                <c:pt idx="12">
                  <c:v>25/10</c:v>
                </c:pt>
                <c:pt idx="13">
                  <c:v>26/10</c:v>
                </c:pt>
              </c:strCache>
            </c:strRef>
          </c:cat>
          <c:val>
            <c:numRef>
              <c:f>Sheet1!$B$2:$B$15</c:f>
              <c:numCache>
                <c:formatCode>General</c:formatCode>
                <c:ptCount val="14"/>
                <c:pt idx="0">
                  <c:v>276.0</c:v>
                </c:pt>
                <c:pt idx="1">
                  <c:v>273.0</c:v>
                </c:pt>
                <c:pt idx="2">
                  <c:v>281.0</c:v>
                </c:pt>
                <c:pt idx="3">
                  <c:v>283.0</c:v>
                </c:pt>
                <c:pt idx="4">
                  <c:v>216.0</c:v>
                </c:pt>
                <c:pt idx="5">
                  <c:v>206.0</c:v>
                </c:pt>
                <c:pt idx="6">
                  <c:v>321.0</c:v>
                </c:pt>
                <c:pt idx="7">
                  <c:v>341.0</c:v>
                </c:pt>
                <c:pt idx="8">
                  <c:v>273.0</c:v>
                </c:pt>
                <c:pt idx="9">
                  <c:v>298.0</c:v>
                </c:pt>
                <c:pt idx="10">
                  <c:v>244.0</c:v>
                </c:pt>
                <c:pt idx="11">
                  <c:v>214.0</c:v>
                </c:pt>
                <c:pt idx="12">
                  <c:v>157.0</c:v>
                </c:pt>
                <c:pt idx="13">
                  <c:v>288.0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PS</c:v>
                </c:pt>
              </c:strCache>
            </c:strRef>
          </c:tx>
          <c:spPr>
            <a:solidFill>
              <a:srgbClr val="E4022D"/>
            </a:solidFill>
            <a:ln w="31750" cap="flat">
              <a:solidFill>
                <a:srgbClr val="E4022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85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E4022D"/>
              </a:solidFill>
              <a:ln w="9525" cap="flat">
                <a:solidFill>
                  <a:srgbClr val="E4022D"/>
                </a:solidFill>
                <a:prstDash val="solid"/>
                <a:round/>
              </a:ln>
              <a:effectLst/>
            </c:spPr>
          </c:marker>
          <c:cat>
            <c:strRef>
              <c:f>Sheet1!$A$2:$A$15</c:f>
              <c:strCache>
                <c:ptCount val="14"/>
                <c:pt idx="0">
                  <c:v>13/10</c:v>
                </c:pt>
                <c:pt idx="1">
                  <c:v>14/10</c:v>
                </c:pt>
                <c:pt idx="2">
                  <c:v>15/10</c:v>
                </c:pt>
                <c:pt idx="3">
                  <c:v>16/10</c:v>
                </c:pt>
                <c:pt idx="4">
                  <c:v>17/10</c:v>
                </c:pt>
                <c:pt idx="5">
                  <c:v>18/10</c:v>
                </c:pt>
                <c:pt idx="6">
                  <c:v>19/10</c:v>
                </c:pt>
                <c:pt idx="7">
                  <c:v>20/10</c:v>
                </c:pt>
                <c:pt idx="8">
                  <c:v>21/10</c:v>
                </c:pt>
                <c:pt idx="9">
                  <c:v>22/10</c:v>
                </c:pt>
                <c:pt idx="10">
                  <c:v>23/10</c:v>
                </c:pt>
                <c:pt idx="11">
                  <c:v>24/10</c:v>
                </c:pt>
                <c:pt idx="12">
                  <c:v>25/10</c:v>
                </c:pt>
                <c:pt idx="13">
                  <c:v>26/10</c:v>
                </c:pt>
              </c:strCache>
            </c:strRef>
          </c:cat>
          <c:val>
            <c:numRef>
              <c:f>Sheet1!$C$2:$C$15</c:f>
              <c:numCache>
                <c:formatCode>General</c:formatCode>
                <c:ptCount val="14"/>
                <c:pt idx="0">
                  <c:v>225.0</c:v>
                </c:pt>
                <c:pt idx="1">
                  <c:v>212.0</c:v>
                </c:pt>
                <c:pt idx="2">
                  <c:v>206.0</c:v>
                </c:pt>
                <c:pt idx="3">
                  <c:v>212.0</c:v>
                </c:pt>
                <c:pt idx="4">
                  <c:v>190.0</c:v>
                </c:pt>
                <c:pt idx="5">
                  <c:v>146.0</c:v>
                </c:pt>
                <c:pt idx="6">
                  <c:v>256.0</c:v>
                </c:pt>
                <c:pt idx="7">
                  <c:v>261.0</c:v>
                </c:pt>
                <c:pt idx="8">
                  <c:v>249.0</c:v>
                </c:pt>
                <c:pt idx="9">
                  <c:v>220.0</c:v>
                </c:pt>
                <c:pt idx="10">
                  <c:v>197.0</c:v>
                </c:pt>
                <c:pt idx="11">
                  <c:v>189.0</c:v>
                </c:pt>
                <c:pt idx="12">
                  <c:v>119.0</c:v>
                </c:pt>
                <c:pt idx="13">
                  <c:v>209.0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85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7E9E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95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0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-12,2% &amp; PS -13,1% MoM — Achievement Mencapai 60,1% (RE) / 58,3% (PS)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Executive Scorecard — BALINUSRA Regional</a:t>
            </a:r>
            <a:endParaRPr lang="en-US" sz="15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864108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1051560"/>
                <a:gridCol w="1051560"/>
                <a:gridCol w="1005840"/>
                <a:gridCol w="914400"/>
                <a:gridCol w="1234440"/>
                <a:gridCol w="960120"/>
                <a:gridCol w="123444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7.866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to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-0,8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296265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Regional = agregasi target 10 WOK. IO tidak ditampilkan karena MTD-1/target/MoM IO tidak tersedia di JSON (hanya total MTD di audit reconciliation).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34290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Kontribusi Branch terhadap RE &amp; PS Regional</a:t>
            </a:r>
            <a:endParaRPr lang="en-US" sz="1500" dirty="0"/>
          </a:p>
        </p:txBody>
      </p:sp>
      <p:graphicFrame>
        <p:nvGraphicFramePr>
          <p:cNvPr id="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03320"/>
          <a:ext cx="882396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1051560"/>
                <a:gridCol w="1234440"/>
                <a:gridCol w="960120"/>
                <a:gridCol w="1051560"/>
                <a:gridCol w="1234440"/>
                <a:gridCol w="960120"/>
                <a:gridCol w="960120"/>
              </a:tblGrid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 ★ ▼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▲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696712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★ Kontributor volume PS terbesar     ▲ Pertumbuhan PS terbaik     ▼ Penurunan PS terdalam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 Stabil, PS Melemah pada 26 Oktober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Pola Harian RE &amp; PS — 01–26 Oktober 2026 (MTD)</a:t>
            </a:r>
            <a:endParaRPr lang="en-US" sz="15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320040" y="1353312"/>
          <a:ext cx="11548872" cy="2331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730752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*Grafik menunjukkan pola harian MTD yang tersedia di sumber (bukan rekonsiliasi volume regional). Tren MTD-1 harian tidak tersedia — pembanding MTD-1 hanya ada sebagai total periode (lihat tabel run rate).</a:t>
            </a:r>
            <a:endParaRPr lang="en-US" sz="950" dirty="0"/>
          </a:p>
        </p:txBody>
      </p:sp>
      <p:sp>
        <p:nvSpPr>
          <p:cNvPr id="10" name="Text 7"/>
          <p:cNvSpPr/>
          <p:nvPr/>
        </p:nvSpPr>
        <p:spPr>
          <a:xfrm>
            <a:off x="320040" y="411480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Run Rate Summary — Regional</a:t>
            </a:r>
            <a:endParaRPr lang="en-US" sz="15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389120"/>
          <a:ext cx="87782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Metric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Actual 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Target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Achievement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6.908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11.390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4.545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9.250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3.854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5779008"/>
            <a:ext cx="115488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*Target dan achievement mengikuti definisi target pada JSON INARA untuk report date.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 Pendorong Utama PS (-4,0%), Denpasar Terdalam (-21,0%)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Branch Performance Detail</a:t>
            </a:r>
            <a:endParaRPr lang="en-US" sz="15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9939528" cy="914400"/>
        </p:xfrm>
        <a:graphic>
          <a:graphicData uri="http://schemas.openxmlformats.org/drawingml/2006/table">
            <a:tbl>
              <a:tblPr/>
              <a:tblGrid>
                <a:gridCol w="1051560"/>
                <a:gridCol w="658368"/>
                <a:gridCol w="658368"/>
                <a:gridCol w="621792"/>
                <a:gridCol w="603504"/>
                <a:gridCol w="603504"/>
                <a:gridCol w="685800"/>
                <a:gridCol w="658368"/>
                <a:gridCol w="658368"/>
                <a:gridCol w="621792"/>
                <a:gridCol w="603504"/>
                <a:gridCol w="603504"/>
                <a:gridCol w="685800"/>
                <a:gridCol w="566928"/>
                <a:gridCol w="658368"/>
              </a:tblGrid>
              <a:tr h="40233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ΔPS/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3.322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2.657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2.145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-1,0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-7,6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2.366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1.772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1.602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 pp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MoM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6245352" y="342900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Ranking Achievement PS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320040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1600200" y="3785616"/>
            <a:ext cx="3383280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5056632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-4,0%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320040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1600200" y="4096512"/>
            <a:ext cx="791251" cy="182880"/>
          </a:xfrm>
          <a:prstGeom prst="rect">
            <a:avLst/>
          </a:prstGeom>
          <a:solidFill>
            <a:srgbClr val="1E7B45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2464603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-4,5%</a:t>
            </a:r>
            <a:endParaRPr lang="en-US" sz="1050" dirty="0"/>
          </a:p>
        </p:txBody>
      </p:sp>
      <p:sp>
        <p:nvSpPr>
          <p:cNvPr id="17" name="Text 14"/>
          <p:cNvSpPr/>
          <p:nvPr/>
        </p:nvSpPr>
        <p:spPr>
          <a:xfrm>
            <a:off x="320040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1600200" y="4407408"/>
            <a:ext cx="286487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4538226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-9,6%</a:t>
            </a:r>
            <a:endParaRPr lang="en-US" sz="1050" dirty="0"/>
          </a:p>
        </p:txBody>
      </p:sp>
      <p:sp>
        <p:nvSpPr>
          <p:cNvPr id="20" name="Text 17"/>
          <p:cNvSpPr/>
          <p:nvPr/>
        </p:nvSpPr>
        <p:spPr>
          <a:xfrm>
            <a:off x="320040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1600200" y="4718304"/>
            <a:ext cx="3219573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4892925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-21,0%</a:t>
            </a:r>
            <a:endParaRPr lang="en-US" sz="1050" dirty="0"/>
          </a:p>
        </p:txBody>
      </p:sp>
      <p:sp>
        <p:nvSpPr>
          <p:cNvPr id="23" name="Text 20"/>
          <p:cNvSpPr/>
          <p:nvPr/>
        </p:nvSpPr>
        <p:spPr>
          <a:xfrm>
            <a:off x="6245352" y="3749040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Flores</a:t>
            </a:r>
            <a:endParaRPr lang="en-US" sz="1050" dirty="0"/>
          </a:p>
        </p:txBody>
      </p:sp>
      <p:sp>
        <p:nvSpPr>
          <p:cNvPr id="24" name="Shape 21"/>
          <p:cNvSpPr/>
          <p:nvPr/>
        </p:nvSpPr>
        <p:spPr>
          <a:xfrm>
            <a:off x="7525512" y="3785616"/>
            <a:ext cx="3383280" cy="182880"/>
          </a:xfrm>
          <a:prstGeom prst="rect">
            <a:avLst/>
          </a:prstGeom>
          <a:solidFill>
            <a:srgbClr val="8A6100"/>
          </a:solidFill>
          <a:ln/>
        </p:spPr>
        <p:txBody>
          <a:bodyPr/>
          <a:p/>
        </p:txBody>
      </p:sp>
      <p:sp>
        <p:nvSpPr>
          <p:cNvPr id="25" name="Text 22"/>
          <p:cNvSpPr/>
          <p:nvPr/>
        </p:nvSpPr>
        <p:spPr>
          <a:xfrm>
            <a:off x="10981944" y="3749040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8A61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72,3%</a:t>
            </a:r>
            <a:endParaRPr lang="en-US" sz="1050" dirty="0"/>
          </a:p>
        </p:txBody>
      </p:sp>
      <p:sp>
        <p:nvSpPr>
          <p:cNvPr id="26" name="Text 23"/>
          <p:cNvSpPr/>
          <p:nvPr/>
        </p:nvSpPr>
        <p:spPr>
          <a:xfrm>
            <a:off x="6245352" y="4059936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Kupang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7525512" y="4096512"/>
            <a:ext cx="3045737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0644401" y="4059936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65,6%</a:t>
            </a:r>
            <a:endParaRPr lang="en-US" sz="1050" dirty="0"/>
          </a:p>
        </p:txBody>
      </p:sp>
      <p:sp>
        <p:nvSpPr>
          <p:cNvPr id="29" name="Text 26"/>
          <p:cNvSpPr/>
          <p:nvPr/>
        </p:nvSpPr>
        <p:spPr>
          <a:xfrm>
            <a:off x="6245352" y="4370832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Mataram</a:t>
            </a:r>
            <a:endParaRPr lang="en-US" sz="1050" dirty="0"/>
          </a:p>
        </p:txBody>
      </p:sp>
      <p:sp>
        <p:nvSpPr>
          <p:cNvPr id="30" name="Shape 27"/>
          <p:cNvSpPr/>
          <p:nvPr/>
        </p:nvSpPr>
        <p:spPr>
          <a:xfrm>
            <a:off x="7525512" y="4407408"/>
            <a:ext cx="2857341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1" name="Text 28"/>
          <p:cNvSpPr/>
          <p:nvPr/>
        </p:nvSpPr>
        <p:spPr>
          <a:xfrm>
            <a:off x="10456005" y="4370832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60,1%</a:t>
            </a:r>
            <a:endParaRPr lang="en-US" sz="1050" dirty="0"/>
          </a:p>
        </p:txBody>
      </p:sp>
      <p:sp>
        <p:nvSpPr>
          <p:cNvPr id="32" name="Text 29"/>
          <p:cNvSpPr/>
          <p:nvPr/>
        </p:nvSpPr>
        <p:spPr>
          <a:xfrm>
            <a:off x="6245352" y="4681728"/>
            <a:ext cx="1188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Denpasar</a:t>
            </a:r>
            <a:endParaRPr lang="en-US" sz="1050" dirty="0"/>
          </a:p>
        </p:txBody>
      </p:sp>
      <p:sp>
        <p:nvSpPr>
          <p:cNvPr id="33" name="Shape 30"/>
          <p:cNvSpPr/>
          <p:nvPr/>
        </p:nvSpPr>
        <p:spPr>
          <a:xfrm>
            <a:off x="7525512" y="4718304"/>
            <a:ext cx="2237204" cy="182880"/>
          </a:xfrm>
          <a:prstGeom prst="rect">
            <a:avLst/>
          </a:prstGeom>
          <a:solidFill>
            <a:srgbClr val="C0392B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9835868" y="4681728"/>
            <a:ext cx="777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51,4%</a:t>
            </a:r>
            <a:endParaRPr lang="en-US" sz="1050" dirty="0"/>
          </a:p>
        </p:txBody>
      </p:sp>
      <p:sp>
        <p:nvSpPr>
          <p:cNvPr id="35" name="Text 32"/>
          <p:cNvSpPr/>
          <p:nvPr/>
        </p:nvSpPr>
        <p:spPr>
          <a:xfrm>
            <a:off x="320040" y="526694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Kontribusi Branch terhadap Gap Regional (PS)</a:t>
            </a:r>
            <a:endParaRPr lang="en-US" sz="1500" dirty="0"/>
          </a:p>
        </p:txBody>
      </p:sp>
      <p:graphicFrame>
        <p:nvGraphicFramePr>
          <p:cNvPr id="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541264"/>
          <a:ext cx="896112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1828800"/>
                <a:gridCol w="1828800"/>
                <a:gridCol w="1828800"/>
                <a:gridCol w="182880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 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 thd Gap Regional (RE)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2.029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2.482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Ende Sikka Tertinggi (+9,7%), Flores Timur Terdalam (-36,2%) — 12 WOK MoM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WOK Performance — Seluruh 12 WOK (dikelompokkan per Branch)</a:t>
            </a:r>
            <a:endParaRPr lang="en-US" sz="15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10332720" cy="914400"/>
        </p:xfrm>
        <a:graphic>
          <a:graphicData uri="http://schemas.openxmlformats.org/drawingml/2006/table">
            <a:tbl>
              <a:tblPr/>
              <a:tblGrid>
                <a:gridCol w="914400"/>
                <a:gridCol w="2834640"/>
                <a:gridCol w="777240"/>
                <a:gridCol w="713232"/>
                <a:gridCol w="713232"/>
                <a:gridCol w="777240"/>
                <a:gridCol w="777240"/>
                <a:gridCol w="713232"/>
                <a:gridCol w="713232"/>
                <a:gridCol w="777240"/>
                <a:gridCol w="621792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Achv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1.356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59,4%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2402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443484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Ranking WOK — MoM PS &amp; Achievement PS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320040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MoM PS</a:t>
            </a:r>
            <a:endParaRPr lang="en-US" sz="1050" dirty="0"/>
          </a:p>
        </p:txBody>
      </p:sp>
      <p:graphicFrame>
        <p:nvGraphicFramePr>
          <p:cNvPr id="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42234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MoM PS</a:t>
            </a:r>
            <a:endParaRPr lang="en-US" sz="1050" dirty="0"/>
          </a:p>
        </p:txBody>
      </p:sp>
      <p:graphicFrame>
        <p:nvGraphicFramePr>
          <p:cNvPr id="13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42234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4" name="Text 9"/>
          <p:cNvSpPr/>
          <p:nvPr/>
        </p:nvSpPr>
        <p:spPr>
          <a:xfrm>
            <a:off x="6164428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 — Achievement PS</a:t>
            </a:r>
            <a:endParaRPr lang="en-US" sz="1050" dirty="0"/>
          </a:p>
        </p:txBody>
      </p:sp>
      <p:graphicFrame>
        <p:nvGraphicFramePr>
          <p:cNvPr id="17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64428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8A610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6E2"/>
                    </a:solidFill>
                  </a:tcPr>
                </a:tc>
              </a:tr>
            </a:tbl>
          </a:graphicData>
        </a:graphic>
      </p:graphicFrame>
      <p:sp>
        <p:nvSpPr>
          <p:cNvPr id="16" name="Text 10"/>
          <p:cNvSpPr/>
          <p:nvPr/>
        </p:nvSpPr>
        <p:spPr>
          <a:xfrm>
            <a:off x="9086621" y="4727448"/>
            <a:ext cx="2743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3 — Achievement PS</a:t>
            </a:r>
            <a:endParaRPr lang="en-US" sz="1050" dirty="0"/>
          </a:p>
        </p:txBody>
      </p:sp>
      <p:graphicFrame>
        <p:nvGraphicFramePr>
          <p:cNvPr id="21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9086621" y="4937760"/>
          <a:ext cx="274320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Sikka Penyumbang PS Absolut Terbesar (+27), Lombok Utara Tumbuh Tertinggi (+32,7%)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Top &amp; Bottom 5 Kabupaten — Pertumbuhan Absolut 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320040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(Selisih PS Terbesar)</a:t>
            </a:r>
            <a:endParaRPr lang="en-US" sz="10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245352" y="1389888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(Selisih PS Terkecil)</a:t>
            </a:r>
            <a:endParaRPr lang="en-US" sz="105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609344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8"/>
          <p:cNvSpPr/>
          <p:nvPr/>
        </p:nvSpPr>
        <p:spPr>
          <a:xfrm>
            <a:off x="320040" y="326440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Top &amp; Bottom 5 Kabupaten — MoM PS (%)</a:t>
            </a:r>
            <a:endParaRPr lang="en-US" sz="1500" dirty="0"/>
          </a:p>
        </p:txBody>
      </p:sp>
      <p:sp>
        <p:nvSpPr>
          <p:cNvPr id="13" name="Text 9"/>
          <p:cNvSpPr/>
          <p:nvPr/>
        </p:nvSpPr>
        <p:spPr>
          <a:xfrm>
            <a:off x="320040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5 (MoM PS Tertinggi)</a:t>
            </a:r>
            <a:endParaRPr lang="en-US" sz="1050" dirty="0"/>
          </a:p>
        </p:txBody>
      </p:sp>
      <p:graphicFrame>
        <p:nvGraphicFramePr>
          <p:cNvPr id="16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+32,7%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5" name="Text 10"/>
          <p:cNvSpPr/>
          <p:nvPr/>
        </p:nvSpPr>
        <p:spPr>
          <a:xfrm>
            <a:off x="6245352" y="3557016"/>
            <a:ext cx="56052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5 (MoM PS Terendah)</a:t>
            </a:r>
            <a:endParaRPr lang="en-US" sz="1050" dirty="0"/>
          </a:p>
        </p:txBody>
      </p:sp>
      <p:graphicFrame>
        <p:nvGraphicFramePr>
          <p:cNvPr id="21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776472"/>
          <a:ext cx="5477256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868680"/>
                <a:gridCol w="713232"/>
                <a:gridCol w="713232"/>
                <a:gridCol w="658368"/>
                <a:gridCol w="713232"/>
                <a:gridCol w="57607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7" name="Text 11"/>
          <p:cNvSpPr/>
          <p:nvPr/>
        </p:nvSpPr>
        <p:spPr>
          <a:xfrm>
            <a:off x="320040" y="54315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Kontribusi Top/Bottom 5 terhadap Perubahan PS Regional</a:t>
            </a:r>
            <a:endParaRPr lang="en-US" sz="1500" dirty="0"/>
          </a:p>
        </p:txBody>
      </p:sp>
      <p:graphicFrame>
        <p:nvGraphicFramePr>
          <p:cNvPr id="26" name="Table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05856"/>
          <a:ext cx="11548872" cy="914400"/>
        </p:xfrm>
        <a:graphic>
          <a:graphicData uri="http://schemas.openxmlformats.org/drawingml/2006/table">
            <a:tbl>
              <a:tblPr/>
              <a:tblGrid>
                <a:gridCol w="3849624"/>
                <a:gridCol w="3849624"/>
                <a:gridCol w="3849624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Top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Selisih PS — Bottom 5 Kabupaten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Net Perubahan PS Regional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+98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-583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-814</a:t>
                      </a:r>
                      <a:endParaRPr lang="en-US" sz="16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9" name="Text 12"/>
          <p:cNvSpPr/>
          <p:nvPr/>
        </p:nvSpPr>
        <p:spPr>
          <a:xfrm>
            <a:off x="320040" y="6528816"/>
            <a:ext cx="115488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Dari 47 kabupaten: Top 5 menyumbang +98, Bottom 5 -583, dan perubahan PS regional -814.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75 Mbps Tumbuh Tertinggi (-6,7%), TSEL One &gt;30 Mbps Turun Terdalam (-36,4%)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RE &amp; PS Performance by Speed — Regional (6 kelompok, tidak digabung)</a:t>
            </a:r>
            <a:endParaRPr lang="en-US" sz="15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461504" cy="914400"/>
        </p:xfrm>
        <a:graphic>
          <a:graphicData uri="http://schemas.openxmlformats.org/drawingml/2006/table">
            <a:tbl>
              <a:tblPr/>
              <a:tblGrid>
                <a:gridCol w="1417320"/>
                <a:gridCol w="777240"/>
                <a:gridCol w="777240"/>
                <a:gridCol w="713232"/>
                <a:gridCol w="777240"/>
                <a:gridCol w="777240"/>
                <a:gridCol w="713232"/>
                <a:gridCol w="640080"/>
                <a:gridCol w="868680"/>
              </a:tblGrid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Speed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2.723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2.330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2.215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986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1.540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1.180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≥100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1.173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1.031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≤30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TSEL One &gt;30 Mbps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602736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High Speed Performance by WOK — PS ≥50 Mbps Reguler (TSEL One dipisah)</a:t>
            </a:r>
            <a:endParaRPr lang="en-US" sz="150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858768"/>
          <a:ext cx="5184648" cy="914400"/>
        </p:xfrm>
        <a:graphic>
          <a:graphicData uri="http://schemas.openxmlformats.org/drawingml/2006/table">
            <a:tbl>
              <a:tblPr/>
              <a:tblGrid>
                <a:gridCol w="2423160"/>
                <a:gridCol w="713232"/>
                <a:gridCol w="713232"/>
                <a:gridCol w="621792"/>
                <a:gridCol w="71323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7"/>
          <p:cNvSpPr/>
          <p:nvPr/>
        </p:nvSpPr>
        <p:spPr>
          <a:xfrm>
            <a:off x="320040" y="534009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PS speed reguler 50/75/100 Mbps ke atas; TSEL One dipisahkan</a:t>
            </a:r>
            <a:endParaRPr lang="en-US" sz="900" dirty="0"/>
          </a:p>
        </p:txBody>
      </p:sp>
      <p:sp>
        <p:nvSpPr>
          <p:cNvPr id="13" name="Text 8"/>
          <p:cNvSpPr/>
          <p:nvPr/>
        </p:nvSpPr>
        <p:spPr>
          <a:xfrm>
            <a:off x="320040" y="5541264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Channel Performance — Agency vs Grapari (Regional)</a:t>
            </a:r>
            <a:endParaRPr lang="en-US" sz="1500" dirty="0"/>
          </a:p>
        </p:txBody>
      </p:sp>
      <p:graphicFrame>
        <p:nvGraphicFramePr>
          <p:cNvPr id="2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797296"/>
          <a:ext cx="10378440" cy="914400"/>
        </p:xfrm>
        <a:graphic>
          <a:graphicData uri="http://schemas.openxmlformats.org/drawingml/2006/table">
            <a:tbl>
              <a:tblPr/>
              <a:tblGrid>
                <a:gridCol w="1280160"/>
                <a:gridCol w="1234440"/>
                <a:gridCol w="1234440"/>
                <a:gridCol w="1005840"/>
                <a:gridCol w="1234440"/>
                <a:gridCol w="1234440"/>
                <a:gridCol w="1005840"/>
                <a:gridCol w="914400"/>
                <a:gridCol w="123444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Channel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Agency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6.617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5.796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5.413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4.729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Grapari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504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SF Active PS -9,8% MoM, DJP Data Transition — SF Register 946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Sales Force Scorecard — Regional</a:t>
            </a:r>
            <a:endParaRPr lang="en-US" sz="15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71323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1280160"/>
                <a:gridCol w="1280160"/>
                <a:gridCol w="1280160"/>
                <a:gridCol w="128016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Indikator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Register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893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946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+5,9%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574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 Active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7E9ED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Aktivitas 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15.915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N/A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Data Transition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320040" y="310896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SF/DJP per Branch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20040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  ODP Occupancy Summary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6245352" y="5010912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  DJP pada ODP Khusus</a:t>
            </a:r>
            <a:endParaRPr lang="en-US" sz="1500" dirty="0"/>
          </a:p>
        </p:txBody>
      </p:sp>
      <p:graphicFrame>
        <p:nvGraphicFramePr>
          <p:cNvPr id="22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5266944"/>
          <a:ext cx="5330952" cy="914400"/>
        </p:xfrm>
        <a:graphic>
          <a:graphicData uri="http://schemas.openxmlformats.org/drawingml/2006/table">
            <a:tbl>
              <a:tblPr/>
              <a:tblGrid>
                <a:gridCol w="868680"/>
                <a:gridCol w="868680"/>
                <a:gridCol w="868680"/>
                <a:gridCol w="868680"/>
                <a:gridCol w="868680"/>
                <a:gridCol w="987552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ORANGE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YELLOW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BLACK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ODP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14.734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38.028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25.261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5.509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83.596</a:t>
                      </a:r>
                      <a:endParaRPr lang="en-US" sz="13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B4570"/>
                    </a:solidFill>
                  </a:tcPr>
                </a:tc>
              </a:tr>
              <a:tr h="20116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45,5%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30,2%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4" name="Shape 9"/>
          <p:cNvSpPr/>
          <p:nvPr/>
        </p:nvSpPr>
        <p:spPr>
          <a:xfrm>
            <a:off x="6245352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5" name="Text 10"/>
          <p:cNvSpPr/>
          <p:nvPr/>
        </p:nvSpPr>
        <p:spPr>
          <a:xfrm>
            <a:off x="6355080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BLACK</a:t>
            </a:r>
            <a:endParaRPr lang="en-US" sz="1050" dirty="0"/>
          </a:p>
        </p:txBody>
      </p:sp>
      <p:sp>
        <p:nvSpPr>
          <p:cNvPr id="16" name="Text 11"/>
          <p:cNvSpPr/>
          <p:nvPr/>
        </p:nvSpPr>
        <p:spPr>
          <a:xfrm>
            <a:off x="6355080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5.509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9201836" y="5266944"/>
            <a:ext cx="2819324" cy="960120"/>
          </a:xfrm>
          <a:prstGeom prst="roundRect">
            <a:avLst>
              <a:gd name="adj" fmla="val 2857"/>
            </a:avLst>
          </a:prstGeom>
          <a:solidFill>
            <a:srgbClr val="F5F6F8"/>
          </a:solidFill>
          <a:ln w="12700">
            <a:solidFill>
              <a:srgbClr val="DCE0E6"/>
            </a:solidFill>
            <a:prstDash val="solid"/>
          </a:ln>
        </p:spPr>
        <p:txBody>
          <a:bodyPr/>
          <a:p/>
        </p:txBody>
      </p:sp>
      <p:sp>
        <p:nvSpPr>
          <p:cNvPr id="18" name="Text 13"/>
          <p:cNvSpPr/>
          <p:nvPr/>
        </p:nvSpPr>
        <p:spPr>
          <a:xfrm>
            <a:off x="9311564" y="5340096"/>
            <a:ext cx="25998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ODP GREENFIELD</a:t>
            </a:r>
            <a:endParaRPr lang="en-US" sz="1050" dirty="0"/>
          </a:p>
        </p:txBody>
      </p:sp>
      <p:sp>
        <p:nvSpPr>
          <p:cNvPr id="19" name="Text 14"/>
          <p:cNvSpPr/>
          <p:nvPr/>
        </p:nvSpPr>
        <p:spPr>
          <a:xfrm>
            <a:off x="9311564" y="5541264"/>
            <a:ext cx="2599868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Jumlah ODP: 1.842
Dikunjungi: 0 (0,0%)
Visit DJP: 0</a:t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2427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000" dirty="0"/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320040" y="3346704"/>
          <a:ext cx="9262861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12540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540021"/>
                <a:gridCol w="615024"/>
                <a:gridCol w="615024"/>
                <a:gridCol w="540021"/>
              </a:tblGrid>
              <a:tr h="152400">
                <a:tc rowSpan="2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Branch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SF Register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Active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anchor="ctr"/>
                    <a:lstStyle/>
                    <a:p>
                      <a:pPr algn="ctr"/>
                      <a:r>
                        <a:rPr sz="840" b="1">
                          <a:solidFill>
                            <a:srgbClr val="FFFFFF"/>
                          </a:solidFill>
                          <a:latin typeface="Arial"/>
                        </a:rPr>
                        <a:t>Aktivitas DJP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152400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231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184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6.563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151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-15,2%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2.394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+8,7%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2.328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152400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137D3F"/>
                          </a:solidFill>
                          <a:latin typeface="Arial"/>
                        </a:rPr>
                        <a:t>+5,4%</a:t>
                      </a:r>
                    </a:p>
                  </a:txBody>
                  <a:tcPr marL="18288" marR="18288" marT="0" marB="0">
                    <a:solidFill>
                      <a:srgbClr val="E5F4EA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171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-9,5%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4.630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SF Segmentation by Class &amp; Matrix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SF by Class</a:t>
            </a:r>
            <a:endParaRPr lang="en-US" sz="15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532120" cy="914400"/>
        </p:xfrm>
        <a:graphic>
          <a:graphicData uri="http://schemas.openxmlformats.org/drawingml/2006/table">
            <a:tbl>
              <a:tblPr/>
              <a:tblGrid>
                <a:gridCol w="118872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Elite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Performer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0,7%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Greenfield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6,1%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52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Junior Plus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2,0%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245352" y="1097280"/>
            <a:ext cx="5486400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SF by Matrix</a:t>
            </a:r>
            <a:endParaRPr lang="en-US" sz="1500" dirty="0"/>
          </a:p>
        </p:txBody>
      </p:sp>
      <p:graphicFrame>
        <p:nvGraphicFramePr>
          <p:cNvPr id="1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715000" cy="914400"/>
        </p:xfrm>
        <a:graphic>
          <a:graphicData uri="http://schemas.openxmlformats.org/drawingml/2006/table">
            <a:tbl>
              <a:tblPr/>
              <a:tblGrid>
                <a:gridCol w="1371600"/>
                <a:gridCol w="868680"/>
                <a:gridCol w="868680"/>
                <a:gridCol w="868680"/>
                <a:gridCol w="868680"/>
                <a:gridCol w="868680"/>
              </a:tblGrid>
              <a:tr h="27432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Segmen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Reg.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SF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Kontribusi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Active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DJP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Champion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27,6%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256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Efficient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8,4%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Explorer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239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25,3%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Need Coaching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38,8%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111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5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2871216"/>
            <a:ext cx="1154887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Catatan: satu SF dapat aktif pada lebih dari satu kelompok speed — jumlah SF Active tidak dijumlahkan lintas kelompok.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01–26 Okt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20 (95,0%)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145 / 337 (43,0%)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-20,3% | Turun 110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 / 6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184 / 378 (48,7%)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65 / 137 (47,4%)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-17,7%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78 / 151 (51,7%)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-16,1%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107 / 151 (70,9%)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+7,0% | Turun 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119 / 164 (72,6%)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+7,2%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 / 16 (81,2%)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-13,3%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148 / 227 (65,2%)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 | Turun 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 / 9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171 / 253 (67,6%)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-10,0% | Turun 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53 / 58 (91,4%)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-1,9% | Turun 29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465 / 852 (54,6%)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-11,4% | Turun 286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17 / 19 (89,5%)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-10,5%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 / 7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554 / 965 (57,4%)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-10,2% | Turun 347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131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1.868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712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641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726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-22,4%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1.082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1.411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-8,9%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85928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475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-5,6%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3.080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-10,1%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373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-28,8%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219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-29,1%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570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-11,9%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4.728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-12,6%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400" b="1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20 (20,0%)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-42,9% | Turun 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27 / 337 (8,0%)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-27,0% | Turun 110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5 (80,0%)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 / 6 (83,3%)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-16,7% | Turun 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50 / 378 (13,2%)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-21,9% | Turun 137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11 / 13 (84,6%)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17 / 137 (12,4%)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-15,0% | Turun 40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-100,0%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 / 151 (18,5%)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-9,7% | Turun 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9 (11,1%)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—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28 / 151 (18,5%)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+21,7% | Turun 47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2 / 4 (50,0%)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-50,0% | Turun 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31 / 164 (18,9%)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+14,8% | Turun 53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 / 16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11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41 / 227 (18,1%)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+20,6% | Turun 89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9 (88,9%)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-20,0% | Turun 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(—)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54 / 253 (21,3%)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+8,0% | Turun 108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13360"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20 / 58 (34,5%)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 | Turun 29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113 / 852 (13,3%)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-0,9% | Turun 286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14 / 19 (73,7%)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-26,3% | Turun 14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 / 7 (85,7%)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-14,3% | Turun 6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 / 10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164 / 965 (17,0%)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-4,7% | Turun 347</a:t>
                      </a:r>
                    </a:p>
                  </a:txBody>
                  <a:tcPr marL="18288" marR="18288" marT="0" marB="0">
                    <a:solidFill>
                      <a:srgbClr val="E9EDF2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Top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RE</a:t>
            </a:r>
            <a:endParaRPr lang="en-US" sz="11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+1200,0%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THERESIA NETIANA DELOS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ARDIANSYAH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ARI SANDI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SUSANA ASTUTI PIUNG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+425,0%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pinky priyantini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FITRI YUSINTA ELIK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+375,0%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E7B4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10 — Growth PS</a:t>
            </a:r>
            <a:endParaRPr lang="en-US" sz="1100" dirty="0"/>
          </a:p>
        </p:txBody>
      </p:sp>
      <p:graphicFrame>
        <p:nvGraphicFramePr>
          <p:cNvPr id="19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Abdul Muftholib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AISA TUKUBRA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HAIDAR EL JAWAS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GST BAGUS AGUNG ADIATMA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Baiq desi aryani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Nuroktavia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NURUL QARIMAH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Samsul Hadi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FANCE AFI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 GEDE EKA PANDI ASTAWAN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Bottom 10 SF berdasarkan Pertumbuhan RE &amp; PS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RE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Indra syah putra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IRMA NUR AINI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Ida ayu Made Sri Pradnya tari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187288" y="1115568"/>
            <a:ext cx="568436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392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Bottom 10 — Growth PS</a:t>
            </a:r>
            <a:endParaRPr lang="en-US" sz="1100" dirty="0"/>
          </a:p>
        </p:txBody>
      </p:sp>
      <p:graphicFrame>
        <p:nvGraphicFramePr>
          <p:cNvPr id="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87288" y="1335024"/>
          <a:ext cx="4946904" cy="914400"/>
        </p:xfrm>
        <a:graphic>
          <a:graphicData uri="http://schemas.openxmlformats.org/drawingml/2006/table">
            <a:tbl>
              <a:tblPr/>
              <a:tblGrid>
                <a:gridCol w="1965960"/>
                <a:gridCol w="658368"/>
                <a:gridCol w="566928"/>
                <a:gridCol w="566928"/>
                <a:gridCol w="566928"/>
                <a:gridCol w="621792"/>
              </a:tblGrid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Nama SF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Branch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Selisih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Growth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WINDA SAPUTRI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BQ DEWI NINGRUM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umar mangu laga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Marselinus Supardi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VALENTINUS S LEIN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YOHANES LABA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DELFIANA SILLA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MUHAZAM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Vira dwi agustin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SONYA IMELDA TUTFAUT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320040" y="4590288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(%) dihitung dari volume RE/PS periode berjalan terhadap periode sebelumnya per SF Code.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Detail Seluruh 12 WOK &amp; Kabupaten Denpasar, Flores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Seluruh 12 WOK  (Br. = Branch: DPS Denpasar, FLR Flores, KPG Kupang, MTR Mataram)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1.800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1.464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-16,3%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Bali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 Sikka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350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-36,2%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53312"/>
          <a:ext cx="5632704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 Rote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 Timtim 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74,5%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1.288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1.134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1.016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Sumbawa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3172968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  Kabupaten Denpasar &amp; Flores (18 dari 38 kabupaten)</a:t>
            </a:r>
            <a:endParaRPr lang="en-US" sz="1500" dirty="0"/>
          </a:p>
        </p:txBody>
      </p:sp>
      <p:graphicFrame>
        <p:nvGraphicFramePr>
          <p:cNvPr id="34" name="Table 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Badung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-24,8%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76,4%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Bangli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Buleleng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476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82,4%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Gianyar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Jembrana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Karang Asem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Klaten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Klungkung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-15,9%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Denpasar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85,3%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45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3410712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Tabanan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Alor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E7B45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6EE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Ende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212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177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90,8%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Flores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-42,0%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Lembata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199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+15,5%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81,2%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37744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Manggarai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-7,1%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-8,8%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E4022D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320040" y="73152"/>
            <a:ext cx="9418320" cy="658368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Appendix — Kabupaten Kupang &amp; Mataram</a:t>
            </a:r>
            <a:endParaRPr lang="en-US" sz="2000" dirty="0"/>
          </a:p>
        </p:txBody>
      </p:sp>
      <p:sp>
        <p:nvSpPr>
          <p:cNvPr id="4" name="Text 2"/>
          <p:cNvSpPr/>
          <p:nvPr/>
        </p:nvSpPr>
        <p:spPr>
          <a:xfrm>
            <a:off x="320040" y="749808"/>
            <a:ext cx="9418320" cy="16459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MTD 01–26 Okt 2026 vs MTD-1 01–26 Sep 2026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8778240" y="109728"/>
            <a:ext cx="3090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Telkomsel — BALINUSRA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8778240" y="402336"/>
            <a:ext cx="30906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dirty="0">
                <a:solidFill>
                  <a:srgbClr val="FBD9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GM Regional Performance Review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320040" y="1097280"/>
            <a:ext cx="11548872" cy="256032"/>
          </a:xfrm>
          <a:prstGeom prst="rect">
            <a:avLst/>
          </a:prstGeom>
          <a:noFill/>
          <a:ln/>
        </p:spPr>
        <p:txBody>
          <a:bodyPr wrap="square" lIns="0" tIns="38100" rIns="2540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132A4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  Kabupaten Kupang &amp; Mataram</a:t>
            </a:r>
            <a:endParaRPr lang="en-US" sz="150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20040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Belu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337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Kupang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+51,9%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Malaka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+7,0%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73,0%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Rote Ndao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+8,7%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56,0%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Sabu Raijua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Barat Daya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-31,8%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-46,7%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53,3%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+50,0%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Sumba Timur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-6,5%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-13,4%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84,0%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2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245352" y="1371600"/>
          <a:ext cx="5084064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365760"/>
                <a:gridCol w="365760"/>
                <a:gridCol w="457200"/>
                <a:gridCol w="530352"/>
                <a:gridCol w="365760"/>
                <a:gridCol w="457200"/>
                <a:gridCol w="530352"/>
                <a:gridCol w="548640"/>
              </a:tblGrid>
              <a:tr h="21945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Area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Br.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M-1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MTD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PS/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32A4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Selatan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-27,6%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63,6%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Timor Tengah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+9,2%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Unknown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KPG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267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-11,0%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231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207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-10,4%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77,5%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Dompu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137D3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+14,1%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5F4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69,1%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Hulu Sungai Utara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C0392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ECE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Bima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-9,0%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181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78,6%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Kota Mataram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445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388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394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324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-17,8%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83,5%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Barat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456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372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-18,4%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346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295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-14,7%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79,3%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Lombok Tengah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MTR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182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159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-12,6%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6B728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130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b="1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114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D73527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-12,3%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000" dirty="0">
                          <a:solidFill>
                            <a:srgbClr val="24272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71,7%</a:t>
                      </a:r>
                      <a:endParaRPr lang="en-US" sz="10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8100" marR="38100" marT="12700" marB="12700" anchor="ctr">
                    <a:lnL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CE0E6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0" name="Text 6"/>
          <p:cNvSpPr/>
          <p:nvPr/>
        </p:nvSpPr>
        <p:spPr>
          <a:xfrm>
            <a:off x="320040" y="4837176"/>
            <a:ext cx="1154887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28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Bersama Slide 11 (Denpasar &amp; Flores), tabel ini mencakup seluruh 38 kabupaten—masing-masing tampil tepat satu kali.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01–26 Okt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PS by Speed — Region &amp; Branch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2.215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1.874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986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1.101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1.106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327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463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401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479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230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175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764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352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7,3%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412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6.221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5.407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2.715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2.145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-21,0%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855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843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805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1.772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1.602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01–26 Okt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A.  Revenue New Sales by Speed — Region &amp; Branch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79" y="777240"/>
            <a:ext cx="43434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372,7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327,7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233,4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202,5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298,2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279,4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165,1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-27,6%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75,8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114,0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94,3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90,2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17,8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+7,9%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61,6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35,5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77,0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40,4%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65,0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18,4%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98,6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73,6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5836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280851">
                <a:tc rowSpan="2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280851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36577D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345,2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23,1%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136,4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116,1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-35,0%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108,0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94,8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-12,3%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60,0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-49,1%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22,6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1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27,5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-8,2%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+19,6%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80854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184,5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137,4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-25,6%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57,3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56,1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-2,1%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14,7%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-51,3%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0,3%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Balinusra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1,4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Denpasar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544,2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447,9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-17,7%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Flores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199,1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191,0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-4,1%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198,3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190,3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118872"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Mataram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453,8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382,0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-15,8%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310896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900" b="1">
                <a:solidFill>
                  <a:srgbClr val="FFFFFF"/>
                </a:solidFill>
                <a:latin typeface="Arial"/>
              </a:rPr>
              <a:t>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>
                <a:solidFill>
                  <a:srgbClr val="FFFFFF"/>
                </a:solidFill>
                <a:latin typeface="Arial"/>
              </a:rPr>
              <a:t>MTD 01–26 Okt 2026 vs MTD-1 01–26 Sep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0" y="109728"/>
            <a:ext cx="269748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0" y="384048"/>
            <a:ext cx="26974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>
                <a:solidFill>
                  <a:srgbClr val="FFFFFF"/>
                </a:solidFill>
                <a:latin typeface="Arial"/>
              </a:rPr>
              <a:t>GM Regional Performance Review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941832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56280"/>
                <a:gridCol w="1064412"/>
                <a:gridCol w="1064412"/>
                <a:gridCol w="957970"/>
                <a:gridCol w="1064412"/>
                <a:gridCol w="1064412"/>
                <a:gridCol w="957970"/>
                <a:gridCol w="1383735"/>
                <a:gridCol w="1117632"/>
                <a:gridCol w="1117632"/>
              </a:tblGrid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18288" marR="18288" marT="0" marB="0">
                    <a:solidFill>
                      <a:srgbClr val="102C50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7.866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6.908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-12,2%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6.221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5.407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Rp 1,2 M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D73527"/>
                          </a:solidFill>
                          <a:latin typeface="Arial"/>
                        </a:rPr>
                        <a:t>-13,2%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18288" marR="18288" marT="0" marB="0">
                    <a:solidFill>
                      <a:srgbClr val="F4F6F8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6.617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5.796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5.413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4.729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1,0 M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87,5%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581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504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396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323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-18,4%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79,2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-19,4%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6,0%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470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439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-6,6%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-13,4%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75,6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-14,3%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1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165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144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-12,7%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-6,1%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18,2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1,4%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  <a:tr h="224682"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-24,2%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Rp 3,4 Jt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D73527"/>
                          </a:solidFill>
                          <a:latin typeface="Arial"/>
                        </a:rPr>
                        <a:t>-43,1%</a:t>
                      </a:r>
                    </a:p>
                  </a:txBody>
                  <a:tcPr marL="18288" marR="18288" marT="0" marB="0">
                    <a:solidFill>
                      <a:srgbClr val="FBE9E7"/>
                    </a:solidFill>
                  </a:tcPr>
                </a:tc>
                <a:tc>
                  <a:txBody>
                    <a:bodyPr anchor="ctr"/>
                    <a:lstStyle/>
                    <a:p>
                      <a:pPr algn="ctr"/>
                      <a:r>
                        <a:rPr sz="780" b="0">
                          <a:solidFill>
                            <a:srgbClr val="20252B"/>
                          </a:solidFill>
                          <a:latin typeface="Arial"/>
                        </a:rPr>
                        <a:t>0,2%</a:t>
                      </a:r>
                    </a:p>
                  </a:txBody>
                  <a:tcPr marL="18288" marR="18288" marT="0" marB="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2761488"/>
            <a:ext cx="4572000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>
                <a:solidFill>
                  <a:srgbClr val="102C50"/>
                </a:solidFill>
                <a:latin typeface="Arial"/>
              </a:rPr>
              <a:t>Kontributor Penurunan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6344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SF ACTIVE TOTAL
RE: 574 | MoM -9,5%
PS: 552 | MoM -9,8%
• Elite
  RE: 10 | Active 100,0% | MoM 0,0%
  PS: 10 | Active 100,0% | MoM 0,0%
• Performer
  RE: 7 | Active 100,0% | MoM 0,0%
  PS: 7 | Active 100,0% | MoM 0,0%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36976" y="3575304"/>
            <a:ext cx="2633472" cy="1307592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Junior
  RE: 488 | Active 57,3% | MoM -10,1%
  PS: 465 | Active 54,6% | MoM -11,1%
• Greenfield
  RE: 52 | Active 89,7% | MoM -7,1%
  PS: 53 | Active 91,4% | MoM -1,9%
• Junior Plus
  RE: 17 | Active 89,5% | MoM -5,6%
  PS: 17 | Active 89,5% | MoM -5,6%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3090672"/>
            <a:ext cx="5705856" cy="1847088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72783" y="317296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>
                <a:solidFill>
                  <a:srgbClr val="102C50"/>
                </a:solidFill>
                <a:latin typeface="Arial"/>
              </a:rPr>
              <a:t>GraPARI Performance per Branch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59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PER BRANCH
• Denpasar: PS -40,6%, Gap -43
• Flores: PS -12,2%, Gap -15
• Kupang: PS -24,4%, Gap -11
• Mataram: PS -19,3%, Gap -22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79992" y="3547872"/>
            <a:ext cx="2633472" cy="133502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>
                <a:solidFill>
                  <a:srgbClr val="20252B"/>
                </a:solidFill>
                <a:latin typeface="Arial"/>
              </a:rPr>
              <a:t>BOTTOM 5 PS MoM
• Grapari Malaka (Kupang): -75,0%, Gap -3
• Grapari Baa Rote (Kupang): -66,7%, Gap -2
• Grapari Larantuka (Flores): -61,5%, Gap -8
• Grapari Gatsu Tengah (Denpasar): -60,0%, Gap -3
• Grapari Negara (Denpasar): -60,0%, Gap -3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20040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79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Barat: RE -255 (-29,4%), PS -260 (-34,1%)
• Bali Tengah: RE -228 (-15,3%), PS -194 (-15,6%)
• Lombok: RE -134 (-11,7%), PS -91 (-10,0%)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36976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328416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346704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Bali Timur: RE +5 (+9,8%), PS -10 (-25,6%)
• Sumbawa Barat: RE -11 (-42,3%), PS -10 (-66,7%)
• Bali Tengah: RE -17 (-10,3%), PS -9 (-7,8%)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53912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45351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Lombok: RE +1 (+5,6%), PS -7 (-53,8%)
• Bali Tengah: RE -14 (-26,4%), PS -4 (-12,5%)
• Ende Sikka: RE +2 (+50,0%), PS -2 (-50,0%)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070848" y="5074920"/>
            <a:ext cx="2788920" cy="1005840"/>
          </a:xfrm>
          <a:prstGeom prst="roundRect">
            <a:avLst/>
          </a:prstGeom>
          <a:solidFill>
            <a:srgbClr val="F4F6F8"/>
          </a:solidFill>
          <a:ln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62288" y="514807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80576" y="546811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>
                <a:solidFill>
                  <a:srgbClr val="20252B"/>
                </a:solidFill>
                <a:latin typeface="Arial"/>
              </a:rPr>
              <a:t>• Manggarai: RE -3 (-75,0%), PS -4 (-100,0%)
• Bali Tengah: RE -3 (-50,0%), PS -3 (-60,0%)
• Bali Timur: RE -1 (-16,7%), PS -2 (-40,0%)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10/26/2026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94.42%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94.72% | MoM -0.30 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15184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TARGET / GAP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97.21%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-2.79 pp | Rp-2.99 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910328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PAID RATE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93.94%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94.06% | MoM -0.12 pp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05472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PAYMENT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Rp101.03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M-1 Rp100.82 M | MoM +0.2%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500616" y="749808"/>
            <a:ext cx="214884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BILLING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Rp107.01 M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+0.5%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1627632"/>
          <a:ext cx="11548869" cy="4617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60819"/>
                <a:gridCol w="918805"/>
                <a:gridCol w="918805"/>
                <a:gridCol w="995372"/>
                <a:gridCol w="918805"/>
                <a:gridCol w="1339924"/>
                <a:gridCol w="918805"/>
                <a:gridCol w="918805"/>
                <a:gridCol w="918805"/>
                <a:gridCol w="1339924"/>
              </a:tblGrid>
              <a:tr h="271630"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C3MR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Paid Rate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Payment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%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FFFFFF"/>
                          </a:solidFill>
                        </a:defRPr>
                      </a:pPr>
                      <a:r>
                        <a:t>Gap Rp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95.72%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95.21%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Rp53.83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-1.86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Rp-1.04 M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91.23%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-1.54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90.35%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Rp9.32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-5.47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Rp-558.8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91.13%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Rp14.18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-3.99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Rp-615.9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94.37%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-0.30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93.89%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Rp23.71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-3.08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Rp-774.6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94.85%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94.28%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Rp10.53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-2.73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Rp-302.8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95.30%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+0.09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Rp30.29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-1.74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Rp-550.9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96.17%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-0.14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Rp13.00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97.58%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-1.41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Rp-190.5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92.84%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91.72%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Rp3.68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-3.86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Rp-153.2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83.85%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-9.31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83.46%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-8.95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Rp1.85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-9.1%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-12.85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Rp-283.8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92.79%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92.05%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Rp7.99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-3.04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Rp-261.4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89.68%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88.97%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+0.14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-6.15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Rp-237.5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93.68%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+0.95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93.00%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+1.19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Rp3.78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+0.5%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96.70%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-3.02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Rp-121.8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91.89%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91.37%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-0.79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Rp2.73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-0.1%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95.83%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Rp-117.0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95.03%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94.53%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+0.00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Rp13.05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+1.3%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-2.42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Rp-332.8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3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93.60%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93.31%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-0.85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Rp4.46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+0.4%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-3.85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Rp-183.3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271640">
                <a:tc>
                  <a:txBody>
                    <a:bodyPr/>
                    <a:lstStyle/>
                    <a:p>
                      <a:pPr algn="l">
                        <a:defRPr sz="74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93.55%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-0.02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93.04%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+0.21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Rp6.19 M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+1.8%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>
                          <a:latin typeface="Arial"/>
                        </a:defRPr>
                      </a:pPr>
                      <a:r>
                        <a:t>97.45%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-3.90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74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Rp-258.5 Jt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BILCO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10/26/2026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286000" cy="713232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 rIns="73152" tIns="54864">
            <a:spAutoFit/>
          </a:bodyPr>
          <a:lstStyle/>
          <a:p>
            <a:pPr>
              <a:defRPr sz="800" b="1">
                <a:solidFill>
                  <a:srgbClr val="64748B"/>
                </a:solidFill>
              </a:defRPr>
            </a:pPr>
            <a:r>
              <a:t>REGIONAL C3MR M</a:t>
            </a:r>
          </a:p>
          <a:p>
            <a:pPr>
              <a:defRPr sz="1600" b="1">
                <a:solidFill>
                  <a:srgbClr val="173C64"/>
                </a:solidFill>
              </a:defRPr>
            </a:pPr>
            <a:r>
              <a:t>94.42%</a:t>
            </a:r>
          </a:p>
          <a:p>
            <a:pPr>
              <a:defRPr sz="750" b="1">
                <a:solidFill>
                  <a:srgbClr val="505F73"/>
                </a:solidFill>
              </a:defRPr>
            </a:pPr>
            <a:r>
              <a:t>MoM -0.30 pp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664208"/>
          <a:ext cx="11548871" cy="2331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99554"/>
                <a:gridCol w="2095149"/>
                <a:gridCol w="1788542"/>
                <a:gridCol w="1788542"/>
                <a:gridCol w="1788542"/>
                <a:gridCol w="1788542"/>
              </a:tblGrid>
              <a:tr h="333102"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BALINUSRA M / 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96.37% / -0.76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96.60% / -2.01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96.50% / +0.44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95.30% / +0.06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96.51% / +0.14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91.03% / +0.03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91.57% / -0.59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89.82% / -0.13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88.83% / +2.53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91.87% / -0.92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87.41% / -0.40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87.67% / -0.21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84.48% / -2.42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84.27% / -0.74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90.82% / +0.33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90.58% / -0.46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91.90% / -0.16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87.44% / -1.83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88.09% / -0.68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>
                          <a:latin typeface="Arial"/>
                        </a:defRPr>
                      </a:pPr>
                      <a:r>
                        <a:t>91.74% / +0.00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2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92.19% / -0.27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93.63% / -0.14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89.25% / -1.87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89.17% / -0.26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92.69% / +0.10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  <a:tr h="333108">
                <a:tc>
                  <a:txBody>
                    <a:bodyPr/>
                    <a:lstStyle/>
                    <a:p>
                      <a:pPr algn="l">
                        <a:defRPr sz="90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95.95% / -0.28 pp</a:t>
                      </a:r>
                    </a:p>
                  </a:txBody>
                  <a:tcPr>
                    <a:solidFill>
                      <a:srgbClr val="FFEEE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96.98% / -0.06 pp</a:t>
                      </a:r>
                    </a:p>
                  </a:txBody>
                  <a:tcPr>
                    <a:solidFill>
                      <a:srgbClr val="EBF3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93.20% / -1.47 pp</a:t>
                      </a:r>
                    </a:p>
                  </a:txBody>
                  <a:tcPr>
                    <a:solidFill>
                      <a:srgbClr val="F2EFF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93.99% / -0.22 pp</a:t>
                      </a:r>
                    </a:p>
                  </a:txBody>
                  <a:tcPr>
                    <a:solidFill>
                      <a:srgbClr val="FFF7E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9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95.56% / -0.43 pp</a:t>
                      </a:r>
                    </a:p>
                  </a:txBody>
                  <a:tcPr>
                    <a:solidFill>
                      <a:srgbClr val="EBF8F1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320040" y="475488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64748B"/>
                </a:solidFill>
                <a:latin typeface="Arial"/>
              </a:defRPr>
            </a:pPr>
            <a:r>
              <a:t>Format sel: C3MR M / MoM (pp). Fokus pada posisi bulan berjalan dan perubahan vs M-1.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Performance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CAPS M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620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M-1 638 | MoM -2.8%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632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677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Batas CAPS bulan berjalan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8064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GAP TARGET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-57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CAPS M - Target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549640" y="749808"/>
            <a:ext cx="2560320" cy="731520"/>
          </a:xfrm>
          <a:prstGeom prst="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txBody>
          <a:bodyPr wrap="none">
            <a:spAutoFit/>
          </a:bodyPr>
          <a:lstStyle/>
          <a:p>
            <a:pPr>
              <a:defRPr sz="800" b="1">
                <a:solidFill>
                  <a:srgbClr val="1F2937"/>
                </a:solidFill>
                <a:latin typeface="Arial"/>
              </a:defRPr>
            </a:pPr>
            <a:r>
              <a:t>Δ M vs M-1</a:t>
            </a:r>
          </a:p>
          <a:p>
            <a:pPr>
              <a:defRPr sz="1600" b="1">
                <a:solidFill>
                  <a:srgbClr val="1F2937"/>
                </a:solidFill>
                <a:latin typeface="Arial"/>
              </a:defRPr>
            </a:pPr>
            <a:r>
              <a:t>-18</a:t>
            </a:r>
          </a:p>
          <a:p>
            <a:pPr>
              <a:defRPr sz="750" b="1">
                <a:solidFill>
                  <a:srgbClr val="1F2937"/>
                </a:solidFill>
                <a:latin typeface="Arial"/>
              </a:defRPr>
            </a:pPr>
            <a:r>
              <a:t>Perubahan jumlah CAPS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1664208"/>
          <a:ext cx="11548869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6141"/>
                <a:gridCol w="1461882"/>
                <a:gridCol w="1461882"/>
                <a:gridCol w="1169506"/>
                <a:gridCol w="1315694"/>
                <a:gridCol w="1461882"/>
                <a:gridCol w="1461882"/>
              </a:tblGrid>
              <a:tr h="255494"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M-1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CAPS 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Δ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MoM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FFFFFF"/>
                          </a:solidFill>
                        </a:defRPr>
                      </a:pPr>
                      <a:r>
                        <a:t>Gap Target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-9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TENGAH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329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+2.2%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347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BALI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ENDE SIKKA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FLORES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KUPANG ROTE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-4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MALAKA TIMTIM BELU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MANGGARAI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LOMBOK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84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-8</a:t>
                      </a:r>
                    </a:p>
                  </a:txBody>
                  <a:tcPr/>
                </a:tc>
              </a:tr>
              <a:tr h="255494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BARAT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+0</a:t>
                      </a:r>
                    </a:p>
                  </a:txBody>
                  <a:tcPr/>
                </a:tc>
              </a:tr>
              <a:tr h="255496">
                <a:tc>
                  <a:txBody>
                    <a:bodyPr/>
                    <a:lstStyle/>
                    <a:p>
                      <a:pPr algn="l">
                        <a:defRPr sz="800">
                          <a:latin typeface="Arial"/>
                        </a:defRPr>
                      </a:pPr>
                      <a:r>
                        <a:t>SUMBAWA TIMUR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-22.2%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>
                          <a:latin typeface="Arial"/>
                        </a:defRPr>
                      </a:pPr>
                      <a:r>
                        <a:t>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0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-3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50" b="1">
                <a:solidFill>
                  <a:srgbClr val="FFFFFF"/>
                </a:solidFill>
                <a:latin typeface="Arial"/>
              </a:defRPr>
            </a:pPr>
            <a:r>
              <a:t>CAPS by LOS — Regional &amp; 4 Branch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50" b="0">
                <a:solidFill>
                  <a:srgbClr val="FFFFFF"/>
                </a:solidFill>
                <a:latin typeface="Arial"/>
              </a:defRPr>
            </a:pPr>
            <a:r>
              <a:t>Snapshot 10/25/2026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" y="932688"/>
            <a:ext cx="365760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50" b="0">
                <a:solidFill>
                  <a:srgbClr val="64748B"/>
                </a:solidFill>
                <a:latin typeface="Arial"/>
              </a:defRPr>
            </a:pPr>
            <a:r>
              <a:t>CAPS M / MoM vs M-1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320040" y="1225296"/>
          <a:ext cx="11548872" cy="187451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2147"/>
                <a:gridCol w="2085213"/>
                <a:gridCol w="1817878"/>
                <a:gridCol w="1817878"/>
                <a:gridCol w="1817878"/>
                <a:gridCol w="1817878"/>
              </a:tblGrid>
              <a:tr h="267788"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LOS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BALINUSRA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DENPASAR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FLORES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KUPANG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FFFFFF"/>
                          </a:solidFill>
                        </a:defRPr>
                      </a:pPr>
                      <a:r>
                        <a:t>MATARAM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NEW_SALES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1 - 3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 / +300.0%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 / +300.0%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4 - 6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7 - 12 MONTHS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-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</a:tr>
              <a:tr h="267788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1 - 2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105 / -0.9%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77 / +1.3%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C51E27"/>
                          </a:solidFill>
                          <a:latin typeface="Arial"/>
                        </a:defRPr>
                      </a:pPr>
                      <a:r>
                        <a:t>1 / +100.0%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6 / -14.3%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21 / -8.7%</a:t>
                      </a:r>
                    </a:p>
                  </a:txBody>
                  <a:tcPr/>
                </a:tc>
              </a:tr>
              <a:tr h="267791">
                <a:tc>
                  <a:txBody>
                    <a:bodyPr/>
                    <a:lstStyle/>
                    <a:p>
                      <a:pPr algn="l">
                        <a:defRPr sz="850">
                          <a:latin typeface="Arial"/>
                        </a:defRPr>
                      </a:pPr>
                      <a:r>
                        <a:t>&gt; 2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503 / -5.3%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410 / -3.5%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3 / -50.0%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 b="1">
                          <a:solidFill>
                            <a:srgbClr val="08783E"/>
                          </a:solidFill>
                          <a:latin typeface="Arial"/>
                        </a:defRPr>
                      </a:pPr>
                      <a:r>
                        <a:t>24 / -11.1%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850">
                          <a:latin typeface="Arial"/>
                        </a:defRPr>
                      </a:pPr>
                      <a:r>
                        <a:t>66 / -9.6%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686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750" b="1">
                <a:solidFill>
                  <a:srgbClr val="FFFFFF"/>
                </a:solidFill>
                <a:latin typeface="Arial"/>
              </a:defRPr>
            </a:pPr>
            <a:r>
              <a:t>Healthy Sales — BALINUSRA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84048"/>
            <a:ext cx="6400800" cy="16459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950" b="0">
                <a:solidFill>
                  <a:srgbClr val="FFFFFF"/>
                </a:solidFill>
                <a:latin typeface="Arial"/>
              </a:defRPr>
            </a:pPr>
            <a:r>
              <a:t>27 Okt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35440" y="109728"/>
            <a:ext cx="265176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300" b="1">
                <a:solidFill>
                  <a:srgbClr val="FFFFFF"/>
                </a:solidFill>
                <a:latin typeface="Arial"/>
              </a:defRPr>
            </a:pPr>
            <a:r>
              <a:t>Telkomsel — BALINUSRA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004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2976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WO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175,231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0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1012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PAID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1012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124,007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5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90488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HEALTHY SALES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90488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70.8%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961119" y="749808"/>
            <a:ext cx="2651760" cy="566928"/>
          </a:xfrm>
          <a:prstGeom prst="roundRect">
            <a:avLst/>
          </a:prstGeom>
          <a:solidFill>
            <a:srgbClr val="F8FAFC"/>
          </a:solidFill>
          <a:ln>
            <a:solidFill>
              <a:srgbClr val="D2DC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70847" y="804672"/>
            <a:ext cx="1280160" cy="146304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750" b="1">
                <a:solidFill>
                  <a:srgbClr val="64748B"/>
                </a:solidFill>
                <a:latin typeface="Arial"/>
              </a:defRPr>
            </a:pPr>
            <a:r>
              <a:t>UNPAID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0847" y="960120"/>
            <a:ext cx="22860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>
              <a:defRPr sz="1400" b="1">
                <a:solidFill>
                  <a:srgbClr val="1F2937"/>
                </a:solidFill>
                <a:latin typeface="Arial"/>
              </a:defRPr>
            </a:pPr>
            <a:r>
              <a:t>51,224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1481328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7,099 / 97.0%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7,308 / 93.1%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7,469 / 88.6%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7,203 / 85.0%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7,971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7,683 / 79.5%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3,106 / 97.1%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3,306 / 93.4%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3,354 / 89.3%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2,988 / 85.4%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3,398 / 81.8%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3,325 / 79.7%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1,010 / 96.9%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894 / 92.6%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997 / 87.1%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955 / 80.4%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1,159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1,057 / 77.6%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943 / 95.7%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951 / 92.4%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1,104 / 84.3%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1,284 / 81.0%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1,369 / 77.7%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1,342 / 77.6%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2,040 / 97.5%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2,157 / 93.0%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2,014 / 90.5%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1,976 / 89.0%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2,045 / 85.7%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1,959 / 81.3%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2752344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7,715 / 78.2%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6,964 / 77.9%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7,164 / 76.8%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7,111 / 73.3%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6,489 / 72.1%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7,849 / 68.4%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3,413 / 78.9%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2,962 / 77.8%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3,103 / 76.0%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3,350 / 73.2%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2,790 / 72.0%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3,773 / 67.1%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1,200 / 76.8%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966 / 77.6%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861 / 77.1%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807 / 71.8%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921 / 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831 / 67.4%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1,509 / 76.4%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1,276 / 76.8%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77.0%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1,088 / 71.3%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1,063 / 70.9%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1,247 / 67.6%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1,593 / 79.6%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1,760 / 78.8%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1,954 / 77.8%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1,866 / 75.1%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1,715 / 73.5%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1,998 / 71.8%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320040" y="4023360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B15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B16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B17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B18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6,837 / 66.1%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7,515 / 66.0%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8,014 / 65.5%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7,517 / 61.8%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7,658 / 60.6%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7,174 / 60.0%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3,134 / 65.8%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3,494 / 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3,969 / 65.4%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3,612 / 63.3%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3,772 / 60.6%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3,480 / 61.0%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696 / 62.2%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63.9%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811 / 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686 / 57.7%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727 / 58.7%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749 / 58.1%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1,273 / 63.1%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1,202 / 62.7%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1,295 / 55.2%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1,163 / 54.4%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1,132 / 57.1%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1,805 / 69.1%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1,937 / 67.8%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2,032 / 70.1%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1,924 / 64.7%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1,996 / 64.8%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1,813 / 60.5%</a:t>
                      </a: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21" name="Table 20"/>
          <p:cNvGraphicFramePr>
            <a:graphicFrameLocks noGrp="1"/>
          </p:cNvGraphicFramePr>
          <p:nvPr/>
        </p:nvGraphicFramePr>
        <p:xfrm>
          <a:off x="320040" y="5294376"/>
          <a:ext cx="11548868" cy="106070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6015"/>
                <a:gridCol w="1022556"/>
                <a:gridCol w="902255"/>
                <a:gridCol w="1203007"/>
                <a:gridCol w="1203007"/>
                <a:gridCol w="1203007"/>
                <a:gridCol w="1203007"/>
                <a:gridCol w="1203007"/>
                <a:gridCol w="1203007"/>
              </a:tblGrid>
              <a:tr h="176784"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Area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Total WO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HS Total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B19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B20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B21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B22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B23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650" b="1">
                          <a:solidFill>
                            <a:srgbClr val="FFFFFF"/>
                          </a:solidFill>
                        </a:defRPr>
                      </a:pPr>
                      <a:r>
                        <a:t>B24</a:t>
                      </a:r>
                    </a:p>
                  </a:txBody>
                  <a:tcPr>
                    <a:solidFill>
                      <a:srgbClr val="173C64"/>
                    </a:solidFill>
                  </a:tcPr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BALINUSRA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175,231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6,985 / 61.4%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7,134 / 59.5%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7,691 / 59.7%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7,472 / 55.8%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6,644 / 56.1%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6,565 / 52.0%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DENPASAR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80,711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71.0%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3,403 / 63.8%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3,381 / 61.9%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3,839 / 60.9%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3,450 / 58.1%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3,102 / 58.5%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3,207 / 54.9%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FLORES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20,108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776 / 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705 / 55.6%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626 / 62.9%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669 / 53.2%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574 / 56.3%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620 / 51.6%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KUPANG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28,881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66.5%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1,262 / 53.6%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1,180 / 52.2%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1,207 / 52.7%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1,246 / 46.9%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1,227 / 46.8%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1,070 / 43.4%</a:t>
                      </a:r>
                    </a:p>
                  </a:txBody>
                  <a:tcPr/>
                </a:tc>
              </a:tr>
              <a:tr h="176784">
                <a:tc>
                  <a:txBody>
                    <a:bodyPr/>
                    <a:lstStyle/>
                    <a:p>
                      <a:pPr algn="l">
                        <a:defRPr sz="620">
                          <a:latin typeface="Arial"/>
                        </a:defRPr>
                      </a:pPr>
                      <a:r>
                        <a:t>MATARAM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45,531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73.1%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1,544 / 64.2%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1,868 / 61.1%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2,019 / 60.4%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2,107 / 58.2%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1,741 / 58.3%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>
                        <a:defRPr sz="620">
                          <a:latin typeface="Arial"/>
                        </a:defRPr>
                      </a:pPr>
                      <a:r>
                        <a:t>1,668 / 52.0%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2026-08-16T22:33:52Z</dcterms:created>
  <dcterms:modified xsi:type="dcterms:W3CDTF">2026-08-16T22:33:52Z</dcterms:modified>
</cp:coreProperties>
</file>