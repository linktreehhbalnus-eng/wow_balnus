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  <c:pt idx="26">
                  <c:v>44.0</c:v>
                </c:pt>
                <c:pt idx="27">
                  <c:v>46.0</c:v>
                </c:pt>
                <c:pt idx="28">
                  <c:v>46.0</c:v>
                </c:pt>
                <c:pt idx="29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  <c:pt idx="26">
                  <c:v>13.0</c:v>
                </c:pt>
                <c:pt idx="27">
                  <c:v>13.0</c:v>
                </c:pt>
                <c:pt idx="28">
                  <c:v>10.0</c:v>
                </c:pt>
                <c:pt idx="29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  <c:pt idx="26">
                  <c:v>22.0</c:v>
                </c:pt>
                <c:pt idx="27">
                  <c:v>23.0</c:v>
                </c:pt>
                <c:pt idx="28">
                  <c:v>25.0</c:v>
                </c:pt>
                <c:pt idx="29">
                  <c:v>28.0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  <c:pt idx="26">
                  <c:v>9.0</c:v>
                </c:pt>
                <c:pt idx="27">
                  <c:v>10.0</c:v>
                </c:pt>
                <c:pt idx="28">
                  <c:v>11.0</c:v>
                </c:pt>
                <c:pt idx="29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Sheet1!$F$2:$F$31</c:f>
              <c:numCache>
                <c:formatCode>General</c:formatCode>
                <c:ptCount val="30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  <c:pt idx="26">
                  <c:v>33.0</c:v>
                </c:pt>
                <c:pt idx="27">
                  <c:v>43.0</c:v>
                </c:pt>
                <c:pt idx="28">
                  <c:v>38.0</c:v>
                </c:pt>
                <c:pt idx="29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  <c:pt idx="26">
                  <c:v>11.0</c:v>
                </c:pt>
                <c:pt idx="27">
                  <c:v>12.0</c:v>
                </c:pt>
                <c:pt idx="28">
                  <c:v>10.0</c:v>
                </c:pt>
                <c:pt idx="29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  <c:pt idx="26">
                  <c:v>19.0</c:v>
                </c:pt>
                <c:pt idx="27">
                  <c:v>19.0</c:v>
                </c:pt>
                <c:pt idx="28">
                  <c:v>21.0</c:v>
                </c:pt>
                <c:pt idx="29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  <c:pt idx="26">
                  <c:v>3.0</c:v>
                </c:pt>
                <c:pt idx="27">
                  <c:v>12.0</c:v>
                </c:pt>
                <c:pt idx="28">
                  <c:v>8.0</c:v>
                </c:pt>
                <c:pt idx="29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Sheet1!$F$2:$F$31</c:f>
              <c:numCache>
                <c:formatCode>General</c:formatCode>
                <c:ptCount val="30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364  (+3,7%)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237   Δ -39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228   Δ -37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7.066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152 / 315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-18,3% | Turun 114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191 / 364 (52,5%)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-15,1% | Turun 142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82 (58,5%)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 | Turun 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 / 165 (44,8%)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 / 188 (50,5%)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 | Turun 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81 (49,4%)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94 (51,1%)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2.145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1.203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28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-22,2% | Turun 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315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-26,2% | Turun 114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364 (15,7%)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 | Turun 142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69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82 (17,1%)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165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188 (17,0%)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94 (11,7%)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198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-18,5%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191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-20,1%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Elite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10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10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-13,4%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6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-27,4%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6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-26,0%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159 SF | Active 50,5%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-21,4%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152 SF | Active 48,3%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-22,5%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19 SF | Active 67,9%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-31,2%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19 SF | Active 67,9%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-30,7%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4 SF | Active 80,0% | MoM RE +4,3%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 SF | Active 80,0%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-8,1%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Amlapura: PS </a:t>
            </a:r>
            <a:r>
              <a:rPr sz="850" b="1">
                <a:solidFill>
                  <a:srgbClr val="D73527"/>
                </a:solidFill>
                <a:latin typeface="Arial"/>
              </a:rPr>
              <a:t>-33,3%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Gatsu Tengah: PS </a:t>
            </a:r>
            <a:r>
              <a:rPr sz="850" b="1">
                <a:solidFill>
                  <a:srgbClr val="D73527"/>
                </a:solidFill>
                <a:latin typeface="Arial"/>
              </a:rPr>
              <a:t>-57,1%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Jimbaran: PS </a:t>
            </a:r>
            <a:r>
              <a:rPr sz="850" b="1">
                <a:solidFill>
                  <a:srgbClr val="D73527"/>
                </a:solidFill>
                <a:latin typeface="Arial"/>
              </a:rPr>
              <a:t>-45,5%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-10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Kuta: PS +12,5%, Gap 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Negara: PS </a:t>
            </a:r>
            <a:r>
              <a:rPr sz="850" b="1">
                <a:solidFill>
                  <a:srgbClr val="D73527"/>
                </a:solidFill>
                <a:latin typeface="Arial"/>
              </a:rPr>
              <a:t>-57,1%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Renon: PS </a:t>
            </a:r>
            <a:r>
              <a:rPr sz="850" b="1">
                <a:solidFill>
                  <a:srgbClr val="D73527"/>
                </a:solidFill>
                <a:latin typeface="Arial"/>
              </a:rPr>
              <a:t>-50,0%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Singaraja: PS </a:t>
            </a:r>
            <a:r>
              <a:rPr sz="850" b="1">
                <a:solidFill>
                  <a:srgbClr val="D73527"/>
                </a:solidFill>
                <a:latin typeface="Arial"/>
              </a:rPr>
              <a:t>-20,0%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Tabanan: PS </a:t>
            </a:r>
            <a:r>
              <a:rPr sz="850" b="1">
                <a:solidFill>
                  <a:srgbClr val="D73527"/>
                </a:solidFill>
                <a:latin typeface="Arial"/>
              </a:rPr>
              <a:t>-16,7%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Ubud: PS </a:t>
            </a:r>
            <a:r>
              <a:rPr sz="850" b="1">
                <a:solidFill>
                  <a:srgbClr val="D73527"/>
                </a:solidFill>
                <a:latin typeface="Arial"/>
              </a:rPr>
              <a:t>-29,4%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-251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-26,5%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-256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-30,6%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-237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-13,8%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-212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-106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-19,3%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-17,1%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-7,4%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-8,1%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15 (+26,3%),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-11,6%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-25,4%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-17,9%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-36,4%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-33,3%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-37,5%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0 (0,0%),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INY2925277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SPEKI44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SPEKI44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INY2925277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GED6635775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PUTU NGURAH UPHADANA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SPNGU91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DEVI PREDIYANI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SPRPN60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ANOM PURWA KENITEN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SPEAB78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96.32%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96.39% | MoM -0.07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-1.26 pp | Rp-711.0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95.78% | MoM +0.10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Rp54.18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Rp54.05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Rp-711.0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96.47%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Rp-349.6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98.53% / -1.16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96.89% / -2.76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99.41%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98.19% / -1.81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94.46% / -0.53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92.60% / -2.15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94.71% / +0.41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96.05% / -1.48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88.92%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88.72%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88.07% / -0.37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91.88% / -0.02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92.89%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91.89%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92.96% / +0.14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93.79% / -0.57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94.55% / 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93.63% / -0.09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94.45% / +0.07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95.77% / -0.23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97.35% / 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97.62% / -0.03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97.21% / -0.02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M-1 537 | MoM +2.0%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83 / +3.8%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-15.4%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 / 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+157.1%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454 / 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67 / -5.6%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298 / 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 / -11.0%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58,079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22,632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79.0%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90.7%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87.8%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65.7%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66.0%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58.6%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75.2%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53.2%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67.5%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