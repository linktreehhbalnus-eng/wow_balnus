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  <c:pt idx="21">
                  <c:v>35.0</c:v>
                </c:pt>
                <c:pt idx="22">
                  <c:v>26.0</c:v>
                </c:pt>
                <c:pt idx="23">
                  <c:v>22.0</c:v>
                </c:pt>
                <c:pt idx="24">
                  <c:v>12.0</c:v>
                </c:pt>
                <c:pt idx="25">
                  <c:v>28.0</c:v>
                </c:pt>
                <c:pt idx="26">
                  <c:v>25.0</c:v>
                </c:pt>
                <c:pt idx="27">
                  <c:v>28.0</c:v>
                </c:pt>
                <c:pt idx="28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  <c:pt idx="21">
                  <c:v>16.0</c:v>
                </c:pt>
                <c:pt idx="22">
                  <c:v>9.0</c:v>
                </c:pt>
                <c:pt idx="23">
                  <c:v>14.0</c:v>
                </c:pt>
                <c:pt idx="24">
                  <c:v>6.0</c:v>
                </c:pt>
                <c:pt idx="25">
                  <c:v>17.0</c:v>
                </c:pt>
                <c:pt idx="26">
                  <c:v>10.0</c:v>
                </c:pt>
                <c:pt idx="27">
                  <c:v>10.0</c:v>
                </c:pt>
                <c:pt idx="28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  <c:pt idx="21">
                  <c:v>13.0</c:v>
                </c:pt>
                <c:pt idx="22">
                  <c:v>15.0</c:v>
                </c:pt>
                <c:pt idx="23">
                  <c:v>6.0</c:v>
                </c:pt>
                <c:pt idx="24">
                  <c:v>4.0</c:v>
                </c:pt>
                <c:pt idx="25">
                  <c:v>8.0</c:v>
                </c:pt>
                <c:pt idx="26">
                  <c:v>10.0</c:v>
                </c:pt>
                <c:pt idx="27">
                  <c:v>14.0</c:v>
                </c:pt>
                <c:pt idx="28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  <c:pt idx="21">
                  <c:v>6.0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3.0</c:v>
                </c:pt>
                <c:pt idx="26">
                  <c:v>5.0</c:v>
                </c:pt>
                <c:pt idx="27">
                  <c:v>4.0</c:v>
                </c:pt>
                <c:pt idx="28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  <c:pt idx="21">
                  <c:v>25.0</c:v>
                </c:pt>
                <c:pt idx="22">
                  <c:v>29.0</c:v>
                </c:pt>
                <c:pt idx="23">
                  <c:v>21.0</c:v>
                </c:pt>
                <c:pt idx="24">
                  <c:v>12.0</c:v>
                </c:pt>
                <c:pt idx="25">
                  <c:v>25.0</c:v>
                </c:pt>
                <c:pt idx="26">
                  <c:v>20.0</c:v>
                </c:pt>
                <c:pt idx="27">
                  <c:v>26.0</c:v>
                </c:pt>
                <c:pt idx="28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  <c:pt idx="21">
                  <c:v>10.0</c:v>
                </c:pt>
                <c:pt idx="22">
                  <c:v>12.0</c:v>
                </c:pt>
                <c:pt idx="23">
                  <c:v>9.0</c:v>
                </c:pt>
                <c:pt idx="24">
                  <c:v>7.0</c:v>
                </c:pt>
                <c:pt idx="25">
                  <c:v>11.0</c:v>
                </c:pt>
                <c:pt idx="26">
                  <c:v>10.0</c:v>
                </c:pt>
                <c:pt idx="27">
                  <c:v>10.0</c:v>
                </c:pt>
                <c:pt idx="28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  <c:pt idx="21">
                  <c:v>11.0</c:v>
                </c:pt>
                <c:pt idx="22">
                  <c:v>13.0</c:v>
                </c:pt>
                <c:pt idx="23">
                  <c:v>9.0</c:v>
                </c:pt>
                <c:pt idx="24">
                  <c:v>1.0</c:v>
                </c:pt>
                <c:pt idx="25">
                  <c:v>11.0</c:v>
                </c:pt>
                <c:pt idx="26">
                  <c:v>6.0</c:v>
                </c:pt>
                <c:pt idx="27">
                  <c:v>11.0</c:v>
                </c:pt>
                <c:pt idx="28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  <c:pt idx="21">
                  <c:v>4.0</c:v>
                </c:pt>
                <c:pt idx="22">
                  <c:v>4.0</c:v>
                </c:pt>
                <c:pt idx="23">
                  <c:v>3.0</c:v>
                </c:pt>
                <c:pt idx="24">
                  <c:v>4.0</c:v>
                </c:pt>
                <c:pt idx="25">
                  <c:v>3.0</c:v>
                </c:pt>
                <c:pt idx="26">
                  <c:v>4.0</c:v>
                </c:pt>
                <c:pt idx="27">
                  <c:v>5.0</c:v>
                </c:pt>
                <c:pt idx="28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118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116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84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2.511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12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110 / 148 (74,3%)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+6,8%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 / 164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+7,0%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58 (82,8%)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 / 67 (82,1%)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59 (76,3%)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64 (76,6%)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31 (54,8%)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33 (57,6%)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041648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352544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12 (8,3%)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 / 148 (22,3%)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+26,9%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 / 164 (22,6%)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+23,3%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8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58 (27,6%)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67 (25,4%)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+54,5%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59 (16,9%)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64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31 (22,6%)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33 (24,2%)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760720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(Jumlah SF, % Active, MoM RE atau 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RE: 130 SF | MoM RE +6,0%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PS: 123 SF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-0,2%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117 SF | Active 79,1% | MoM RE +11,2%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110 SF | Active 74,3% | MoM PS +4,6%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Greenfield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9 SF | Active 75,0% | MoM RE +15,4%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9 SF | Active 75,0% | MoM PS +30,8%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 Plus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4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-35,5%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4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-41,4%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Atambua: PS 0,0%, Gap 0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Baa Rote: PS </a:t>
            </a:r>
            <a:r>
              <a:rPr sz="850" b="1">
                <a:solidFill>
                  <a:srgbClr val="D73527"/>
                </a:solidFill>
                <a:latin typeface="Arial"/>
              </a:rPr>
              <a:t>-75,0%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Kefamenanu: PS 0,0%, Gap 0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Kupang: PS </a:t>
            </a:r>
            <a:r>
              <a:rPr sz="850" b="1">
                <a:solidFill>
                  <a:srgbClr val="D73527"/>
                </a:solidFill>
                <a:latin typeface="Arial"/>
              </a:rPr>
              <a:t>-14,3%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Malaka: PS </a:t>
            </a:r>
            <a:r>
              <a:rPr sz="850" b="1">
                <a:solidFill>
                  <a:srgbClr val="D73527"/>
                </a:solidFill>
                <a:latin typeface="Arial"/>
              </a:rPr>
              <a:t>-75,0%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Soe: PS </a:t>
            </a:r>
            <a:r>
              <a:rPr sz="850" b="1">
                <a:solidFill>
                  <a:srgbClr val="D73527"/>
                </a:solidFill>
                <a:latin typeface="Arial"/>
              </a:rPr>
              <a:t>-66,7%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Waikabubak: PS +60,0%, Gap 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Waingapu: PS </a:t>
            </a:r>
            <a:r>
              <a:rPr sz="850" b="1">
                <a:solidFill>
                  <a:srgbClr val="D73527"/>
                </a:solidFill>
                <a:latin typeface="Arial"/>
              </a:rPr>
              <a:t>-42,9%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Sumba: RE </a:t>
            </a:r>
            <a:r>
              <a:rPr sz="830" b="1">
                <a:solidFill>
                  <a:srgbClr val="D73527"/>
                </a:solidFill>
                <a:latin typeface="Arial"/>
              </a:rPr>
              <a:t>-43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-17,9%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-40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-19,7%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Sumba: RE 4 (+36,4%),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-71,4%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Rote: RE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-40,0%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-66,7%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Malaka Timtim Belu: RE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-100,0%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-100,0%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AND7493129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Didina M Freitas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DID8448187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Fera Marselin Djo Miha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FER6092649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AND7493129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NIMROT SUAN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SPNIM78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Jovitria Arias 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JOV9993067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SPYSI61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SAT6551930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93.41%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93.46% | MoM -0.05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-2.42 pp | Rp-373.8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92.84%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92.72% | MoM +0.13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Rp14.42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Rp14.47 M | MoM -0.4%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93.41%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92.84%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Rp14.42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Rp-373.8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93.96%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Rp8.09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Rp-161.3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91.87%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91.36%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Rp-153.1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93.83%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Rp2.79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Rp-59.4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96.15% / -1.47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96.27% / -2.12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95.58% / -0.74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96.73% / -1.35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90.76% / +1.43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90.60% / -0.10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89.22% / +3.40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93.60% / +0.58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86.72% / -0.77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87.87% / +0.79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85.91% / -1.33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85.37% / -3.84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90.54% / -0.07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90.64% / -0.08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89.36% / +0.22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92.57% / -0.44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91.19% / +0.04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91.53% / -0.15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90.16% / +0.21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91.81% / +0.38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95.20% / -0.09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95.49% / -0.10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94.40% / +0.16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95.17% / -0.35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39 | MoM -17.9%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 / -13.3%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 / -27.3%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30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19,692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68.2%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9,189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86.1%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83.4%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81.0%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77.6%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96.4%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83.9%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82.0%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91.8%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83.4%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80.9%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65.9%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72.3%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77.3%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52.6%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51.2%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53.0%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66.8%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63.4%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65.0%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76.1%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71.8%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44.4%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50.4%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47.6%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45.9%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38.8%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46.4%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