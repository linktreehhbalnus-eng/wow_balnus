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18/09</c:v>
                </c:pt>
                <c:pt idx="1">
                  <c:v>19/09</c:v>
                </c:pt>
                <c:pt idx="2">
                  <c:v>20/09</c:v>
                </c:pt>
                <c:pt idx="3">
                  <c:v>21/09</c:v>
                </c:pt>
                <c:pt idx="4">
                  <c:v>22/09</c:v>
                </c:pt>
                <c:pt idx="5">
                  <c:v>23/09</c:v>
                </c:pt>
                <c:pt idx="6">
                  <c:v>24/09</c:v>
                </c:pt>
                <c:pt idx="7">
                  <c:v>25/09</c:v>
                </c:pt>
                <c:pt idx="8">
                  <c:v>26/09</c:v>
                </c:pt>
                <c:pt idx="9">
                  <c:v>27/09</c:v>
                </c:pt>
                <c:pt idx="10">
                  <c:v>28/09</c:v>
                </c:pt>
                <c:pt idx="11">
                  <c:v>29/09</c:v>
                </c:pt>
                <c:pt idx="12">
                  <c:v>30/09</c:v>
                </c:pt>
                <c:pt idx="13">
                  <c:v>01/10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305.0</c:v>
                </c:pt>
                <c:pt idx="1">
                  <c:v>267.0</c:v>
                </c:pt>
                <c:pt idx="2">
                  <c:v>193.0</c:v>
                </c:pt>
                <c:pt idx="3">
                  <c:v>378.0</c:v>
                </c:pt>
                <c:pt idx="4">
                  <c:v>316.0</c:v>
                </c:pt>
                <c:pt idx="5">
                  <c:v>299.0</c:v>
                </c:pt>
                <c:pt idx="6">
                  <c:v>309.0</c:v>
                </c:pt>
                <c:pt idx="7">
                  <c:v>303.0</c:v>
                </c:pt>
                <c:pt idx="8">
                  <c:v>248.0</c:v>
                </c:pt>
                <c:pt idx="9">
                  <c:v>150.0</c:v>
                </c:pt>
                <c:pt idx="10">
                  <c:v>315.0</c:v>
                </c:pt>
                <c:pt idx="11">
                  <c:v>321.0</c:v>
                </c:pt>
                <c:pt idx="12">
                  <c:v>271.0</c:v>
                </c:pt>
                <c:pt idx="13">
                  <c:v>352.0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18/09</c:v>
                </c:pt>
                <c:pt idx="1">
                  <c:v>19/09</c:v>
                </c:pt>
                <c:pt idx="2">
                  <c:v>20/09</c:v>
                </c:pt>
                <c:pt idx="3">
                  <c:v>21/09</c:v>
                </c:pt>
                <c:pt idx="4">
                  <c:v>22/09</c:v>
                </c:pt>
                <c:pt idx="5">
                  <c:v>23/09</c:v>
                </c:pt>
                <c:pt idx="6">
                  <c:v>24/09</c:v>
                </c:pt>
                <c:pt idx="7">
                  <c:v>25/09</c:v>
                </c:pt>
                <c:pt idx="8">
                  <c:v>26/09</c:v>
                </c:pt>
                <c:pt idx="9">
                  <c:v>27/09</c:v>
                </c:pt>
                <c:pt idx="10">
                  <c:v>28/09</c:v>
                </c:pt>
                <c:pt idx="11">
                  <c:v>29/09</c:v>
                </c:pt>
                <c:pt idx="12">
                  <c:v>30/09</c:v>
                </c:pt>
                <c:pt idx="13">
                  <c:v>01/10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242.0</c:v>
                </c:pt>
                <c:pt idx="1">
                  <c:v>209.0</c:v>
                </c:pt>
                <c:pt idx="2">
                  <c:v>177.0</c:v>
                </c:pt>
                <c:pt idx="3">
                  <c:v>269.0</c:v>
                </c:pt>
                <c:pt idx="4">
                  <c:v>271.0</c:v>
                </c:pt>
                <c:pt idx="5">
                  <c:v>247.0</c:v>
                </c:pt>
                <c:pt idx="6">
                  <c:v>254.0</c:v>
                </c:pt>
                <c:pt idx="7">
                  <c:v>239.0</c:v>
                </c:pt>
                <c:pt idx="8">
                  <c:v>173.0</c:v>
                </c:pt>
                <c:pt idx="9">
                  <c:v>131.0</c:v>
                </c:pt>
                <c:pt idx="10">
                  <c:v>241.0</c:v>
                </c:pt>
                <c:pt idx="11">
                  <c:v>240.0</c:v>
                </c:pt>
                <c:pt idx="12">
                  <c:v>239.0</c:v>
                </c:pt>
                <c:pt idx="13">
                  <c:v>238.0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-13,5% &amp; PS -12,2% MoM — Achievement Mencapai — (RE) / —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Relatif Stabil pada 1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01–01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(+22,6%), Kupang Terdalam (-40,0%)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+22,6%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-3,8%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-17,5%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-40,0%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Bali Timur Tertinggi (+45,5%), Bali Barat Terdalam (-64,2%)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 Denpasar Penyumbang PS Absolut Terbesar (+9), Karang Asem Tumbuh Tertinggi (+100,0%)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+22, Bottom 5 -48, dan perubahan PS regional -33.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(+20,0%), TSEL One &gt;30 Mbps Turun Terdalam (-100,0%)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+2,1%, Aktivitas DJP -2,1% MoM — Registered SF 893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17.593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 (sumber WOK lama selama transisi)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5.249
Dikunjungi: 1.391 (26,5%)
Visit DJP: 3.827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1.404
Dikunjungi: 1.181 (84,1%)
Visit DJP: 3.630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01–01 Okt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20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-42,9%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31 / 310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+6,9% | Turun 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-18,2%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 / 351 (15,4%)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+5,9%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13 (46,2%)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136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+30,8%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 / 150 (15,3%)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+15,0% | Turun 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 / 139 (12,2%)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-19,0% | Turun 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19 / 152 (12,5%)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-29,6% | Turun 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16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36 / 213 (16,9%)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10 (70,0%)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48 / 240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+9,1% | Turun 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 / 58 (24,1%)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-6,7%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101 / 798 (12,7%)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+2,0% | Turun 71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 / 20 (65,0%)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-18,8%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+600,0%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-18,2%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144 / 924 (15,6%)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+1,4% | Turun 102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-81,8%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-20,0%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-17,9%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-47,4%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+220,0%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-29,0%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-19,2%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5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351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240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58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798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71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20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11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7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10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924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102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BAGUS BAYU KERTABHUANA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SHINTIA SRIGANTINY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Putu Wira Anggrawan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HILDEGARDIS SALLY DOMAKING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Ania Amalia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HARMANSYAH A MD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HANDINI WINARTI SIWO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ASMARAHADI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AYU SUPASTIYANI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AYU SUPASTIYANI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SELLY TRI NOVIASTANTI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BAYU KRISNA ADHYATMA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EMANUEL LAGA TIFAONA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ASMARAHADI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Teddy Soeyitno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 Setyawan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Vinsensius brian luther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Achmad ahmadi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REGAR FEBRYAN ADHA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witana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SELLY TRI NOVIASTANTI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SOPI SUKMAWATI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DEWI PURNAMAWATI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GAGUS PUTU SUASA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YUNIARTI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Fanderio l laure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Reno dhika nur febriansyah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TAHIR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Kiki kurniawan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DEDI FILIPUS FAY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Harry Mulia Sobari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ADI SURATMAN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KADEK DWI PRADNYAWATI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AFRILIAN WULANSARI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01–01 Okt 2026 vs MTD-1 01–01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01–01 Okt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01–01 Okt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900,0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484,4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10,8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54,3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01–01 Okt 2026 vs MTD-1 01–01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407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352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238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54,3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-17,4%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+26,3%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+34,4%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+45,5%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+57,5%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+131,4%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165 | MoM -16,7%
PS: 144 | MoM +2,1%
• Elite
  RE: 8 | Active 80,0% | MoM -20,0%
  PS: 9 | Active 90,0% | MoM -10,0%
• Performer
  RE: 6 | Active 85,7% | MoM 0,0%
  PS: 7 | Active 100,0% | MoM +16,7%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120 | Active 15,0% | MoM -16,7%
  PS: 101 | Active 12,7% | MoM +7,4%
• Greenfield
  RE: 20 | Active 34,5% | MoM -9,1%
  PS: 14 | Active 24,1% | MoM -6,7%
• Junior Plus
  RE: 11 | Active 55,0% | MoM -31,2%
  PS: 13 | Active 65,0% | MoM -18,8%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+100,0%, Gap +2
• Flores: PS +66,7%, Gap +4
• Kupang: PS +100,0%, Gap +2
• Mataram: PS -44,4%, Gap -4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Jimbaran (Denpasar): -100,0%, Gap -1
• Grapari Labuan Bajo (Flores): -100,0%, Gap -2
• Grapari Kupang (Kupang): -100,0%, Gap -2
• Grapari Mataram (Mataram): -100,0%, Gap -5
• Grapari Sumbawa (Mataram): -50,0%, Gap -1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-26 (-44,8%), PS -37 (-69,8%)
• Kupang Rote: RE -4 (-22,2%), PS -7 (-43,8%)
• Malaka Timtim Belu: RE -13 (-68,4%), PS -7 (-53,8%)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Ende Sikka: RE -2 (-100,0%), PS -1 (-100,0%)
• Lombok: RE -1 (-25,0%), PS -1 (-33,3%)
• Malaka Timtim Belu: RE +1 (+100,0%), PS -1 (-100,0%)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Tidak ada penurunan PS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Tidak ada penurunan PS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M-1 304 | MoM +8.6%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-347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6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7969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79712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4887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009"/>
                <a:gridCol w="2080877"/>
                <a:gridCol w="1768746"/>
                <a:gridCol w="1768746"/>
                <a:gridCol w="1768746"/>
                <a:gridCol w="1768746"/>
              </a:tblGrid>
              <a:tr h="10241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 / +12.0%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265 / +4.3%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44,619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130,612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27.6%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27.0%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22.2%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19.8%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17.9%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