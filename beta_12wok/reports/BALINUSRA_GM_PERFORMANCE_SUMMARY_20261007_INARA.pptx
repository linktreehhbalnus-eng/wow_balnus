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  <p:sldId id="276" r:id="rId27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24/09</c:v>
                </c:pt>
                <c:pt idx="1">
                  <c:v>25/09</c:v>
                </c:pt>
                <c:pt idx="2">
                  <c:v>26/09</c:v>
                </c:pt>
                <c:pt idx="3">
                  <c:v>27/09</c:v>
                </c:pt>
                <c:pt idx="4">
                  <c:v>28/09</c:v>
                </c:pt>
                <c:pt idx="5">
                  <c:v>29/09</c:v>
                </c:pt>
                <c:pt idx="6">
                  <c:v>30/09</c:v>
                </c:pt>
                <c:pt idx="7">
                  <c:v>01/10</c:v>
                </c:pt>
                <c:pt idx="8">
                  <c:v>02/10</c:v>
                </c:pt>
                <c:pt idx="9">
                  <c:v>03/10</c:v>
                </c:pt>
                <c:pt idx="10">
                  <c:v>04/10</c:v>
                </c:pt>
                <c:pt idx="11">
                  <c:v>05/10</c:v>
                </c:pt>
                <c:pt idx="12">
                  <c:v>06/10</c:v>
                </c:pt>
                <c:pt idx="13">
                  <c:v>07/10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309.0</c:v>
                </c:pt>
                <c:pt idx="1">
                  <c:v>303.0</c:v>
                </c:pt>
                <c:pt idx="2">
                  <c:v>248.0</c:v>
                </c:pt>
                <c:pt idx="3">
                  <c:v>150.0</c:v>
                </c:pt>
                <c:pt idx="4">
                  <c:v>315.0</c:v>
                </c:pt>
                <c:pt idx="5">
                  <c:v>321.0</c:v>
                </c:pt>
                <c:pt idx="6">
                  <c:v>271.0</c:v>
                </c:pt>
                <c:pt idx="7">
                  <c:v>352.0</c:v>
                </c:pt>
                <c:pt idx="8">
                  <c:v>332.0</c:v>
                </c:pt>
                <c:pt idx="9">
                  <c:v>257.0</c:v>
                </c:pt>
                <c:pt idx="10">
                  <c:v>184.0</c:v>
                </c:pt>
                <c:pt idx="11">
                  <c:v>335.0</c:v>
                </c:pt>
                <c:pt idx="12">
                  <c:v>304.0</c:v>
                </c:pt>
                <c:pt idx="13">
                  <c:v>330.0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24/09</c:v>
                </c:pt>
                <c:pt idx="1">
                  <c:v>25/09</c:v>
                </c:pt>
                <c:pt idx="2">
                  <c:v>26/09</c:v>
                </c:pt>
                <c:pt idx="3">
                  <c:v>27/09</c:v>
                </c:pt>
                <c:pt idx="4">
                  <c:v>28/09</c:v>
                </c:pt>
                <c:pt idx="5">
                  <c:v>29/09</c:v>
                </c:pt>
                <c:pt idx="6">
                  <c:v>30/09</c:v>
                </c:pt>
                <c:pt idx="7">
                  <c:v>01/10</c:v>
                </c:pt>
                <c:pt idx="8">
                  <c:v>02/10</c:v>
                </c:pt>
                <c:pt idx="9">
                  <c:v>03/10</c:v>
                </c:pt>
                <c:pt idx="10">
                  <c:v>04/10</c:v>
                </c:pt>
                <c:pt idx="11">
                  <c:v>05/10</c:v>
                </c:pt>
                <c:pt idx="12">
                  <c:v>06/10</c:v>
                </c:pt>
                <c:pt idx="13">
                  <c:v>07/10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254.0</c:v>
                </c:pt>
                <c:pt idx="1">
                  <c:v>239.0</c:v>
                </c:pt>
                <c:pt idx="2">
                  <c:v>173.0</c:v>
                </c:pt>
                <c:pt idx="3">
                  <c:v>131.0</c:v>
                </c:pt>
                <c:pt idx="4">
                  <c:v>241.0</c:v>
                </c:pt>
                <c:pt idx="5">
                  <c:v>240.0</c:v>
                </c:pt>
                <c:pt idx="6">
                  <c:v>239.0</c:v>
                </c:pt>
                <c:pt idx="7">
                  <c:v>238.0</c:v>
                </c:pt>
                <c:pt idx="8">
                  <c:v>225.0</c:v>
                </c:pt>
                <c:pt idx="9">
                  <c:v>205.0</c:v>
                </c:pt>
                <c:pt idx="10">
                  <c:v>154.0</c:v>
                </c:pt>
                <c:pt idx="11">
                  <c:v>237.0</c:v>
                </c:pt>
                <c:pt idx="12">
                  <c:v>221.0</c:v>
                </c:pt>
                <c:pt idx="13">
                  <c:v>283.0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-7,5% &amp; PS -8,6% MoM — Achievement Mencapai 17,7% (RE) / 16,4%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Okt 2026 vs MTD-1 01–07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Menguat pada 7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Okt 2026 vs MTD-1 01–07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01–07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(+1,3%), Denpasar Terdalam (-15,1%)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Okt 2026 vs MTD-1 01–07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+1,3%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-3,2%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-7,0%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-15,1%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18,5%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17,6%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16,4%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13,1%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Sikka Tertinggi (+20,2%), Bali Barat Terdalam (-43,5%)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Okt 2026 vs MTD-1 01–07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Dompu Penyumbang PS Absolut Terbesar (+13), Sumbawa Barat Tumbuh Tertinggi (+112,5%)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Okt 2026 vs MTD-1 01–07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44 kabupaten: Top 5 menyumbang +49, Bottom 5 -154, dan perubahan PS regional -148.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(+4,3%), TSEL One ≤30 Mbps Turun Terdalam (-20,2%)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Okt 2026 vs MTD-1 01–07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-1,8% MoM, DJP Data Transition — SF Register 883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Okt 2026 vs MTD-1 01–07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37.795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24.841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5.296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83.236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5.296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1.475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1.854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1.565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Okt 2026 vs MTD-1 01–07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01–07 Okt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20 (70,0%)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97 / 306 (31,7%)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-4,0% | Turun 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131 / 347 (37,8%)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-3,0% | Turun 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13 (92,3%)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 / 129 (34,1%)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-15,4% | Turun 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56 / 143 (39,2%)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-13,8%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9 (44,4%)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63 / 143 (44,1%)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-13,7% | Turun 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71 / 156 (45,5%)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-12,3% | Turun 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16 (68,8%)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+22,2%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105 / 210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+12,9% | Turun 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127 / 237 (53,6%)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+12,4% | Turun 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41 / 58 (70,7%)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+5,1% | Turun 18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309 / 788 (39,2%)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-3,1% | Turun 169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10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385 / 901 (42,7%)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-2,3% | Turun 209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594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+19,5%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848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-20,7%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1.355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306 (0,7%)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-60,0% | Turun 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10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347 (4,6%)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-23,8% | Turun 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129 (0,8%)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143 (0,7%)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143 (0,7%)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156 (0,6%)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210 (0,5%)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-66,7% | Turun 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237 (1,3%)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58 (3,4%)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— | Turun 18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 / 788 (0,6%)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169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-60,0% | Turun 10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7 (57,1%)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10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21 / 901 (2,3%)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-30,0% | Turun 209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Okt 2026 vs MTD-1 01–07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MADE AWANG DARMAWAN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ALEXANDRA INJEL FERNANDES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HILDEGARDIS SALLY DOMAKING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MIRAH PADMINI, 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KARTAKA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USAMAH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Handoko Priadtmono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Harry Mulia Sobari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IMAM BUDIYANSYAH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JANUARIUS PAULUS KOPONG HADA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SUPAMRI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DEWI SRI WULAN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BAIQ YULI INDRAYANI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FELIKS VENTIANUS MARIO JEMA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BENYAMIN NDEWI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LITA MELIANA HUSEN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Okt 2026 vs MTD-1 01–07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FRANSISKUS NDAGANG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Damarbudi prakoso 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anggarita arya sukma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Herpan jayadi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Sumiyati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Edy Susilo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ROSA NINGRUM FATMALA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DIANA TRI ANGGRAINI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A A NGR BISMA ADIK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Yohannes moa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Fajar Nanda Imani0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Okt 2026 vs MTD-1 01–07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Okt 2026 vs MTD-1 01–07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Hulu Sungai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01–07 Okt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1.711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1.563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01–07 Okt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01–07 Okt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2.263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2.094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1.711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1.563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350,1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1.908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1.727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1.490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1.355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297,0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+17,2%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470,0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-62,4%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412 | MoM -7,8%
PS: 385 | MoM -1,8%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334 | Active 42,4% | MoM -8,5%
  PS: 309 | Active 39,2% | MoM -2,5%
• Greenfield
  RE: 43 | Active 74,1% | MoM -6,5%
  PS: 41 | Active 70,7% | MoM +5,1%
• Junior Plus
  RE: 18 | Active 90,0% | MoM -5,3%
  PS: 18 | Active 90,0% | MoM -5,3%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-14,3%, Gap -4
• Flores: PS +6,7%, Gap +2
• Kupang: PS 0,0%, Gap 0
• Mataram: PS -32,4%, Gap 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Baa Rote (Kupang): -100,0%, Gap -1
• Grapari Malaka (Kupang): -100,0%, Gap -1
• Grapari Mataram (Mataram): -76,5%, Gap -13
• Grapari Tabanan (Denpasar): -66,7%, Gap -2
• Grapari Ubud (Denpasar): -66,7%, Gap -2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-99 (-35,6%), PS -110 (-44,0%)
• Bali Timur: RE -29 (-19,5%), PS -21 (-18,3%)
• Lombok: RE -33 (-11,2%), PS -21 (-9,1%)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Timur: RE -4 (-30,8%), PS -4 (-66,7%)
• Lombok: RE +3 (+16,7%), PS -3 (-23,1%)
• Manggarai: RE -2 (-28,6%), PS -3 (-75,0%)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Timur: RE -8 (-100,0%), PS -2 (-40,0%)
• Bali Barat: RE -2 (-100,0%), PS -1 (-100,0%)
• Ende Sikka: RE +1 (+100,0%), PS -1 (-100,0%)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-3 (-100,0%), PS -1 (-50,0%)
• Bali Timur: RE -1 (-100,0%), PS -1 (-100,0%)
• Manggarai: RE 0 (0,0%), PS -1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Regional, Branch &amp; 12 WOK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C3MR BALINUSRA 32.01%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72237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97.21% | Gap -65.20 pp | M-1 36.83%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346"/>
                <a:gridCol w="860022"/>
                <a:gridCol w="860022"/>
                <a:gridCol w="860022"/>
                <a:gridCol w="1412893"/>
                <a:gridCol w="1412893"/>
                <a:gridCol w="921452"/>
                <a:gridCol w="921452"/>
                <a:gridCol w="921452"/>
                <a:gridCol w="1044312"/>
              </a:tblGrid>
              <a:tr h="309282"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202.393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75.413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Rp56.23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-60.19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Rp10.21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Rp2.31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-74.04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48.594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11.736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Rp15.44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-70.90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83.478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Rp25.12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Rp7.06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-69.33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</a:tr>
              <a:tr h="309288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by LOS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51560"/>
          <a:ext cx="1154886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534"/>
                <a:gridCol w="863467"/>
                <a:gridCol w="863467"/>
                <a:gridCol w="863467"/>
                <a:gridCol w="1295200"/>
                <a:gridCol w="1295200"/>
                <a:gridCol w="917433"/>
                <a:gridCol w="917433"/>
                <a:gridCol w="971400"/>
                <a:gridCol w="1187267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01. 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6.660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3.248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48.77%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Rp509.2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59.52%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49.75%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-9.77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Rp156.781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02. 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4.703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Rp3.47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Rp1.20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-3.88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Rp255.294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03. 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21.593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5.768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Rp5.25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31.38%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-4.01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Rp248.935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04. 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35.106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9.376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Rp8.88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Rp2.45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30.08%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-2.55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Rp260.812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05. 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55.545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Rp14.70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Rp3.77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29.40%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25.68%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-3.72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Rp274.548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06. 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234.345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80.431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Rp73.69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Rp24.89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33.77%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-5.32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Rp309.406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2519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Catatan: seluruh angka C3MR dibaca dari output SQL; PPT tidak menghitung ulang formula.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330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M-1 304 | MoM +8.6%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-347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+26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6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7969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-271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-48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-49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-157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-65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79712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143000"/>
          <a:ext cx="1154887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3009"/>
                <a:gridCol w="2080877"/>
                <a:gridCol w="1768746"/>
                <a:gridCol w="1768746"/>
                <a:gridCol w="1768746"/>
                <a:gridCol w="1768746"/>
              </a:tblGrid>
              <a:tr h="102412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56 / +12.0%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 / +200.0%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265 / +4.3%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209 / +3.5%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17 / +70.0%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 / -5.0%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175,231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44,619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130,612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7,099 / 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7,308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7,469 / 35.1%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7,203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7,971 / 27.6%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7,683 / 27.0%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37.6%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35.6%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30.7%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30.6%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20.1%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34.7%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21.9%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28.2%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7,715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6,964 / 27.1%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7,164 / 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7,111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6,489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7,849 / 22.2%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30.4%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29.4%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28.1%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24.3%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17.1%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21.1%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22.1%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21.3%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19.6%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21.9%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6,837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7,515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8,014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7,517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7,658 / 19.8%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7,174 / 19.8%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23.7%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23.4%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15.9%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14.5%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17.6%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6,985 / 21.2%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7,134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7,691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7,472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6,644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6,565 / 17.9%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22.1%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12.7%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12.2%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11.9%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12.0%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17.5%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15.5%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