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60.0</c:v>
                </c:pt>
                <c:pt idx="1">
                  <c:v>61.0</c:v>
                </c:pt>
                <c:pt idx="2">
                  <c:v>50.0</c:v>
                </c:pt>
                <c:pt idx="3">
                  <c:v>47.0</c:v>
                </c:pt>
                <c:pt idx="4">
                  <c:v>59.0</c:v>
                </c:pt>
                <c:pt idx="5">
                  <c:v>54.0</c:v>
                </c:pt>
                <c:pt idx="6">
                  <c:v>51.0</c:v>
                </c:pt>
                <c:pt idx="7">
                  <c:v>62.0</c:v>
                </c:pt>
                <c:pt idx="8">
                  <c:v>41.0</c:v>
                </c:pt>
                <c:pt idx="9">
                  <c:v>46.0</c:v>
                </c:pt>
                <c:pt idx="10">
                  <c:v>37.0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15.0</c:v>
                </c:pt>
                <c:pt idx="1">
                  <c:v>17.0</c:v>
                </c:pt>
                <c:pt idx="2">
                  <c:v>13.0</c:v>
                </c:pt>
                <c:pt idx="3">
                  <c:v>14.0</c:v>
                </c:pt>
                <c:pt idx="4">
                  <c:v>16.0</c:v>
                </c:pt>
                <c:pt idx="5">
                  <c:v>16.0</c:v>
                </c:pt>
                <c:pt idx="6">
                  <c:v>13.0</c:v>
                </c:pt>
                <c:pt idx="7">
                  <c:v>18.0</c:v>
                </c:pt>
                <c:pt idx="8">
                  <c:v>14.0</c:v>
                </c:pt>
                <c:pt idx="9">
                  <c:v>17.0</c:v>
                </c:pt>
                <c:pt idx="10">
                  <c:v>10.0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35.0</c:v>
                </c:pt>
                <c:pt idx="1">
                  <c:v>35.0</c:v>
                </c:pt>
                <c:pt idx="2">
                  <c:v>31.0</c:v>
                </c:pt>
                <c:pt idx="3">
                  <c:v>23.0</c:v>
                </c:pt>
                <c:pt idx="4">
                  <c:v>34.0</c:v>
                </c:pt>
                <c:pt idx="5">
                  <c:v>25.0</c:v>
                </c:pt>
                <c:pt idx="6">
                  <c:v>33.0</c:v>
                </c:pt>
                <c:pt idx="7">
                  <c:v>34.0</c:v>
                </c:pt>
                <c:pt idx="8">
                  <c:v>19.0</c:v>
                </c:pt>
                <c:pt idx="9">
                  <c:v>25.0</c:v>
                </c:pt>
                <c:pt idx="10">
                  <c:v>20.0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</c:strCache>
            </c: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12.0</c:v>
                </c:pt>
                <c:pt idx="1">
                  <c:v>11.0</c:v>
                </c:pt>
                <c:pt idx="2">
                  <c:v>9.0</c:v>
                </c:pt>
                <c:pt idx="3">
                  <c:v>10.0</c:v>
                </c:pt>
                <c:pt idx="4">
                  <c:v>12.0</c:v>
                </c:pt>
                <c:pt idx="5">
                  <c:v>14.0</c:v>
                </c:pt>
                <c:pt idx="6">
                  <c:v>8.0</c:v>
                </c:pt>
                <c:pt idx="7">
                  <c:v>13.0</c:v>
                </c:pt>
                <c:pt idx="8">
                  <c:v>8.0</c:v>
                </c:pt>
                <c:pt idx="9">
                  <c:v>8.0</c:v>
                </c:pt>
                <c:pt idx="10">
                  <c:v>8.0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</c:strCache>
            </c: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1.0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54.0</c:v>
                </c:pt>
                <c:pt idx="1">
                  <c:v>53.0</c:v>
                </c:pt>
                <c:pt idx="2">
                  <c:v>57.0</c:v>
                </c:pt>
                <c:pt idx="3">
                  <c:v>43.0</c:v>
                </c:pt>
                <c:pt idx="4">
                  <c:v>43.0</c:v>
                </c:pt>
                <c:pt idx="5">
                  <c:v>46.0</c:v>
                </c:pt>
                <c:pt idx="6">
                  <c:v>58.0</c:v>
                </c:pt>
                <c:pt idx="7">
                  <c:v>58.0</c:v>
                </c:pt>
                <c:pt idx="8">
                  <c:v>44.0</c:v>
                </c:pt>
                <c:pt idx="9">
                  <c:v>41.0</c:v>
                </c:pt>
                <c:pt idx="10">
                  <c:v>34.0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11.0</c:v>
                </c:pt>
                <c:pt idx="1">
                  <c:v>15.0</c:v>
                </c:pt>
                <c:pt idx="2">
                  <c:v>13.0</c:v>
                </c:pt>
                <c:pt idx="3">
                  <c:v>9.0</c:v>
                </c:pt>
                <c:pt idx="4">
                  <c:v>11.0</c:v>
                </c:pt>
                <c:pt idx="5">
                  <c:v>8.0</c:v>
                </c:pt>
                <c:pt idx="6">
                  <c:v>20.0</c:v>
                </c:pt>
                <c:pt idx="7">
                  <c:v>15.0</c:v>
                </c:pt>
                <c:pt idx="8">
                  <c:v>12.0</c:v>
                </c:pt>
                <c:pt idx="9">
                  <c:v>14.0</c:v>
                </c:pt>
                <c:pt idx="10">
                  <c:v>12.0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32.0</c:v>
                </c:pt>
                <c:pt idx="1">
                  <c:v>30.0</c:v>
                </c:pt>
                <c:pt idx="2">
                  <c:v>36.0</c:v>
                </c:pt>
                <c:pt idx="3">
                  <c:v>28.0</c:v>
                </c:pt>
                <c:pt idx="4">
                  <c:v>24.0</c:v>
                </c:pt>
                <c:pt idx="5">
                  <c:v>32.0</c:v>
                </c:pt>
                <c:pt idx="6">
                  <c:v>30.0</c:v>
                </c:pt>
                <c:pt idx="7">
                  <c:v>30.0</c:v>
                </c:pt>
                <c:pt idx="8">
                  <c:v>23.0</c:v>
                </c:pt>
                <c:pt idx="9">
                  <c:v>15.0</c:v>
                </c:pt>
                <c:pt idx="10">
                  <c:v>20.0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</c:strCache>
            </c: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12.0</c:v>
                </c:pt>
                <c:pt idx="1">
                  <c:v>8.0</c:v>
                </c:pt>
                <c:pt idx="2">
                  <c:v>9.0</c:v>
                </c:pt>
                <c:pt idx="3">
                  <c:v>6.0</c:v>
                </c:pt>
                <c:pt idx="4">
                  <c:v>13.0</c:v>
                </c:pt>
                <c:pt idx="5">
                  <c:v>7.0</c:v>
                </c:pt>
                <c:pt idx="6">
                  <c:v>12.0</c:v>
                </c:pt>
                <c:pt idx="7">
                  <c:v>14.0</c:v>
                </c:pt>
                <c:pt idx="8">
                  <c:v>9.0</c:v>
                </c:pt>
                <c:pt idx="9">
                  <c:v>12.0</c:v>
                </c:pt>
                <c:pt idx="10">
                  <c:v>4.0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</c:strCache>
            </c: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0</c:v>
                </c:pt>
                <c:pt idx="1">
                  <c:v>1.0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Oct 2026 vs MTD-1 01–11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5.105,7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24,8%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3.838,7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4.142,2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24,7%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3.117,2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-0,6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22,8%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22,5%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26,1%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2.125,2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26,2%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1.721,8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23,3%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23,3%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596,3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Klaten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Bangli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Klungkung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Oct 2026 vs MTD-1 01–11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351 → 347  (-1,1%)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153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-13,6%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177   Δ -24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156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-4,9%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164   Δ -8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145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3.108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3.108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1.891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Oct 2026 vs MTD-1 01–11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16 / 20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-5,9% | Turun 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120 / 306 (39,2%)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-5,5% | Turun 84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156 / 347 (45,0%)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-4,9% | Turun 105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6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33 / 68 (48,5%)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+3,1% | Turun 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41 / 80 (51,2%)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9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58 / 164 (35,4%)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-10,8% | Turun 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79 / 185 (42,7%)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-8,1% | Turun 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29 / 74 (39,2%)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-3,3%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36 / 82 (43,9%)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-2,7% | Turun 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408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-25,1%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-24,6%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-28,3%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258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-17,0%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891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-21,3%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198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176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521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152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 / 20 (15,0%)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+50,0% | Turun 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 / 306 (2,9%)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-30,8% | Turun 84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 / 5 (20,0%)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 / 6 (50,0%)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 / 10 (90,0%)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-10,0% | Turun 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25 / 347 (7,2%)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-21,9% | Turun 105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68 (4,4%)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 / 80 (7,5%)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-40,0% | Turun 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9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164 (1,8%)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3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 / 7 (85,7%)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 / 185 (7,6%)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-6,7% | Turun 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74 (4,1%)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 / 82 (6,1%)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-28,6% | Turun 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Oct 2026 vs MTD-1 01–11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Oct 2026 vs MTD-1 01–11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1.355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7.581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21.191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15.264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47.340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16,0%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3.274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608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Oct 2026 vs MTD-1 01–11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211,1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177,8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500,0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153 | MoM -13,6%
PS: 156 | MoM -4,9%
• Elite
  RE: 10 | Active 100,0% | MoM 0,0%
  PS: 10 | Active 100,0% | MoM 0,0%
• Performer
  RE: 6 | Active 100,0% | MoM 0,0%
  PS: 6 | Active 100,0% | MoM 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Junior
  RE: 118 | Active 38,6% | MoM -15,7%
  PS: 120 | Active 39,2% | MoM -5,5%
• Greenfield
  RE: 15 | Active 75,0% | MoM -11,8%
  PS: 16 | Active 80,0% | MoM -5,9%
• Junior Plus
  RE: 4 | Active 80,0% | MoM 0,0%
  PS: 4 | Active 80,0%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Amlapura: PS 0,0%, Gap 0
• Grapari Gatsu Tengah: PS N/A, Gap 1
• Grapari Jimbaran: PS -20,0%, Gap -2
• Grapari Kuta: PS +25,0%, Gap 1
• Grapari Negara: PS -50,0%, Gap 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Renon: PS -23,1%, Gap -3
• Grapari Singaraja: PS -50,0%, Gap -1
• Grapari Tabanan: PS -75,0%, Gap -3
• Grapari Ubud: PS -50,0%, Gap -3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Barat: RE -153 (-36,8%), PS -148 (-40,7%)
• Bali Tengah: RE -76 (-10,8%), PS -72 (-12,1%)
• Bali Timur: RE -59 (-24,8%), PS -22 (-12,6%)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Timur: RE -2 (-7,7%), PS -5 (-29,4%)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Timur: RE -3 (-100,0%), PS -3 (-100,0%)
• Bali Barat: RE 0 (0,0%), PS -1 (-100,0%)
• Bali Tengah: RE 0 (0,0%), PS -1 (-33,3%)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Oct 2026 vs MTD-1 01–11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Oct 2026 vs MTD-1 01–11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825,0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825,0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252,0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212,9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149,1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133,9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Oct 2026 vs MTD-1 01–11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ARDIANSYAH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ARD6855279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MIRAH PADMINI,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SPXMIR75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Zakaria Rafiif Ahmad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ZAK7021058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MAWAYANA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SPXYM59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Harry Mulia Sobari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HAR9686163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Winna Fitriany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WIN8225886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 Rohmatul hazijah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NOV2302500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RAHMAT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RAH4138779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SYAFII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SPYYF18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Erlan Bahtiar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ERL2791623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Winna Fitriany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WIN8225886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MIRAH PADMINI,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SPXMIR75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Zakaria Rafiif Ahmad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ZAK7021058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ARDIANSYAH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ARD6855279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Bangbang Ilyasa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BAN6163630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Natasya Cornelia Br Ginting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NAT9873733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MAWAYANA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SPXYM59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RAHMAT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RAH4138779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BERTHA GANTI ROULI SILABAN AMKG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SPXBRT80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LUH SURYA PERTIWI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SPHHR79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Oct 2026 vs MTD-1 01–11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Indra syah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IND7163324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SPNRU39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IRMA NUR 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SPIRN91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Made Sri Pradnya 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IDA4047575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Kunzita Lazuardi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KUN6555115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Anansavero asfhi riihan 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ANA4808282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Marselinus Supardi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MAR4586447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DWI PRADNYAWATI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NIK7858155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KADEK RIDAYANI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KAD9086567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Riko Simanjuntak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RIK2794671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Kunzita Lazuardi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KUN6555115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WINDA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SPXXYW93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 NINGRUM FATMALA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SPRNF95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Anansavero asfhi riihan 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ANA4808282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Marselinus Supardi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MAR4586447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DWI PRADNYAWATI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NIK7858155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KADEK RIDAYANI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KAD9086567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MUHAZAM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SPXZM15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ERNAWATU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ERN1828689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Vira dwi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VIR7434347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DENPASAR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Branch C3MR 37.39%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694944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97.58% | Gap -60.19 pp | M-1 42.77%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747"/>
                <a:gridCol w="763658"/>
                <a:gridCol w="763658"/>
                <a:gridCol w="822401"/>
                <a:gridCol w="1233602"/>
                <a:gridCol w="1233602"/>
                <a:gridCol w="845899"/>
                <a:gridCol w="845899"/>
                <a:gridCol w="845899"/>
                <a:gridCol w="963385"/>
                <a:gridCol w="1116116"/>
              </a:tblGrid>
              <a:tr h="50520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WOK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42.264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13.867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32.81%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Rp11.11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Rp3.75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39.30%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33.81%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-63.77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Rp270.743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113.620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45.875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40.38%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Rp31.61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Rp12.65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45.23%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40.01%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-57.57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Rp275.691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46.509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15.671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33.69%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Rp13.52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Rp4.62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39.85%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34.19%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-63.39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Rp294.910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LOS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4507992"/>
          <a:ext cx="55778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503"/>
                <a:gridCol w="1138334"/>
                <a:gridCol w="1366001"/>
              </a:tblGrid>
              <a:tr h="19594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55.03%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-8.17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38.11%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-5.69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32.38%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-4.66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33.16%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-2.78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31.07%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-4.34 pp</a:t>
                      </a:r>
                    </a:p>
                  </a:txBody>
                  <a:tcPr/>
                </a:tc>
              </a:tr>
              <a:tr h="19594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38.88%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-5.77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CAPS Performance — DENPASAR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260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M-1 244 | MoM +6.6%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531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-271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+16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508760"/>
          <a:ext cx="1154887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DENPASAR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-271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-157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611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931920"/>
          <a:ext cx="1154887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8874"/>
                <a:gridCol w="2242499"/>
                <a:gridCol w="2242499"/>
                <a:gridCol w="2242499"/>
                <a:gridCol w="2242499"/>
              </a:tblGrid>
              <a:tr h="46634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TENGAH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42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 / -33.3%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31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 / +40.0%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209 / +3.5%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28 / -6.7%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150 / +21.0%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31 / -35.4%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DENPASAR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15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80,711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23,155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28.7%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57,556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3,106 / 57.8%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3,306 / 46.5%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3,354 / 37.6%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2,988 / 35.6%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3,398 / 30.7%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3,325 / 30.6%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46.8%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895 / 39.9%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875 / 32.3%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767 / 32.3%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922 / 26.8%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821 / 27.3%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1,638 / 63.1%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1,853 / 48.8%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1,865 / 39.0%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1,693 / 36.7%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1,878 / 32.6%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1,896 / 30.0%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510 / 61.2%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558 / 49.6%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614 / 40.7%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528 / 37.1%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598 / 30.6%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608 / 36.8%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3,413 / 32.9%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2,962 / 30.4%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3,103 / 29.4%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3,350 / 28.1%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2,790 / 27.4%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3,773 / 24.3%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765 / 34.1%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666 / 26.0%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742 / 29.0%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855 / 25.9%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612 / 27.3%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869 / 20.9%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1,929 / 32.1%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1,632 / 31.9%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1,801 / 29.5%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1,942 / 28.9%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1,719 / 27.2%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2,235 / 24.4%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719 / 33.8%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664 / 31.2%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560 / 29.6%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553 / 28.6%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459 / 28.3%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669 / 28.6%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3,134 / 23.7%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3,494 / 25.3%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3,969 / 23.9%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3,612 / 23.0%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3,772 / 22.8%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3,480 / 23.4%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756 / 23.1%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868 / 25.6%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1,014 / 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1,044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1,011 / 19.7%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961 / 21.8%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1,817 / 24.6%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1,975 / 24.8%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2,246 / 24.9%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1,895 / 23.0%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2,049 / 23.3%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1,871 / 23.5%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561 / 21.6%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651 / 26.3%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709 / 21.6%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673 / 25.6%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712 / 25.6%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648 / 25.8%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3,403 / 26.7%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3,381 / 24.1%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3,839 / 23.1%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3,450 / 23.0%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3,102 / 22.4%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3,207 / 22.1%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871 / 24.6%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879 / 22.4%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1,062 / 20.1%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970 / 17.8%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794 / 18.3%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822 / 18.0%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1,879 / 27.4%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1,842 / 24.6%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2,058 / 23.6%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1,848 / 24.5%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1,682 / 23.1%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1,806 / 23.8%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653 / 27.7%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660 / 24.7%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719 / 25.9%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632 / 26.3%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626 / 25.7%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22.4%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