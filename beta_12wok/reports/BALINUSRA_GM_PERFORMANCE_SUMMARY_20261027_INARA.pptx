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14/10</c:v>
                </c:pt>
                <c:pt idx="1">
                  <c:v>15/10</c:v>
                </c:pt>
                <c:pt idx="2">
                  <c:v>16/10</c:v>
                </c:pt>
                <c:pt idx="3">
                  <c:v>17/10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22/10</c:v>
                </c:pt>
                <c:pt idx="9">
                  <c:v>23/10</c:v>
                </c:pt>
                <c:pt idx="10">
                  <c:v>24/10</c:v>
                </c:pt>
                <c:pt idx="11">
                  <c:v>25/10</c:v>
                </c:pt>
                <c:pt idx="12">
                  <c:v>26/10</c:v>
                </c:pt>
                <c:pt idx="13">
                  <c:v>27/10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273.0</c:v>
                </c:pt>
                <c:pt idx="1">
                  <c:v>281.0</c:v>
                </c:pt>
                <c:pt idx="2">
                  <c:v>283.0</c:v>
                </c:pt>
                <c:pt idx="3">
                  <c:v>216.0</c:v>
                </c:pt>
                <c:pt idx="4">
                  <c:v>206.0</c:v>
                </c:pt>
                <c:pt idx="5">
                  <c:v>321.0</c:v>
                </c:pt>
                <c:pt idx="6">
                  <c:v>341.0</c:v>
                </c:pt>
                <c:pt idx="7">
                  <c:v>273.0</c:v>
                </c:pt>
                <c:pt idx="8">
                  <c:v>298.0</c:v>
                </c:pt>
                <c:pt idx="9">
                  <c:v>244.0</c:v>
                </c:pt>
                <c:pt idx="10">
                  <c:v>214.0</c:v>
                </c:pt>
                <c:pt idx="11">
                  <c:v>157.0</c:v>
                </c:pt>
                <c:pt idx="12">
                  <c:v>288.0</c:v>
                </c:pt>
                <c:pt idx="13">
                  <c:v>281.0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14/10</c:v>
                </c:pt>
                <c:pt idx="1">
                  <c:v>15/10</c:v>
                </c:pt>
                <c:pt idx="2">
                  <c:v>16/10</c:v>
                </c:pt>
                <c:pt idx="3">
                  <c:v>17/10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22/10</c:v>
                </c:pt>
                <c:pt idx="9">
                  <c:v>23/10</c:v>
                </c:pt>
                <c:pt idx="10">
                  <c:v>24/10</c:v>
                </c:pt>
                <c:pt idx="11">
                  <c:v>25/10</c:v>
                </c:pt>
                <c:pt idx="12">
                  <c:v>26/10</c:v>
                </c:pt>
                <c:pt idx="13">
                  <c:v>27/10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212.0</c:v>
                </c:pt>
                <c:pt idx="1">
                  <c:v>206.0</c:v>
                </c:pt>
                <c:pt idx="2">
                  <c:v>212.0</c:v>
                </c:pt>
                <c:pt idx="3">
                  <c:v>190.0</c:v>
                </c:pt>
                <c:pt idx="4">
                  <c:v>146.0</c:v>
                </c:pt>
                <c:pt idx="5">
                  <c:v>256.0</c:v>
                </c:pt>
                <c:pt idx="6">
                  <c:v>261.0</c:v>
                </c:pt>
                <c:pt idx="7">
                  <c:v>249.0</c:v>
                </c:pt>
                <c:pt idx="8">
                  <c:v>220.0</c:v>
                </c:pt>
                <c:pt idx="9">
                  <c:v>197.0</c:v>
                </c:pt>
                <c:pt idx="10">
                  <c:v>189.0</c:v>
                </c:pt>
                <c:pt idx="11">
                  <c:v>119.0</c:v>
                </c:pt>
                <c:pt idx="12">
                  <c:v>211.0</c:v>
                </c:pt>
                <c:pt idx="13">
                  <c:v>187.0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-10,2% &amp; PS -11,9% MoM — Achievement Mencapai 62,7% (RE) / 60,4%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27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01–27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(-1,9%), Denpasar Terdalam (-20,4%)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-1,9%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(+12,5%), Flores Timur Terdalam (-32,9%)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(+32), Sumba Tengah Tumbuh Tertinggi (+42,9%)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+109, Bottom 5 -563, dan perubahan PS regional -753.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(-4,7%),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-9,1%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83.596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5.509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1.842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6.592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Okt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337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-18,7%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187 / 378 (49,5%)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 / 151 (71,5%)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 / 164 (73,2%)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149 / 227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 / 253 (68,0%)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470 / 852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559 / 965 (57,9%)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1.931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4.886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337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-21,6%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 / 378 (13,8%)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 / 151 (19,9%)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+30,4%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164 (20,1%)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227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253 (22,1%)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58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118 / 852 (13,8%)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283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 / 965 (17,6%)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-1,7% | Turun 345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FAISAL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SONYA IMELDA TUTFAUT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Okt 2026 vs MTD-1 01–27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Okt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1.944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Okt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Okt 2026 vs MTD-1 01–27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8.005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7.189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6.349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1,3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6.741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6.013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5.519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4.888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1,1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577 | MoM -9,0%
PS: 557 | MoM -9,1%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491 | Active 57,6% | MoM -9,6%
  PS: 470 | Active 55,2% | MoM -10,3%
• Greenfield
  RE: 52 | Active 89,7% | MoM -7,1%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-40,0%, Gap -44
• Flores: PS -8,9%, Gap -11
• Kupang: PS -23,9%, Gap -11
• Mataram: PS -19,7%, Gap -23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Amlapura (Denpasar): -66,7%, Gap -2
• Grapari Baa Rote (Kupang): -66,7%, Gap -2
• Grapari Gatsu Tengah (Denpasar): -60,0%, Gap -3
• Grapari Negara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-254 (-28,7%), PS -251 (-32,4%)
• Bali Tengah: RE -211 (-13,8%), PS -195 (-15,2%)
• Lombok: RE -119 (-10,2%), PS -79 (-8,5%)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-10 (-22,2%), PS -10 (-38,5%)
• Sumbawa Barat: RE -12 (-44,4%), PS -9 (-60,0%)
• Bali Timur: RE +9 (+17,6%), PS -8 (-20,0%)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+1 (+5,6%), PS -7 (-53,8%)
• Bali Tengah: RE -13 (-24,1%), PS -6 (-17,6%)
• Ende Sikka: RE +3 (+75,0%),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-1 (-25,0%), PS -4 (-100,0%)
• Bali Tengah: RE -1 (-16,7%), PS -3 (-60,0%)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94.72% | MoM -0.30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-2.79 pp | Rp-2.99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93.94%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94.06% | MoM -0.12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Rp101.03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Rp100.82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Rp-615.9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Rp23.71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Rp-774.6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Rp-302.8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Rp30.29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83.46%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92.79%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Rp-261.4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Rp-237.5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-0.30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96.37% / -0.76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-2.01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95.30%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96.51% / +0.14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91.03%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91.57% / -0.59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88.83% / +2.53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87.41% / 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87.67%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84.48% / -2.42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84.27% / -0.74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90.82% / +0.33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90.58% / -0.46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91.90% / -0.16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-1.83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88.09% / -0.68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91.74% / +0.00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92.19% / 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89.25% / -1.87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89.17% / 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92.69% / +0.10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95.95%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96.98%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93.20% / -1.47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93.99% / -0.22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95.56% / -0.43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M-1 638 | MoM -2.8%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105 / -0.9%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77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503 / 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410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66 / -9.6%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125,287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71.5%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49,944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80.2%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80.0%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78.7%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78.8%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82.4%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69.0%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68.2%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68.2%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72.8%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61.4%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60.2%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52.5%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53.2%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43.8%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