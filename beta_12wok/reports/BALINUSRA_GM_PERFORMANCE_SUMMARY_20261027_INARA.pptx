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14/10</c:v>
                </c:pt>
                <c:pt idx="1">
                  <c:v>15/10</c:v>
                </c:pt>
                <c:pt idx="2">
                  <c:v>16/10</c:v>
                </c:pt>
                <c:pt idx="3">
                  <c:v>17/10</c:v>
                </c:pt>
                <c:pt idx="4">
                  <c:v>18/10</c:v>
                </c:pt>
                <c:pt idx="5">
                  <c:v>19/10</c:v>
                </c:pt>
                <c:pt idx="6">
                  <c:v>20/10</c:v>
                </c:pt>
                <c:pt idx="7">
                  <c:v>21/10</c:v>
                </c:pt>
                <c:pt idx="8">
                  <c:v>22/10</c:v>
                </c:pt>
                <c:pt idx="9">
                  <c:v>23/10</c:v>
                </c:pt>
                <c:pt idx="10">
                  <c:v>24/10</c:v>
                </c:pt>
                <c:pt idx="11">
                  <c:v>25/10</c:v>
                </c:pt>
                <c:pt idx="12">
                  <c:v>26/10</c:v>
                </c:pt>
                <c:pt idx="13">
                  <c:v>27/10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273.0</c:v>
                </c:pt>
                <c:pt idx="1">
                  <c:v>281.0</c:v>
                </c:pt>
                <c:pt idx="2">
                  <c:v>283.0</c:v>
                </c:pt>
                <c:pt idx="3">
                  <c:v>216.0</c:v>
                </c:pt>
                <c:pt idx="4">
                  <c:v>206.0</c:v>
                </c:pt>
                <c:pt idx="5">
                  <c:v>321.0</c:v>
                </c:pt>
                <c:pt idx="6">
                  <c:v>341.0</c:v>
                </c:pt>
                <c:pt idx="7">
                  <c:v>273.0</c:v>
                </c:pt>
                <c:pt idx="8">
                  <c:v>298.0</c:v>
                </c:pt>
                <c:pt idx="9">
                  <c:v>244.0</c:v>
                </c:pt>
                <c:pt idx="10">
                  <c:v>214.0</c:v>
                </c:pt>
                <c:pt idx="11">
                  <c:v>157.0</c:v>
                </c:pt>
                <c:pt idx="12">
                  <c:v>288.0</c:v>
                </c:pt>
                <c:pt idx="13">
                  <c:v>281.0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14/10</c:v>
                </c:pt>
                <c:pt idx="1">
                  <c:v>15/10</c:v>
                </c:pt>
                <c:pt idx="2">
                  <c:v>16/10</c:v>
                </c:pt>
                <c:pt idx="3">
                  <c:v>17/10</c:v>
                </c:pt>
                <c:pt idx="4">
                  <c:v>18/10</c:v>
                </c:pt>
                <c:pt idx="5">
                  <c:v>19/10</c:v>
                </c:pt>
                <c:pt idx="6">
                  <c:v>20/10</c:v>
                </c:pt>
                <c:pt idx="7">
                  <c:v>21/10</c:v>
                </c:pt>
                <c:pt idx="8">
                  <c:v>22/10</c:v>
                </c:pt>
                <c:pt idx="9">
                  <c:v>23/10</c:v>
                </c:pt>
                <c:pt idx="10">
                  <c:v>24/10</c:v>
                </c:pt>
                <c:pt idx="11">
                  <c:v>25/10</c:v>
                </c:pt>
                <c:pt idx="12">
                  <c:v>26/10</c:v>
                </c:pt>
                <c:pt idx="13">
                  <c:v>27/10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212.0</c:v>
                </c:pt>
                <c:pt idx="1">
                  <c:v>206.0</c:v>
                </c:pt>
                <c:pt idx="2">
                  <c:v>212.0</c:v>
                </c:pt>
                <c:pt idx="3">
                  <c:v>190.0</c:v>
                </c:pt>
                <c:pt idx="4">
                  <c:v>146.0</c:v>
                </c:pt>
                <c:pt idx="5">
                  <c:v>256.0</c:v>
                </c:pt>
                <c:pt idx="6">
                  <c:v>261.0</c:v>
                </c:pt>
                <c:pt idx="7">
                  <c:v>249.0</c:v>
                </c:pt>
                <c:pt idx="8">
                  <c:v>220.0</c:v>
                </c:pt>
                <c:pt idx="9">
                  <c:v>197.0</c:v>
                </c:pt>
                <c:pt idx="10">
                  <c:v>189.0</c:v>
                </c:pt>
                <c:pt idx="11">
                  <c:v>119.0</c:v>
                </c:pt>
                <c:pt idx="12">
                  <c:v>211.0</c:v>
                </c:pt>
                <c:pt idx="13">
                  <c:v>187.0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-10,2% &amp; PS -11,9% MoM — Achievement Mencapai 62,7% (RE) / 60,4%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Okt 2026 vs MTD-1 01–27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27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Okt 2026 vs MTD-1 01–27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01–27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(-1,9%), Denpasar Terdalam (-20,4%)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Okt 2026 vs MTD-1 01–27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-1,9%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-3,0%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-7,7%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-20,4%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74,7%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67,7%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62,3%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53,2%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(+12,5%), Flores Timur Terdalam (-32,9%)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Okt 2026 vs MTD-1 01–27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Sikka Penyumbang PS Absolut Terbesar (+32), Sumba Tengah Tumbuh Tertinggi (+42,9%)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Okt 2026 vs MTD-1 01–27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-753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47 kabupaten: Top 5 menyumbang +109, Bottom 5 -563, dan perubahan PS regional -753.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(-4,7%), TSEL One &gt;30 Mbps Turun Terdalam (-33,3%)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Okt 2026 vs MTD-1 01–27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-9,1% MoM, DJP Data Transition — SF Register 946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Okt 2026 vs MTD-1 01–27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15.978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38.028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25.261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5.509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83.596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5.509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1.842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6.592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2.395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2.328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4.663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Okt 2026 vs MTD-1 01–27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01–27 Okt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148 / 337 (43,9%)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-18,7% | Turun 110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187 / 378 (49,5%)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-15,4% | Turun 138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65 / 137 (47,4%)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-17,7%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 / 151 (51,7%)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-16,1%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108 / 151 (71,5%)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+8,0% | Turun 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120 / 164 (73,2%)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+8,1% | Turun 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149 / 227 (65,6%)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172 / 253 (68,0%)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-9,5% | Turun 108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 / 58 (91,4%)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-1,9% | Turun 29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470 / 852 (55,2%)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-10,5% | Turun 283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19 (89,5%)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-10,5% | Turun 14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559 / 965 (57,9%)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-9,5% | Turun 345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1.931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1.120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1.463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3.196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-27,4%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4.886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 / 337 (8,6%)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-21,6% | Turun 110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 / 378 (13,8%)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13 (84,6%)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137 (12,4%)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-15,0%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 / 151 (18,5%)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-9,7%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9 (11,1%)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 / 151 (19,9%)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+30,4% | Turun 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164 (20,1%)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 | Turun 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16 (31,2%)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227 (18,5%)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+23,5% | Turun 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 / 253 (22,1%)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+12,0% | Turun 108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 / 58 (36,2%)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-8,7% | Turun 29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118 / 852 (13,8%)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+3,5% | Turun 283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19 (73,7%)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-26,3% | Turun 14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170 / 965 (17,6%)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-1,7% | Turun 345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Okt 2026 vs MTD-1 01–27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 SANDI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FAISAL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Nuroktavia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Baiq desi aryani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NURUL QARIMAH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Okt 2026 vs MTD-1 01–27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DELFIANA SILLA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DELFIANA SILLA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Vira dwi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SONYA IMELDA TUTFAUT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Okt 2026 vs MTD-1 01–27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Okt 2026 vs MTD-1 01–27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01–27 Okt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2.261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1.944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6.349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5.596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2.793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2.222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1.799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1.660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01–27 Okt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01–27 Okt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8.005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7.189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6.349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5.596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1,3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6.741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6.013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5.519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4.888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1,1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79,2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-45,8%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-43,1%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577 | MoM -9,0%
PS: 557 | MoM -9,1%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491 | Active 57,6% | MoM -9,6%
  PS: 470 | Active 55,2% | MoM -10,3%
• Greenfield
  RE: 52 | Active 89,7% | MoM -7,1%
  PS: 53 | Active 91,4% | MoM -1,9%
• Junior Plus
  RE: 17 | Active 89,5% | MoM -5,6%
  PS: 17 | Active 89,5% | MoM -5,6%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-40,0%, Gap -44
• Flores: PS -8,9%, Gap -11
• Kupang: PS -23,9%, Gap -11
• Mataram: PS -19,7%, Gap -23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Malaka (Kupang): -75,0%, Gap -3
• Grapari Amlapura (Denpasar): -66,7%, Gap -2
• Grapari Baa Rote (Kupang): -66,7%, Gap -2
• Grapari Gatsu Tengah (Denpasar): -60,0%, Gap -3
• Grapari Negara (Denpasar): -60,0%, Gap -3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-254 (-28,7%), PS -251 (-32,4%)
• Bali Tengah: RE -211 (-13,8%), PS -195 (-15,2%)
• Lombok: RE -119 (-10,2%), PS -79 (-8,5%)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-10 (-22,2%), PS -10 (-38,5%)
• Sumbawa Barat: RE -12 (-44,4%), PS -9 (-60,0%)
• Bali Timur: RE +9 (+17,6%), PS -8 (-20,0%)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+1 (+5,6%), PS -7 (-53,8%)
• Bali Tengah: RE -13 (-24,1%), PS -6 (-17,6%)
• Ende Sikka: RE +3 (+75,0%), PS -2 (-50,0%)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Manggarai: RE -1 (-25,0%), PS -4 (-100,0%)
• Bali Tengah: RE -1 (-16,7%), PS -3 (-60,0%)
• Bali Timur: RE -1 (-16,7%), PS -2 (-40,0%)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10/26/2026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94.42%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94.72% | MoM -0.30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97.21%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-2.79 pp | Rp-2.99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93.94%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94.06% | MoM -0.12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Rp101.03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Rp100.82 M | MoM +0.2%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Rp107.01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27632"/>
          <a:ext cx="1154886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19"/>
                <a:gridCol w="918805"/>
                <a:gridCol w="918805"/>
                <a:gridCol w="995372"/>
                <a:gridCol w="918805"/>
                <a:gridCol w="1339924"/>
                <a:gridCol w="918805"/>
                <a:gridCol w="918805"/>
                <a:gridCol w="918805"/>
                <a:gridCol w="1339924"/>
              </a:tblGrid>
              <a:tr h="271630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95.72%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95.21%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Rp53.83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-1.86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Rp-1.04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91.23%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90.35%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Rp9.32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-5.47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Rp-558.8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91.84%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91.13%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Rp14.18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-3.99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Rp-615.9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94.37%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93.89%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Rp23.71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-3.08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Rp-774.6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94.85%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94.28%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Rp10.53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-2.73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Rp-302.8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95.30%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Rp30.29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Rp-550.9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96.17%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+0.00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Rp13.00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Rp-190.5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92.84%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91.72%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Rp3.68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-3.86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Rp-153.2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83.85%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-9.31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83.46%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-8.95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Rp1.85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-9.1%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-12.85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Rp-283.8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92.79%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92.05%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Rp7.99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-3.04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Rp-261.4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89.68%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88.97%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Rp3.46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-6.15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Rp-237.5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93.68%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+0.95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93.00%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+1.19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Rp3.78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-3.02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Rp-121.8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91.37%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Rp2.73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-3.94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Rp-117.0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95.03%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94.53%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+0.00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Rp13.05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-2.42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Rp-332.8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93.60%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93.31%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Rp4.46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-3.85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Rp-183.3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4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93.55%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93.04%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Rp6.19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-3.90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Rp-258.5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10/26/2026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28600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REGIONAL 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94.42%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-0.30 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664208"/>
          <a:ext cx="1154887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554"/>
                <a:gridCol w="2095149"/>
                <a:gridCol w="1788542"/>
                <a:gridCol w="1788542"/>
                <a:gridCol w="1788542"/>
                <a:gridCol w="1788542"/>
              </a:tblGrid>
              <a:tr h="33310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96.37% / -0.76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96.60% / -2.01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96.50% / +0.44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95.30% / +0.06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96.51% / +0.14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91.03% / +0.03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91.57% / -0.59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89.82% / -0.13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88.83% / +2.53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91.87% / -0.92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87.41% / -0.40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87.67% / -0.21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84.48% / -2.42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84.27% / -0.74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90.82% / +0.33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90.58% / -0.46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91.90% / -0.16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87.44% / -1.83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88.09% / -0.68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91.74% / +0.00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92.19% / -0.27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93.63% / -0.14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89.25% / -1.87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89.17% / -0.26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92.69% / +0.10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95.95% / -0.28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96.98% / -0.06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93.20% / -1.47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93.99% / -0.22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95.56% / -0.43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754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Format sel: C3MR M / MoM (pp). Fokus pada posisi bulan berjalan dan perubahan vs M-1.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620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M-1 638 | MoM -2.8%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-57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6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5549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-9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-18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55496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64748B"/>
                </a:solidFill>
                <a:latin typeface="Arial"/>
              </a:defRPr>
            </a:pPr>
            <a:r>
              <a:t>CAPS M / MoM vs M-1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25296"/>
          <a:ext cx="11548872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147"/>
                <a:gridCol w="2085213"/>
                <a:gridCol w="1817878"/>
                <a:gridCol w="1817878"/>
                <a:gridCol w="1817878"/>
                <a:gridCol w="1817878"/>
              </a:tblGrid>
              <a:tr h="26778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BALINUSRA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 / +300.0%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 / +300.0%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105 / -0.9%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77 / +1.3%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 / -14.3%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 / -8.7%</a:t>
                      </a:r>
                    </a:p>
                  </a:txBody>
                  <a:tcPr/>
                </a:tc>
              </a:tr>
              <a:tr h="267791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503 / -5.3%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410 / -3.5%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24 / 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66 / -9.6%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27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124,007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70.8%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51,224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97.0%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93.1%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88.6%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85.0%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81.8%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79.5%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97.1%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93.4%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89.3%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85.4%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81.8%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79.7%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96.9%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92.6%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87.1%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80.4%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77.6%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95.7%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92.4%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84.3%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81.0%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77.7%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77.6%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97.5%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93.0%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89.0%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85.7%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81.3%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78.2%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77.9%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76.8%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73.3%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68.4%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78.9%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77.8%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76.0%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67.1%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76.8%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77.6%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77.1%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67.4%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76.4%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76.8%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77.0%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70.9%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67.6%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78.8%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77.8%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75.1%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73.5%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71.8%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66.1%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65.5%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60.6%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60.0%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65.4%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60.6%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61.0%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62.2%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58.2%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57.7%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58.1%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64.7%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63.1%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54.4%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57.1%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69.1%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70.1%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64.7%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64.8%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60.5%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59.7%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55.8%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56.1%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52.0%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63.8%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60.9%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58.1%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58.5%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54.9%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58.2%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55.6%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53.2%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51.6%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53.6%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52.2%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52.7%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46.9%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46.8%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43.4%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64.2%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58.2%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52.0%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