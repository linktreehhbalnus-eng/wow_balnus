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  <c:pt idx="3">
                  <c:v>47.0</c:v>
                </c:pt>
                <c:pt idx="4">
                  <c:v>59.0</c:v>
                </c:pt>
                <c:pt idx="5">
                  <c:v>54.0</c:v>
                </c:pt>
                <c:pt idx="6">
                  <c:v>51.0</c:v>
                </c:pt>
                <c:pt idx="7">
                  <c:v>62.0</c:v>
                </c:pt>
                <c:pt idx="8">
                  <c:v>41.0</c:v>
                </c:pt>
                <c:pt idx="9">
                  <c:v>46.0</c:v>
                </c:pt>
                <c:pt idx="10">
                  <c:v>37.0</c:v>
                </c:pt>
                <c:pt idx="11">
                  <c:v>55.0</c:v>
                </c:pt>
                <c:pt idx="12">
                  <c:v>45.0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15.0</c:v>
                </c:pt>
                <c:pt idx="1">
                  <c:v>17.0</c:v>
                </c:pt>
                <c:pt idx="2">
                  <c:v>13.0</c:v>
                </c:pt>
                <c:pt idx="3">
                  <c:v>14.0</c:v>
                </c:pt>
                <c:pt idx="4">
                  <c:v>16.0</c:v>
                </c:pt>
                <c:pt idx="5">
                  <c:v>16.0</c:v>
                </c:pt>
                <c:pt idx="6">
                  <c:v>13.0</c:v>
                </c:pt>
                <c:pt idx="7">
                  <c:v>18.0</c:v>
                </c:pt>
                <c:pt idx="8">
                  <c:v>14.0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  <c:pt idx="12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35.0</c:v>
                </c:pt>
                <c:pt idx="1">
                  <c:v>35.0</c:v>
                </c:pt>
                <c:pt idx="2">
                  <c:v>31.0</c:v>
                </c:pt>
                <c:pt idx="3">
                  <c:v>23.0</c:v>
                </c:pt>
                <c:pt idx="4">
                  <c:v>34.0</c:v>
                </c:pt>
                <c:pt idx="5">
                  <c:v>25.0</c:v>
                </c:pt>
                <c:pt idx="6">
                  <c:v>33.0</c:v>
                </c:pt>
                <c:pt idx="7">
                  <c:v>34.0</c:v>
                </c:pt>
                <c:pt idx="8">
                  <c:v>19.0</c:v>
                </c:pt>
                <c:pt idx="9">
                  <c:v>25.0</c:v>
                </c:pt>
                <c:pt idx="10">
                  <c:v>20.0</c:v>
                </c:pt>
                <c:pt idx="11">
                  <c:v>31.0</c:v>
                </c:pt>
                <c:pt idx="12">
                  <c:v>23.0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12.0</c:v>
                </c:pt>
                <c:pt idx="5">
                  <c:v>14.0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  <c:pt idx="12">
                  <c:v>11.0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Sheet1!$F$2:$F$14</c:f>
              <c:numCache>
                <c:formatCode>General</c:formatCode>
                <c:ptCount val="13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  <c:pt idx="3">
                  <c:v>43.0</c:v>
                </c:pt>
                <c:pt idx="4">
                  <c:v>43.0</c:v>
                </c:pt>
                <c:pt idx="5">
                  <c:v>46.0</c:v>
                </c:pt>
                <c:pt idx="6">
                  <c:v>58.0</c:v>
                </c:pt>
                <c:pt idx="7">
                  <c:v>58.0</c:v>
                </c:pt>
                <c:pt idx="8">
                  <c:v>44.0</c:v>
                </c:pt>
                <c:pt idx="9">
                  <c:v>41.0</c:v>
                </c:pt>
                <c:pt idx="10">
                  <c:v>34.0</c:v>
                </c:pt>
                <c:pt idx="11">
                  <c:v>44.0</c:v>
                </c:pt>
                <c:pt idx="12">
                  <c:v>46.0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20.0</c:v>
                </c:pt>
                <c:pt idx="7">
                  <c:v>15.0</c:v>
                </c:pt>
                <c:pt idx="8">
                  <c:v>12.0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  <c:pt idx="12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32.0</c:v>
                </c:pt>
                <c:pt idx="1">
                  <c:v>30.0</c:v>
                </c:pt>
                <c:pt idx="2">
                  <c:v>36.0</c:v>
                </c:pt>
                <c:pt idx="3">
                  <c:v>28.0</c:v>
                </c:pt>
                <c:pt idx="4">
                  <c:v>24.0</c:v>
                </c:pt>
                <c:pt idx="5">
                  <c:v>32.0</c:v>
                </c:pt>
                <c:pt idx="6">
                  <c:v>30.0</c:v>
                </c:pt>
                <c:pt idx="7">
                  <c:v>30.0</c:v>
                </c:pt>
                <c:pt idx="8">
                  <c:v>23.0</c:v>
                </c:pt>
                <c:pt idx="9">
                  <c:v>15.0</c:v>
                </c:pt>
                <c:pt idx="10">
                  <c:v>20.0</c:v>
                </c:pt>
                <c:pt idx="11">
                  <c:v>26.0</c:v>
                </c:pt>
                <c:pt idx="12">
                  <c:v>25.0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13.0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4.0</c:v>
                </c:pt>
                <c:pt idx="11">
                  <c:v>8.0</c:v>
                </c:pt>
                <c:pt idx="12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Sheet1!$F$2:$F$14</c:f>
              <c:numCache>
                <c:formatCode>General</c:formatCode>
                <c:ptCount val="13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3.656,5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4.174,0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2.984,0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1.987,3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183   Δ -24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169   Δ -10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157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3.392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1.025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-5,9%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123 / 306 (40,2%)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-6,8% | Turun 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159 / 347 (45,8%)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-5,9% | Turun 109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68 (48,5%)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+3,1%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80 (51,2%)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60 / 164 (36,6%)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81 / 185 (43,8%)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-9,0% | Turun 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30 / 74 (40,5%)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-6,2%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 / 82 (45,1%)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-5,1%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301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1.038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605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 / 306 (3,9%)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 / 347 (8,9%)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-16,2% | Turun 109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68 (4,4%)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-62,5%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80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-38,5%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9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164 (3,0%)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185 (9,2%)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74 (5,4%)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82 (7,3%)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7.074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15.553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3.291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159 | MoM -13,1%
PS: 159 | MoM -5,9%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124 | Active 40,5% | MoM -15,1%
  PS: 123 | Active 40,2% | MoM -6,8%
• Greenfield
  RE: 15 | Active 75,0% | MoM -11,8%
  PS: 16 | Active 80,0% | MoM -5,9%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+100,0%, Gap 1
• Grapari Jimbaran: PS -18,2%, Gap -2
• Grapari Kuta: PS +25,0%, Gap 1
• Grapari Negara: PS -50,0%,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-23,1%, Gap -3
• Grapari Singaraja: PS -66,7%, Gap -2
• Grapari Tabanan: PS -80,0%, Gap -4
• Grapari Ubud: PS -57,1%, Gap -4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-151 (-32,5%), PS -154 (-37,3%)
• Bali Tengah: RE -75 (-9,4%), PS -75 (-11,0%)
• Bali Timur: RE -52 (-19,8%), PS -24 (-12,2%)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2 (+6,9%), PS -6 (-28,6%)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-1 (-33,3%), PS -3 (-100,0%)
• Bali Barat: RE 0 (0,0%), PS -1 (-100,0%)
• Bali Tengah: RE -1 (-25,0%), PS -1 (-33,3%)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287,6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AMMAR DANI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Erlan Bahtiar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ERL2791623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NOV2302500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JONI LASTIAWAN.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SPNJL26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Winna Fitriany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WIN8225886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ARDANA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IGE6837145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LUH SURYA PERTIWI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SPHHR79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GEDE FAJAR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SPIAR40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ANA4808282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RIK2794671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ANA4808282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37.39%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42.77% | MoM -5.38 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15184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-60.19 pp | Rp-33.85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10328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37.26%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42.57% | MoM -5.31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5472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Rp21.02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Rp23.98 M | MoM -12.3%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0616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Rp56.23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+0.3%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554480"/>
          <a:ext cx="11548869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4805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37.39%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-5.38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37.26%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Rp21.02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-12.3%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-60.19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Rp-33.85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-5.49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-13.5%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Rp-7.08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-5.22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-5.27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-11.3%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Rp-18.20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-5.66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-5.49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-14.1%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Rp-8.57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402336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C3MR by LOS — Branch &amp; WOK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4315968"/>
          <a:ext cx="11548868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80851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55.03% / -8.17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41.66% / -14.54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59.96% / -5.13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59.76% / -6.91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38.11% / -5.69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32.59% / -5.62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39.54% / -5.22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40.63% / -6.97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32.38% / -4.66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28.81% / -5.55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33.81% / -3.46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32.33% / -7.15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33.16% / -2.78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30.96% / -2.97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34.27% / -2.54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32.33% / -3.27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31.07% / -4.34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29.31% / -4.06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32.70% / -4.22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28.96% / -4.97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4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38.88% / -5.77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35.32% / -5.92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41.88% / -5.69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34.82% / -5.83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