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65" r:id="rId11"/>
    <p:sldId id="266" r:id="rId12"/>
    <p:sldId id="267" r:id="rId13"/>
    <p:sldId id="268" r:id="rId19"/>
    <p:sldId id="269" r:id="rId20"/>
    <p:sldId id="270" r:id="rId21"/>
    <p:sldId id="272" r:id="rId23"/>
    <p:sldId id="273" r:id="rId24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9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27/09</c:v>
                </c:pt>
                <c:pt idx="1">
                  <c:v>28/09</c:v>
                </c:pt>
                <c:pt idx="2">
                  <c:v>29/09</c:v>
                </c:pt>
                <c:pt idx="3">
                  <c:v>30/09</c:v>
                </c:pt>
                <c:pt idx="4">
                  <c:v>01/10</c:v>
                </c:pt>
                <c:pt idx="5">
                  <c:v>02/10</c:v>
                </c:pt>
                <c:pt idx="6">
                  <c:v>03/10</c:v>
                </c:pt>
                <c:pt idx="7">
                  <c:v>04/10</c:v>
                </c:pt>
                <c:pt idx="8">
                  <c:v>05/10</c:v>
                </c:pt>
                <c:pt idx="9">
                  <c:v>06/10</c:v>
                </c:pt>
                <c:pt idx="10">
                  <c:v>07/10</c:v>
                </c:pt>
                <c:pt idx="11">
                  <c:v>08/10</c:v>
                </c:pt>
                <c:pt idx="12">
                  <c:v>09/10</c:v>
                </c:pt>
                <c:pt idx="13">
                  <c:v>10/10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150.0</c:v>
                </c:pt>
                <c:pt idx="1">
                  <c:v>315.0</c:v>
                </c:pt>
                <c:pt idx="2">
                  <c:v>321.0</c:v>
                </c:pt>
                <c:pt idx="3">
                  <c:v>271.0</c:v>
                </c:pt>
                <c:pt idx="4">
                  <c:v>352.0</c:v>
                </c:pt>
                <c:pt idx="5">
                  <c:v>332.0</c:v>
                </c:pt>
                <c:pt idx="6">
                  <c:v>257.0</c:v>
                </c:pt>
                <c:pt idx="7">
                  <c:v>184.0</c:v>
                </c:pt>
                <c:pt idx="8">
                  <c:v>335.0</c:v>
                </c:pt>
                <c:pt idx="9">
                  <c:v>304.0</c:v>
                </c:pt>
                <c:pt idx="10">
                  <c:v>330.0</c:v>
                </c:pt>
                <c:pt idx="11">
                  <c:v>307.0</c:v>
                </c:pt>
                <c:pt idx="12">
                  <c:v>236.0</c:v>
                </c:pt>
                <c:pt idx="13">
                  <c:v>237.0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27/09</c:v>
                </c:pt>
                <c:pt idx="1">
                  <c:v>28/09</c:v>
                </c:pt>
                <c:pt idx="2">
                  <c:v>29/09</c:v>
                </c:pt>
                <c:pt idx="3">
                  <c:v>30/09</c:v>
                </c:pt>
                <c:pt idx="4">
                  <c:v>01/10</c:v>
                </c:pt>
                <c:pt idx="5">
                  <c:v>02/10</c:v>
                </c:pt>
                <c:pt idx="6">
                  <c:v>03/10</c:v>
                </c:pt>
                <c:pt idx="7">
                  <c:v>04/10</c:v>
                </c:pt>
                <c:pt idx="8">
                  <c:v>05/10</c:v>
                </c:pt>
                <c:pt idx="9">
                  <c:v>06/10</c:v>
                </c:pt>
                <c:pt idx="10">
                  <c:v>07/10</c:v>
                </c:pt>
                <c:pt idx="11">
                  <c:v>08/10</c:v>
                </c:pt>
                <c:pt idx="12">
                  <c:v>09/10</c:v>
                </c:pt>
                <c:pt idx="13">
                  <c:v>10/10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131.0</c:v>
                </c:pt>
                <c:pt idx="1">
                  <c:v>241.0</c:v>
                </c:pt>
                <c:pt idx="2">
                  <c:v>240.0</c:v>
                </c:pt>
                <c:pt idx="3">
                  <c:v>239.0</c:v>
                </c:pt>
                <c:pt idx="4">
                  <c:v>238.0</c:v>
                </c:pt>
                <c:pt idx="5">
                  <c:v>225.0</c:v>
                </c:pt>
                <c:pt idx="6">
                  <c:v>205.0</c:v>
                </c:pt>
                <c:pt idx="7">
                  <c:v>154.0</c:v>
                </c:pt>
                <c:pt idx="8">
                  <c:v>237.0</c:v>
                </c:pt>
                <c:pt idx="9">
                  <c:v>221.0</c:v>
                </c:pt>
                <c:pt idx="10">
                  <c:v>283.0</c:v>
                </c:pt>
                <c:pt idx="11">
                  <c:v>240.0</c:v>
                </c:pt>
                <c:pt idx="12">
                  <c:v>241.0</c:v>
                </c:pt>
                <c:pt idx="13">
                  <c:v>188.0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-11,4% &amp; PS -10,7% MoM — Achievement Mencapai 24,4% (RE) / 23,4%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01–10 Okt 2026 vs MTD-1 01–10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+0,6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Melemah pada 10 Oktober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01–10 Okt 2026 vs MTD-1 01–10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01–10 Oktober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 Pendorong Utama PS (+10,1%), Denpasar Terdalam (-17,0%)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01–10 Okt 2026 vs MTD-1 01–10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-1,4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+7,2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-8,6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+4,7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+10,1%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-10,3%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-10,8%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-17,0%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28,5%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24,7%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23,0%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18,8%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Sikka Tertinggi (+22,2%), Bali Barat Terdalam (-39,0%) — 12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01–10 Okt 2026 vs MTD-1 01–10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12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43484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Manggarai Penyumbang PS Absolut Terbesar (+20), Sumbawa Barat Tumbuh Tertinggi (+100,0%)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01–10 Okt 2026 vs MTD-1 01–10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Nagekeo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+72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-213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-267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45 kabupaten: Top 5 menyumbang +72, Bottom 5 -213, dan perubahan PS regional -267.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75 Mbps Tumbuh Tertinggi (0,0%), TSEL One &gt;30 Mbps Turun Terdalam (-23,1%)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01–10 Okt 2026 vs MTD-1 01–10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-3,0% MoM, DJP Data Transition — SF Register 883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01–10 Okt 2026 vs MTD-1 01–10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Register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SF/DJP per Branch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15.240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37.795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24.841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5.296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83.236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5.296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1.475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320040" y="3346704"/>
          <a:ext cx="9262861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2540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615024"/>
                <a:gridCol w="615024"/>
                <a:gridCol w="540021"/>
              </a:tblGrid>
              <a:tr h="152400">
                <a:tc rowSpan="2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Branch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Aktivitas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5240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2.744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1.107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+7,8%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1.296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2.113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01–10 Okt 2026 vs MTD-1 01–10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01–10 Okt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 / 20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117 / 306 (38,2%)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-4,1% | Turun 79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153 / 347 (44,1%)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-3,2% | Turun 99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55 / 129 (42,6%)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-6,8% | Turun 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68 / 143 (47,6%)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-6,8% | Turun 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9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77 / 143 (53,8%)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-4,9% | Turun 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87 / 156 (55,8%)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-3,3% | Turun 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16 (81,2%)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+8,3%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114 / 210 (54,3%)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-4,2% | Turun 66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138 / 237 (58,2%)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-2,8% | Turun 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48 / 58 (82,8%)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+4,3% | Turun 21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363 / 788 (46,1%)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-4,7% | Turun 221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18 / 20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-5,3% | Turun 12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446 / 901 (49,5%)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-3,7% | Turun 266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377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239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830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268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373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529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213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+16,4%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1.210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-11,6%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-22,6%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-16,3%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239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-15,2%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1.931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-11,1%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20 (10,0%)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306 (2,3%)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-36,4% | Turun 79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6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 / 347 (6,3%)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-24,1% | Turun 99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13 (15,4%)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129 (4,7%)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143 (5,6%)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143 (2,1%)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4 (25,0%)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156 (2,6%)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210 (1,9%)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66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10 (40,0%)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237 (3,8%)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58 (6,9%)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+300,0% | Turun 21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20 / 788 (2,5%)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-16,7% | Turun 221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20 (30,0%)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-25,0% | Turun 12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7 (57,1%)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-33,3% | Turun 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43 / 901 (4,8%)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-12,2% | Turun 266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01–10 Okt 2026 vs MTD-1 01–10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SUSANA ASTUTI PIUNG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FITRI YUSINTA ELIK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 widyastuti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THERESIA NETIANA DELOS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JILDER FINA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Novi Rohmatul hazijah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Zakaria Rafiif Ahmad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ALEXANDRA INJEL FERNANDES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Sebastian Frederick Imanuel Lada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 AL MARUF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 widyastuti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BENYAMIN NDEWI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ALEXANDRA INJEL FERNANDES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FITRI YUSINTA ELIK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Zakaria Rafiif Ahmad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LITA MELIANA HUSEN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RENI HENDRIANI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THERESIA NETIANA DELOS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Florida Bhalu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JILDER FINA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01–10 Okt 2026 vs MTD-1 01–10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Indra syah 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Damarbudi prakoso SH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IRMA NUR 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Made Sri Pradnya 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Kunzita Lazuardi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HERLINA JULIANTHI EDDY 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A A NGR BISMA ADIK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ARIEF RAMADHOAN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Anansavero asfhi riihan 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Kunzita Lazuardi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HERLINA JULIANTHI EDDY 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Sumiyati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WINDA SAPUTRI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ROSA NINGRUM FATMALA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A A NGR BISMA ADIK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ARIEF RAMADHOAN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Yohannes moa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Anansavero asfhi riihan 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Marselinus Supardi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12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01–10 Okt 2026 vs MTD-1 01–10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12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Klaten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01–10 Okt 2026 vs MTD-1 01–10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Hulu Sungai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01–10 Okt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449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2.499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2.232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1.148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604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01–10 Okt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137,4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92,5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86,3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113,2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114,8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73,1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55,1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47,3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40,5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38,8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131,0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113,0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45,4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44,4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40,0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32,4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825,0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65,9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52,2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550,9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499,9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226,9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197,7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74,4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84,4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80,0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169,6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145,2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01–10 Okt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3.242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2.874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2.499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2.232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499,9 Jt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2.729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2.386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2.172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1.931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422,1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36,6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198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32,9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+1,8%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7,8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+14,8%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-43,8%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-84,6%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470,0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-85,2%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
RE: 461 | MoM -8,2%
PS: 446 | MoM -3,0%
• Elite
  RE: 10 | Active 100,0% | MoM 0,0%
  PS: 10 | Active 100,0% | MoM 0,0%
• Performer
  RE: 7 | Active 100,0% | MoM 0,0%
  PS: 7 | Active 100,0% | MoM 0,0%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
  RE: 378 | Active 48,0% | MoM -8,9%
  PS: 363 | Active 46,1% | MoM -4,0%
• Greenfield
  RE: 48 | Active 82,8% | MoM -5,9%
  PS: 48 | Active 82,8% | MoM +4,3%
• Junior Plus
  RE: 18 | Active 90,0% | MoM -5,3%
  PS: 18 | Active 90,0% | MoM -5,3%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
• Denpasar: PS -29,3%, Gap -12
• Flores: PS +26,2%, Gap +11
• Kupang: PS -15,0%, Gap -3
• Mataram: PS -29,1%, Gap -16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
• Grapari Baa Rote (Kupang): -100,0%, Gap -1
• Grapari Lombok Timur (Mataram): -100,0%, Gap -1
• Grapari Negara (Denpasar): -75,0%, Gap -3
• Grapari Tabanan (Denpasar): -75,0%, Gap -3
• Grapari Sumbawa (Mataram): -66,7%, Gap -4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Barat: RE -119 (-32,4%), PS -132 (-39,9%)
• Lombok: RE -73 (-17,0%), PS -44 (-13,1%)
• Bali Tengah: RE -59 (-9,2%), PS -41 (-7,8%)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Sumbawa Timur: RE -3 (-18,8%), PS -8 (-72,7%)
• Bali Timur: RE -3 (-12,5%), PS -4 (-28,6%)
• Manggarai: RE -4 (-33,3%), PS -4 (-66,7%)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Flores Timur: RE 0 (0,0%), PS -2 (-100,0%)
• Ende Sikka: RE +2 (+100,0%), PS -1 (-100,0%)
• Manggarai: RE -4 (-80,0%), PS -1 (-100,0%)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Timur: RE -3 (-100,0%), PS -3 (-100,0%)
• Bali Tengah: RE 0 (0,0%), PS -2 (-66,7%)
• Manggarai: RE -1 (-50,0%), PS -2 (-100,0%)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Regional, Branch &amp; 12 WOK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858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C3MR BALINUSRA 32.01%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722376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97.21% | Gap -65.20 pp | M-1 36.83%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5257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4346"/>
                <a:gridCol w="860022"/>
                <a:gridCol w="860022"/>
                <a:gridCol w="860022"/>
                <a:gridCol w="1412893"/>
                <a:gridCol w="1412893"/>
                <a:gridCol w="921452"/>
                <a:gridCol w="921452"/>
                <a:gridCol w="921452"/>
                <a:gridCol w="1044312"/>
              </a:tblGrid>
              <a:tr h="309282"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202.393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75.413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37.26%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Rp56.23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Rp21.02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42.77%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37.39%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-60.19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32.513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7.208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22.17%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Rp10.21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Rp2.31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26.53%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22.66%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-74.04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48.594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11.736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Rp15.44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Rp3.85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28.89%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24.93%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-70.90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83.478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Rp25.12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Rp7.06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32.56%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28.12%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-69.33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42.264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13.867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32.81%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39.30%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33.81%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-63.77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113.620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45.875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40.38%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Rp31.61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Rp12.65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45.23%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40.01%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-57.57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46.509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15.671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33.69%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Rp13.52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39.85%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34.19%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-63.39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12.821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2.633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20.54%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Rp3.96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Rp842.2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25.16%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21.25%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-75.45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7.329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1.569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21.41%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Rp472.0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27.29%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21.36%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-75.34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26.827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7.246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Rp8.61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Rp2.40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31.91%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27.84%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-67.99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12.516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2.375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18.98%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Rp3.86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Rp760.9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23.63%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19.70%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-76.13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12.363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3.006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Rp4.04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Rp999.4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-71.95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9.251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2.115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22.86%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Rp2.97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Rp692.7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26.88%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23.31%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-72.52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44.841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15.359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34.25%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Rp13.74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39.73%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34.58%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-62.87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15.433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3.850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24.95%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Rp4.76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29.23%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25.36%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-72.09 pp</a:t>
                      </a:r>
                    </a:p>
                  </a:txBody>
                  <a:tcPr/>
                </a:tc>
              </a:tr>
              <a:tr h="309288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23.204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3.705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15.97%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Rp6.62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20.06%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-80.74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by LOS — BALINUSRA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051560"/>
          <a:ext cx="11548868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4534"/>
                <a:gridCol w="863467"/>
                <a:gridCol w="863467"/>
                <a:gridCol w="863467"/>
                <a:gridCol w="1295200"/>
                <a:gridCol w="1295200"/>
                <a:gridCol w="917433"/>
                <a:gridCol w="917433"/>
                <a:gridCol w="971400"/>
                <a:gridCol w="1187267"/>
              </a:tblGrid>
              <a:tr h="418011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01. 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6.660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3.248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48.77%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Rp1.02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Rp509.2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59.52%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49.75%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-9.77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Rp156.781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02. 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13.729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4.703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34.26%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Rp3.47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Rp1.20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38.47%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34.59%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-3.88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Rp255.294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03. 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21.593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5.768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Rp5.25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Rp1.44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31.38%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27.37%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-4.01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Rp248.935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04. 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35.106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9.376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Rp8.88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Rp2.45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30.08%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27.54%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-2.55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Rp260.812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05. 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55.545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13.745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24.75%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Rp14.70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Rp3.77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29.40%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25.68%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-3.72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Rp274.548</a:t>
                      </a:r>
                    </a:p>
                  </a:txBody>
                  <a:tcPr/>
                </a:tc>
              </a:tr>
              <a:tr h="418014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06. 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234.345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80.431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34.32%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Rp73.69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Rp24.89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39.09%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33.77%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-5.32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Rp309.406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0040" y="425196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Catatan: seluruh angka C3MR dibaca dari output SQL; PPT tidak menghitung ulang formula.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