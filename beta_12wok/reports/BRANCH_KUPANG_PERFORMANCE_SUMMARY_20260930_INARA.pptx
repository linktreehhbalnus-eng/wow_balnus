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Kupang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Sheet1!$A$2:$A$31</c:f>
              <c:strCache>
                <c:ptCount val="30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  <c:pt idx="26">
                  <c:v>27 Sep</c:v>
                </c:pt>
                <c:pt idx="27">
                  <c:v>28 Sep</c:v>
                </c:pt>
                <c:pt idx="28">
                  <c:v>29 Sep</c:v>
                </c:pt>
                <c:pt idx="29">
                  <c:v>30 Sep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36.0</c:v>
                </c:pt>
                <c:pt idx="1">
                  <c:v>29.0</c:v>
                </c:pt>
                <c:pt idx="2">
                  <c:v>22.0</c:v>
                </c:pt>
                <c:pt idx="3">
                  <c:v>32.0</c:v>
                </c:pt>
                <c:pt idx="4">
                  <c:v>20.0</c:v>
                </c:pt>
                <c:pt idx="5">
                  <c:v>16.0</c:v>
                </c:pt>
                <c:pt idx="6">
                  <c:v>38.0</c:v>
                </c:pt>
                <c:pt idx="7">
                  <c:v>28.0</c:v>
                </c:pt>
                <c:pt idx="8">
                  <c:v>27.0</c:v>
                </c:pt>
                <c:pt idx="9">
                  <c:v>26.0</c:v>
                </c:pt>
                <c:pt idx="10">
                  <c:v>23.0</c:v>
                </c:pt>
                <c:pt idx="11">
                  <c:v>17.0</c:v>
                </c:pt>
                <c:pt idx="12">
                  <c:v>11.0</c:v>
                </c:pt>
                <c:pt idx="13">
                  <c:v>35.0</c:v>
                </c:pt>
                <c:pt idx="14">
                  <c:v>28.0</c:v>
                </c:pt>
                <c:pt idx="15">
                  <c:v>34.0</c:v>
                </c:pt>
                <c:pt idx="16">
                  <c:v>28.0</c:v>
                </c:pt>
                <c:pt idx="17">
                  <c:v>24.0</c:v>
                </c:pt>
                <c:pt idx="18">
                  <c:v>18.0</c:v>
                </c:pt>
                <c:pt idx="19">
                  <c:v>13.0</c:v>
                </c:pt>
                <c:pt idx="20">
                  <c:v>45.0</c:v>
                </c:pt>
                <c:pt idx="21">
                  <c:v>37.0</c:v>
                </c:pt>
                <c:pt idx="22">
                  <c:v>29.0</c:v>
                </c:pt>
                <c:pt idx="23">
                  <c:v>26.0</c:v>
                </c:pt>
                <c:pt idx="24">
                  <c:v>21.0</c:v>
                </c:pt>
                <c:pt idx="25">
                  <c:v>22.0</c:v>
                </c:pt>
                <c:pt idx="26">
                  <c:v>11.0</c:v>
                </c:pt>
                <c:pt idx="27">
                  <c:v>27.0</c:v>
                </c:pt>
                <c:pt idx="28">
                  <c:v>27.0</c:v>
                </c:pt>
                <c:pt idx="29">
                  <c:v>18.0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Kupang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Sheet1!$A$2:$A$31</c:f>
              <c:strCache>
                <c:ptCount val="30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  <c:pt idx="26">
                  <c:v>27 Sep</c:v>
                </c:pt>
                <c:pt idx="27">
                  <c:v>28 Sep</c:v>
                </c:pt>
                <c:pt idx="28">
                  <c:v>29 Sep</c:v>
                </c:pt>
                <c:pt idx="29">
                  <c:v>30 Sep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27.0</c:v>
                </c:pt>
                <c:pt idx="1">
                  <c:v>24.0</c:v>
                </c:pt>
                <c:pt idx="2">
                  <c:v>25.0</c:v>
                </c:pt>
                <c:pt idx="3">
                  <c:v>27.0</c:v>
                </c:pt>
                <c:pt idx="4">
                  <c:v>18.0</c:v>
                </c:pt>
                <c:pt idx="5">
                  <c:v>14.0</c:v>
                </c:pt>
                <c:pt idx="6">
                  <c:v>27.0</c:v>
                </c:pt>
                <c:pt idx="7">
                  <c:v>27.0</c:v>
                </c:pt>
                <c:pt idx="8">
                  <c:v>24.0</c:v>
                </c:pt>
                <c:pt idx="9">
                  <c:v>24.0</c:v>
                </c:pt>
                <c:pt idx="10">
                  <c:v>25.0</c:v>
                </c:pt>
                <c:pt idx="11">
                  <c:v>15.0</c:v>
                </c:pt>
                <c:pt idx="12">
                  <c:v>7.0</c:v>
                </c:pt>
                <c:pt idx="13">
                  <c:v>26.0</c:v>
                </c:pt>
                <c:pt idx="14">
                  <c:v>29.0</c:v>
                </c:pt>
                <c:pt idx="15">
                  <c:v>30.0</c:v>
                </c:pt>
                <c:pt idx="16">
                  <c:v>25.0</c:v>
                </c:pt>
                <c:pt idx="17">
                  <c:v>26.0</c:v>
                </c:pt>
                <c:pt idx="18">
                  <c:v>17.0</c:v>
                </c:pt>
                <c:pt idx="19">
                  <c:v>11.0</c:v>
                </c:pt>
                <c:pt idx="20">
                  <c:v>34.0</c:v>
                </c:pt>
                <c:pt idx="21">
                  <c:v>34.0</c:v>
                </c:pt>
                <c:pt idx="22">
                  <c:v>28.0</c:v>
                </c:pt>
                <c:pt idx="23">
                  <c:v>26.0</c:v>
                </c:pt>
                <c:pt idx="24">
                  <c:v>25.0</c:v>
                </c:pt>
                <c:pt idx="25">
                  <c:v>14.0</c:v>
                </c:pt>
                <c:pt idx="26">
                  <c:v>10.0</c:v>
                </c:pt>
                <c:pt idx="27">
                  <c:v>26.0</c:v>
                </c:pt>
                <c:pt idx="28">
                  <c:v>18.0</c:v>
                </c:pt>
                <c:pt idx="29">
                  <c:v>14.0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01–30 Sep 2026 vs MTD-1 01–30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1.739,5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66,6%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1.388,7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67,6%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449,7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3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81,1%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+0,4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-36,8%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+55,8%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+57,7%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+68,6%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+89,8%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-45,8%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Kupang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61,4%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309,7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62,6%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242,5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60,6%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251,3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61,1%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195,1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93,2%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94,9%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28031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21807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+28,1%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Sabu Raijua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21807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Timor Tengah Selatan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Kota 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01–30 Sep 2026 vs MTD-1 01–30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152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+11,4%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105   Δ 12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+11,7%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103   Δ 12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76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-12,6%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87   Δ -11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2.469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-28,9%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3.475   Δ -1.006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SF/DJP Level Branch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0040" y="2505456"/>
            <a:ext cx="11548872" cy="65836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2679192"/>
            <a:ext cx="111556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0" i="0">
                <a:solidFill>
                  <a:srgbClr val="20252B"/>
                </a:solidFill>
                <a:latin typeface="Arial"/>
              </a:rPr>
              <a:t>Detail WOK SF tidak ditampilkan pada PPT selama ownership 12 WOK masih dalam masa transisi.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" y="3383280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Kupang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20040" y="3657600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-46,0%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-48,2%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+21,5%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+70,4%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+91,3%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320040" y="5111496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01–30 Sep 2026 vs MTD-1 01–30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6400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6400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8 / 9 (88,9%)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-11,1% | Turun 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103 / 139 (74,1%)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+13,2% | Turun 36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115 / 152 (75,7%)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+10,6% | Turun 42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55778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55778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-4,2%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702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100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825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-0,5%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6400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6400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9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27 / 139 (19,4%)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-6,9% | Turun 36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31 / 152 (20,4%)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-6,1% | Turun 42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SF Class pada PPT Branch ditampilkan pada level Branch sampai ownership 12 WOK resmi tersedia.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01–30 Sep 2026 vs MTD-1 01–30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594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594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Trend SF ditampilkan pada level Branch selama masa transisi ownership 12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01–30 Sep 2026 vs MTD-1 01–30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+57,1%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+28,6%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82549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Kupang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118103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383279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979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118103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383279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2.418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5.049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2.116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9.986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24,2%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392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103 (26,3%)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492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167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129 (77,2%)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480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01–30 Sep 2026 vs MTD-1 01–30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219,9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193,6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12,7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+37,9%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8,7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-34,6%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+520,8%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117 | MoM +11,4%
PS: 115 | MoM +11,7%
• Junior
  RE: 105 | Active 75,5% | MoM +12,9%
  PS: 103 | Active 74,1% | MoM +13,2%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8 | Active 88,9% | MoM 0,0%
  PS: 8 | Active 88,9% | MoM 0,0%
• Junior Plus
  RE: 4 | Active 100,0% | MoM 0,0%
  PS: 4 | Active 100,0%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Atambua: PS +33,3%, Gap 1
• Grapari Baa Rote: PS +33,3%, Gap 1
• Grapari Kefamenanu: PS 0,0%, Gap 0
• Grapari Kupang: PS +27,3%, Gap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Malaka: PS N/A, Gap 4
• Grapari Soe: PS +100,0%, Gap 3
• Grapari Waikabubak: PS +25,0%, Gap 1
• Grapari Waingapu: PS 0,0%, Gap 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Kupang Rote: RE -53 (-11,7%), PS -25 (-6,6%)
• Malaka Timtim Belu: RE 17 (+5,6%), PS -2 (-0,7%)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Kupang Rote: RE 4 (+14,8%), PS -4 (-22,2%)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Kupang Rote: RE -14 (-31,1%), PS -8 (-38,1%)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01–30 Sep 2026 vs MTD-1 01–30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+183,3%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01–30 Sep 2026 vs MTD-1 01–30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59,5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55,4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79,1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44,9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54,9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83,9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27,5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26,9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52,1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39,5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39,6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18,7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25,7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33,6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17,3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+167,2%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950,0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620,0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217,6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220,4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101,0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95,4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71,5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72,2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45,1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01–30 Sep 2026 vs MTD-1 01–30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Stefanus jefri kantur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STE1390576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RICHARDUS YOHANES MOENSAKU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RIC4036640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BRAMPI KAREL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BRA4095635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STANISLAUS APRIANUS HUN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SPSAU97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Christin Natalia Banunaek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CHR3429486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SONYA IMELDA TUTFAUT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SPXLDA74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Cornelis Desanto Karo Karel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COR5804367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JEPRIANUS MUJI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SPUUE13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Anita Welmince ukat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ANI1534039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YULIUS LEDE NGONGO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YUL7690321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Stefanus jefri kantur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STE1390576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Anita Welmince ukat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ANI1534039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INLY OLIFA PABALA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INL7633136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BRAMPI KAREL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BRA4095635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Christin Natalia Banunaek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CHR3429486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STANISLAUS APRIANUS HUN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SPSAU97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JOSE CORREIA DASILVA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SPOSE99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Cornelis Desanto Karo Karel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COR5804367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RANGGA BELA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SPLAA32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JEPRIANUS MUJI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SPUUE13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01–30 Sep 2026 vs MTD-1 01–30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FERI ANDI SEMBIRING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SPFAS86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AHMAD TRIJAYADI SAPUTRA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SPJAY93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Novita maria anggraeny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NOV1910520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Joel Arsel Alakmo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JOE9408774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Septania Rice Dapawole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SEP5137402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ATRY TAHUN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ATR4813540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Michael Belvan ngefak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MIC2723002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FERDY ARYANDO JARA JUTALO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SPDDL18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-88,9%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Sebastian Frederick Imanuel Lada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SEB6384011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Nadia stevania oematan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NAD2477965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FERI ANDI SEMBIRING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SPFAS86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AHMAD TRIJAYADI SAPUTRA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SPJAY93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Novita maria anggraeny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NOV1910520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Joel Arsel Alakmo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JOE9408774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Michael Belvan ngefak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MIC2723002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Sebastian Frederick Imanuel Lada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SEB6384011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ALEXANDRA INJEL FERNANDES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SPIEE10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Nadia stevania oematan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NAD2477965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Dewito Yuliarti Adu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DEW2513135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FANCE AFI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FAN5911104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3C64"/>
                </a:solidFill>
                <a:latin typeface="Arial"/>
              </a:defRPr>
            </a:pPr>
            <a:r>
              <a:t>C3MR Performance — KUPANG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Snapshot 2026-10-13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2937"/>
                </a:solidFill>
                <a:latin typeface="Arial"/>
              </a:defRPr>
            </a:pPr>
            <a:r>
              <a:t>Branch C3MR 24.93%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694944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Arial"/>
              </a:defRPr>
            </a:pPr>
            <a:r>
              <a:t>Target 95.83% | Gap -70.90 pp | M-1 28.89%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143000"/>
          <a:ext cx="11548866" cy="2020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4747"/>
                <a:gridCol w="763658"/>
                <a:gridCol w="763658"/>
                <a:gridCol w="822401"/>
                <a:gridCol w="1233602"/>
                <a:gridCol w="1233602"/>
                <a:gridCol w="845899"/>
                <a:gridCol w="845899"/>
                <a:gridCol w="845899"/>
                <a:gridCol w="963385"/>
                <a:gridCol w="1116116"/>
              </a:tblGrid>
              <a:tr h="505206"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WOK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SSL All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SSL Paid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Paid Rate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Billing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Payment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C3MR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C3MR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Avg Payment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26.827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7.246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27.01%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Rp8.61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Rp2.40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31.91%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27.84%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-67.99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Rp330.594</a:t>
                      </a:r>
                    </a:p>
                  </a:txBody>
                  <a:tcPr/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12.516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2.375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18.98%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Rp3.86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Rp760.9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23.63%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19.70%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-76.13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Rp320.397</a:t>
                      </a:r>
                    </a:p>
                  </a:txBody>
                  <a:tcPr/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9.251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2.115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22.86%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Rp2.97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Rp692.7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26.88%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23.31%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-72.52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Rp327.529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20040" y="425196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LOS Branch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4507992"/>
          <a:ext cx="5577838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3503"/>
                <a:gridCol w="1138334"/>
                <a:gridCol w="1366001"/>
              </a:tblGrid>
              <a:tr h="195942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C3MR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Progress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42.53%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-10.60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27.61%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-1.04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20.49%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-3.67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21.29%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-2.06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19.02%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-3.13 pp</a:t>
                      </a:r>
                    </a:p>
                  </a:txBody>
                  <a:tcPr/>
                </a:tc>
              </a:tr>
              <a:tr h="195948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27.04%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-4.54 pp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3C64"/>
                </a:solidFill>
                <a:latin typeface="Arial"/>
              </a:defRPr>
            </a:pPr>
            <a:r>
              <a:t>CAPS Performance — KUPANG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Snapshot 2026-10-13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CAPS M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19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M-1 14 | MoM +35.7%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632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39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Batas CAPS bulan berjalan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064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GAP 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-20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CAPS M - Target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Δ M vs M-1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+5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Perubahan jumlah CAPS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508760"/>
          <a:ext cx="11548871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0300"/>
                <a:gridCol w="1443609"/>
                <a:gridCol w="1443609"/>
                <a:gridCol w="1154887"/>
                <a:gridCol w="1299248"/>
                <a:gridCol w="1443609"/>
                <a:gridCol w="1443609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KUPANG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+35.7%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+22.2%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-6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6118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CAPS by LOS — Branch &amp;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931920"/>
          <a:ext cx="1154887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8874"/>
                <a:gridCol w="2242499"/>
                <a:gridCol w="2242499"/>
                <a:gridCol w="2242499"/>
                <a:gridCol w="2242499"/>
              </a:tblGrid>
              <a:tr h="77724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KUPANG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KUPANG ROTE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MALAKA TIMTIM BELU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SUMBA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 / -50.0%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 / -50.0%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1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0 / -100.0%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17 / +70.0%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10 / +42.9%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5 / +66.7%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 / +100.0%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50" b="1">
                <a:solidFill>
                  <a:srgbClr val="FFFFFF"/>
                </a:solidFill>
                <a:latin typeface="Arial"/>
              </a:defRPr>
            </a:pPr>
            <a:r>
              <a:t>Healthy Sales — KUPANG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6400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  <a:latin typeface="Arial"/>
              </a:defRPr>
            </a:pPr>
            <a:r>
              <a:t>15 Okt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09728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WO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28,881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012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PAID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5,656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5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048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HEALTHY SALES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048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19.6%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1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0847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UNPAID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0847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23,225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1481328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943 / 48.4%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951 / 34.7%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1,104 / 30.0%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1,284 / 23.6%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1,369 / 21.4%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1,342 / 21.9%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14,914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408 / 53.4%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443 / 36.6%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498 / 30.5%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591 / 26.1%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636 / 21.7%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643 / 21.3%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9,003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308 / 40.6%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303 / 27.1%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373 / 21.7%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480 / 19.0%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522 / 19.9%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479 / 22.3%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4,964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227 / 49.8%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205 / 42.0%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233 / 42.1%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213 / 27.2%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211 / 24.2%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220 / 22.7%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2752344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1,509 / 21.1%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1,276 / 22.1%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1,246 / 21.8%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1,088 / 21.3%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1,063 / 20.4%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1,247 / 19.6%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14,914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700 / 22.6%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596 / 23.7%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575 / 26.1%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554 / 22.7%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597 / 23.6%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672 / 20.7%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9,003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562 / 18.0%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463 / 16.6%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463 / 18.4%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364 / 18.7%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291 / 15.8%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350 / 15.1%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4,964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247 / 24.3%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217 / 29.5%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208 / 17.8%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170 / 22.4%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175 / 17.1%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225 / 23.6%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20040" y="4023360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1,202 / 15.6%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1,273 / 17.1%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1,202 / 17.1%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1,295 / 14.4%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1,163 / 15.4%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1,132 / 14.5%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14,914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629 / 16.4%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709 / 17.6%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603 / 15.8%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703 / 14.4%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621 / 16.3%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644 / 13.8%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9,003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352 / 14.2%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367 / 15.5%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386 / 17.1%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372 / 12.6%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309 / 12.6%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314 / 13.4%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4,964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221 / 15.4%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197 / 17.8%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213 / 20.7%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220 / 17.7%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233 / 16.7%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174 / 19.0%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20040" y="5294376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1,262 / 13.4%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1,180 / 13.9%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1,207 / 15.2%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1,246 / 12.2%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1,227 / 11.9%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1,070 / 12.0%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14,914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685 / 14.6%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678 / 15.6%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700 / 16.7%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682 / 14.4%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698 / 12.8%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649 / 12.6%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9,003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359 / 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311 / 10.6%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305 / 11.8%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374 / 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356 / 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240 / 10.8%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4,964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218 / 17.4%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191 / 13.1%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202 / 15.3%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190 / 15.8%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173 / 13.3%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181 / 11.1%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