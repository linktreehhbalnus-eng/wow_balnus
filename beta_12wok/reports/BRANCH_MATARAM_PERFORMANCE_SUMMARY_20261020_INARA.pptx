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Sheet1!$A$2:$A$21</c:f>
              <c:strCache>
                <c:ptCount val="2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</c:strCache>
            </c: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47.0</c:v>
                </c:pt>
                <c:pt idx="1">
                  <c:v>54.0</c:v>
                </c:pt>
                <c:pt idx="2">
                  <c:v>40.0</c:v>
                </c:pt>
                <c:pt idx="3">
                  <c:v>28.0</c:v>
                </c:pt>
                <c:pt idx="4">
                  <c:v>43.0</c:v>
                </c:pt>
                <c:pt idx="5">
                  <c:v>48.0</c:v>
                </c:pt>
                <c:pt idx="6">
                  <c:v>50.0</c:v>
                </c:pt>
                <c:pt idx="7">
                  <c:v>42.0</c:v>
                </c:pt>
                <c:pt idx="8">
                  <c:v>39.0</c:v>
                </c:pt>
                <c:pt idx="9">
                  <c:v>47.0</c:v>
                </c:pt>
                <c:pt idx="10">
                  <c:v>31.0</c:v>
                </c:pt>
                <c:pt idx="11">
                  <c:v>43.0</c:v>
                </c:pt>
                <c:pt idx="12">
                  <c:v>45.0</c:v>
                </c:pt>
                <c:pt idx="13">
                  <c:v>55.0</c:v>
                </c:pt>
                <c:pt idx="14">
                  <c:v>55.0</c:v>
                </c:pt>
                <c:pt idx="15">
                  <c:v>57.0</c:v>
                </c:pt>
                <c:pt idx="16">
                  <c:v>38.0</c:v>
                </c:pt>
                <c:pt idx="17">
                  <c:v>39.0</c:v>
                </c:pt>
                <c:pt idx="18">
                  <c:v>56.0</c:v>
                </c:pt>
                <c:pt idx="19">
                  <c:v>65.0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Sheet1!$A$2:$A$21</c:f>
              <c:strCache>
                <c:ptCount val="2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</c:strCache>
            </c:strRef>
          </c:cat>
          <c:val>
            <c:numRef>
              <c:f>Sheet1!$C$2:$C$21</c:f>
              <c:numCache>
                <c:formatCode>General</c:formatCode>
                <c:ptCount val="20"/>
                <c:pt idx="0">
                  <c:v>25.0</c:v>
                </c:pt>
                <c:pt idx="1">
                  <c:v>30.0</c:v>
                </c:pt>
                <c:pt idx="2">
                  <c:v>20.0</c:v>
                </c:pt>
                <c:pt idx="3">
                  <c:v>14.0</c:v>
                </c:pt>
                <c:pt idx="4">
                  <c:v>25.0</c:v>
                </c:pt>
                <c:pt idx="5">
                  <c:v>25.0</c:v>
                </c:pt>
                <c:pt idx="6">
                  <c:v>23.0</c:v>
                </c:pt>
                <c:pt idx="7">
                  <c:v>19.0</c:v>
                </c:pt>
                <c:pt idx="8">
                  <c:v>21.0</c:v>
                </c:pt>
                <c:pt idx="9">
                  <c:v>30.0</c:v>
                </c:pt>
                <c:pt idx="10">
                  <c:v>18.0</c:v>
                </c:pt>
                <c:pt idx="11">
                  <c:v>22.0</c:v>
                </c:pt>
                <c:pt idx="12">
                  <c:v>21.0</c:v>
                </c:pt>
                <c:pt idx="13">
                  <c:v>32.0</c:v>
                </c:pt>
                <c:pt idx="14">
                  <c:v>31.0</c:v>
                </c:pt>
                <c:pt idx="15">
                  <c:v>28.0</c:v>
                </c:pt>
                <c:pt idx="16">
                  <c:v>21.0</c:v>
                </c:pt>
                <c:pt idx="17">
                  <c:v>26.0</c:v>
                </c:pt>
                <c:pt idx="18">
                  <c:v>31.0</c:v>
                </c:pt>
                <c:pt idx="19">
                  <c:v>38.0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Sheet1!$A$2:$A$21</c:f>
              <c:strCache>
                <c:ptCount val="2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</c:strCache>
            </c:strRef>
          </c:cat>
          <c:val>
            <c:numRef>
              <c:f>Sheet1!$D$2:$D$21</c:f>
              <c:numCache>
                <c:formatCode>General</c:formatCode>
                <c:ptCount val="20"/>
                <c:pt idx="0">
                  <c:v>6.0</c:v>
                </c:pt>
                <c:pt idx="1">
                  <c:v>7.0</c:v>
                </c:pt>
                <c:pt idx="2">
                  <c:v>5.0</c:v>
                </c:pt>
                <c:pt idx="3">
                  <c:v>2.0</c:v>
                </c:pt>
                <c:pt idx="4">
                  <c:v>9.0</c:v>
                </c:pt>
                <c:pt idx="5">
                  <c:v>5.0</c:v>
                </c:pt>
                <c:pt idx="6">
                  <c:v>9.0</c:v>
                </c:pt>
                <c:pt idx="7">
                  <c:v>9.0</c:v>
                </c:pt>
                <c:pt idx="8">
                  <c:v>5.0</c:v>
                </c:pt>
                <c:pt idx="9">
                  <c:v>9.0</c:v>
                </c:pt>
                <c:pt idx="10">
                  <c:v>4.0</c:v>
                </c:pt>
                <c:pt idx="11">
                  <c:v>6.0</c:v>
                </c:pt>
                <c:pt idx="12">
                  <c:v>8.0</c:v>
                </c:pt>
                <c:pt idx="13">
                  <c:v>8.0</c:v>
                </c:pt>
                <c:pt idx="14">
                  <c:v>8.0</c:v>
                </c:pt>
                <c:pt idx="15">
                  <c:v>9.0</c:v>
                </c:pt>
                <c:pt idx="16">
                  <c:v>4.0</c:v>
                </c:pt>
                <c:pt idx="17">
                  <c:v>4.0</c:v>
                </c:pt>
                <c:pt idx="18">
                  <c:v>11.0</c:v>
                </c:pt>
                <c:pt idx="19">
                  <c:v>10.0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Sheet1!$A$2:$A$21</c:f>
              <c:strCache>
                <c:ptCount val="2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</c:strCache>
            </c:strRef>
          </c:cat>
          <c:val>
            <c:numRef>
              <c:f>Sheet1!$E$2:$E$21</c:f>
              <c:numCache>
                <c:formatCode>General</c:formatCode>
                <c:ptCount val="20"/>
                <c:pt idx="0">
                  <c:v>16.0</c:v>
                </c:pt>
                <c:pt idx="1">
                  <c:v>17.0</c:v>
                </c:pt>
                <c:pt idx="2">
                  <c:v>15.0</c:v>
                </c:pt>
                <c:pt idx="3">
                  <c:v>12.0</c:v>
                </c:pt>
                <c:pt idx="4">
                  <c:v>9.0</c:v>
                </c:pt>
                <c:pt idx="5">
                  <c:v>17.0</c:v>
                </c:pt>
                <c:pt idx="6">
                  <c:v>18.0</c:v>
                </c:pt>
                <c:pt idx="7">
                  <c:v>14.0</c:v>
                </c:pt>
                <c:pt idx="8">
                  <c:v>13.0</c:v>
                </c:pt>
                <c:pt idx="9">
                  <c:v>8.0</c:v>
                </c:pt>
                <c:pt idx="10">
                  <c:v>9.0</c:v>
                </c:pt>
                <c:pt idx="11">
                  <c:v>15.0</c:v>
                </c:pt>
                <c:pt idx="12">
                  <c:v>16.0</c:v>
                </c:pt>
                <c:pt idx="13">
                  <c:v>15.0</c:v>
                </c:pt>
                <c:pt idx="14">
                  <c:v>16.0</c:v>
                </c:pt>
                <c:pt idx="15">
                  <c:v>20.0</c:v>
                </c:pt>
                <c:pt idx="16">
                  <c:v>13.0</c:v>
                </c:pt>
                <c:pt idx="17">
                  <c:v>9.0</c:v>
                </c:pt>
                <c:pt idx="18">
                  <c:v>14.0</c:v>
                </c:pt>
                <c:pt idx="19">
                  <c:v>17.0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Sheet1!$A$2:$A$21</c:f>
              <c:strCache>
                <c:ptCount val="2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</c:strCache>
            </c:strRef>
          </c:cat>
          <c:val>
            <c:numRef>
              <c:f>Sheet1!$F$2:$F$21</c:f>
              <c:numCache>
                <c:formatCode>General</c:formatCode>
                <c:ptCount val="20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1.0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Sheet1!$A$2:$A$21</c:f>
              <c:strCache>
                <c:ptCount val="2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</c:strCache>
            </c: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47.0</c:v>
                </c:pt>
                <c:pt idx="1">
                  <c:v>47.0</c:v>
                </c:pt>
                <c:pt idx="2">
                  <c:v>36.0</c:v>
                </c:pt>
                <c:pt idx="3">
                  <c:v>30.0</c:v>
                </c:pt>
                <c:pt idx="4">
                  <c:v>42.0</c:v>
                </c:pt>
                <c:pt idx="5">
                  <c:v>27.0</c:v>
                </c:pt>
                <c:pt idx="6">
                  <c:v>55.0</c:v>
                </c:pt>
                <c:pt idx="7">
                  <c:v>41.0</c:v>
                </c:pt>
                <c:pt idx="8">
                  <c:v>35.0</c:v>
                </c:pt>
                <c:pt idx="9">
                  <c:v>34.0</c:v>
                </c:pt>
                <c:pt idx="10">
                  <c:v>19.0</c:v>
                </c:pt>
                <c:pt idx="11">
                  <c:v>38.0</c:v>
                </c:pt>
                <c:pt idx="12">
                  <c:v>46.0</c:v>
                </c:pt>
                <c:pt idx="13">
                  <c:v>43.0</c:v>
                </c:pt>
                <c:pt idx="14">
                  <c:v>53.0</c:v>
                </c:pt>
                <c:pt idx="15">
                  <c:v>45.0</c:v>
                </c:pt>
                <c:pt idx="16">
                  <c:v>40.0</c:v>
                </c:pt>
                <c:pt idx="17">
                  <c:v>34.0</c:v>
                </c:pt>
                <c:pt idx="18">
                  <c:v>53.0</c:v>
                </c:pt>
                <c:pt idx="19">
                  <c:v>50.0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Sheet1!$A$2:$A$21</c:f>
              <c:strCache>
                <c:ptCount val="2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</c:strCache>
            </c:strRef>
          </c:cat>
          <c:val>
            <c:numRef>
              <c:f>Sheet1!$C$2:$C$21</c:f>
              <c:numCache>
                <c:formatCode>General</c:formatCode>
                <c:ptCount val="20"/>
                <c:pt idx="0">
                  <c:v>29.0</c:v>
                </c:pt>
                <c:pt idx="1">
                  <c:v>23.0</c:v>
                </c:pt>
                <c:pt idx="2">
                  <c:v>22.0</c:v>
                </c:pt>
                <c:pt idx="3">
                  <c:v>18.0</c:v>
                </c:pt>
                <c:pt idx="4">
                  <c:v>17.0</c:v>
                </c:pt>
                <c:pt idx="5">
                  <c:v>14.0</c:v>
                </c:pt>
                <c:pt idx="6">
                  <c:v>30.0</c:v>
                </c:pt>
                <c:pt idx="7">
                  <c:v>21.0</c:v>
                </c:pt>
                <c:pt idx="8">
                  <c:v>20.0</c:v>
                </c:pt>
                <c:pt idx="9">
                  <c:v>22.0</c:v>
                </c:pt>
                <c:pt idx="10">
                  <c:v>12.0</c:v>
                </c:pt>
                <c:pt idx="11">
                  <c:v>24.0</c:v>
                </c:pt>
                <c:pt idx="12">
                  <c:v>25.0</c:v>
                </c:pt>
                <c:pt idx="13">
                  <c:v>22.0</c:v>
                </c:pt>
                <c:pt idx="14">
                  <c:v>28.0</c:v>
                </c:pt>
                <c:pt idx="15">
                  <c:v>22.0</c:v>
                </c:pt>
                <c:pt idx="16">
                  <c:v>24.0</c:v>
                </c:pt>
                <c:pt idx="17">
                  <c:v>22.0</c:v>
                </c:pt>
                <c:pt idx="18">
                  <c:v>34.0</c:v>
                </c:pt>
                <c:pt idx="19">
                  <c:v>30.0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Sheet1!$A$2:$A$21</c:f>
              <c:strCache>
                <c:ptCount val="2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</c:strCache>
            </c:strRef>
          </c:cat>
          <c:val>
            <c:numRef>
              <c:f>Sheet1!$D$2:$D$21</c:f>
              <c:numCache>
                <c:formatCode>General</c:formatCode>
                <c:ptCount val="20"/>
                <c:pt idx="0">
                  <c:v>3.0</c:v>
                </c:pt>
                <c:pt idx="1">
                  <c:v>5.0</c:v>
                </c:pt>
                <c:pt idx="2">
                  <c:v>5.0</c:v>
                </c:pt>
                <c:pt idx="3">
                  <c:v>3.0</c:v>
                </c:pt>
                <c:pt idx="4">
                  <c:v>9.0</c:v>
                </c:pt>
                <c:pt idx="5">
                  <c:v>7.0</c:v>
                </c:pt>
                <c:pt idx="6">
                  <c:v>7.0</c:v>
                </c:pt>
                <c:pt idx="7">
                  <c:v>5.0</c:v>
                </c:pt>
                <c:pt idx="8">
                  <c:v>5.0</c:v>
                </c:pt>
                <c:pt idx="9">
                  <c:v>5.0</c:v>
                </c:pt>
                <c:pt idx="10">
                  <c:v>3.0</c:v>
                </c:pt>
                <c:pt idx="11">
                  <c:v>6.0</c:v>
                </c:pt>
                <c:pt idx="12">
                  <c:v>7.0</c:v>
                </c:pt>
                <c:pt idx="13">
                  <c:v>6.0</c:v>
                </c:pt>
                <c:pt idx="14">
                  <c:v>9.0</c:v>
                </c:pt>
                <c:pt idx="15">
                  <c:v>7.0</c:v>
                </c:pt>
                <c:pt idx="16">
                  <c:v>4.0</c:v>
                </c:pt>
                <c:pt idx="17">
                  <c:v>4.0</c:v>
                </c:pt>
                <c:pt idx="18">
                  <c:v>8.0</c:v>
                </c:pt>
                <c:pt idx="19">
                  <c:v>9.0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Sheet1!$A$2:$A$21</c:f>
              <c:strCache>
                <c:ptCount val="2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</c:strCache>
            </c:strRef>
          </c:cat>
          <c:val>
            <c:numRef>
              <c:f>Sheet1!$E$2:$E$21</c:f>
              <c:numCache>
                <c:formatCode>General</c:formatCode>
                <c:ptCount val="20"/>
                <c:pt idx="0">
                  <c:v>15.0</c:v>
                </c:pt>
                <c:pt idx="1">
                  <c:v>19.0</c:v>
                </c:pt>
                <c:pt idx="2">
                  <c:v>9.0</c:v>
                </c:pt>
                <c:pt idx="3">
                  <c:v>9.0</c:v>
                </c:pt>
                <c:pt idx="4">
                  <c:v>16.0</c:v>
                </c:pt>
                <c:pt idx="5">
                  <c:v>6.0</c:v>
                </c:pt>
                <c:pt idx="6">
                  <c:v>18.0</c:v>
                </c:pt>
                <c:pt idx="7">
                  <c:v>15.0</c:v>
                </c:pt>
                <c:pt idx="8">
                  <c:v>10.0</c:v>
                </c:pt>
                <c:pt idx="9">
                  <c:v>7.0</c:v>
                </c:pt>
                <c:pt idx="10">
                  <c:v>4.0</c:v>
                </c:pt>
                <c:pt idx="11">
                  <c:v>8.0</c:v>
                </c:pt>
                <c:pt idx="12">
                  <c:v>14.0</c:v>
                </c:pt>
                <c:pt idx="13">
                  <c:v>15.0</c:v>
                </c:pt>
                <c:pt idx="14">
                  <c:v>16.0</c:v>
                </c:pt>
                <c:pt idx="15">
                  <c:v>16.0</c:v>
                </c:pt>
                <c:pt idx="16">
                  <c:v>12.0</c:v>
                </c:pt>
                <c:pt idx="17">
                  <c:v>8.0</c:v>
                </c:pt>
                <c:pt idx="18">
                  <c:v>11.0</c:v>
                </c:pt>
                <c:pt idx="19">
                  <c:v>11.0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Sheet1!$A$2:$A$21</c:f>
              <c:strCache>
                <c:ptCount val="2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</c:strCache>
            </c:strRef>
          </c:cat>
          <c:val>
            <c:numRef>
              <c:f>Sheet1!$F$2:$F$21</c:f>
              <c:numCache>
                <c:formatCode>General</c:formatCode>
                <c:ptCount val="20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Oct 2026 vs MTD-1 01–20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1.642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3.282,9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1.640,9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2.666,1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46,0%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1.439,1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+1,5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Mataram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49,1%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917,3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47,1%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45,7%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288,8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38,4%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265,9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54,0%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436,8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48,0%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400,5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Utara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-56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Oct 2026 vs MTD-1 01–20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240 → 253  (+5,4%)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169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-10,6%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189   Δ -20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164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-6,8%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176   Δ -12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183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3.888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3.888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1.624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+25,9%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1.703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Mataram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Oct 2026 vs MTD-1 01–20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13 / 16 (81,2%)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-7,1% | Turun 10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141 / 227 (62,1%)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-7,2% | Turun 80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9 / 9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164 / 253 (64,8%)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-7,3% | Turun 96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 / 11 (72,7%)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-11,1% | Turun 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79 / 129 (61,2%)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-12,2% | Turun 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92 / 145 (63,4%)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-12,4% | Turun 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22 / 37 (59,5%)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25 / 40 (62,5%)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40 / 61 (65,6%)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47 / 68 (69,1%)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81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-15,6%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809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160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-14,9%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-32,5%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1.077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460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612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111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146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319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16 (25,0%)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+33,3% | Turun 10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23 / 227 (10,1%)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-4,2% | Turun 80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8 / 9 (88,9%)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36 / 253 (14,2%)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-5,3% | Turun 96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11 (27,3%)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13 / 129 (10,1%)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-13,3% | Turun 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21 / 145 (14,5%)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-8,7% | Turun 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2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37 (8,1%)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40 (12,5%)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61 (11,5%)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4 (75,0%)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 / 68 (14,7%)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-9,1%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Oct 2026 vs MTD-1 01–20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Oct 2026 vs MTD-1 01–20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Mataram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1.525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1.392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2.941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9.079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6.451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19.955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14,7%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1.468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676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Oct 2026 vs MTD-1 01–20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1.637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296,4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1.392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259,2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169 | MoM -10,6%
PS: 164 | MoM -6,8%
• Performer
  RE: 1 | Active 100,0% | MoM 0,0%
  PS: 1 | Active 100,0% | MoM 0,0%
• Junior
  RE: 146 | Active 64,3% | MoM -10,4%
  PS: 141 | Active 62,1% | MoM -7,2%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13 | Active 81,2% | MoM -18,8%
  PS: 13 | Active 81,2% | MoM -7,1%
• Junior Plus
  RE: 9 | Active 100,0% | MoM 0,0%
  PS: 9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Bima: PS -34,5%, Gap -10
• Grapari Dompu: PS +57,1%, Gap 4
• Grapari Lombok Timur: PS +100,0%, Gap 1
• Grapari Lombok Utara: PS N/A, Gap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Maluk: PS +200,0%, Gap 2
• Grapari Mataram: PS -34,3%, Gap -12
• Grapari Sumbawa: PS -77,8%, Gap -7
• Grapari Taliwang: PS +60,0%, Gap 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-93 (-10,7%), PS -68 (-9,9%)
• Sumbawa Barat: RE -53 (-21,2%), PS -9 (-5,8%)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Barat: RE -10 (-47,6%), PS -8 (-61,5%)
• Sumbawa Timur: RE -5 (-14,3%), PS -7 (-36,8%)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5 (+45,5%), PS -3 (-37,5%)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Timur: RE -3 (-75,0%), PS -1 (-50,0%)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Oct 2026 vs MTD-1 01–20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Oct 2026 vs MTD-1 01–20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110,8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565,0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340,6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296,9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187,0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165,9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107,7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Oct 2026 vs MTD-1 01–20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GST BAGUS AGUNG ADIATMA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IGS6210592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HUZAIMATUL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HUZ8772299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Muftholib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ABD7362841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USWATUN HASANAH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USW5846733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Samsul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SAM7712125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 SANDI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ARI2024904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AL MARUF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MAL5772768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Nurul fitriah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NUR5794369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LALU RINGGA JAYA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LAL3976891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ERNY JUMRIANTY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ERN3856335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NURJANAH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NUR3882332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GST BAGUS AGUNG ADIATMA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IGS6210592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Muftholib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ABD7362841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AISA TUKUBRA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AIS5256393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Baiq desi aryani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BAI6830792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Nuroktavia Ningrum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NUR5193830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NURUL QARIMAH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SPSLD18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Haris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ABD6099896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AL MARUF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MAL5772768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Nurul fitriah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NUR5794369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Oct 2026 vs MTD-1 01–20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BQ DEWI NINGRUM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SPXCAEWI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YANTI 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SPANTI5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Wiratja atmaja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WIR7929421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Samsul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SAM5466810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ROY4629172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MAULADI AZHAR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MAU9803711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MUHAMAD IHSAN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MUH1684593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MANGKU YOGISWARA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SPKYA37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ZONA MUSTHOFA AMNI SH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ZON8572294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Mrozikin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MRO9687817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BQ DEWI NINGRUM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SPXCAEWI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Samsul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SAM5466810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ROY4629172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MAULADI AZHAR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MAU9803711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Suewandi Mohtar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SUE2560050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MANGKU YOGISWARA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SPKYA37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ZONA MUSTHOFA AMNI SH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ZON8572294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Mrozikin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MRO9687817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ELISA PUTRI DEWI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SPAEL42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Paezal rozi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PAE1462437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Performance — MATARAM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10/20/2026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70.83%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70.65% | MoM +0.18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15184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97.45%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-26.62 pp | Rp-6.69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10328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69.11%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68.95% | MoM +0.16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5472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Rp17.80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Rp17.47 M | MoM +1.9%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0616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Rp25.12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+1.6%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1664208"/>
          <a:ext cx="11548869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9479"/>
                <a:gridCol w="898939"/>
                <a:gridCol w="898939"/>
                <a:gridCol w="973850"/>
                <a:gridCol w="898939"/>
                <a:gridCol w="1310953"/>
                <a:gridCol w="898939"/>
                <a:gridCol w="898939"/>
                <a:gridCol w="898939"/>
                <a:gridCol w="1310953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MATARAM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70.83%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69.11%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Rp17.80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+1.9%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-26.62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Rp-6.69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75.52%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+0.40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74.08%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+0.24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Rp10.38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+2.2%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-21.93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Rp-3.01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70.56%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-0.27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69.25%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Rp3.36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+0.9%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-26.89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Rp-1.28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61.29%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+0.06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59.42%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Rp4.06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+1.9%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-36.16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Rp-2.39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3913632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BILCO by LOS — Branch &amp; WOK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187952"/>
          <a:ext cx="11548868" cy="1668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1580"/>
                <a:gridCol w="2299322"/>
                <a:gridCol w="2299322"/>
                <a:gridCol w="2299322"/>
                <a:gridCol w="2299322"/>
              </a:tblGrid>
              <a:tr h="238397"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LOMBOK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SUMBAWA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SUMBAWA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81.67% / -2.85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83.41% / -2.68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86.40% / +6.19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76.12% / -6.85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72.82% / -0.85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76.54% / -0.12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70.49% / +0.16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65.40% / -5.12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67.45% / +1.90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70.91% / +0.77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68.49% / +2.16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60.97% / +2.79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65.41% / +2.40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70.97% / +2.10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66.09% / +2.31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57.16% / +3.43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62.45% / +0.51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68.42% / +0.41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64.52% / +0.86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50.95% / +0.28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8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73.56% / -0.22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77.69% / +0.30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72.72% / -1.17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64.54% / -0.58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Performance — MATARAM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10/20/2026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69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74 | MoM -6.8%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98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-29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-5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64208"/>
          <a:ext cx="11548871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234086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MATARAM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-29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-25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</a:tr>
              <a:tr h="23408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299923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3310128"/>
          <a:ext cx="11548868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740"/>
                <a:gridCol w="2298282"/>
                <a:gridCol w="2298282"/>
                <a:gridCol w="2298282"/>
                <a:gridCol w="2298282"/>
              </a:tblGrid>
              <a:tr h="35052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LOMBOK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SUMBAWA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SUMBAWA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15 / -6.3%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11 / -26.7%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</a:tr>
              <a:tr h="3505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54 / -6.9%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48 / -2.0%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 / -25.0%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 / -40.0%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MATARAM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21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45,531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23,605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51.8%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21,926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2,040 / 81.6%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2,157 / 74.1%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2,014 / 67.9%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1,976 / 66.5%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2,045 / 63.4%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1,959 / 59.9%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22,790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1,148 / 82.1%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1,271 / 77.7%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1,126 / 69.8%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1,046 / 71.4%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1,113 / 65.9%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920 / 62.5%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8,402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304 / 84.5%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306 / 71.9%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355 / 67.9%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349 / 64.8%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353 / 65.2%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354 / 62.7%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14,339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588 / 79.2%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580 / 67.4%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533 / 64.0%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581 / 58.7%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579 / 57.7%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685 / 54.9%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1,593 / 57.2%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1,760 / 57.8%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1,954 / 54.3%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1,866 / 51.9%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1,715 / 50.4%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1,998 / 49.9%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22,790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681 / 62.0%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846 / 60.0%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942 / 57.8%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879 / 58.2%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768 / 55.0%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1,017 / 52.8%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8,402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300 / 55.3%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341 / 62.8%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356 / 55.6%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292 / 54.1%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311 / 53.4%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299 / 52.5%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14,339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612 / 52.9%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573 / 51.7%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656 / 48.6%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695 / 43.0%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636 / 43.5%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682 / 44.3%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1,805 / 46.0%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1,937 / 47.9%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2,032 / 48.4%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1,924 / 44.9%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1,996 / 43.4%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1,813 / 38.3%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22,790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958 / 50.4%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1,052 / 50.9%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1,086 / 53.4%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944 / 48.0%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997 / 47.3%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908 / 43.1%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8,402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292 / 46.6%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310 / 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444 / 48.6%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445 / 43.1%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439 / 40.5%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350 / 36.3%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14,339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555 / 38.0%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575 / 41.2%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502 / 37.5%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535 / 40.9%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560 / 38.8%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555 / 31.7%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1,544 / 40.0%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1,868 / 39.8%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2,019 / 40.1%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2,107 / 37.9%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1,741 / 37.9%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1,668 / 34.3%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22,790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745 / 43.6%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797 / 44.0%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958 / 41.3%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928 / 42.1%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825 / 41.3%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835 / 40.1%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8,402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288 / 46.9%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356 / 41.0%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419 / 49.9%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507 / 40.4%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378 / 40.0%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254 / 33.1%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14,339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511 / 30.7%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715 / 34.5%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642 / 31.9%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672 / 30.2%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538 / 31.2%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579 / 26.4%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