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09/10</c:v>
                </c:pt>
                <c:pt idx="1">
                  <c:v>10/10</c:v>
                </c:pt>
                <c:pt idx="2">
                  <c:v>11/10</c:v>
                </c:pt>
                <c:pt idx="3">
                  <c:v>12/10</c:v>
                </c:pt>
                <c:pt idx="4">
                  <c:v>13/10</c:v>
                </c:pt>
                <c:pt idx="5">
                  <c:v>14/10</c:v>
                </c:pt>
                <c:pt idx="6">
                  <c:v>15/10</c:v>
                </c:pt>
                <c:pt idx="7">
                  <c:v>16/10</c:v>
                </c:pt>
                <c:pt idx="8">
                  <c:v>17/10</c:v>
                </c:pt>
                <c:pt idx="9">
                  <c:v>18/10</c:v>
                </c:pt>
                <c:pt idx="10">
                  <c:v>19/10</c:v>
                </c:pt>
                <c:pt idx="11">
                  <c:v>20/10</c:v>
                </c:pt>
                <c:pt idx="12">
                  <c:v>21/10</c:v>
                </c:pt>
                <c:pt idx="13">
                  <c:v>22/10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225.0</c:v>
                </c:pt>
                <c:pt idx="1">
                  <c:v>231.0</c:v>
                </c:pt>
                <c:pt idx="2">
                  <c:v>159.0</c:v>
                </c:pt>
                <c:pt idx="3">
                  <c:v>287.0</c:v>
                </c:pt>
                <c:pt idx="4">
                  <c:v>276.0</c:v>
                </c:pt>
                <c:pt idx="5">
                  <c:v>273.0</c:v>
                </c:pt>
                <c:pt idx="6">
                  <c:v>281.0</c:v>
                </c:pt>
                <c:pt idx="7">
                  <c:v>283.0</c:v>
                </c:pt>
                <c:pt idx="8">
                  <c:v>216.0</c:v>
                </c:pt>
                <c:pt idx="9">
                  <c:v>206.0</c:v>
                </c:pt>
                <c:pt idx="10">
                  <c:v>321.0</c:v>
                </c:pt>
                <c:pt idx="11">
                  <c:v>341.0</c:v>
                </c:pt>
                <c:pt idx="12">
                  <c:v>273.0</c:v>
                </c:pt>
                <c:pt idx="13">
                  <c:v>296.0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09/10</c:v>
                </c:pt>
                <c:pt idx="1">
                  <c:v>10/10</c:v>
                </c:pt>
                <c:pt idx="2">
                  <c:v>11/10</c:v>
                </c:pt>
                <c:pt idx="3">
                  <c:v>12/10</c:v>
                </c:pt>
                <c:pt idx="4">
                  <c:v>13/10</c:v>
                </c:pt>
                <c:pt idx="5">
                  <c:v>14/10</c:v>
                </c:pt>
                <c:pt idx="6">
                  <c:v>15/10</c:v>
                </c:pt>
                <c:pt idx="7">
                  <c:v>16/10</c:v>
                </c:pt>
                <c:pt idx="8">
                  <c:v>17/10</c:v>
                </c:pt>
                <c:pt idx="9">
                  <c:v>18/10</c:v>
                </c:pt>
                <c:pt idx="10">
                  <c:v>19/10</c:v>
                </c:pt>
                <c:pt idx="11">
                  <c:v>20/10</c:v>
                </c:pt>
                <c:pt idx="12">
                  <c:v>21/10</c:v>
                </c:pt>
                <c:pt idx="13">
                  <c:v>22/10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238.0</c:v>
                </c:pt>
                <c:pt idx="1">
                  <c:v>184.0</c:v>
                </c:pt>
                <c:pt idx="2">
                  <c:v>121.0</c:v>
                </c:pt>
                <c:pt idx="3">
                  <c:v>206.0</c:v>
                </c:pt>
                <c:pt idx="4">
                  <c:v>225.0</c:v>
                </c:pt>
                <c:pt idx="5">
                  <c:v>212.0</c:v>
                </c:pt>
                <c:pt idx="6">
                  <c:v>206.0</c:v>
                </c:pt>
                <c:pt idx="7">
                  <c:v>212.0</c:v>
                </c:pt>
                <c:pt idx="8">
                  <c:v>190.0</c:v>
                </c:pt>
                <c:pt idx="9">
                  <c:v>146.0</c:v>
                </c:pt>
                <c:pt idx="10">
                  <c:v>256.0</c:v>
                </c:pt>
                <c:pt idx="11">
                  <c:v>261.0</c:v>
                </c:pt>
                <c:pt idx="12">
                  <c:v>249.0</c:v>
                </c:pt>
                <c:pt idx="13">
                  <c:v>219.0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-11,0% &amp; PS -12,0% MoM — Achievement Mencapai 52,4% (RE) / 50,6%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22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01–22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(+0,7%), Denpasar Terdalam (-21,6%)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+0,7%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-3,1%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-7,4%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(+13,6%), Flores Timur Terdalam (-35,6%)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Sikka Penyumbang PS Absolut Terbesar (+39), Manggarai Tumbuh Tertinggi (+28,3%)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+120, Bottom 5 -509, dan perubahan PS regional -638.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(-5,8%), TSEL One &gt;30 Mbps Turun Terdalam (-25,9%)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-8,8% MoM, DJP Data Transition — SF Register 946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14.481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38.148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25.335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83.483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1.732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5.724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Okt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138 / 337 (40,9%)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 | Turun 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 / 378 (46,8%)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 / 137 (45,3%)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 / 151 (49,7%)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-17,6%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104 / 151 (68,9%)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+6,1%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 / 164 (70,7%)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+6,4%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145 / 227 (63,9%)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-7,1%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168 / 253 (66,4%)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 / 58 (91,4%)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449 / 852 (52,7%)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 | Turun 270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538 / 965 (55,8%)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-9,3% | Turun 329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1.618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2.634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4.098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337 (6,8%)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 | Turun 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378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137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 / 151 (16,6%)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-7,4% | Turun 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151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+21,4% | Turun 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164 (12,2%)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227 (14,5%)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 | Turun 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 / 253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+4,5%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58 (31,0%)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27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 / 852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 | Turun 270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19 (73,7%)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-26,3%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137 / 965 (14,2%)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329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USWATUN HASANAH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 SANDI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HUZAIMATUL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NURJANAH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RATNA PATI 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ERNAWATU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01–22 Okt 2026 vs MTD-1 01–22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Okt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1.637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4.692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2.365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1.384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Okt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468,8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01–22 Okt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6.742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6.003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5.330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4.692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5.705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5.039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4.658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4.098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898,2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554 | MoM -8,7%
PS: 536 | MoM -8,8%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468 | Active 54,9% | MoM -9,5%
  PS: 449 | Active 52,7% | MoM -10,0%
• Greenfield
  RE: 52 | Active 89,7% | MoM -5,5%
  PS: 53 | Active 91,4% | MoM -1,9%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-37,3%, Gap -31
• Flores: PS +1,0%, Gap +1
• Kupang: PS -20,5%, Gap -8
• Mataram: PS -16,3%, Gap 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Baa Rote (Kupang): -66,7%, Gap -2
• Grapari Larantuka (Flores): -62,5%, Gap -5
• Grapari Sumbawa (Mataram): -55,6%, Gap -5
• Grapari Renon (Denpasar): -54,8%, Gap -17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-239 (-31,0%), PS -252 (-37,1%)
• Bali Tengah: RE -183 (-14,3%), PS -170 (-15,6%)
• Lombok: RE -98 (-10,2%), PS -62 (-8,1%)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-7 (-17,5%), PS -10 (-45,5%)
• Sumbawa Barat: RE -10 (-45,5%), PS -9 (-64,3%)
• Bali Tengah: RE -7 (-5,3%), PS -7 (-7,1%)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+3 (+21,4%), PS -4 (-40,0%)
• Ende Sikka: RE +1 (+25,0%), PS -3 (-75,0%)
• Flores Timur: RE 0 (0,0%),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-3 (-60,0%)
• Manggarai: RE -2 (-66,7%), PS -3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90.03%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90.82% | MoM -0.79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-7.18 pp | Rp-7.68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89.35%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89.97% | MoM -0.62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Rp96.34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Rp96.68 M | MoM -0.3%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Rp52.60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Rp-2.27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82.37%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-13.00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85.32%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84.15%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-10.51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87.64%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86.56%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Rp22.02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Rp-2.46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92.29%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91.45%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Rp10.25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-5.29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Rp-587.0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93.23%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Rp29.67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Rp-1.18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93.31%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Rp12.69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Rp-505.8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86.75%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84.98%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Rp3.44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75.86%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75.41%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Rp1.68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-20.84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Rp-460.5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87.05%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85.87%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-0.94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Rp7.49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-8.78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82.12%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80.85%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Rp3.17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Rp-529.8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84.99%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83.79%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Rp3.43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Rp-472.8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-1.69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Rp2.51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-11.35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Rp-337.2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89.62%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88.63%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Rp12.31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-7.83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86.66%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85.91%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Rp4.13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-10.79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Rp-514.1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84.24%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83.02%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-13.21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Rp-874.7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90.03%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-0.79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93.66% / +0.83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94.69% / -0.01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94.16% / +1.86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90.21% / +0.77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93.69% / +1.69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86.11% / +1.13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87.65% / +0.65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83.99% / +1.31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81.91% / +3.28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86.92% / -0.22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81.32% / -1.27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83.69% / -0.94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74.86% / -4.15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76.06% / -2.74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84.76% / +0.53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83.62% / -1.19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88.26% / -0.98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77.65% / -2.23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78.72% / -2.70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82.42% / +0.14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85.33% / -1.23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90.19% / -0.54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78.79% / -2.79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80.65% / -2.03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82.23% / -1.31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92.50% / -0.71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95.29% / -0.26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86.82% / -2.38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88.61% / -1.00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89.85% / -1.06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548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M-1 546 | MoM +0.4%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-129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26778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6778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 / +4.6%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69 / +7.8%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 / +5.9%</a:t>
                      </a:r>
                    </a:p>
                  </a:txBody>
                  <a:tcPr/>
                </a:tc>
              </a:tr>
              <a:tr h="267791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445 / -2.8%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361 / -0.6%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 / -8.3%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60 / -9.1%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115,082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65.7%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60,149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88.9%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82.5%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78.7%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73.7%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76.5%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63.0%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63.8%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55.3%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57.4%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52.5%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54.8%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48.6%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46.3%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