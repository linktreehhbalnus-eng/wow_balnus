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Flores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Sheet1!$A$2:$A$19</c:f>
              <c:strCache>
                <c:ptCount val="18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33.0</c:v>
                </c:pt>
                <c:pt idx="1">
                  <c:v>32.0</c:v>
                </c:pt>
                <c:pt idx="2">
                  <c:v>24.0</c:v>
                </c:pt>
                <c:pt idx="3">
                  <c:v>13.0</c:v>
                </c:pt>
                <c:pt idx="4">
                  <c:v>27.0</c:v>
                </c:pt>
                <c:pt idx="5">
                  <c:v>23.0</c:v>
                </c:pt>
                <c:pt idx="6">
                  <c:v>30.0</c:v>
                </c:pt>
                <c:pt idx="7">
                  <c:v>28.0</c:v>
                </c:pt>
                <c:pt idx="8">
                  <c:v>17.0</c:v>
                </c:pt>
                <c:pt idx="9">
                  <c:v>22.0</c:v>
                </c:pt>
                <c:pt idx="10">
                  <c:v>13.0</c:v>
                </c:pt>
                <c:pt idx="11">
                  <c:v>24.0</c:v>
                </c:pt>
                <c:pt idx="12">
                  <c:v>19.0</c:v>
                </c:pt>
                <c:pt idx="13">
                  <c:v>26.0</c:v>
                </c:pt>
                <c:pt idx="14">
                  <c:v>23.0</c:v>
                </c:pt>
                <c:pt idx="15">
                  <c:v>20.0</c:v>
                </c:pt>
                <c:pt idx="16">
                  <c:v>17.0</c:v>
                </c:pt>
                <c:pt idx="17">
                  <c:v>13.0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Ende Sikka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Sheet1!$A$2:$A$19</c:f>
              <c:strCache>
                <c:ptCount val="18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12.0</c:v>
                </c:pt>
                <c:pt idx="1">
                  <c:v>13.0</c:v>
                </c:pt>
                <c:pt idx="2">
                  <c:v>8.0</c:v>
                </c:pt>
                <c:pt idx="3">
                  <c:v>8.0</c:v>
                </c:pt>
                <c:pt idx="4">
                  <c:v>9.0</c:v>
                </c:pt>
                <c:pt idx="5">
                  <c:v>9.0</c:v>
                </c:pt>
                <c:pt idx="6">
                  <c:v>14.0</c:v>
                </c:pt>
                <c:pt idx="7">
                  <c:v>13.0</c:v>
                </c:pt>
                <c:pt idx="8">
                  <c:v>9.0</c:v>
                </c:pt>
                <c:pt idx="9">
                  <c:v>9.0</c:v>
                </c:pt>
                <c:pt idx="10">
                  <c:v>8.0</c:v>
                </c:pt>
                <c:pt idx="11">
                  <c:v>11.0</c:v>
                </c:pt>
                <c:pt idx="12">
                  <c:v>8.0</c:v>
                </c:pt>
                <c:pt idx="13">
                  <c:v>9.0</c:v>
                </c:pt>
                <c:pt idx="14">
                  <c:v>11.0</c:v>
                </c:pt>
                <c:pt idx="15">
                  <c:v>10.0</c:v>
                </c:pt>
                <c:pt idx="16">
                  <c:v>6.0</c:v>
                </c:pt>
                <c:pt idx="17">
                  <c:v>6.0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Flores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Sheet1!$A$2:$A$19</c:f>
              <c:strCache>
                <c:ptCount val="18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</c:strCache>
            </c:strRef>
          </c:cat>
          <c:val>
            <c:numRef>
              <c:f>Sheet1!$D$2:$D$19</c:f>
              <c:numCache>
                <c:formatCode>General</c:formatCode>
                <c:ptCount val="18"/>
                <c:pt idx="0">
                  <c:v>6.0</c:v>
                </c:pt>
                <c:pt idx="1">
                  <c:v>4.0</c:v>
                </c:pt>
                <c:pt idx="2">
                  <c:v>6.0</c:v>
                </c:pt>
                <c:pt idx="3">
                  <c:v>4.0</c:v>
                </c:pt>
                <c:pt idx="4">
                  <c:v>4.0</c:v>
                </c:pt>
                <c:pt idx="5">
                  <c:v>3.0</c:v>
                </c:pt>
                <c:pt idx="6">
                  <c:v>2.0</c:v>
                </c:pt>
                <c:pt idx="7">
                  <c:v>4.0</c:v>
                </c:pt>
                <c:pt idx="8">
                  <c:v>0</c:v>
                </c:pt>
                <c:pt idx="9">
                  <c:v>2.0</c:v>
                </c:pt>
                <c:pt idx="10">
                  <c:v>1.0</c:v>
                </c:pt>
                <c:pt idx="11">
                  <c:v>3.0</c:v>
                </c:pt>
                <c:pt idx="12">
                  <c:v>3.0</c:v>
                </c:pt>
                <c:pt idx="13">
                  <c:v>4.0</c:v>
                </c:pt>
                <c:pt idx="14">
                  <c:v>4.0</c:v>
                </c:pt>
                <c:pt idx="15">
                  <c:v>2.0</c:v>
                </c:pt>
                <c:pt idx="16">
                  <c:v>1.0</c:v>
                </c:pt>
                <c:pt idx="17">
                  <c:v>2.0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Manggarai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Sheet1!$A$2:$A$19</c:f>
              <c:strCache>
                <c:ptCount val="18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</c:strCache>
            </c:strRef>
          </c:cat>
          <c:val>
            <c:numRef>
              <c:f>Sheet1!$E$2:$E$19</c:f>
              <c:numCache>
                <c:formatCode>General</c:formatCode>
                <c:ptCount val="18"/>
                <c:pt idx="0">
                  <c:v>15.0</c:v>
                </c:pt>
                <c:pt idx="1">
                  <c:v>15.0</c:v>
                </c:pt>
                <c:pt idx="2">
                  <c:v>10.0</c:v>
                </c:pt>
                <c:pt idx="3">
                  <c:v>1.0</c:v>
                </c:pt>
                <c:pt idx="4">
                  <c:v>14.0</c:v>
                </c:pt>
                <c:pt idx="5">
                  <c:v>11.0</c:v>
                </c:pt>
                <c:pt idx="6">
                  <c:v>14.0</c:v>
                </c:pt>
                <c:pt idx="7">
                  <c:v>11.0</c:v>
                </c:pt>
                <c:pt idx="8">
                  <c:v>8.0</c:v>
                </c:pt>
                <c:pt idx="9">
                  <c:v>11.0</c:v>
                </c:pt>
                <c:pt idx="10">
                  <c:v>4.0</c:v>
                </c:pt>
                <c:pt idx="11">
                  <c:v>10.0</c:v>
                </c:pt>
                <c:pt idx="12">
                  <c:v>8.0</c:v>
                </c:pt>
                <c:pt idx="13">
                  <c:v>13.0</c:v>
                </c:pt>
                <c:pt idx="14">
                  <c:v>8.0</c:v>
                </c:pt>
                <c:pt idx="15">
                  <c:v>8.0</c:v>
                </c:pt>
                <c:pt idx="16">
                  <c:v>10.0</c:v>
                </c:pt>
                <c:pt idx="17">
                  <c:v>5.0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Unknown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Sheet1!$A$2:$A$19</c:f>
              <c:strCache>
                <c:ptCount val="18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</c:strCache>
            </c:strRef>
          </c:cat>
          <c:val>
            <c:numRef>
              <c:f>Sheet1!$F$2:$F$19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Flores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Sheet1!$A$2:$A$19</c:f>
              <c:strCache>
                <c:ptCount val="18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23.0</c:v>
                </c:pt>
                <c:pt idx="1">
                  <c:v>21.0</c:v>
                </c:pt>
                <c:pt idx="2">
                  <c:v>18.0</c:v>
                </c:pt>
                <c:pt idx="3">
                  <c:v>15.0</c:v>
                </c:pt>
                <c:pt idx="4">
                  <c:v>21.0</c:v>
                </c:pt>
                <c:pt idx="5">
                  <c:v>26.0</c:v>
                </c:pt>
                <c:pt idx="6">
                  <c:v>23.0</c:v>
                </c:pt>
                <c:pt idx="7">
                  <c:v>27.0</c:v>
                </c:pt>
                <c:pt idx="8">
                  <c:v>34.0</c:v>
                </c:pt>
                <c:pt idx="9">
                  <c:v>15.0</c:v>
                </c:pt>
                <c:pt idx="10">
                  <c:v>9.0</c:v>
                </c:pt>
                <c:pt idx="11">
                  <c:v>22.0</c:v>
                </c:pt>
                <c:pt idx="12">
                  <c:v>25.0</c:v>
                </c:pt>
                <c:pt idx="13">
                  <c:v>26.0</c:v>
                </c:pt>
                <c:pt idx="14">
                  <c:v>20.0</c:v>
                </c:pt>
                <c:pt idx="15">
                  <c:v>20.0</c:v>
                </c:pt>
                <c:pt idx="16">
                  <c:v>13.0</c:v>
                </c:pt>
                <c:pt idx="17">
                  <c:v>7.0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Ende Sikka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Sheet1!$A$2:$A$19</c:f>
              <c:strCache>
                <c:ptCount val="18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9.0</c:v>
                </c:pt>
                <c:pt idx="1">
                  <c:v>9.0</c:v>
                </c:pt>
                <c:pt idx="2">
                  <c:v>7.0</c:v>
                </c:pt>
                <c:pt idx="3">
                  <c:v>7.0</c:v>
                </c:pt>
                <c:pt idx="4">
                  <c:v>9.0</c:v>
                </c:pt>
                <c:pt idx="5">
                  <c:v>12.0</c:v>
                </c:pt>
                <c:pt idx="6">
                  <c:v>11.0</c:v>
                </c:pt>
                <c:pt idx="7">
                  <c:v>7.0</c:v>
                </c:pt>
                <c:pt idx="8">
                  <c:v>16.0</c:v>
                </c:pt>
                <c:pt idx="9">
                  <c:v>8.0</c:v>
                </c:pt>
                <c:pt idx="10">
                  <c:v>6.0</c:v>
                </c:pt>
                <c:pt idx="11">
                  <c:v>12.0</c:v>
                </c:pt>
                <c:pt idx="12">
                  <c:v>8.0</c:v>
                </c:pt>
                <c:pt idx="13">
                  <c:v>9.0</c:v>
                </c:pt>
                <c:pt idx="14">
                  <c:v>9.0</c:v>
                </c:pt>
                <c:pt idx="15">
                  <c:v>7.0</c:v>
                </c:pt>
                <c:pt idx="16">
                  <c:v>8.0</c:v>
                </c:pt>
                <c:pt idx="17">
                  <c:v>2.0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Flores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Sheet1!$A$2:$A$19</c:f>
              <c:strCache>
                <c:ptCount val="18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</c:strCache>
            </c:strRef>
          </c:cat>
          <c:val>
            <c:numRef>
              <c:f>Sheet1!$D$2:$D$19</c:f>
              <c:numCache>
                <c:formatCode>General</c:formatCode>
                <c:ptCount val="18"/>
                <c:pt idx="0">
                  <c:v>5.0</c:v>
                </c:pt>
                <c:pt idx="1">
                  <c:v>3.0</c:v>
                </c:pt>
                <c:pt idx="2">
                  <c:v>3.0</c:v>
                </c:pt>
                <c:pt idx="3">
                  <c:v>3.0</c:v>
                </c:pt>
                <c:pt idx="4">
                  <c:v>4.0</c:v>
                </c:pt>
                <c:pt idx="5">
                  <c:v>3.0</c:v>
                </c:pt>
                <c:pt idx="6">
                  <c:v>3.0</c:v>
                </c:pt>
                <c:pt idx="7">
                  <c:v>4.0</c:v>
                </c:pt>
                <c:pt idx="8">
                  <c:v>4.0</c:v>
                </c:pt>
                <c:pt idx="9">
                  <c:v>2.0</c:v>
                </c:pt>
                <c:pt idx="10">
                  <c:v>1.0</c:v>
                </c:pt>
                <c:pt idx="11">
                  <c:v>1.0</c:v>
                </c:pt>
                <c:pt idx="12">
                  <c:v>2.0</c:v>
                </c:pt>
                <c:pt idx="13">
                  <c:v>6.0</c:v>
                </c:pt>
                <c:pt idx="14">
                  <c:v>1.0</c:v>
                </c:pt>
                <c:pt idx="15">
                  <c:v>2.0</c:v>
                </c:pt>
                <c:pt idx="16">
                  <c:v>1.0</c:v>
                </c:pt>
                <c:pt idx="17">
                  <c:v>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Manggarai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Sheet1!$A$2:$A$19</c:f>
              <c:strCache>
                <c:ptCount val="18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</c:strCache>
            </c:strRef>
          </c:cat>
          <c:val>
            <c:numRef>
              <c:f>Sheet1!$E$2:$E$19</c:f>
              <c:numCache>
                <c:formatCode>General</c:formatCode>
                <c:ptCount val="18"/>
                <c:pt idx="0">
                  <c:v>9.0</c:v>
                </c:pt>
                <c:pt idx="1">
                  <c:v>9.0</c:v>
                </c:pt>
                <c:pt idx="2">
                  <c:v>8.0</c:v>
                </c:pt>
                <c:pt idx="3">
                  <c:v>5.0</c:v>
                </c:pt>
                <c:pt idx="4">
                  <c:v>8.0</c:v>
                </c:pt>
                <c:pt idx="5">
                  <c:v>11.0</c:v>
                </c:pt>
                <c:pt idx="6">
                  <c:v>9.0</c:v>
                </c:pt>
                <c:pt idx="7">
                  <c:v>16.0</c:v>
                </c:pt>
                <c:pt idx="8">
                  <c:v>14.0</c:v>
                </c:pt>
                <c:pt idx="9">
                  <c:v>5.0</c:v>
                </c:pt>
                <c:pt idx="10">
                  <c:v>2.0</c:v>
                </c:pt>
                <c:pt idx="11">
                  <c:v>9.0</c:v>
                </c:pt>
                <c:pt idx="12">
                  <c:v>15.0</c:v>
                </c:pt>
                <c:pt idx="13">
                  <c:v>11.0</c:v>
                </c:pt>
                <c:pt idx="14">
                  <c:v>10.0</c:v>
                </c:pt>
                <c:pt idx="15">
                  <c:v>11.0</c:v>
                </c:pt>
                <c:pt idx="16">
                  <c:v>4.0</c:v>
                </c:pt>
                <c:pt idx="17">
                  <c:v>5.0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Unknown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Sheet1!$A$2:$A$19</c:f>
              <c:strCache>
                <c:ptCount val="18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</c:strCache>
            </c:strRef>
          </c:cat>
          <c:val>
            <c:numRef>
              <c:f>Sheet1!$F$2:$F$19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01–18 Oct 2026 vs MTD-1 01–18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1.455,9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53,0%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683,9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1.182,5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51,6%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572,5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3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76,6%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79,0%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+2,4 pp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Flores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55,0%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266,1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57,1%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206,1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-34,4%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35,0%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233,6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-35,3%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30,8%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202,1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63,3%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185,2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164,3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828031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321807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+24,5%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321807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Lembata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-29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-31,8%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01–18 Oct 2026 vs MTD-1 01–18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749808"/>
            <a:ext cx="329184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SF Register: 150 → 151  (+0,7%)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76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1368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-14,6%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89   Δ -13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73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-16,1%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87   Δ -14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16952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61   Current DJP unavailable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24744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2.037   Current DJP unavailable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2" cy="1938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1088"/>
                <a:gridCol w="613666"/>
                <a:gridCol w="613666"/>
                <a:gridCol w="613666"/>
                <a:gridCol w="681852"/>
                <a:gridCol w="681852"/>
                <a:gridCol w="681852"/>
                <a:gridCol w="681852"/>
                <a:gridCol w="681852"/>
                <a:gridCol w="681852"/>
                <a:gridCol w="664805"/>
                <a:gridCol w="664805"/>
                <a:gridCol w="664805"/>
                <a:gridCol w="767083"/>
                <a:gridCol w="767083"/>
                <a:gridCol w="767083"/>
              </a:tblGrid>
              <a:tr h="323088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Register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3088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TOTAL 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+0,7%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-14,6%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-16,1%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2.037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-10,3%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-10,7%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989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-11,5%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-35,3%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+9,9%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-9,3%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672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791456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Flores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5065776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6519672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01–18 Oct 2026 vs MTD-1 01–18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13 / 13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60 / 137 (43,8%)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-18,9% | Turun 38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73 / 151 (48,3%)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-17,0% | Turun 43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5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20 / 45 (44,4%)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-16,7% | Turun 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25 / 50 (50,0%)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-13,8% | Turun 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11 / 21 (52,4%)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-31,2% | Turun 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12 / 23 (52,2%)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-33,3% | Turun 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 / 7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29 / 71 (40,8%)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-14,7% | Turun 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36 / 78 (46,2%)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-12,2% | Turun 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152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+18,8%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354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-8,5%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506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-5,1%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167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223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68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133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215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8 / 13 (61,5%)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+33,3% | Turun 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10 / 137 (7,3%)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-28,6% | Turun 38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18 / 151 (11,9%)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-14,3% | Turun 43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+33,3%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 / 45 (15,6%)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+16,7% | Turun 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11 / 50 (22,0%)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+22,2% | Turun 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 / 21 (9,5%)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-50,0% | Turun 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 / 23 (13,0%)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-40,0% | Turun 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7 (42,9%)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 / 71 (1,4%)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-75,0% | Turun 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 / 78 (5,1%)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-42,9% | Turun 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01–18 Oct 2026 vs MTD-1 01–18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01–18 Oct 2026 vs MTD-1 01–18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435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-40,9%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-40,4%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30358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3731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3731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+42,9%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3731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3731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3731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3731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3731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3731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3731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4425696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Flores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471830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498348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678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471830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498348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108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2.069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2.619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6.071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34,1%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239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20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01–18 Oct 2026 vs MTD-1 01–18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120,7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110,9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5,2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76 | MoM -14,6%
PS: 73 | MoM -16,1%
• Junior
  RE: 63 | Active 46,0% | MoM -16,0%
  PS: 60 | Active 43,8% | MoM -17,8%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Greenfield
  RE: 13 | Active 100,0% | MoM 0,0%
  PS: 13 | Active 100,0% | MoM 0,0%
• Junior Plus
  RE: 0 | Active 0,0% | MoM -100,0%
  PS: 0 | Active 0,0% | MoM -100,0%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Bajawa: PS N/A, Gap 1
• Grapari Ende: PS -16,7%, Gap -1
• Grapari Kalabahi: PS +25,0%, Gap 1
• Grapari Labuan Bajo: PS -50,0%, Gap -1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Larantuka: PS -50,0%, Gap -1
• Grapari Maumere: PS +600,0%, Gap 6
• Grapari Ruteng: PS -100,0%, Gap -1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Flores Timur: RE -63 (-40,9%), PS -46 (-40,4%)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Flores Timur: RE -5 (-55,6%), PS -1 (-33,3%)
• Manggarai: RE -3 (-18,8%), PS -1 (-11,1%)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Ende Sikka: RE 0 (0,0%), PS -3 (-100,0%)
• Flores Timur: RE 1 (+100,0%), PS -2 (-100,0%)
• Manggarai: RE -3 (-60,0%), PS -2 (-100,0%)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Manggarai: RE -1 (-50,0%), PS -2 (-100,0%)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01–18 Oct 2026 vs MTD-1 01–18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-35,3%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01–18 Oct 2026 vs MTD-1 01–18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68,5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63,5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13,9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14,2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43,4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44,8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31,3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32,0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17,9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22,9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16,1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22,2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13,9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14,2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14,2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14,1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13,8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930,0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310,0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310,0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930,0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930,0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141,4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137,1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56,2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61,4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30,5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19,9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-34,9%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54,4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55,9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01–18 Oct 2026 vs MTD-1 01–18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RATNA PATI 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SPNAT35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STEFANI WEA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SPESS73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THERESIA NETIANA DELOS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SPLEL24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VINSENSIUS JEMADA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VIN2925601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JENIATI BETI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MAR5321403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Putu Wira Anggrawan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IPU6453975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+171,4%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Florida Bhalu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FLO9073003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EMANUEL MARYANUS DE ORNAY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EMA7688343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Dionisius lalu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DIO5274670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Alifiah Putri Fadillah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ALI4809280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THERESIA NETIANA DELOS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SPLEL24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RATNA PATI 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SPNAT35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JENIATI BETI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MAR5321403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TEOFELUS EPIPEO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SPTFL84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Putu Wira Anggrawan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IPU6453975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19,0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+172,7%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EMANUEL MARYANUS DE ORNAY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EMA7688343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SUPAMRI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SPIRU12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JANUARIUS PAULUS KOPONG HADA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JAN6694249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BENYAMIN NDEWI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SPBEN72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VINSENSIUS JEMADA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VIN2925601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01–18 Oct 2026 vs MTD-1 01–18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umar mangu laga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UMA8300566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VALENTINUS S LEIN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SPVAL77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YOHANES NATALIS TOLEK KELEN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SPISE19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YOHANES LABA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SPLBA98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FRANSISKUS XAVERIUS LENGU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SPVXK18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YOSAFAT SUDARSO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SPYSS79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Balla panja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BAL4069900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GUSTI KOMANG SUKAYANA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SPSTI73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Roynaldus aquino kasi agung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ROY3974529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DOMINGGUS RATU LELE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SPOIL46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Yohannes moa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YOH4255803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VALENTINUS S LEIN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SPVAL77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YOHANES LABA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SPLBA98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FRANSISKUS XAVERIUS LENGU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SPVXK18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YOSAFAT SUDARSO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SPYSS79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Balla panja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BAL4069900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Roynaldus aquino kasi agung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ROY3974529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DOMINGGUS RATU LELE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SPOIL46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Aloysius fransisco becenty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ALO6883465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Elias Vitus Watu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ELI8004604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FFFFFF"/>
                </a:solidFill>
                <a:latin typeface="Arial"/>
              </a:defRPr>
            </a:pPr>
            <a:r>
              <a:t>BILCO Performance — FLORES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FFFFFF"/>
                </a:solidFill>
                <a:latin typeface="Arial"/>
              </a:defRPr>
            </a:pPr>
            <a:r>
              <a:t>Snapshot 10/18/2026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C3MR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35.08%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36.27% | MoM -1.18 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15184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TARGET / GAP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96.70%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-61.62 pp | Rp-6.29 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10328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PAID RATE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33.97%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34.58% | MoM -0.61 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5472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PAYMENT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Rp3.58 M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Rp3.68 M | MoM -2.8%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0616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BILLING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Rp10.21 M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MoM +0.5%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1664208"/>
          <a:ext cx="11548869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9479"/>
                <a:gridCol w="898939"/>
                <a:gridCol w="898939"/>
                <a:gridCol w="973850"/>
                <a:gridCol w="898939"/>
                <a:gridCol w="1310953"/>
                <a:gridCol w="898939"/>
                <a:gridCol w="898939"/>
                <a:gridCol w="898939"/>
                <a:gridCol w="1310953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C3MR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Paid Rate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Payment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Gap %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Gap Rp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FLORES (BRANCH)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35.08%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-1.18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33.97%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-0.61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Rp3.58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-2.8%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-61.62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Rp-6.29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33.94%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-0.68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32.35%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-0.11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Rp1.34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-0.8%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-62.76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Rp-2.49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33.57%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-3.20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33.06%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-2.75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Rp741.7 Jt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-7.8%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-63.13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Rp-1.39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37.04%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-0.55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36.19%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+0.17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Rp1.50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-1.9%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-59.66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Rp-2.41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20040" y="391363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BILCO by LOS — Branch &amp; WOK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20040" y="4187952"/>
          <a:ext cx="11548868" cy="1668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1580"/>
                <a:gridCol w="2299322"/>
                <a:gridCol w="2299322"/>
                <a:gridCol w="2299322"/>
                <a:gridCol w="2299322"/>
              </a:tblGrid>
              <a:tr h="238397"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FLORES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ENDE SIKKA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FLORES TIMUR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MANGGARAI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70.89% / +0.21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69.36% / +3.33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65.12% / -12.07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75.96% / +4.45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46.96% / +4.06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41.28% / +3.33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48.51% / +4.33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52.31% / +4.74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4 - 6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31.46% / -0.84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28.39% / +0.81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29.14% / -3.95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36.05% / -0.24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7 - 12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29.70% / +0.37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25.73% / +0.28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32.02% / -1.19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32.46% / +1.11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28.61% / +0.18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24.48% / +0.38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30.59% / -1.40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31.47% / +0.92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8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36.44% / -2.26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37.07% / -1.67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33.13% / -4.24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37.64% / -1.75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FFFFFF"/>
                </a:solidFill>
                <a:latin typeface="Arial"/>
              </a:defRPr>
            </a:pPr>
            <a:r>
              <a:t>CAPS Performance — FLORES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FFFFFF"/>
                </a:solidFill>
                <a:latin typeface="Arial"/>
              </a:defRPr>
            </a:pPr>
            <a:r>
              <a:t>Snapshot 10/18/2026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CAPS M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3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M-1 4 | MoM -25.0%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9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Batas CAPS bulan berjalan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064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GAP 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-6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CAPS M - Target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Δ M vs M-1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-1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Perubahan jumlah CAPS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1664208"/>
          <a:ext cx="11548871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0300"/>
                <a:gridCol w="1443609"/>
                <a:gridCol w="1443609"/>
                <a:gridCol w="1154887"/>
                <a:gridCol w="1299248"/>
                <a:gridCol w="1443609"/>
                <a:gridCol w="1443609"/>
              </a:tblGrid>
              <a:tr h="234086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Δ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Gap 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34086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FLORES (BRANCH)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-6</a:t>
                      </a:r>
                    </a:p>
                  </a:txBody>
                  <a:tcPr/>
                </a:tc>
              </a:tr>
              <a:tr h="234086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+0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-4</a:t>
                      </a:r>
                    </a:p>
                  </a:txBody>
                  <a:tcPr/>
                </a:tc>
              </a:tr>
              <a:tr h="234086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</a:t>
                      </a:r>
                    </a:p>
                  </a:txBody>
                  <a:tcPr/>
                </a:tc>
              </a:tr>
              <a:tr h="234088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+0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299923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CAPS by LOS — Branch &amp; WOK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3310128"/>
          <a:ext cx="11548868" cy="1051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5740"/>
                <a:gridCol w="2298282"/>
                <a:gridCol w="2298282"/>
                <a:gridCol w="2298282"/>
                <a:gridCol w="2298282"/>
              </a:tblGrid>
              <a:tr h="35052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FLORES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ENDE SIKKA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FLORES TIMUR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MANGGARAI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0 / 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1 / +100.0%</a:t>
                      </a:r>
                    </a:p>
                  </a:txBody>
                  <a:tcPr/>
                </a:tc>
              </a:tr>
              <a:tr h="35052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 / -50.0%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0 / 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1 / -50.0%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1 / -50.0%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50" b="1">
                <a:solidFill>
                  <a:srgbClr val="FFFFFF"/>
                </a:solidFill>
                <a:latin typeface="Arial"/>
              </a:defRPr>
            </a:pPr>
            <a:r>
              <a:t>Healthy Sales — FLORES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6400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 b="0">
                <a:solidFill>
                  <a:srgbClr val="FFFFFF"/>
                </a:solidFill>
                <a:latin typeface="Arial"/>
              </a:defRPr>
            </a:pPr>
            <a:r>
              <a:t>15 Okt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09728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WO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20,108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012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PAID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12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4,384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5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9048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HEALTHY SALES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048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21.8%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1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70847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UNPAID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0847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15,724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1481328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1,010 / 62.9%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894 / 43.6%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997 / 34.6%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955 / 23.2%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1,159 / 21.4%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1,057 / 20.1%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8,056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19.1%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406 / 61.1%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364 / 37.1%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409 / 28.4%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378 / 21.4%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443 / 21.4%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398 / 16.8%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4,395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236 / 61.4%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230 / 47.0%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247 / 39.3%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256 / 20.7%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251 / 15.1%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261 / 18.0%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7,657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23.9%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368 / 65.8%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300 / 49.0%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341 / 38.7%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321 / 27.4%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465 / 24.7%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398 / 24.9%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2752344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1,200 / 21.9%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966 / 21.6%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861 / 19.7%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807 / 20.4%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921 / 18.4%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831 / 17.1%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8,056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19.1%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451 / 20.0%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369 / 17.3%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364 / 17.3%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384 / 16.7%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377 / 14.8%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328 / 16.8%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4,395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290 / 22.8%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229 / 21.0%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195 / 24.1%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145 / 24.8%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191 / 20.4%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170 / 17.1%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7,657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23.9%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459 / 23.3%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368 / 26.4%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302 / 19.9%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278 / 23.4%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353 / 21.0%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333 / 17.4%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320040" y="4023360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696 / 17.1%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811 / 14.9%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811 / 14.7%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686 / 14.9%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727 / 13.8%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749 / 15.9%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8,056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19.1%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290 / 13.8%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297 / 13.5%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312 / 13.8%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264 / 12.5%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259 / 9.3%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324 / 10.5%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4,395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147 / 21.8%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159 / 15.7%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163 / 19.0%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163 / 16.6%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162 / 16.1%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124 / 13.7%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7,657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23.9%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259 / 18.1%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355 / 15.8%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336 / 13.4%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259 / 16.2%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306 / 16.3%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301 / 22.6%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320040" y="5294376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776 / 11.7%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705 / 12.3%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626 / 16.3%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669 / 14.8%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574 / 13.1%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620 / 12.7%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8,056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19.1%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359 / 12.3%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294 / 9.5%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237 / 14.3%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280 / 12.5%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211 / 9.9%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258 / 10.1%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4,395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135 / 10.4%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158 / 15.8%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128 / 19.5%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108 / 16.7%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106 / 12.3%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141 / 11.3%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7,657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23.9%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282 / 11.7%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253 / 13.4%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261 / 16.5%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281 / 16.4%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257 / 15.9%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221 / 16.7%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