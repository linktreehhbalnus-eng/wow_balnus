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33.0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  <c:pt idx="5">
                  <c:v>23.0</c:v>
                </c:pt>
                <c:pt idx="6">
                  <c:v>30.0</c:v>
                </c:pt>
                <c:pt idx="7">
                  <c:v>28.0</c:v>
                </c:pt>
                <c:pt idx="8">
                  <c:v>17.0</c:v>
                </c:pt>
                <c:pt idx="9">
                  <c:v>22.0</c:v>
                </c:pt>
                <c:pt idx="10">
                  <c:v>13.0</c:v>
                </c:pt>
                <c:pt idx="11">
                  <c:v>24.0</c:v>
                </c:pt>
                <c:pt idx="12">
                  <c:v>19.0</c:v>
                </c:pt>
                <c:pt idx="13">
                  <c:v>26.0</c:v>
                </c:pt>
                <c:pt idx="14">
                  <c:v>23.0</c:v>
                </c:pt>
                <c:pt idx="15">
                  <c:v>20.0</c:v>
                </c:pt>
                <c:pt idx="16">
                  <c:v>17.0</c:v>
                </c:pt>
                <c:pt idx="17">
                  <c:v>13.0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  <c:pt idx="5">
                  <c:v>9.0</c:v>
                </c:pt>
                <c:pt idx="6">
                  <c:v>14.0</c:v>
                </c:pt>
                <c:pt idx="7">
                  <c:v>13.0</c:v>
                </c:pt>
                <c:pt idx="8">
                  <c:v>9.0</c:v>
                </c:pt>
                <c:pt idx="9">
                  <c:v>9.0</c:v>
                </c:pt>
                <c:pt idx="10">
                  <c:v>8.0</c:v>
                </c:pt>
                <c:pt idx="11">
                  <c:v>11.0</c:v>
                </c:pt>
                <c:pt idx="12">
                  <c:v>8.0</c:v>
                </c:pt>
                <c:pt idx="13">
                  <c:v>9.0</c:v>
                </c:pt>
                <c:pt idx="14">
                  <c:v>11.0</c:v>
                </c:pt>
                <c:pt idx="15">
                  <c:v>10.0</c:v>
                </c:pt>
                <c:pt idx="16">
                  <c:v>6.0</c:v>
                </c:pt>
                <c:pt idx="17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  <c:pt idx="5">
                  <c:v>3.0</c:v>
                </c:pt>
                <c:pt idx="6">
                  <c:v>2.0</c:v>
                </c:pt>
                <c:pt idx="7">
                  <c:v>4.0</c:v>
                </c:pt>
                <c:pt idx="8">
                  <c:v>0</c:v>
                </c:pt>
                <c:pt idx="9">
                  <c:v>2.0</c:v>
                </c:pt>
                <c:pt idx="10">
                  <c:v>1.0</c:v>
                </c:pt>
                <c:pt idx="11">
                  <c:v>3.0</c:v>
                </c:pt>
                <c:pt idx="12">
                  <c:v>3.0</c:v>
                </c:pt>
                <c:pt idx="13">
                  <c:v>4.0</c:v>
                </c:pt>
                <c:pt idx="14">
                  <c:v>4.0</c:v>
                </c:pt>
                <c:pt idx="15">
                  <c:v>2.0</c:v>
                </c:pt>
                <c:pt idx="16">
                  <c:v>1.0</c:v>
                </c:pt>
                <c:pt idx="17">
                  <c:v>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15.0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  <c:pt idx="5">
                  <c:v>11.0</c:v>
                </c:pt>
                <c:pt idx="6">
                  <c:v>14.0</c:v>
                </c:pt>
                <c:pt idx="7">
                  <c:v>11.0</c:v>
                </c:pt>
                <c:pt idx="8">
                  <c:v>8.0</c:v>
                </c:pt>
                <c:pt idx="9">
                  <c:v>11.0</c:v>
                </c:pt>
                <c:pt idx="10">
                  <c:v>4.0</c:v>
                </c:pt>
                <c:pt idx="11">
                  <c:v>10.0</c:v>
                </c:pt>
                <c:pt idx="12">
                  <c:v>8.0</c:v>
                </c:pt>
                <c:pt idx="13">
                  <c:v>13.0</c:v>
                </c:pt>
                <c:pt idx="14">
                  <c:v>8.0</c:v>
                </c:pt>
                <c:pt idx="15">
                  <c:v>8.0</c:v>
                </c:pt>
                <c:pt idx="16">
                  <c:v>10.0</c:v>
                </c:pt>
                <c:pt idx="17">
                  <c:v>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Sheet1!$B$2:$B$19</c:f>
              <c:numCache>
                <c:formatCode>General</c:formatCode>
                <c:ptCount val="18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21.0</c:v>
                </c:pt>
                <c:pt idx="5">
                  <c:v>26.0</c:v>
                </c:pt>
                <c:pt idx="6">
                  <c:v>23.0</c:v>
                </c:pt>
                <c:pt idx="7">
                  <c:v>27.0</c:v>
                </c:pt>
                <c:pt idx="8">
                  <c:v>34.0</c:v>
                </c:pt>
                <c:pt idx="9">
                  <c:v>15.0</c:v>
                </c:pt>
                <c:pt idx="10">
                  <c:v>9.0</c:v>
                </c:pt>
                <c:pt idx="11">
                  <c:v>22.0</c:v>
                </c:pt>
                <c:pt idx="12">
                  <c:v>25.0</c:v>
                </c:pt>
                <c:pt idx="13">
                  <c:v>26.0</c:v>
                </c:pt>
                <c:pt idx="14">
                  <c:v>20.0</c:v>
                </c:pt>
                <c:pt idx="15">
                  <c:v>20.0</c:v>
                </c:pt>
                <c:pt idx="16">
                  <c:v>13.0</c:v>
                </c:pt>
                <c:pt idx="17">
                  <c:v>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Sheet1!$C$2:$C$19</c:f>
              <c:numCache>
                <c:formatCode>General</c:formatCode>
                <c:ptCount val="18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  <c:pt idx="5">
                  <c:v>12.0</c:v>
                </c:pt>
                <c:pt idx="6">
                  <c:v>11.0</c:v>
                </c:pt>
                <c:pt idx="7">
                  <c:v>7.0</c:v>
                </c:pt>
                <c:pt idx="8">
                  <c:v>16.0</c:v>
                </c:pt>
                <c:pt idx="9">
                  <c:v>8.0</c:v>
                </c:pt>
                <c:pt idx="10">
                  <c:v>6.0</c:v>
                </c:pt>
                <c:pt idx="11">
                  <c:v>12.0</c:v>
                </c:pt>
                <c:pt idx="12">
                  <c:v>8.0</c:v>
                </c:pt>
                <c:pt idx="13">
                  <c:v>9.0</c:v>
                </c:pt>
                <c:pt idx="14">
                  <c:v>9.0</c:v>
                </c:pt>
                <c:pt idx="15">
                  <c:v>7.0</c:v>
                </c:pt>
                <c:pt idx="16">
                  <c:v>8.0</c:v>
                </c:pt>
                <c:pt idx="17">
                  <c:v>2.0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Sheet1!$D$2:$D$19</c:f>
              <c:numCache>
                <c:formatCode>General</c:formatCode>
                <c:ptCount val="18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  <c:pt idx="5">
                  <c:v>3.0</c:v>
                </c:pt>
                <c:pt idx="6">
                  <c:v>3.0</c:v>
                </c:pt>
                <c:pt idx="7">
                  <c:v>4.0</c:v>
                </c:pt>
                <c:pt idx="8">
                  <c:v>4.0</c:v>
                </c:pt>
                <c:pt idx="9">
                  <c:v>2.0</c:v>
                </c:pt>
                <c:pt idx="10">
                  <c:v>1.0</c:v>
                </c:pt>
                <c:pt idx="11">
                  <c:v>1.0</c:v>
                </c:pt>
                <c:pt idx="12">
                  <c:v>2.0</c:v>
                </c:pt>
                <c:pt idx="13">
                  <c:v>6.0</c:v>
                </c:pt>
                <c:pt idx="14">
                  <c:v>1.0</c:v>
                </c:pt>
                <c:pt idx="15">
                  <c:v>2.0</c:v>
                </c:pt>
                <c:pt idx="16">
                  <c:v>1.0</c:v>
                </c:pt>
                <c:pt idx="17">
                  <c:v>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Sheet1!$E$2:$E$19</c:f>
              <c:numCache>
                <c:formatCode>General</c:formatCode>
                <c:ptCount val="18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8.0</c:v>
                </c:pt>
                <c:pt idx="5">
                  <c:v>11.0</c:v>
                </c:pt>
                <c:pt idx="6">
                  <c:v>9.0</c:v>
                </c:pt>
                <c:pt idx="7">
                  <c:v>16.0</c:v>
                </c:pt>
                <c:pt idx="8">
                  <c:v>14.0</c:v>
                </c:pt>
                <c:pt idx="9">
                  <c:v>5.0</c:v>
                </c:pt>
                <c:pt idx="10">
                  <c:v>2.0</c:v>
                </c:pt>
                <c:pt idx="11">
                  <c:v>9.0</c:v>
                </c:pt>
                <c:pt idx="12">
                  <c:v>15.0</c:v>
                </c:pt>
                <c:pt idx="13">
                  <c:v>11.0</c:v>
                </c:pt>
                <c:pt idx="14">
                  <c:v>10.0</c:v>
                </c:pt>
                <c:pt idx="15">
                  <c:v>11.0</c:v>
                </c:pt>
                <c:pt idx="16">
                  <c:v>4.0</c:v>
                </c:pt>
                <c:pt idx="17">
                  <c:v>5.0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Sheet1!$A$2:$A$19</c:f>
              <c:strCache>
                <c:ptCount val="18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  <c:pt idx="14">
                  <c:v>15 Oct</c:v>
                </c:pt>
                <c:pt idx="15">
                  <c:v>16 Oct</c:v>
                </c:pt>
                <c:pt idx="16">
                  <c:v>17 Oct</c:v>
                </c:pt>
                <c:pt idx="17">
                  <c:v>18 Oct</c:v>
                </c:pt>
              </c:strCache>
            </c:strRef>
          </c:cat>
          <c:val>
            <c:numRef>
              <c:f>Sheet1!$F$2:$F$19</c:f>
              <c:numCache>
                <c:formatCode>General</c:formatCode>
                <c:ptCount val="1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1.455,9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53,0%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1.182,5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+2,4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35,0%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63,3%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164,3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89   Δ -13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-16,1%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87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61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2.037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2.037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-10,7%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60 / 129 (46,5%)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-18,9%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73 / 143 (51,0%)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-17,0%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20 / 45 (44,4%)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25 / 50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-13,8%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21 (52,4%)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-31,2%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 / 23 (52,2%)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 / 63 (46,0%)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-14,7%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36 / 70 (51,4%)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-12,2%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354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8 / 13 (61,5%)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+33,3%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-28,6%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18 / 143 (12,6%)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43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45 (15,6%)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+16,7% | Turun 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50 (22,0%)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+22,2%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21 (9,5%)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23 (13,0%)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-40,0% | Turun 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7 (42,9%)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63 (1,6%)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-75,0% | Turun 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 / 70 (5,7%)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30358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3731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44256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471830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498348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471830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498348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2.069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34,1%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239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76 | MoM -14,6%
PS: 73 | MoM -16,1%
• Junior
  RE: 63 | Active 48,8% | MoM -16,0%
  PS: 60 | Active 46,5% | MoM -17,8%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13 | Active 100,0% | MoM 0,0%
  PS: 13 | Active 100,0%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N/A, Gap 1
• Grapari Ende: PS -16,7%, Gap -1
• Grapari Kalabahi: PS +25,0%, Gap 1
• Grapari Labuan Bajo: PS -50,0%,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+600,0%, Gap 6
• Grapari Ruteng: PS -100,0%,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-63 (-40,9%), PS -46 (-40,4%)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-5 (-55,6%), PS -1 (-33,3%)
• Manggarai: RE -3 (-18,8%), PS -1 (-11,1%)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0 (0,0%), PS -3 (-100,0%)
• Flores Timur: RE 1 (+100,0%), PS -2 (-100,0%)
• Manggarai: RE -3 (-60,0%), PS -2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-1 (-50,0%), PS -2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-35,3%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68,5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22,2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137,1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61,4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STEFANI WEA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SPESS73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Florida Bhalu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FLO9073003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Dionisius lalu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DIO5274670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Alifiah Putri Fadillah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ALI4809280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RATNA PATI 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SPNAT35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JENIATI BETI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MAR5321403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Wira Anggrawan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IPU6453975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EMANUEL MARYANUS DE ORNAY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EMA7688343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01–18 Oct 2026 vs MTD-1 01–18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GUSTI KOMANG SUKAYANA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SPSTI73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YOSAFAT SUDARSO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SPYSS79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FRANSISKUS XAVERIUS LENGU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SPVXK18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WILLYAM RICSKY SAUDALE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WIL7359783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DOMINGGUS RATU LELE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SPOIL46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Elias Vitus 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ELI8004604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Laurensia Golang keraf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LAU1820563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10/17/2026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32.71%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32.75% | MoM -0.04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96.70%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-63.99 pp | Rp-6.53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31.54%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31.26% | MoM +0.28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Rp3.34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Rp3.33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Rp10.21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32.71%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31.54%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Rp3.34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Rp-6.53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31.36%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29.80%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Rp1.24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+1.7%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-65.34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Rp-2.59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30.87%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-2.50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30.30%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-2.30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Rp682.0 Jt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-6.6%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-65.83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Rp-1.45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35.04%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34.07%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Rp1.42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+2.9%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-61.66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Rp-2.49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67.32% / +0.62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65.11% / +3.37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61.20% / -14.42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73.32% / +7.08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43.76% / +4.43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38.25% / +2.56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44.81% / +4.58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49.26% / +6.48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28.66% / -0.90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25.75% / +0.53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26.49% / -4.38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32.99% / +0.10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27.42% / +0.89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23.25% / +0.58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29.08% / -1.52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30.76% / +2.34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26.45% / +0.82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22.26% / +0.37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27.86% / -1.51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29.61% / +2.43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34.14% / -0.66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34.48% / -0.27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30.58% / -2.93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35.75% / +0.20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10/18/2026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3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4 | MoM -25.0%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-6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051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3505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3505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FLORES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15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20,108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4,384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21.8%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15,724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43.6%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34.6%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20.1%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406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37.1%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409 / 28.4%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378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443 / 21.4%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236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230 / 47.0%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247 / 39.3%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256 / 20.7%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251 / 15.1%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18.0%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300 / 49.0%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341 / 38.7%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321 / 27.4%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465 / 24.7%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398 / 24.9%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21.9%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21.6%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19.7%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18.4%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17.1%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451 / 20.0%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369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364 / 17.3%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384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377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328 / 16.8%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22.8%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229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195 / 24.1%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145 / 24.8%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191 / 20.4%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170 / 17.1%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459 / 23.3%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368 / 26.4%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302 / 19.9%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278 / 23.4%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353 / 21.0%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333 / 17.4%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17.1%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14.7%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14.9%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15.9%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290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297 / 13.5%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312 / 13.8%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264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324 / 10.5%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147 / 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159 / 15.7%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163 / 16.6%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162 / 16.1%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124 / 13.7%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355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336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259 / 16.2%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301 / 22.6%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9222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16.3%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14.8%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13.1%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12.7%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8,056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359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294 / 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237 / 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280 / 12.5%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211 / 9.9%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258 / 10.1%</a:t>
                      </a:r>
                    </a:p>
                  </a:txBody>
                  <a:tcPr/>
                </a:tc>
              </a:tr>
              <a:tr h="179222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4,395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135 / 10.4%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158 / 15.8%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128 / 19.5%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108 / 16.7%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106 / 12.3%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141 / 11.3%</a:t>
                      </a:r>
                    </a:p>
                  </a:txBody>
                  <a:tcPr/>
                </a:tc>
              </a:tr>
              <a:tr h="17922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282 / 11.7%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253 / 13.4%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261 / 16.5%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281 / 16.4%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257 / 15.9%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221 / 16.7%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