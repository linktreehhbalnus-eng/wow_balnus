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03/10</c:v>
                </c:pt>
                <c:pt idx="1">
                  <c:v>04/10</c:v>
                </c:pt>
                <c:pt idx="2">
                  <c:v>05/10</c:v>
                </c:pt>
                <c:pt idx="3">
                  <c:v>06/10</c:v>
                </c:pt>
                <c:pt idx="4">
                  <c:v>07/10</c:v>
                </c:pt>
                <c:pt idx="5">
                  <c:v>08/10</c:v>
                </c:pt>
                <c:pt idx="6">
                  <c:v>09/10</c:v>
                </c:pt>
                <c:pt idx="7">
                  <c:v>10/10</c:v>
                </c:pt>
                <c:pt idx="8">
                  <c:v>11/10</c:v>
                </c:pt>
                <c:pt idx="9">
                  <c:v>12/10</c:v>
                </c:pt>
                <c:pt idx="10">
                  <c:v>13/10</c:v>
                </c:pt>
                <c:pt idx="11">
                  <c:v>14/10</c:v>
                </c:pt>
                <c:pt idx="12">
                  <c:v>15/10</c:v>
                </c:pt>
                <c:pt idx="13">
                  <c:v>16/10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252.0</c:v>
                </c:pt>
                <c:pt idx="1">
                  <c:v>183.0</c:v>
                </c:pt>
                <c:pt idx="2">
                  <c:v>319.0</c:v>
                </c:pt>
                <c:pt idx="3">
                  <c:v>293.0</c:v>
                </c:pt>
                <c:pt idx="4">
                  <c:v>322.0</c:v>
                </c:pt>
                <c:pt idx="5">
                  <c:v>300.0</c:v>
                </c:pt>
                <c:pt idx="6">
                  <c:v>225.0</c:v>
                </c:pt>
                <c:pt idx="7">
                  <c:v>231.0</c:v>
                </c:pt>
                <c:pt idx="8">
                  <c:v>159.0</c:v>
                </c:pt>
                <c:pt idx="9">
                  <c:v>287.0</c:v>
                </c:pt>
                <c:pt idx="10">
                  <c:v>276.0</c:v>
                </c:pt>
                <c:pt idx="11">
                  <c:v>273.0</c:v>
                </c:pt>
                <c:pt idx="12">
                  <c:v>281.0</c:v>
                </c:pt>
                <c:pt idx="13">
                  <c:v>283.0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03/10</c:v>
                </c:pt>
                <c:pt idx="1">
                  <c:v>04/10</c:v>
                </c:pt>
                <c:pt idx="2">
                  <c:v>05/10</c:v>
                </c:pt>
                <c:pt idx="3">
                  <c:v>06/10</c:v>
                </c:pt>
                <c:pt idx="4">
                  <c:v>07/10</c:v>
                </c:pt>
                <c:pt idx="5">
                  <c:v>08/10</c:v>
                </c:pt>
                <c:pt idx="6">
                  <c:v>09/10</c:v>
                </c:pt>
                <c:pt idx="7">
                  <c:v>10/10</c:v>
                </c:pt>
                <c:pt idx="8">
                  <c:v>11/10</c:v>
                </c:pt>
                <c:pt idx="9">
                  <c:v>12/10</c:v>
                </c:pt>
                <c:pt idx="10">
                  <c:v>13/10</c:v>
                </c:pt>
                <c:pt idx="11">
                  <c:v>14/10</c:v>
                </c:pt>
                <c:pt idx="12">
                  <c:v>15/10</c:v>
                </c:pt>
                <c:pt idx="13">
                  <c:v>16/10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204.0</c:v>
                </c:pt>
                <c:pt idx="1">
                  <c:v>150.0</c:v>
                </c:pt>
                <c:pt idx="2">
                  <c:v>230.0</c:v>
                </c:pt>
                <c:pt idx="3">
                  <c:v>214.0</c:v>
                </c:pt>
                <c:pt idx="4">
                  <c:v>278.0</c:v>
                </c:pt>
                <c:pt idx="5">
                  <c:v>236.0</c:v>
                </c:pt>
                <c:pt idx="6">
                  <c:v>238.0</c:v>
                </c:pt>
                <c:pt idx="7">
                  <c:v>184.0</c:v>
                </c:pt>
                <c:pt idx="8">
                  <c:v>121.0</c:v>
                </c:pt>
                <c:pt idx="9">
                  <c:v>206.0</c:v>
                </c:pt>
                <c:pt idx="10">
                  <c:v>225.0</c:v>
                </c:pt>
                <c:pt idx="11">
                  <c:v>212.0</c:v>
                </c:pt>
                <c:pt idx="12">
                  <c:v>206.0</c:v>
                </c:pt>
                <c:pt idx="13">
                  <c:v>212.0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-12,3% &amp; PS -13,6% MoM — Achievement Mencapai 38,1% (RE) / 36,4%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4.961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16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01–16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5.882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(+1,4%), Denpasar Terdalam (-23,0%)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-5,9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+1,4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+1,4%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-4,7%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-10,3%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-23,0%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48,3%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40,1%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35,8%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1.991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(+14,7%), Bali Barat Terdalam (-40,1%)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Manggarai Penyumbang PS Absolut Terbesar (+38), Sumbawa Barat Tumbuh Tertinggi (+68,2%)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-531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46 kabupaten: Top 5 menyumbang +101, Bottom 5 -404, dan perubahan PS regional -531.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(-5,8%), TSEL One &gt;30 Mbps Turun Terdalam (-23,8%)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3.633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-7,3% MoM, DJP Data Transition — SF Register 883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14.306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38.224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25.376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83.391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5.421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187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4.311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1.787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1.778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3.475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Okt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20 (85,0%)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128 / 306 (41,8%)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-15,2%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165 / 347 (47,6%)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-12,7% | Turun 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59 / 129 (45,7%)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-16,9%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 / 143 (50,3%)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-15,3%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 / 143 (62,2%)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+1,1%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101 / 156 (64,7%)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+2,0% | Turun 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 / 210 (64,8%)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160 / 237 (67,5%)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-4,2% | Turun 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51 / 58 (87,9%)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412 / 788 (52,3%)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-8,8% | Turun 259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 / 20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-5,3%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498 / 901 (55,3%)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-7,8% | Turun 311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525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1.853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-13,7%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-22,0%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-30,3%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2.929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306 (4,9%)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-21,1% | Turun 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 / 347 (9,8%)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-20,9% | Turun 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13 (53,8%)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+40,0% | Turun 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35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143 (11,9%)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-5,6%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143 (4,2%)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156 (5,1%)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 / 210 (6,7%)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10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 / 237 (10,1%)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58 (17,2%)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25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45 / 788 (5,7%)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-22,4% | Turun 259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20 (65,0%)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-18,8% | Turun 12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83 / 901 (9,2%)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-18,6% | Turun 311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Gede staria utama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AGUS IKHSAN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LITA MELIANA HUSEN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MIRAH PADMINI, SE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Zakaria Rafiif Ahmad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RATNA PATI 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AL MARUF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 AGUS IKHSAN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TEOFELUS EPIPEO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Kristiana Liva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Damarbudi prakoso SH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Kunzita Lazuardi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ROSA NINGRUM FATMALA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Yohannes moa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Haryono Christanto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KADEK RIDAYANI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ERNAWATU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01–16 Okt 2026 vs MTD-1 01–16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+20,6%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+26,8%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Okt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1.436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1.217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503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3.902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3.371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1.758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1.353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1.065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Okt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212,9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147,6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25,4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840,0 Rb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758,5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117,2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268,9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230,9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01–16 Okt 2026 vs MTD-1 01–16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4.961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4.350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3.902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3.371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758,5 Jt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4.208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3.633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3.412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2.934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644,2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51,1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49,3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+2,0%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-62,5%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-61,3%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509 | MoM -10,7%
PS: 498 | MoM -7,3%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425 | Active 53,9% | MoM -11,5%
  PS: 412 | Active 52,3% | MoM -8,2%
• Greenfield
  RE: 49 | Active 84,5% | MoM -9,3%
  PS: 51 | Active 87,9% | MoM -1,9%
• Junior Plus
  RE: 18 | Active 90,0% | MoM -5,3%
  PS: 18 | Active 90,0% | MoM -5,3%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-35,5%, Gap -22
• Flores: PS +15,2%, Gap +10
• Kupang: PS -23,3%, Gap -7
• Mataram: PS -20,8%, Gap -15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Lombok Timur (Mataram): -100,0%, Gap -1
• Grapari Tabanan (Denpasar): -80,0%, Gap -4
• Grapari Sumbawa (Mataram): -75,0%, Gap -6
• Grapari Negara (Denpasar): -50,0%, Gap -2
• Grapari Singaraja (Denpasar): -50,0%, Gap -2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-208 (-36,7%), PS -204 (-40,9%)
• Bali Tengah: RE -132 (-13,8%), PS -124 (-15,3%)
• Lombok: RE -117 (-16,5%), PS -97 (-17,4%)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-10 (-9,7%), PS -9 (-11,8%)
• Sumbawa Barat: RE -11 (-61,1%), PS -6 (-60,0%)
• Sumbawa Timur: RE -9 (-27,3%), PS -5 (-33,3%)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Ende Sikka: RE +1 (+50,0%), PS -2 (-100,0%)
• Flores Timur: RE +1 (+100,0%), PS -2 (-100,0%)
• Manggarai: RE -3 (-60,0%), PS -2 (-100,0%)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Tengah: RE -1 (-25,0%), PS -2 (-50,0%)
• Bali Timur: RE 0 (0,0%), PS -2 (-66,7%)
• Malaka Timtim Belu: RE -2 (-100,0%), PS -2 (-100,0%)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36.51%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36.83% | MoM -0.32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-60.70 pp | Rp-64.96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36.30%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36.65% | MoM -0.35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Rp39.07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Rp39.20 M | MoM -0.3%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41.97%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41.80%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Rp23.60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-55.61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Rp-31.27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26.92%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-69.78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Rp-7.13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29.27%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28.22%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Rp4.52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-66.56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Rp-10.28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32.63%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31.66%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-64.82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Rp-16.29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38.35%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37.18%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Rp4.26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-59.23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44.73%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45.11%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Rp14.14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Rp-16.70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38.48%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37.92%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Rp5.20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-59.10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Rp-7.99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25.56%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24.34%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-71.14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25.77%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25.42%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-1.36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Rp569.3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-4.6%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-70.93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Rp-1.57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32.55%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+0.64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31.39%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+0.73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Rp2.80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23.41%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22.56%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Rp904.3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-1.0%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Rp-2.80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+1.44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28.25%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Rp1.17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+4.7%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-67.81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Rp-2.74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27.37%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26.67%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Rp813.3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-68.46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Rp-2.03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39.69%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39.06%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Rp5.45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-57.76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Rp-7.93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29.53%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28.88%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Rp1.41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-67.92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Rp-3.24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20.20%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19.20%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-77.25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Rp-5.12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36.51%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-0.32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54.15% / -5.37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58.65% / -4.55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60.65% / -1.25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47.48% / -5.65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48.56% / -7.80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38.39% / 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41.48% / -2.32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38.14% / +3.68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31.39% / +2.75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37.65% / -0.95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30.77% / -0.61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35.44% / -1.61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23.23% / -0.38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24.23% / +0.07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32.05% / +0.13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30.99% / +0.91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36.49% / +0.55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23.06% / +1.65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24.59% / +1.25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30.44% / +1.21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29.09% / -0.31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34.51% / -0.90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21.75% / +0.83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22.39% / 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26.59% / -0.04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38.73% / -0.37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43.90% / -0.75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27.78% / -0.08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31.87% / +0.29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33.79% / +0.11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354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M-1 357 | MoM -0.8%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-323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-47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-143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310896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60 / +7.1%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46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12 / +100.0%</a:t>
                      </a:r>
                    </a:p>
                  </a:txBody>
                  <a:tcPr/>
                </a:tc>
              </a:tr>
              <a:tr h="310896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285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224 / -7.4%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-66.7%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18 / +63.6%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 / -4.5%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44,619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25.5%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130,612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55.0%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35.1%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31.2%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27.6%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27.0%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57.8%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46.5%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37.6%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35.6%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30.7%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30.6%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48.4%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34.7%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23.6%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21.9%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50.1%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43.0%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34.2%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33.2%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30.0%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28.2%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27.1%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26.1%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22.2%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32.9%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30.4%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29.4%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28.1%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24.3%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21.1%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22.1%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21.3%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19.6%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25.4%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28.0%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24.2%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21.9%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19.8%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19.8%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23.7%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25.3%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23.4%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14.4%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15.4%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14.5%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20.5%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17.6%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21.2%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18.8%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17.9%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26.7%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23.1%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23.0%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22.4%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22.1%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13.9%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15.2%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12.2%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11.9%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12.0%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20.1%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18.7%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17.5%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15.5%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