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  <c:pt idx="19">
                  <c:v>25.0</c:v>
                </c:pt>
                <c:pt idx="20">
                  <c:v>26.0</c:v>
                </c:pt>
                <c:pt idx="21">
                  <c:v>23.0</c:v>
                </c:pt>
                <c:pt idx="22">
                  <c:v>21.0</c:v>
                </c:pt>
                <c:pt idx="23">
                  <c:v>18.0</c:v>
                </c:pt>
                <c:pt idx="24">
                  <c:v>11.0</c:v>
                </c:pt>
                <c:pt idx="25">
                  <c:v>29.0</c:v>
                </c:pt>
                <c:pt idx="26">
                  <c:v>19.0</c:v>
                </c:pt>
                <c:pt idx="27">
                  <c:v>21.0</c:v>
                </c:pt>
                <c:pt idx="28">
                  <c:v>18.0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  <c:pt idx="19">
                  <c:v>9.0</c:v>
                </c:pt>
                <c:pt idx="20">
                  <c:v>12.0</c:v>
                </c:pt>
                <c:pt idx="21">
                  <c:v>9.0</c:v>
                </c:pt>
                <c:pt idx="22">
                  <c:v>7.0</c:v>
                </c:pt>
                <c:pt idx="23">
                  <c:v>7.0</c:v>
                </c:pt>
                <c:pt idx="24">
                  <c:v>6.0</c:v>
                </c:pt>
                <c:pt idx="25">
                  <c:v>14.0</c:v>
                </c:pt>
                <c:pt idx="26">
                  <c:v>4.0</c:v>
                </c:pt>
                <c:pt idx="27">
                  <c:v>8.0</c:v>
                </c:pt>
                <c:pt idx="28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  <c:pt idx="19">
                  <c:v>4.0</c:v>
                </c:pt>
                <c:pt idx="20">
                  <c:v>5.0</c:v>
                </c:pt>
                <c:pt idx="21">
                  <c:v>5.0</c:v>
                </c:pt>
                <c:pt idx="22">
                  <c:v>3.0</c:v>
                </c:pt>
                <c:pt idx="23">
                  <c:v>4.0</c:v>
                </c:pt>
                <c:pt idx="24">
                  <c:v>1.0</c:v>
                </c:pt>
                <c:pt idx="25">
                  <c:v>5.0</c:v>
                </c:pt>
                <c:pt idx="26">
                  <c:v>3.0</c:v>
                </c:pt>
                <c:pt idx="27">
                  <c:v>3.0</c:v>
                </c:pt>
                <c:pt idx="28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  <c:pt idx="19">
                  <c:v>11.0</c:v>
                </c:pt>
                <c:pt idx="20">
                  <c:v>9.0</c:v>
                </c:pt>
                <c:pt idx="21">
                  <c:v>9.0</c:v>
                </c:pt>
                <c:pt idx="22">
                  <c:v>11.0</c:v>
                </c:pt>
                <c:pt idx="23">
                  <c:v>7.0</c:v>
                </c:pt>
                <c:pt idx="24">
                  <c:v>4.0</c:v>
                </c:pt>
                <c:pt idx="25">
                  <c:v>10.0</c:v>
                </c:pt>
                <c:pt idx="26">
                  <c:v>11.0</c:v>
                </c:pt>
                <c:pt idx="27">
                  <c:v>10.0</c:v>
                </c:pt>
                <c:pt idx="28">
                  <c:v>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1.0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1.0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  <c:pt idx="19">
                  <c:v>21.0</c:v>
                </c:pt>
                <c:pt idx="20">
                  <c:v>22.0</c:v>
                </c:pt>
                <c:pt idx="21">
                  <c:v>23.0</c:v>
                </c:pt>
                <c:pt idx="22">
                  <c:v>17.0</c:v>
                </c:pt>
                <c:pt idx="23">
                  <c:v>14.0</c:v>
                </c:pt>
                <c:pt idx="24">
                  <c:v>10.0</c:v>
                </c:pt>
                <c:pt idx="25">
                  <c:v>24.0</c:v>
                </c:pt>
                <c:pt idx="26">
                  <c:v>20.0</c:v>
                </c:pt>
                <c:pt idx="27">
                  <c:v>18.0</c:v>
                </c:pt>
                <c:pt idx="28">
                  <c:v>16.0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  <c:pt idx="19">
                  <c:v>8.0</c:v>
                </c:pt>
                <c:pt idx="20">
                  <c:v>9.0</c:v>
                </c:pt>
                <c:pt idx="21">
                  <c:v>10.0</c:v>
                </c:pt>
                <c:pt idx="22">
                  <c:v>9.0</c:v>
                </c:pt>
                <c:pt idx="23">
                  <c:v>2.0</c:v>
                </c:pt>
                <c:pt idx="24">
                  <c:v>5.0</c:v>
                </c:pt>
                <c:pt idx="25">
                  <c:v>11.0</c:v>
                </c:pt>
                <c:pt idx="26">
                  <c:v>11.0</c:v>
                </c:pt>
                <c:pt idx="27">
                  <c:v>6.0</c:v>
                </c:pt>
                <c:pt idx="28">
                  <c:v>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  <c:pt idx="19">
                  <c:v>3.0</c:v>
                </c:pt>
                <c:pt idx="20">
                  <c:v>3.0</c:v>
                </c:pt>
                <c:pt idx="21">
                  <c:v>6.0</c:v>
                </c:pt>
                <c:pt idx="22">
                  <c:v>4.0</c:v>
                </c:pt>
                <c:pt idx="23">
                  <c:v>5.0</c:v>
                </c:pt>
                <c:pt idx="24">
                  <c:v>1.0</c:v>
                </c:pt>
                <c:pt idx="25">
                  <c:v>1.0</c:v>
                </c:pt>
                <c:pt idx="26">
                  <c:v>5.0</c:v>
                </c:pt>
                <c:pt idx="27">
                  <c:v>3.0</c:v>
                </c:pt>
                <c:pt idx="28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  <c:pt idx="19">
                  <c:v>10.0</c:v>
                </c:pt>
                <c:pt idx="20">
                  <c:v>10.0</c:v>
                </c:pt>
                <c:pt idx="21">
                  <c:v>7.0</c:v>
                </c:pt>
                <c:pt idx="22">
                  <c:v>4.0</c:v>
                </c:pt>
                <c:pt idx="23">
                  <c:v>7.0</c:v>
                </c:pt>
                <c:pt idx="24">
                  <c:v>4.0</c:v>
                </c:pt>
                <c:pt idx="25">
                  <c:v>12.0</c:v>
                </c:pt>
                <c:pt idx="26">
                  <c:v>4.0</c:v>
                </c:pt>
                <c:pt idx="27">
                  <c:v>9.0</c:v>
                </c:pt>
                <c:pt idx="28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150  (0,0%)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96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70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2.517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2.517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15 (93,3%)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+7,7%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66 / 134 (49,3%)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-16,5%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 / 150 (53,3%)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-14,0%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48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54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22 (59,1%)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-27,8%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24 (58,3%)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64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72 (54,2%)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557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041648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352544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15 (73,3%)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20 / 134 (14,9%)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-4,8%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150 (20,7%)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48 (22,9%)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+37,5%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54 (29,6%)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22 (13,6%)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24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8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64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72 (15,3%)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760720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(Jumlah SF, % Active, MoM RE atau PS)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RE: 83 SF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-2,2%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PS: 80 SF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-0,4%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69 SF | Active 51,5%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-3,8%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66 SF | Active 49,3%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-0,2%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Greenfield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14 SF | Active 93,3% | MoM RE +22,1%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14 SF | Active 93,3% | MoM PS +17,3%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 Plus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0 SF | Active 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0 SF | Active 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Bajawa: PS </a:t>
            </a:r>
            <a:r>
              <a:rPr sz="850" b="1">
                <a:solidFill>
                  <a:srgbClr val="D73527"/>
                </a:solidFill>
                <a:latin typeface="Arial"/>
              </a:rPr>
              <a:t>-28,6%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Ende: PS </a:t>
            </a:r>
            <a:r>
              <a:rPr sz="850" b="1">
                <a:solidFill>
                  <a:srgbClr val="D73527"/>
                </a:solidFill>
                <a:latin typeface="Arial"/>
              </a:rPr>
              <a:t>-25,0%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Kalabahi: PS </a:t>
            </a:r>
            <a:r>
              <a:rPr sz="850" b="1">
                <a:solidFill>
                  <a:srgbClr val="D73527"/>
                </a:solidFill>
                <a:latin typeface="Arial"/>
              </a:rPr>
              <a:t>-4,3%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Labuan Bajo: PS </a:t>
            </a:r>
            <a:r>
              <a:rPr sz="850" b="1">
                <a:solidFill>
                  <a:srgbClr val="D73527"/>
                </a:solidFill>
                <a:latin typeface="Arial"/>
              </a:rPr>
              <a:t>-17,6%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Larantuka: PS </a:t>
            </a:r>
            <a:r>
              <a:rPr sz="850" b="1">
                <a:solidFill>
                  <a:srgbClr val="D73527"/>
                </a:solidFill>
                <a:latin typeface="Arial"/>
              </a:rPr>
              <a:t>-53,3%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-8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Maumere: PS +56,2%, Gap 9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Ruteng: PS +7,7%,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-87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-35,7%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-68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-37,0%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</a:t>
            </a:r>
            <a:r>
              <a:rPr sz="830" b="1">
                <a:solidFill>
                  <a:srgbClr val="D73527"/>
                </a:solidFill>
                <a:latin typeface="Arial"/>
              </a:rPr>
              <a:t>-7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-28,0%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-30,8%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-18,8%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-16,7%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-8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-57,1%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3 (+150,0%),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3 (+75,0%),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-25,0%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</a:t>
            </a:r>
            <a:r>
              <a:rPr sz="830" b="1">
                <a:solidFill>
                  <a:srgbClr val="D73527"/>
                </a:solidFill>
                <a:latin typeface="Arial"/>
              </a:rPr>
              <a:t>-1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-20,0%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-75,0%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RIK8871174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Ignasius Renaldi Putra Sanlando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IGN8815465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SRY ANITA MEGAWATI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SPIAA10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SPRTR18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SPRTR18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BOY JEMAT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ALO6786045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ARIFIN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ARI1360841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OKTAVIANO FARVIANTO DJAWA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OKT7632476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94.16%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94.34% | MoM -0.18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-2.54 pp | Rp-259.5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93.48%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93.44% | MoM +0.03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Rp9.61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Rp9.59 M | MoM +0.3%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94.16%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Rp-259.5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93.53%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Rp3.74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Rp-92.3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90.91%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Rp2.01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Rp-127.9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95.73%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95.16%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Rp3.87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Rp-39.3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98.58% / +1.62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98.55% / +2.56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97.73% / -0.38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99.11% / +1.86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92.25% / +0.30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91.84% / +0.57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91.06% / -1.75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93.57% / +1.45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88.43% / -0.29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87.42% / +0.37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85.62% / -3.84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91.23% / +1.38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91.24% / +0.11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89.93% / +0.11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90.00% / -2.30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93.31% / +1.39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92.93% / -0.20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92.69% / -0.52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88.40% / -3.62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95.18% / +1.62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95.72% / -0.31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96.53% / +0.41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92.14% / -4.19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96.88% / +1.12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 | MoM +0.0%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-33.3%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30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14,840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73.8%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5,268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94.4%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90.0%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84.8%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83.8%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81.4%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94.0%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85.7%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81.0%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81.2%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93.0%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89.9%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80.9%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80.5%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99.5%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96.0%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86.6%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82.2%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80.5%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81.5%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81.4%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69.8%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77.5%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77.2%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73.2%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82.1%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85.2%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79.5%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77.2%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71.7%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66.5%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83.2%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84.4%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77.3%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68.2%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60.5%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68.6%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57.1%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58.5%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58.1%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65.1%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55.2%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61.3%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67.1%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52.5%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48.8%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60.8%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49.6%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67.0%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56.9%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66.1%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