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6" r:id="rId27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12/10</c:v>
                </c:pt>
                <c:pt idx="1">
                  <c:v>13/10</c:v>
                </c:pt>
                <c:pt idx="2">
                  <c:v>14/10</c:v>
                </c:pt>
                <c:pt idx="3">
                  <c:v>15/10</c:v>
                </c:pt>
                <c:pt idx="4">
                  <c:v>16/10</c:v>
                </c:pt>
                <c:pt idx="5">
                  <c:v>17/10</c:v>
                </c:pt>
                <c:pt idx="6">
                  <c:v>18/10</c:v>
                </c:pt>
                <c:pt idx="7">
                  <c:v>19/10</c:v>
                </c:pt>
                <c:pt idx="8">
                  <c:v>20/10</c:v>
                </c:pt>
                <c:pt idx="9">
                  <c:v>21/10</c:v>
                </c:pt>
                <c:pt idx="10">
                  <c:v>22/10</c:v>
                </c:pt>
                <c:pt idx="11">
                  <c:v>23/10</c:v>
                </c:pt>
                <c:pt idx="12">
                  <c:v>24/10</c:v>
                </c:pt>
                <c:pt idx="13">
                  <c:v>25/10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287.0</c:v>
                </c:pt>
                <c:pt idx="1">
                  <c:v>276.0</c:v>
                </c:pt>
                <c:pt idx="2">
                  <c:v>273.0</c:v>
                </c:pt>
                <c:pt idx="3">
                  <c:v>281.0</c:v>
                </c:pt>
                <c:pt idx="4">
                  <c:v>283.0</c:v>
                </c:pt>
                <c:pt idx="5">
                  <c:v>216.0</c:v>
                </c:pt>
                <c:pt idx="6">
                  <c:v>206.0</c:v>
                </c:pt>
                <c:pt idx="7">
                  <c:v>321.0</c:v>
                </c:pt>
                <c:pt idx="8">
                  <c:v>341.0</c:v>
                </c:pt>
                <c:pt idx="9">
                  <c:v>273.0</c:v>
                </c:pt>
                <c:pt idx="10">
                  <c:v>298.0</c:v>
                </c:pt>
                <c:pt idx="11">
                  <c:v>244.0</c:v>
                </c:pt>
                <c:pt idx="12">
                  <c:v>214.0</c:v>
                </c:pt>
                <c:pt idx="13">
                  <c:v>157.0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12/10</c:v>
                </c:pt>
                <c:pt idx="1">
                  <c:v>13/10</c:v>
                </c:pt>
                <c:pt idx="2">
                  <c:v>14/10</c:v>
                </c:pt>
                <c:pt idx="3">
                  <c:v>15/10</c:v>
                </c:pt>
                <c:pt idx="4">
                  <c:v>16/10</c:v>
                </c:pt>
                <c:pt idx="5">
                  <c:v>17/10</c:v>
                </c:pt>
                <c:pt idx="6">
                  <c:v>18/10</c:v>
                </c:pt>
                <c:pt idx="7">
                  <c:v>19/10</c:v>
                </c:pt>
                <c:pt idx="8">
                  <c:v>20/10</c:v>
                </c:pt>
                <c:pt idx="9">
                  <c:v>21/10</c:v>
                </c:pt>
                <c:pt idx="10">
                  <c:v>22/10</c:v>
                </c:pt>
                <c:pt idx="11">
                  <c:v>23/10</c:v>
                </c:pt>
                <c:pt idx="12">
                  <c:v>24/10</c:v>
                </c:pt>
                <c:pt idx="13">
                  <c:v>25/10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206.0</c:v>
                </c:pt>
                <c:pt idx="1">
                  <c:v>225.0</c:v>
                </c:pt>
                <c:pt idx="2">
                  <c:v>212.0</c:v>
                </c:pt>
                <c:pt idx="3">
                  <c:v>206.0</c:v>
                </c:pt>
                <c:pt idx="4">
                  <c:v>212.0</c:v>
                </c:pt>
                <c:pt idx="5">
                  <c:v>190.0</c:v>
                </c:pt>
                <c:pt idx="6">
                  <c:v>146.0</c:v>
                </c:pt>
                <c:pt idx="7">
                  <c:v>256.0</c:v>
                </c:pt>
                <c:pt idx="8">
                  <c:v>261.0</c:v>
                </c:pt>
                <c:pt idx="9">
                  <c:v>249.0</c:v>
                </c:pt>
                <c:pt idx="10">
                  <c:v>220.0</c:v>
                </c:pt>
                <c:pt idx="11">
                  <c:v>197.0</c:v>
                </c:pt>
                <c:pt idx="12">
                  <c:v>189.0</c:v>
                </c:pt>
                <c:pt idx="13">
                  <c:v>119.0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-13,2% &amp; PS -14,2% MoM — Achievement Mencapai 57,9% (RE) / 56,1%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Okt 2026 vs MTD-1 01–25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-1.008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25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Okt 2026 vs MTD-1 01–25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01–25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(-5,7%), Denpasar Terdalam (-21,6%)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Okt 2026 vs MTD-1 01–25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-5,7%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-6,4%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-10,7%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-21,6%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69,4%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63,1%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57,3%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49,7%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(+7,6%), Flores Timur Terdalam (-37,6%)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Okt 2026 vs MTD-1 01–25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Sikka Penyumbang PS Absolut Terbesar (+26), Lombok Utara Tumbuh Tertinggi (+33,3%)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Okt 2026 vs MTD-1 01–25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-583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-857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47 kabupaten: Top 5 menyumbang +87, Bottom 5 -583, dan perubahan PS regional -857.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(-7,7%), TSEL One &gt;30 Mbps Turun Terdalam (-36,4%)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Okt 2026 vs MTD-1 01–25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-10,2% MoM, DJP Data Transition — SF Register 946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Okt 2026 vs MTD-1 01–25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14.481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38.148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25.335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83.483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5.455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1.732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6.462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2.369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2.298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4.537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Okt 2026 vs MTD-1 01–25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01–25 Okt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143 / 337 (42,4%)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-21,0% | Turun 113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182 / 378 (48,1%)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-17,3% | Turun 138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65 / 137 (47,4%)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-17,7% | Turun 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 / 151 (51,7%)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-16,1% | Turun 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105 / 151 (69,5%)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+5,0% | Turun 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117 / 164 (71,3%)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+5,4%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148 / 227 (65,2%)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-9,2% | Turun 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171 / 253 (67,6%)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-9,5% | Turun 112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 / 58 (91,4%)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-1,9% | Turun 30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461 / 852 (54,1%)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-11,9% | Turun 291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19 (89,5%)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-10,5% | Turun 15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550 / 965 (57,0%)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-10,6% | Turun 353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1.805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1.031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1.346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2.943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-30,5%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-30,0%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559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4.542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20 (15,0%)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-57,1%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 / 337 (7,7%)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-29,7% | Turun 113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 / 378 (12,7%)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138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137 (11,7%)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 / 151 (17,2%)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-16,1% | Turun 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9 (11,1%)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 / 151 (15,9%)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+4,3% | Turun 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 / 164 (16,5%)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 / 227 (17,6%)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+17,6% | Turun 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 / 253 (20,9%)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+6,0% | Turun 112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58 (31,0%)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-18,2% | Turun 30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106 / 852 (12,4%)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-7,0% | Turun 291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19 (73,7%)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-26,3% | Turun 15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155 / 965 (16,1%)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-9,9% | Turun 353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Okt 2026 vs MTD-1 01–25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GST BAGUS AGUNG ADIATMA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 SANDI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pinky priyantini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FANCE AFI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GST BAGUS AGUNG ADIATMA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Baiq desi aryani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NURUL QARIMAH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Nuroktavia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pinky priyantini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Okt 2026 vs MTD-1 01–25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DELFIANA SILLA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MUHAZAM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DELFIANA SILLA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MUHAZAM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ADRIANI NELSIANA ABUK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Vira dwi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Okt 2026 vs MTD-1 01–25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Okt 2026 vs MTD-1 01–25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01–25 Okt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2.159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1.800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6.055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5.198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2.645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2.074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1.711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1.528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01–25 Okt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01–25 Okt 2026 vs MTD-1 01–25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7.628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6.620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6.055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5.198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1,2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6.422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5.560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5.278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4.542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993,2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77,4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72,5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-47,8%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571 | MoM -9,4%
PS: 548 | MoM -10,2%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485 | Active 56,9% | MoM -10,2%
  PS: 461 | Active 54,1% | MoM -11,5%
• Greenfield
  RE: 52 | Active 89,7% | MoM -5,5%
  PS: 53 | Active 91,4% | MoM -1,9%
• Junior Plus
  RE: 17 | Active 89,5% | MoM -5,6%
  PS: 17 | Active 89,5% | MoM -5,6%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-41,3%, Gap -43
• Flores: PS -9,4%, Gap -11
• Kupang: PS -24,4%, Gap -11
• Mataram: PS -18,3%, Gap -20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Malaka (Kupang): -75,0%, Gap -3
• Grapari Baa Rote (Kupang): -66,7%, Gap -2
• Grapari Larantuka (Flores): -61,5%, Gap -8
• Grapari Gatsu Tengah (Denpasar): -60,0%, Gap -3
• Grapari Negara (Denpasar): -60,0%, Gap -3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-253 (-29,7%), PS -261 (-35,2%)
• Bali Tengah: RE -232 (-16,1%), PS -185 (-15,3%)
• Lombok: RE -145 (-13,1%), PS -93 (-10,6%)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-16 (-10,3%), PS -9 (-8,2%)
• Sumbawa Barat: RE -11 (-42,3%), PS -9 (-64,3%)
• Sumbawa Timur: RE -9 (-20,9%), PS -9 (-36,0%)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+2 (+12,5%), PS -6 (-50,0%)
• Bali Tengah: RE -13 (-26,0%), PS -4 (-12,9%)
• Ende Sikka: RE +2 (+50,0%), PS -2 (-50,0%)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Manggarai: RE -3 (-75,0%), PS -4 (-100,0%)
• Bali Tengah: RE -3 (-50,0%), PS -3 (-60,0%)
• Bali Timur: RE -1 (-16,7%), PS -2 (-40,0%)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10/24/2026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93.15%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93.34% | MoM -0.19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97.21%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-4.06 pp | Rp-4.35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92.61%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92.59% | MoM +0.01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Rp99.67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Rp99.36 M | MoM +0.3%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Rp107.01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27632"/>
          <a:ext cx="1154886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819"/>
                <a:gridCol w="918805"/>
                <a:gridCol w="918805"/>
                <a:gridCol w="995372"/>
                <a:gridCol w="918805"/>
                <a:gridCol w="1339924"/>
                <a:gridCol w="918805"/>
                <a:gridCol w="918805"/>
                <a:gridCol w="918805"/>
                <a:gridCol w="1339924"/>
              </a:tblGrid>
              <a:tr h="271630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95.13%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94.57%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Rp53.50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-2.45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Rp-1.38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88.62%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-1.82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87.63%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Rp9.05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-8.08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Rp-825.0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90.09%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89.25%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Rp13.91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-5.74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Rp-886.8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92.42%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91.75%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Rp23.22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-5.03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Rp-1.26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94.14%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93.48%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Rp10.45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-3.44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Rp-382.3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95.27%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94.69%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Rp30.11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Rp-729.1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95.62%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95.24%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Rp12.93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-1.96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Rp-264.9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91.30%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+0.86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90.00%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+1.09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Rp3.62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-5.40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Rp-214.2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79.99%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-11.26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79.70%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-10.69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Rp1.77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-16.71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Rp-369.1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91.28%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90.41%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Rp7.85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-4.55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Rp-391.9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87.58%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86.68%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Rp3.38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-8.25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Rp-318.8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90.71%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+0.70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89.86%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Rp3.66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-5.99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Rp-241.7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89.90%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89.33%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Rp2.67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-5.93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Rp-176.1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93.46%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92.80%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Rp12.84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-3.99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Rp-547.6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91.51%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91.05%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Rp4.36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-5.94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Rp-283.0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4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90.92%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90.19%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Rp6.02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-6.53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Rp-432.2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10/24/2026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28600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REGIONAL 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93.15%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-0.19 pp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664208"/>
          <a:ext cx="11548871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554"/>
                <a:gridCol w="2095149"/>
                <a:gridCol w="1788542"/>
                <a:gridCol w="1788542"/>
                <a:gridCol w="1788542"/>
                <a:gridCol w="1788542"/>
              </a:tblGrid>
              <a:tr h="33310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95.45% / +0.56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95.76% / -0.54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95.74% / +1.24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94.12% / +1.73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95.52% / +1.32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89.51% / +1.59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90.30% / +1.41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87.52% / +0.43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87.02% / +4.15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90.46% / +0.33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85.58% / -0.31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86.57% / -0.01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81.06% / -3.00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81.87% / -0.74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89.06% / +0.65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88.47% / -0.38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90.87% / -0.14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84.37% / -1.62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85.34% / -0.83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88.79% / +0.27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90.12% / -0.31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92.58% / -0.13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85.96% / -1.61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86.64% / -0.24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89.61% / -0.15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94.99% / -0.22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96.56% / +0.03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90.88% / -2.01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92.65% / +0.07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93.97% / -0.36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7548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Format sel: C3MR M / MoM (pp). Fokus pada posisi bulan berjalan dan perubahan vs M-1.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603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M-1 600 | MoM +0.5%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-74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6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5549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-25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55496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64748B"/>
                </a:solidFill>
                <a:latin typeface="Arial"/>
              </a:defRPr>
            </a:pPr>
            <a:r>
              <a:t>CAPS M / MoM vs M-1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25296"/>
          <a:ext cx="11548872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147"/>
                <a:gridCol w="2085213"/>
                <a:gridCol w="1817878"/>
                <a:gridCol w="1817878"/>
                <a:gridCol w="1817878"/>
                <a:gridCol w="1817878"/>
              </a:tblGrid>
              <a:tr h="26778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BALINUSRA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99 /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75 / +5.6%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 / +0.0%</a:t>
                      </a:r>
                    </a:p>
                  </a:txBody>
                  <a:tcPr/>
                </a:tc>
              </a:tr>
              <a:tr h="267791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492 / -2.0%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401 / -0.7%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24 / -4.0%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65 / -4.4%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23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175,231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115,082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65.7%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60,149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7,099 / 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7,308 / 88.9%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7,469 / 82.5%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7,203 / 78.7%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7,971 / 76.0%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7,683 / 73.7%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94.9%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90.3%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84.2%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81.3%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78.3%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75.8%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94.7%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88.0%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79.7%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67.8%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86.2%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76.9%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72.6%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70.6%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69.1%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84.2%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82.3%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78.6%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76.5%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7,715 / 71.9%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6,964 / 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7,164 / 70.4%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7,111 / 67.4%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6,489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7,849 / 63.0%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75.0%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74.9%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72.9%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70.1%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64.3%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67.7%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59.5%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67.9%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60.5%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68.9%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66.3%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63.8%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6,837 / 60.7%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7,515 / 61.0%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8,014 / 60.7%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7,517 / 57.2%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7,658 / 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7,174 / 55.3%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63.0%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63.5%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63.0%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60.9%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58.6%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56.5%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51.3%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50.7%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51.4%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52.1%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57.3%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56.2%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49.7%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48.3%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51.9%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60.7%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62.6%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57.4%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57.5%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52.5%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6,985 / 56.5%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7,134 / 54.8%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7,691 / 54.9%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7,472 / 52.0%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6,644 / 52.0%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6,565 / 48.6%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58.6%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56.1%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56.7%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53.5%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50.3%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47.1%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46.3%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47.9%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42.5%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42.1%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39.2%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55.2%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53.9%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52.3%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51.8%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46.3%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