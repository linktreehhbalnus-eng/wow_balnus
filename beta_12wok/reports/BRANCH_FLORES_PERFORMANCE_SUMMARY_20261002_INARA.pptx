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01 Oct</c:v>
                </c:pt>
                <c:pt idx="1">
                  <c:v>02 Oct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34.0</c:v>
                </c:pt>
                <c:pt idx="1">
                  <c:v>32.0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01 Oct</c:v>
                </c:pt>
                <c:pt idx="1">
                  <c:v>02 Oct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23.0</c:v>
                </c:pt>
                <c:pt idx="1">
                  <c:v>21.0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01–02 Oct 2026 vs MTD-1 01–02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1.602,0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1.461,0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1.299,7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1.224,7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53,2%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-27,6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358,2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530,7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Ngada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Lembata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01–02 Oct 2026 vs MTD-1 01–02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47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+17,5%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40   Δ 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687386"/>
                </a:solidFill>
                <a:latin typeface="Arial"/>
              </a:rPr>
              <a:t>0,0%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35   Δ 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+33,3%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54   Δ 18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2.576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+29,2%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1.994   Δ 582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SF/DJP Level Branch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" y="2505456"/>
            <a:ext cx="11548872" cy="65836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2679192"/>
            <a:ext cx="111556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0252B"/>
                </a:solidFill>
                <a:latin typeface="Arial"/>
              </a:rPr>
              <a:t>Detail WOK SF tidak ditampilkan pada PPT selama ownership 12 WOK masih dalam masa transisi.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3383280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20040" y="3657600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320040" y="5111496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01–02 Oct 2026 vs MTD-1 01–02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13 (76,9%)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+11,1%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25 / 136 (18,4%)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+4,2% | Turun 19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35 / 150 (23,3%)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+2,9% | Turun 23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55778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55778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-8,9%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13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136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150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SF Class pada PPT Branch ditampilkan pada level Branch sampai ownership 12 WOK resmi tersedia.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01–02 Oct 2026 vs MTD-1 01–02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594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594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Trend SF ditampilkan pada level Branch selama masa transisi ownership 12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01–02 Oct 2026 vs MTD-1 01–02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82549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2.125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2.591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35,2%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99 (43,6%)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173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119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107 (89,9%)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279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01–02 Oct 2026 vs MTD-1 01–02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47 | MoM +17,5%
PS: 35 | MoM 0,0%
• Junior
  RE: 35 | Active 25,7% | MoM +12,9%
  PS: 25 | Active 18,4% | MoM 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12 | Active 92,3% | MoM +50,0%
  PS: 10 | Active 76,9% | MoM +11,1%
• Junior Plus
  RE: 0 | Active 0,0% | MoM -100,0%
  PS: 0 | Active 0,0% | MoM -100,0%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Bajawa: PS 0,0%, Gap 0
• Grapari Ende: PS +50,0%, Gap 2
• Grapari Kalabahi: PS +100,0%, Gap 2
• Grapari Labuan Bajo: PS -66,7%, Gap -2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Larantuka: PS 0,0%, Gap 0
• Grapari Maumere: PS +33,3%, Gap 1
• Grapari Ruteng: PS 0,0%, Gap 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Ende Sikka: RE 10 (+32,3%), PS -7 (-25,0%)
• Flores Timur: RE 9 (+64,3%), PS -3 (-17,6%)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Ende Sikka: RE -2 (-66,7%), PS -3 (-100,0%)
• Manggarai: RE -2 (-50,0%), PS -1 (-100,0%)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Flores Timur: RE 0 (0,0%), PS -1 (-100,0%)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01–02 Oct 2026 vs MTD-1 01–02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01–02 Oct 2026 vs MTD-1 01–02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850,0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01–02 Oct 2026 vs MTD-1 01–02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HILDEGARDIS SALLY DOMAKING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SPGSD76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Wira Anggrawan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IPU6453975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JANUARIUS PAULUS KOPONG HADA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JAN6694249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SPNTI75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helmina dianafri jon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HEL4506624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BENYAMIN NDEWI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SPBEN72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Achmad ahmadi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ACH5119274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MUHAMAD SUNARTO WETI DALA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SPRTO97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Ania Amalia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ANI3431552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THERESIA NETIANA DELOS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SPLEL24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helmina dianafri jon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HEL4506624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ALBERTO CARLOS X K KOBAN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ALB4124293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HILDEGARDIS SALLY DOMAKING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SPGSD76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Wira Anggrawan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IPU6453975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SPNTI75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RADJO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YOH3951876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FRANSISKUS NDAGANG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FRA3131744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MARIANIS TAPIN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MAR1806995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Anmisa putrianingsih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ANM2815952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TEOFELUS EPIPEO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SPTFL84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01–02 Oct 2026 vs MTD-1 01–02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RIZKI MUSTAQIM K LONGSO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RIZ3028400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VALENTINUS S LEIN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SPVAL77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UMA8300566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NATALIS TOLEK KELEN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SPISE19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Yesualdus Harsen Pande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YES1480927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YASINTA MBASI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YAS9341063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ADRIANUS MARIOLIANUS OWON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SPUAN24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MARIO MAXIMILIANO AGUSTO WIO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MAR2648963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BERRTOLOMEUS DONBOSCO DEMO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BER6428042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FERDINANDUS PENO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FER4126457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RIZKI MUSTAQIM K LONGSO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RIZ3028400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VALENTINUS S LEIN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SPVAL77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YOHANES PASKALIS MARIYONO NAHONG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YOH4759581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KLAUDIUS IVANTUS LAJAR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KLA3857151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FELIX LABA GOLE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SPLBG95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ADRIANUS MARIOLIANUS OWON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SPUAN24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BERRTOLOMEUS DONBOSCO DEMO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BER6428042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MARTINUS YONGKI MANGGO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MAR3510076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DOMINGGUS RATU LELE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SPOIL46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ROBERTUS JUNAIDI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ROB7687647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FLORES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rial"/>
              </a:defRPr>
            </a:pPr>
            <a:r>
              <a:t>Branch C3MR 22.66%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694944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Target 96.70% | Gap -74.04 pp | M-1 26.53%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48866" cy="2020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4747"/>
                <a:gridCol w="763658"/>
                <a:gridCol w="763658"/>
                <a:gridCol w="822401"/>
                <a:gridCol w="1233602"/>
                <a:gridCol w="1233602"/>
                <a:gridCol w="845899"/>
                <a:gridCol w="845899"/>
                <a:gridCol w="845899"/>
                <a:gridCol w="963385"/>
                <a:gridCol w="1116116"/>
              </a:tblGrid>
              <a:tr h="50520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WOK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Avg 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12.821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2.633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20.54%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Rp3.96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Rp842.2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25.16%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21.25%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-75.45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Rp319.857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7.329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1.569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21.41%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Rp472.0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27.29%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21.36%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-75.34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Rp300.803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12.363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3.006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24.31%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Rp4.04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Rp999.4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24.75%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-71.95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Rp332.479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2519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LOS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4507992"/>
          <a:ext cx="557783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3503"/>
                <a:gridCol w="1138334"/>
                <a:gridCol w="1366001"/>
              </a:tblGrid>
              <a:tr h="19594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55.08%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-6.82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33.37%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-1.09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20.22%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-3.40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19.71%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-1.70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18.24%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-2.68 pp</a:t>
                      </a:r>
                    </a:p>
                  </a:txBody>
                  <a:tcPr/>
                </a:tc>
              </a:tr>
              <a:tr h="19594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23.07%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-4.79 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