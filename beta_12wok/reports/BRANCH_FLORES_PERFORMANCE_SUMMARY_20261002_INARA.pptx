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34.0</c:v>
                </c:pt>
                <c:pt idx="1">
                  <c:v>32.0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01 Oct</c:v>
                </c:pt>
                <c:pt idx="1">
                  <c:v>02 Oct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</c:v>
                </c:pt>
                <c:pt idx="1">
                  <c:v>21.0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1.461,0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1.224,7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40   Δ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687386"/>
                </a:solidFill>
                <a:latin typeface="Arial"/>
              </a:rPr>
              <a:t>0,0%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35   Δ 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+33,3%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2.576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+29,2%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1.994   Δ 582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13 (76,9%)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 / 136 (18,4%)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 / 150 (23,3%)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+2,9%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150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99 (43,6%)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(89,9%)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47 | MoM +17,5%
PS: 35 | MoM 0,0%
• Junior
  RE: 35 | Active 25,7% | MoM +12,9%
  PS: 25 | Active 18,4%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+50,0%
  PS: 10 | Active 76,9% | MoM +11,1%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0,0%, Gap 0
• Grapari Ende: PS +50,0%, Gap 2
• Grapari Kalabahi: PS +100,0%, Gap 2
• Grapari Labuan Bajo: PS -66,7%,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+33,3%, Gap 1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10 (+32,3%), PS -7 (-25,0%)
• Flores Timur: RE 9 (+64,3%), PS -3 (-17,6%)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(-66,7%), PS -3 (-100,0%)
• Manggarai: RE -2 (-50,0%),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Achmad ahmadi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ACH5119274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SPRTO97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Ania Amalia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ANI3431552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ALB4124293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01–02 Oct 2026 vs MTD-1 01–02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YASINTA MBASI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YAS9341063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RIZKI MUSTAQIM K LONGSO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RIZ3028400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YOH4759581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SPUAN24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MAR3510076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