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Denpasar</c:v>
                </c:pt>
              </c:strCache>
            </c:strRef>
          </c:tx>
          <c:spPr>
            <a:ln w="31750"/>
          </c:spPr>
          <c:marker>
            <c:size val="6"/>
          </c:marker>
          <c:dLbls>
            <c:txPr>
              <a:bodyPr/>
              <a:lstStyle/>
              <a:p>
                <a:pPr>
                  <a:defRPr sz="80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Sheet1!$A$2:$A$31</c:f>
              <c:strCache>
                <c:ptCount val="30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  <c:pt idx="7">
                  <c:v>08 Sep</c:v>
                </c:pt>
                <c:pt idx="8">
                  <c:v>09 Sep</c:v>
                </c:pt>
                <c:pt idx="9">
                  <c:v>10 Sep</c:v>
                </c:pt>
                <c:pt idx="10">
                  <c:v>11 Sep</c:v>
                </c:pt>
                <c:pt idx="11">
                  <c:v>12 Sep</c:v>
                </c:pt>
                <c:pt idx="12">
                  <c:v>13 Sep</c:v>
                </c:pt>
                <c:pt idx="13">
                  <c:v>14 Sep</c:v>
                </c:pt>
                <c:pt idx="14">
                  <c:v>15 Sep</c:v>
                </c:pt>
                <c:pt idx="15">
                  <c:v>16 Sep</c:v>
                </c:pt>
                <c:pt idx="16">
                  <c:v>17 Sep</c:v>
                </c:pt>
                <c:pt idx="17">
                  <c:v>18 Sep</c:v>
                </c:pt>
                <c:pt idx="18">
                  <c:v>19 Sep</c:v>
                </c:pt>
                <c:pt idx="19">
                  <c:v>20 Sep</c:v>
                </c:pt>
                <c:pt idx="20">
                  <c:v>21 Sep</c:v>
                </c:pt>
                <c:pt idx="21">
                  <c:v>22 Sep</c:v>
                </c:pt>
                <c:pt idx="22">
                  <c:v>23 Sep</c:v>
                </c:pt>
                <c:pt idx="23">
                  <c:v>24 Sep</c:v>
                </c:pt>
                <c:pt idx="24">
                  <c:v>25 Sep</c:v>
                </c:pt>
                <c:pt idx="25">
                  <c:v>26 Sep</c:v>
                </c:pt>
                <c:pt idx="26">
                  <c:v>27 Sep</c:v>
                </c:pt>
                <c:pt idx="27">
                  <c:v>28 Sep</c:v>
                </c:pt>
                <c:pt idx="28">
                  <c:v>29 Sep</c:v>
                </c:pt>
                <c:pt idx="29">
                  <c:v>30 Sep</c:v>
                </c:pt>
              </c:strCache>
            </c:strRef>
          </c:cat>
          <c:val>
            <c:numRef>
              <c:f>Sheet1!$B$2:$B$31</c:f>
              <c:numCache>
                <c:formatCode>General</c:formatCode>
                <c:ptCount val="30"/>
                <c:pt idx="0">
                  <c:v>73.0</c:v>
                </c:pt>
                <c:pt idx="1">
                  <c:v>78.0</c:v>
                </c:pt>
                <c:pt idx="2">
                  <c:v>67.0</c:v>
                </c:pt>
                <c:pt idx="3">
                  <c:v>61.0</c:v>
                </c:pt>
                <c:pt idx="4">
                  <c:v>59.0</c:v>
                </c:pt>
                <c:pt idx="5">
                  <c:v>57.0</c:v>
                </c:pt>
                <c:pt idx="6">
                  <c:v>69.0</c:v>
                </c:pt>
                <c:pt idx="7">
                  <c:v>61.0</c:v>
                </c:pt>
                <c:pt idx="8">
                  <c:v>67.0</c:v>
                </c:pt>
                <c:pt idx="9">
                  <c:v>62.0</c:v>
                </c:pt>
                <c:pt idx="10">
                  <c:v>64.0</c:v>
                </c:pt>
                <c:pt idx="11">
                  <c:v>51.0</c:v>
                </c:pt>
                <c:pt idx="12">
                  <c:v>49.0</c:v>
                </c:pt>
                <c:pt idx="13">
                  <c:v>64.0</c:v>
                </c:pt>
                <c:pt idx="14">
                  <c:v>67.0</c:v>
                </c:pt>
                <c:pt idx="15">
                  <c:v>67.0</c:v>
                </c:pt>
                <c:pt idx="16">
                  <c:v>71.0</c:v>
                </c:pt>
                <c:pt idx="17">
                  <c:v>50.0</c:v>
                </c:pt>
                <c:pt idx="18">
                  <c:v>58.0</c:v>
                </c:pt>
                <c:pt idx="19">
                  <c:v>52.0</c:v>
                </c:pt>
                <c:pt idx="20">
                  <c:v>69.0</c:v>
                </c:pt>
                <c:pt idx="21">
                  <c:v>58.0</c:v>
                </c:pt>
                <c:pt idx="22">
                  <c:v>55.0</c:v>
                </c:pt>
                <c:pt idx="23">
                  <c:v>66.0</c:v>
                </c:pt>
                <c:pt idx="24">
                  <c:v>55.0</c:v>
                </c:pt>
                <c:pt idx="25">
                  <c:v>56.0</c:v>
                </c:pt>
                <c:pt idx="26">
                  <c:v>41.0</c:v>
                </c:pt>
                <c:pt idx="27">
                  <c:v>60.0</c:v>
                </c:pt>
                <c:pt idx="28">
                  <c:v>55.0</c:v>
                </c:pt>
                <c:pt idx="29">
                  <c:v>58.0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9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Denpasar</c:v>
                </c:pt>
              </c:strCache>
            </c:strRef>
          </c:tx>
          <c:spPr>
            <a:ln w="31750"/>
          </c:spPr>
          <c:marker>
            <c:size val="6"/>
          </c:marker>
          <c:dLbls>
            <c:txPr>
              <a:bodyPr/>
              <a:lstStyle/>
              <a:p>
                <a:pPr>
                  <a:defRPr sz="80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Sheet1!$A$2:$A$31</c:f>
              <c:strCache>
                <c:ptCount val="30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  <c:pt idx="7">
                  <c:v>08 Sep</c:v>
                </c:pt>
                <c:pt idx="8">
                  <c:v>09 Sep</c:v>
                </c:pt>
                <c:pt idx="9">
                  <c:v>10 Sep</c:v>
                </c:pt>
                <c:pt idx="10">
                  <c:v>11 Sep</c:v>
                </c:pt>
                <c:pt idx="11">
                  <c:v>12 Sep</c:v>
                </c:pt>
                <c:pt idx="12">
                  <c:v>13 Sep</c:v>
                </c:pt>
                <c:pt idx="13">
                  <c:v>14 Sep</c:v>
                </c:pt>
                <c:pt idx="14">
                  <c:v>15 Sep</c:v>
                </c:pt>
                <c:pt idx="15">
                  <c:v>16 Sep</c:v>
                </c:pt>
                <c:pt idx="16">
                  <c:v>17 Sep</c:v>
                </c:pt>
                <c:pt idx="17">
                  <c:v>18 Sep</c:v>
                </c:pt>
                <c:pt idx="18">
                  <c:v>19 Sep</c:v>
                </c:pt>
                <c:pt idx="19">
                  <c:v>20 Sep</c:v>
                </c:pt>
                <c:pt idx="20">
                  <c:v>21 Sep</c:v>
                </c:pt>
                <c:pt idx="21">
                  <c:v>22 Sep</c:v>
                </c:pt>
                <c:pt idx="22">
                  <c:v>23 Sep</c:v>
                </c:pt>
                <c:pt idx="23">
                  <c:v>24 Sep</c:v>
                </c:pt>
                <c:pt idx="24">
                  <c:v>25 Sep</c:v>
                </c:pt>
                <c:pt idx="25">
                  <c:v>26 Sep</c:v>
                </c:pt>
                <c:pt idx="26">
                  <c:v>27 Sep</c:v>
                </c:pt>
                <c:pt idx="27">
                  <c:v>28 Sep</c:v>
                </c:pt>
                <c:pt idx="28">
                  <c:v>29 Sep</c:v>
                </c:pt>
                <c:pt idx="29">
                  <c:v>30 Sep</c:v>
                </c:pt>
              </c:strCache>
            </c:strRef>
          </c:cat>
          <c:val>
            <c:numRef>
              <c:f>Sheet1!$B$2:$B$31</c:f>
              <c:numCache>
                <c:formatCode>General</c:formatCode>
                <c:ptCount val="30"/>
                <c:pt idx="0">
                  <c:v>51.0</c:v>
                </c:pt>
                <c:pt idx="1">
                  <c:v>67.0</c:v>
                </c:pt>
                <c:pt idx="2">
                  <c:v>60.0</c:v>
                </c:pt>
                <c:pt idx="3">
                  <c:v>47.0</c:v>
                </c:pt>
                <c:pt idx="4">
                  <c:v>56.0</c:v>
                </c:pt>
                <c:pt idx="5">
                  <c:v>50.0</c:v>
                </c:pt>
                <c:pt idx="6">
                  <c:v>54.0</c:v>
                </c:pt>
                <c:pt idx="7">
                  <c:v>67.0</c:v>
                </c:pt>
                <c:pt idx="8">
                  <c:v>53.0</c:v>
                </c:pt>
                <c:pt idx="9">
                  <c:v>57.0</c:v>
                </c:pt>
                <c:pt idx="10">
                  <c:v>64.0</c:v>
                </c:pt>
                <c:pt idx="11">
                  <c:v>54.0</c:v>
                </c:pt>
                <c:pt idx="12">
                  <c:v>45.0</c:v>
                </c:pt>
                <c:pt idx="13">
                  <c:v>51.0</c:v>
                </c:pt>
                <c:pt idx="14">
                  <c:v>58.0</c:v>
                </c:pt>
                <c:pt idx="15">
                  <c:v>59.0</c:v>
                </c:pt>
                <c:pt idx="16">
                  <c:v>59.0</c:v>
                </c:pt>
                <c:pt idx="17">
                  <c:v>55.0</c:v>
                </c:pt>
                <c:pt idx="18">
                  <c:v>46.0</c:v>
                </c:pt>
                <c:pt idx="19">
                  <c:v>52.0</c:v>
                </c:pt>
                <c:pt idx="20">
                  <c:v>55.0</c:v>
                </c:pt>
                <c:pt idx="21">
                  <c:v>63.0</c:v>
                </c:pt>
                <c:pt idx="22">
                  <c:v>46.0</c:v>
                </c:pt>
                <c:pt idx="23">
                  <c:v>57.0</c:v>
                </c:pt>
                <c:pt idx="24">
                  <c:v>51.0</c:v>
                </c:pt>
                <c:pt idx="25">
                  <c:v>42.0</c:v>
                </c:pt>
                <c:pt idx="26">
                  <c:v>40.0</c:v>
                </c:pt>
                <c:pt idx="27">
                  <c:v>49.0</c:v>
                </c:pt>
                <c:pt idx="28">
                  <c:v>57.0</c:v>
                </c:pt>
                <c:pt idx="29">
                  <c:v>49.0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9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chart" Target="../charts/char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Area &amp; Product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01–30 Sep 2026 vs MTD-1 01–30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Branch Performance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33271"/>
          <a:ext cx="5394957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1824"/>
                <a:gridCol w="683868"/>
                <a:gridCol w="683868"/>
                <a:gridCol w="683868"/>
                <a:gridCol w="835838"/>
                <a:gridCol w="759853"/>
                <a:gridCol w="835838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Metric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Target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3.916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3.798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4.435,7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85,6%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637,7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3.183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3.100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3.541,1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87,5%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441,1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011680"/>
            <a:ext cx="53949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Target Branch = agregasi target 3 WOK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221992"/>
          <a:ext cx="5394958" cy="3017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7331"/>
                <a:gridCol w="1412965"/>
                <a:gridCol w="1412965"/>
                <a:gridCol w="1241697"/>
              </a:tblGrid>
              <a:tr h="30175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to RE Ratio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MTD-1: 81,3%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MTD: 81,6%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+0,3 pp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144768" y="749808"/>
            <a:ext cx="57150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RE &amp; PS Performance by Speed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144768" y="1033271"/>
          <a:ext cx="5714998" cy="1783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66630"/>
                <a:gridCol w="559076"/>
                <a:gridCol w="559076"/>
                <a:gridCol w="559076"/>
                <a:gridCol w="559076"/>
                <a:gridCol w="559076"/>
                <a:gridCol w="559076"/>
                <a:gridCol w="434836"/>
                <a:gridCol w="559076"/>
              </a:tblGrid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Kontrib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1.535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1.446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1.291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1.250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86,4%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40,3%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690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-23,2%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-26,3%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78,3%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+9,5%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487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+7,0%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470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498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369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384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77,1%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572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+16,5%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82,3%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3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-62,1%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-68,0%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72,7%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3054096"/>
            <a:ext cx="987552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WOK Performance — seluruh WOK Denpasar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320040" y="3337560"/>
          <a:ext cx="9646911" cy="12435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35727"/>
                <a:gridCol w="742070"/>
                <a:gridCol w="742070"/>
                <a:gridCol w="742070"/>
                <a:gridCol w="742070"/>
                <a:gridCol w="816277"/>
                <a:gridCol w="742070"/>
                <a:gridCol w="742070"/>
                <a:gridCol w="742070"/>
                <a:gridCol w="742070"/>
                <a:gridCol w="816277"/>
                <a:gridCol w="74207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1.091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1.117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101,0%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-10,7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871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956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+9,8%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108,2%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-72,8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85,6%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2.161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2.016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80,7%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481,0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1.780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1.637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82,1%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356,4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81,2%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664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665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+0,2%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79,9%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167,4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76,3%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157,5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76,2%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320040" y="4828031"/>
            <a:ext cx="115214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Kabupaten Performance — Top 3 &amp; Bottom 3 by MoM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" y="5111495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37D3F"/>
                </a:solidFill>
                <a:latin typeface="Arial"/>
              </a:rPr>
              <a:t>Top 3 (MoM PS Tertinggi)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27648" y="5111495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D73527"/>
                </a:solidFill>
                <a:latin typeface="Arial"/>
              </a:rPr>
              <a:t>Bottom 3 (MoM PS Terendah)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320040" y="5321807"/>
          <a:ext cx="5559550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25378"/>
                <a:gridCol w="958543"/>
                <a:gridCol w="958543"/>
                <a:gridCol w="958543"/>
                <a:gridCol w="958543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Buleleng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362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148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Gianyar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270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281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Bangli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6327648" y="5321807"/>
          <a:ext cx="5541262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19702"/>
                <a:gridCol w="955390"/>
                <a:gridCol w="955390"/>
                <a:gridCol w="955390"/>
                <a:gridCol w="955390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Klungkung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-25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-22,3%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Jembrana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-19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-17,9%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Karang Asem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-13,3%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Sales Force &amp; DJP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01–30 Sep 2026 vs MTD-1 01–30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Sales Force Scorecard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509760" y="749808"/>
            <a:ext cx="23317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000" b="0" i="1">
                <a:solidFill>
                  <a:srgbClr val="687386"/>
                </a:solidFill>
                <a:latin typeface="Arial"/>
              </a:rPr>
              <a:t>Registered SF: 351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9768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234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20240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D73527"/>
                </a:solidFill>
                <a:latin typeface="Arial"/>
              </a:rPr>
              <a:t>-7,1%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9768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252   Δ -18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227832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37560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37560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225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28032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D73527"/>
                </a:solidFill>
                <a:latin typeface="Arial"/>
              </a:rPr>
              <a:t>-8,2%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337560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245   Δ -20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35624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45352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DJP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45352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226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35824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137D3F"/>
                </a:solidFill>
                <a:latin typeface="Arial"/>
              </a:rPr>
              <a:t>+4,6%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45352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216   Δ 10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043416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53144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Aktivitas DJP — Total Visit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53144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6.963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643616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137D3F"/>
                </a:solidFill>
                <a:latin typeface="Arial"/>
              </a:rPr>
              <a:t>+11,3%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53144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6.258   Δ 705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0040" y="2221992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SF/DJP Level Branch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320040" y="2505456"/>
            <a:ext cx="11548872" cy="65836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02920" y="2679192"/>
            <a:ext cx="1115568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0" i="0">
                <a:solidFill>
                  <a:srgbClr val="20252B"/>
                </a:solidFill>
                <a:latin typeface="Arial"/>
              </a:rPr>
              <a:t>Detail WOK SF tidak ditampilkan pada PPT selama ownership 12 WOK masih dalam masa transisi.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20040" y="3383280"/>
            <a:ext cx="9601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SF Active RE &amp; PS by Speed — Branch Denpasar</a:t>
            </a:r>
          </a:p>
        </p:txBody>
      </p:sp>
      <p:graphicFrame>
        <p:nvGraphicFramePr>
          <p:cNvPr id="33" name="Table 32"/>
          <p:cNvGraphicFramePr>
            <a:graphicFrameLocks noGrp="1"/>
          </p:cNvGraphicFramePr>
          <p:nvPr/>
        </p:nvGraphicFramePr>
        <p:xfrm>
          <a:off x="320040" y="3657600"/>
          <a:ext cx="7680955" cy="1417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51819"/>
                <a:gridCol w="908500"/>
                <a:gridCol w="908500"/>
                <a:gridCol w="743318"/>
                <a:gridCol w="908500"/>
                <a:gridCol w="908500"/>
                <a:gridCol w="743318"/>
                <a:gridCol w="908500"/>
              </a:tblGrid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per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196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167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-14,8%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188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159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-15,4%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-12,8%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+9,7%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-0,9%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-62,5%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-82,4%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4" name="TextBox 33"/>
          <p:cNvSpPr txBox="1"/>
          <p:nvPr/>
        </p:nvSpPr>
        <p:spPr>
          <a:xfrm>
            <a:off x="320040" y="5111496"/>
            <a:ext cx="8229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SF Active dihitung berdasarkan SF Code unik per kelompok; Aktivitas DJP merupakan total visit.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SF Class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01–30 Sep 2026 vs MTD-1 01–30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22376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SF Active PS per Class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987552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64008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64008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19 / 20 (95,0%)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+5,6% | Turun 11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186 / 310 (60,0%)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-12,3% | Turun 121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4 / 5 (80,0%)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-20,0% | Turun 1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6 / 6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+500,0% | Turun 3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10 / 10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-9,1% | Turun 8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225 / 351 (64,1%)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-8,9% | Turun 144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386584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PS per Class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651760"/>
          <a:ext cx="11548870" cy="1115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55778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55778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224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-0,4%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1.292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-14,8%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161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+34,2%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288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+364,5%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744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-14,6%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2.709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-3,0%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3886200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SF Productive per Class (minimum 10 PS)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4151376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64008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64008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11 / 20 (55,0%)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+10,0% | Turun 11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42 / 310 (13,5%)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-12,5% | Turun 121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4 / 5 (80,0%)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6 / 6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+500,0% | Turun 3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10 / 10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-9,1% | Turun 8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73 / 351 (20,8%)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-1,4% | Turun 144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5596128"/>
            <a:ext cx="1133856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 i="1">
                <a:solidFill>
                  <a:srgbClr val="687386"/>
                </a:solidFill>
                <a:latin typeface="Arial"/>
              </a:rPr>
              <a:t>Active = minimum 1 PS. SF Class pada PPT Branch ditampilkan pada level Branch sampai ownership 12 WOK resmi tersedia.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Daily SF Active Trend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01–30 Sep 2026 vs MTD-1 01–30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86384"/>
            <a:ext cx="55778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SF Active RE Harian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320040" y="1097280"/>
          <a:ext cx="5532120" cy="32461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327648" y="786384"/>
            <a:ext cx="55778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 Active PS Harian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6327648" y="1097280"/>
          <a:ext cx="5532120" cy="324612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4645152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Ringkasan Produktivitas Harian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4956048"/>
          <a:ext cx="7955277" cy="1188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66049"/>
                <a:gridCol w="1735697"/>
                <a:gridCol w="1108917"/>
                <a:gridCol w="1735697"/>
                <a:gridCol w="1108917"/>
              </a:tblGrid>
              <a:tr h="5943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Avg SF Active RE/Hari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per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Avg SF Active PS/Hari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per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5943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60,7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53,8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6236208"/>
            <a:ext cx="1133856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Trend SF ditampilkan pada level Branch selama masa transisi ownership 12 WOK.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Channel &amp; ODP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01–30 Sep 2026 vs MTD-1 01–30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Agency Performance by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207008"/>
          <a:ext cx="5541260" cy="143560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1.001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1.038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906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87,3%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1.803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1.659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1.502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1.377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83,0%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566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555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471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77,3%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327648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Grapari Performance by WOK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27648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327648" y="1207008"/>
          <a:ext cx="5541260" cy="143560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+8,0%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+21,1%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85,2%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+34,2%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79,6%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+18,2%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76,9%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2825496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Channel Scorecard — Total Branch Denpasar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040" y="3118103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AGENCY TOTAL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320040" y="3383279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3.370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3.252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2.794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2.712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6327648" y="3118103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GRAPARI TOTAL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6327648" y="3383279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120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+25,8%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320040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ODP Occupancy Summary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320040" y="4928616"/>
          <a:ext cx="5413243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80202"/>
                <a:gridCol w="880202"/>
                <a:gridCol w="880202"/>
                <a:gridCol w="880202"/>
                <a:gridCol w="880202"/>
                <a:gridCol w="1012233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ORANGE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YELLOW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GREEN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BLACK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 ODP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7.639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21.209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15.163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3.251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47.292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16,2%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44,8%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32,1%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20" name="TextBox 19"/>
          <p:cNvSpPr txBox="1"/>
          <p:nvPr/>
        </p:nvSpPr>
        <p:spPr>
          <a:xfrm>
            <a:off x="6327648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E.  DJP pada ODP Khusus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27648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55664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D73527"/>
                </a:solidFill>
                <a:latin typeface="Arial"/>
              </a:rPr>
              <a:t>ODP BLACK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55664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3.251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55664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705 (21,7%)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55664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836408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D73527"/>
                </a:solidFill>
                <a:latin typeface="Arial"/>
              </a:rPr>
              <a:t>1.894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272016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400032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37D3F"/>
                </a:solidFill>
                <a:latin typeface="Arial"/>
              </a:rPr>
              <a:t>ODP GREENFIELD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00032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569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00032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428 (75,2%)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400032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780776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137D3F"/>
                </a:solidFill>
                <a:latin typeface="Arial"/>
              </a:rPr>
              <a:t>1.177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Performance RE &amp; PS per Channel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01–30 Sep 2026 vs MTD-1 01–30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Channel Scorecard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24128"/>
          <a:ext cx="11548867" cy="15727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93834"/>
                <a:gridCol w="1077894"/>
                <a:gridCol w="1077894"/>
                <a:gridCol w="975238"/>
                <a:gridCol w="1077894"/>
                <a:gridCol w="1077894"/>
                <a:gridCol w="975238"/>
                <a:gridCol w="1385864"/>
                <a:gridCol w="1129223"/>
                <a:gridCol w="1077894"/>
              </a:tblGrid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Channel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Rev NS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Rev NS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% Contr.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3.909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3.787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3.180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3.096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623,0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Agency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3.370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3.252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2.794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2.712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522,9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87,6%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Grapari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+25,8%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31,4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+25,9%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Web &amp; Apps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282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-13,8%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199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-13,1%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54,7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-13,1%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B2B2C &amp; Others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+11,7%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11,0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+16,8%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Sobi Affiliate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+62,5%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3,2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+38,0%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85292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Kontributor Penurunan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20040" y="3182112"/>
            <a:ext cx="5705856" cy="18470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9768" y="326440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102C50"/>
                </a:solidFill>
                <a:latin typeface="Arial"/>
              </a:rPr>
              <a:t>Agency SF Class Active (%, MoM)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6344" y="3602736"/>
            <a:ext cx="2633472" cy="128016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SF ACTIVE TOTAL
RE: 234 | MoM -7,1%
PS: 225 | MoM -8,2%
• Elite
  RE: 10 | Active 100,0% | MoM 0,0%
  PS: 10 | Active 100,0% | MoM 0,0%
• Performer
  RE: 6 | Active 100,0% | MoM 0,0%
  PS: 6 | Active 100,0% | MoM 0,0%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36976" y="3602736"/>
            <a:ext cx="2633472" cy="128016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Junior
  RE: 195 | Active 62,9% | MoM -8,5%
  PS: 186 | Active 60,0% | MoM -9,7%
• Greenfield
  RE: 19 | Active 95,0% | MoM +5,6%
  PS: 19 | Active 95,0% | MoM +5,6%
• Junior Plus
  RE: 4 | Active 80,0% | MoM -20,0%
  PS: 4 | Active 80,0% | MoM -20,0%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63055" y="3182112"/>
            <a:ext cx="5705856" cy="18470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72783" y="326440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102C50"/>
                </a:solidFill>
                <a:latin typeface="Arial"/>
              </a:rPr>
              <a:t>GraPARI Performance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09359" y="3621024"/>
            <a:ext cx="2633472" cy="123444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 i="0">
                <a:solidFill>
                  <a:srgbClr val="20252B"/>
                </a:solidFill>
                <a:latin typeface="Arial"/>
              </a:rPr>
              <a:t>• Grapari Amlapura: PS 0,0%, Gap 0
• Grapari Gatsu Tengah: PS -22,2%, Gap -2
• Grapari Jimbaran: PS +46,7%, Gap 7
• Grapari Kuta: PS +100,0%, Gap 4
• Grapari Negara: PS +250,0%, Gap 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79992" y="3621024"/>
            <a:ext cx="2633472" cy="123444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 i="0">
                <a:solidFill>
                  <a:srgbClr val="20252B"/>
                </a:solidFill>
                <a:latin typeface="Arial"/>
              </a:rPr>
              <a:t>• Grapari Renon: PS +21,1%, Gap 8
• Grapari Singaraja: PS -50,0%, Gap -5
• Grapari Tabanan: PS -40,0%, Gap -4
• Grapari Ubud: PS +21,4%, Gap 3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20040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11479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Agency per WOK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9768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Bali Tengah: RE -144 (-8,0%), PS -125 (-8,3%)
• Bali Timur: RE -11 (-1,9%), PS -42 (-8,9%)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236976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328416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Web &amp; Apps per WOK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46704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Bali Tengah: RE -45 (-19,5%), PS -40 (-22,7%)
• Bali Barat: RE -7 (-15,9%), PS -1 (-4,8%)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53912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5351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B2B2C &amp; Others per WOK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63640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Bali Timur: RE 1 (+7,7%), PS -4 (-44,4%)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070848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62288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SOBI Affiliate per WOK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80576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Bali Tengah: RE -2 (-28,6%), PS -2 (-33,3%)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20040" y="6181344"/>
            <a:ext cx="1143000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Gap = perubahan absolut MTD terhadap MTD-1 pada periode tanggal yang sama. Angka dalam kurung menunjukkan MoM.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Appendix — PS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01–30 Sep 2026 vs MTD-1 01–30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PS by Speed — Total Branch &amp; WOK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1.291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1.250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40,3%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-26,3%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487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+7,0%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467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506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+8,4%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52,9%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74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-23,7%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104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+23,8%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686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637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-7,1%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38,9%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-28,5%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107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-22,5%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21,1%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93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-21,8%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18,3%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85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+10,4%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3273552"/>
            <a:ext cx="64008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369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384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+4,1%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+16,5%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-68,0%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-8,1%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+36,9%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22,5%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260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+6,1%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67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+8,1%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+14,1%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30,4%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3.183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3.100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871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956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+9,8%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1.780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1.637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Appendix — Revenue New Sales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01–30 Sep 2026 vs MTD-1 01–30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Revenue New Sales by Speed — Total Branch &amp;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777240"/>
            <a:ext cx="420624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850" b="0" i="1">
                <a:solidFill>
                  <a:srgbClr val="687386"/>
                </a:solidFill>
                <a:latin typeface="Arial"/>
              </a:rPr>
              <a:t>Revenue = total price_package dari PS unik per order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194,5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188,0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30,1%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130,9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94,2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-28,0%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122,1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128,5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+5,2%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64,8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66,5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41,6%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22,5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16,9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-25,1%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20,9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25,2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+20,9%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108,5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104,5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29,1%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80,9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56,1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-30,6%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81,8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82,5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+0,8%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22,9%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21,2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17,0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-19,8%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27,5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21,3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-22,7%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19,4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20,8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+6,8%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320040" y="3273552"/>
            <a:ext cx="64008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119,0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123,2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76,8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87,7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+14,1%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7,4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-70,3%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20,5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18,2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-11,5%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24,3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33,3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+36,9%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78,9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84,0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+6,4%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23,3%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31,2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30,6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-67,9%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19,5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21,1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+7,9%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21,3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23,8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+11,8%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22,8%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270,0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295,0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+9,3%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650,7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623,8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154,2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160,0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387,2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359,6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109,3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104,2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Appendix — Top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01–30 Sep 2026 vs MTD-1 01–30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[TECHNICIAN] Riko Simanjuntak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RIK2794671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9,0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+900,0%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NI PUTU ARIANI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SPXARI84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AYU GEDE FAJAR SARI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SPIAR40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Syarah nur febriyani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SYA1730001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ERNA SUSILAWATI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ERN8650298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GEDE WISADA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SPXJRO75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8,0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Tuti Karmila Sari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TUT4761292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Agus adi widiana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AGU8475326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wayan supantra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IWA7405758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GUSTI AGUNG PUTRA SANJAYA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IGU8165510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+166,7%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[TECHNICIAN] Riko Simanjuntak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RIK2794671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7,0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+700,0%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HERLINA JULIANTHI EDDY PUTRI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SPNRU39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16,0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+228,6%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AYU GEDE FAJAR SARI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SPIAR40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Syarah nur febriyani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SYA1730001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MOH. AZRILFIAN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SPAMM05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GEDE ARI SUASTAWAN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GED7644638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MADE RIVAN ANDIKA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MAD5677393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+185,7%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GEDE WISADA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SPXJRO75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Kristiana Liva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KRI7143228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GUSTI AGUNG PUTRA SANJAYA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IGU8165510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ini; detail WOK tidak ditampilkan selama masa transisi.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137D3F"/>
                </a:solidFill>
                <a:latin typeface="Arial"/>
              </a:rPr>
              <a:t>Top 10 branch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Appendix — Bottom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01–30 Sep 2026 vs MTD-1 01–30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GUSTI AGUNG PUTU SANTIKA PARAMITA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SPARU73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HERI SUSANTO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HER7736667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Andi Setiawan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AND6612062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AI IFA HANIFAH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SPXXYA91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Barthlomeus Mario Jeriko Pareira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BAR4674596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SEPTIA RAVI ANDARI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SEP3661971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Gusti Agung Aditya Adhikara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IGU7714530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NI KADEK ARI OKTAVIANI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SPEOI41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KUSMIYATI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KUS6194359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Zulkarnain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ZUL6248160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GUSTI AGUNG PUTU SANTIKA PARAMITA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SPARU73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HERI SUSANTO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HER7736667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Andi Setiawan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AND6612062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AI IFA HANIFAH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SPXXYA91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Barthlomeus Mario Jeriko Pareira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BAR4674596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SEPTIA RAVI ANDARI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SEP3661971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Gusti Agung Aditya Adhikara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IGU7714530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NI KADEK ARI OKTAVIANI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SPEOI41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KUSMIYATI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KUS6194359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Zulkarnain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ZUL6248160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ini; detail WOK tidak ditampilkan selama masa transisi.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D73527"/>
                </a:solidFill>
                <a:latin typeface="Arial"/>
              </a:rPr>
              <a:t>Bottom 10 branch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