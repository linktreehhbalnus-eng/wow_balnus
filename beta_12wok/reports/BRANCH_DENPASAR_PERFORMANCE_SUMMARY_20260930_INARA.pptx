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  <c:pt idx="29">
                  <c:v>30 Sep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73.0</c:v>
                </c:pt>
                <c:pt idx="1">
                  <c:v>78.0</c:v>
                </c:pt>
                <c:pt idx="2">
                  <c:v>67.0</c:v>
                </c:pt>
                <c:pt idx="3">
                  <c:v>61.0</c:v>
                </c:pt>
                <c:pt idx="4">
                  <c:v>59.0</c:v>
                </c:pt>
                <c:pt idx="5">
                  <c:v>57.0</c:v>
                </c:pt>
                <c:pt idx="6">
                  <c:v>69.0</c:v>
                </c:pt>
                <c:pt idx="7">
                  <c:v>61.0</c:v>
                </c:pt>
                <c:pt idx="8">
                  <c:v>67.0</c:v>
                </c:pt>
                <c:pt idx="9">
                  <c:v>62.0</c:v>
                </c:pt>
                <c:pt idx="10">
                  <c:v>64.0</c:v>
                </c:pt>
                <c:pt idx="11">
                  <c:v>51.0</c:v>
                </c:pt>
                <c:pt idx="12">
                  <c:v>49.0</c:v>
                </c:pt>
                <c:pt idx="13">
                  <c:v>64.0</c:v>
                </c:pt>
                <c:pt idx="14">
                  <c:v>67.0</c:v>
                </c:pt>
                <c:pt idx="15">
                  <c:v>67.0</c:v>
                </c:pt>
                <c:pt idx="16">
                  <c:v>71.0</c:v>
                </c:pt>
                <c:pt idx="17">
                  <c:v>50.0</c:v>
                </c:pt>
                <c:pt idx="18">
                  <c:v>58.0</c:v>
                </c:pt>
                <c:pt idx="19">
                  <c:v>52.0</c:v>
                </c:pt>
                <c:pt idx="20">
                  <c:v>69.0</c:v>
                </c:pt>
                <c:pt idx="21">
                  <c:v>58.0</c:v>
                </c:pt>
                <c:pt idx="22">
                  <c:v>55.0</c:v>
                </c:pt>
                <c:pt idx="23">
                  <c:v>66.0</c:v>
                </c:pt>
                <c:pt idx="24">
                  <c:v>55.0</c:v>
                </c:pt>
                <c:pt idx="25">
                  <c:v>56.0</c:v>
                </c:pt>
                <c:pt idx="26">
                  <c:v>41.0</c:v>
                </c:pt>
                <c:pt idx="27">
                  <c:v>60.0</c:v>
                </c:pt>
                <c:pt idx="28">
                  <c:v>55.0</c:v>
                </c:pt>
                <c:pt idx="29">
                  <c:v>58.0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  <c:pt idx="29">
                  <c:v>30 Sep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51.0</c:v>
                </c:pt>
                <c:pt idx="1">
                  <c:v>67.0</c:v>
                </c:pt>
                <c:pt idx="2">
                  <c:v>60.0</c:v>
                </c:pt>
                <c:pt idx="3">
                  <c:v>47.0</c:v>
                </c:pt>
                <c:pt idx="4">
                  <c:v>56.0</c:v>
                </c:pt>
                <c:pt idx="5">
                  <c:v>50.0</c:v>
                </c:pt>
                <c:pt idx="6">
                  <c:v>54.0</c:v>
                </c:pt>
                <c:pt idx="7">
                  <c:v>67.0</c:v>
                </c:pt>
                <c:pt idx="8">
                  <c:v>53.0</c:v>
                </c:pt>
                <c:pt idx="9">
                  <c:v>57.0</c:v>
                </c:pt>
                <c:pt idx="10">
                  <c:v>64.0</c:v>
                </c:pt>
                <c:pt idx="11">
                  <c:v>54.0</c:v>
                </c:pt>
                <c:pt idx="12">
                  <c:v>45.0</c:v>
                </c:pt>
                <c:pt idx="13">
                  <c:v>51.0</c:v>
                </c:pt>
                <c:pt idx="14">
                  <c:v>58.0</c:v>
                </c:pt>
                <c:pt idx="15">
                  <c:v>59.0</c:v>
                </c:pt>
                <c:pt idx="16">
                  <c:v>59.0</c:v>
                </c:pt>
                <c:pt idx="17">
                  <c:v>55.0</c:v>
                </c:pt>
                <c:pt idx="18">
                  <c:v>46.0</c:v>
                </c:pt>
                <c:pt idx="19">
                  <c:v>52.0</c:v>
                </c:pt>
                <c:pt idx="20">
                  <c:v>55.0</c:v>
                </c:pt>
                <c:pt idx="21">
                  <c:v>63.0</c:v>
                </c:pt>
                <c:pt idx="22">
                  <c:v>46.0</c:v>
                </c:pt>
                <c:pt idx="23">
                  <c:v>57.0</c:v>
                </c:pt>
                <c:pt idx="24">
                  <c:v>51.0</c:v>
                </c:pt>
                <c:pt idx="25">
                  <c:v>42.0</c:v>
                </c:pt>
                <c:pt idx="26">
                  <c:v>40.0</c:v>
                </c:pt>
                <c:pt idx="27">
                  <c:v>49.0</c:v>
                </c:pt>
                <c:pt idx="28">
                  <c:v>57.0</c:v>
                </c:pt>
                <c:pt idx="29">
                  <c:v>49.0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3.916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3.798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4.435,7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85,6%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637,7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3.541,1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87,5%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+0,3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101,0%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-10,7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108,2%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-72,8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80,7%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82,1%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356,4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79,9%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167,4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76,3%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157,5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Gianyar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Bangli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Klungkung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Jembrana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351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234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-7,1%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252   Δ -18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-8,2%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245   Δ -20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+4,6%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216   Δ 10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6.963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+11,3%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6.258   Δ 705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SF/DJP Level Branch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" y="2505456"/>
            <a:ext cx="11548872" cy="65836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2679192"/>
            <a:ext cx="111556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0252B"/>
                </a:solidFill>
                <a:latin typeface="Arial"/>
              </a:rPr>
              <a:t>Detail WOK SF tidak ditampilkan pada PPT selama ownership 12 WOK masih dalam masa transisi.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3383280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20040" y="3657600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320040" y="5111496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+5,6% | Turun 11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186 / 310 (60,0%)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-12,3% | Turun 121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225 / 351 (64,1%)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-8,9% | Turun 144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55778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55778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224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-0,4%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1.292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-14,8%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+34,2%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288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+364,5%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744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-14,6%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2.709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 / 20 (55,0%)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+10,0% | Turun 11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42 / 310 (13,5%)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-12,5% | Turun 121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73 / 351 (20,8%)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-1,4% | Turun 144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SF Class pada PPT Branch ditampilkan pada level Branch sampai ownership 12 WOK resmi tersedia.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594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594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Trend SF ditampilkan pada level Branch selama masa transisi ownership 12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82549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3.370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3.252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2.794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2.712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7.639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21.209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15.163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47.292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3.251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705 (21,7%)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1.894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569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428 (75,2%)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1.177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3.909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3.787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3.096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623,0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3.370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3.252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2.794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2.712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522,9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+38,0%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234 | MoM -7,1%
PS: 225 | MoM -8,2%
• Elite
  RE: 10 | Active 100,0% | MoM 0,0%
  PS: 10 | Active 100,0% | MoM 0,0%
• Performer
  RE: 6 | Active 100,0% | MoM 0,0%
  PS: 6 | Active 100,0% | MoM 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Junior
  RE: 195 | Active 62,9% | MoM -8,5%
  PS: 186 | Active 60,0% | MoM -9,7%
• Greenfield
  RE: 19 | Active 95,0% | MoM +5,6%
  PS: 19 | Active 95,0% | MoM +5,6%
• Junior Plus
  RE: 4 | Active 80,0% | MoM -20,0%
  PS: 4 | Active 80,0% | MoM -20,0%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Amlapura: PS 0,0%, Gap 0
• Grapari Gatsu Tengah: PS -22,2%, Gap -2
• Grapari Jimbaran: PS +46,7%, Gap 7
• Grapari Kuta: PS +100,0%, Gap 4
• Grapari Negara: PS +250,0%, Gap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Renon: PS +21,1%, Gap 8
• Grapari Singaraja: PS -50,0%, Gap -5
• Grapari Tabanan: PS -40,0%, Gap -4
• Grapari Ubud: PS +21,4%, Gap 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Tengah: RE -144 (-8,0%), PS -125 (-8,3%)
• Bali Timur: RE -11 (-1,9%), PS -42 (-8,9%)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Tengah: RE -45 (-19,5%), PS -40 (-22,7%)
• Bali Barat: RE -7 (-15,9%), PS -1 (-4,8%)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Timur: RE 1 (+7,7%), PS -4 (-44,4%)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Tengah: RE -2 (-28,6%), PS -2 (-33,3%)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1.250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650,7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623,8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154,2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387,2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359,6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109,3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Riko Simanjuntak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RIK2794671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PUTU ARIANI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SPXARI84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AYU GEDE FAJAR 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SPIAR40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Syarah nur febriyani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SYA1730001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ERNA SUSILAWATI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ERN8650298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WISADA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SPXJRO75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Tuti Karmila 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TUT4761292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 adi widiana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AGU8475326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wayan supantra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IWA7405758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PUTRA SANJAYA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IGU8165510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Riko Simanjuntak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RIK2794671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SPNRU39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AYU GEDE FAJAR 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SPIAR40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Syarah nur febriyani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SYA1730001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MOH. AZRILFIAN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SPAMM05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GEDE ARI SUASTAWAN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GED7644638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MADE RIVAN ANDIKA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MAD5677393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WISADA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SPXJRO75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Kristiana Liva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KRI7143228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PUTRA SANJAYA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IGU8165510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PUTU SANTIKA PARAMITA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SPARU73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HER7736667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Andi Setiawan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AND6612062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 IFA HANIFAH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SPXXYA91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Barthlomeus Mario Jeriko Pareira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BAR4674596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SEPTIA RAVI ANDARI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SEP3661971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Aditya Adhikara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IGU7714530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ARI OKTAVIANI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SPEOI41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KUSMIYATI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KUS6194359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Zulkarnain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ZUL6248160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PUTU SANTIKA PARAMITA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SPARU73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HER7736667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Andi Setiawan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AND6612062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 IFA HANIFAH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SPXXYA91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Barthlomeus Mario Jeriko Pareira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BAR4674596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SEPTIA RAVI ANDARI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SEP3661971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Aditya Adhikara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IGU7714530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ARI OKTAVIANI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SPEOI41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KUSMIYATI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KUS6194359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Zulkarnain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ZUL6248160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DENPASAR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Branch C3MR 37.39%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694944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97.58% | Gap -60.19 pp | M-1 42.77%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202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747"/>
                <a:gridCol w="763658"/>
                <a:gridCol w="763658"/>
                <a:gridCol w="822401"/>
                <a:gridCol w="1233602"/>
                <a:gridCol w="1233602"/>
                <a:gridCol w="845899"/>
                <a:gridCol w="845899"/>
                <a:gridCol w="845899"/>
                <a:gridCol w="963385"/>
                <a:gridCol w="1116116"/>
              </a:tblGrid>
              <a:tr h="50520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WOK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42.264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13.867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32.81%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Rp11.11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Rp3.75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39.30%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33.81%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-63.77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Rp270.743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113.620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45.875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40.38%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Rp31.61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Rp12.65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45.23%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40.01%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-57.57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Rp275.691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46.509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15.671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33.69%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Rp13.52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Rp4.62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39.85%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34.19%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-63.39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Rp294.910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LOS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4507992"/>
          <a:ext cx="557783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503"/>
                <a:gridCol w="1138334"/>
                <a:gridCol w="1366001"/>
              </a:tblGrid>
              <a:tr h="19594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55.03%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-8.17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38.11%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-5.69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32.38%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-4.66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33.16%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-2.78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31.07%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-4.34 pp</a:t>
                      </a:r>
                    </a:p>
                  </a:txBody>
                  <a:tcPr/>
                </a:tc>
              </a:tr>
              <a:tr h="19594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38.88%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-5.77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CAPS Performance — DENPASAR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260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M-1 244 | MoM +6.6%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531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-271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+16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508760"/>
          <a:ext cx="1154887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DENPASAR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-271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-157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611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931920"/>
          <a:ext cx="1154887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8874"/>
                <a:gridCol w="2242499"/>
                <a:gridCol w="2242499"/>
                <a:gridCol w="2242499"/>
                <a:gridCol w="2242499"/>
              </a:tblGrid>
              <a:tr h="46634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TENGAH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42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 / -33.3%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31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 / +40.0%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209 / +3.5%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28 / -6.7%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150 / +21.0%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31 / -35.4%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