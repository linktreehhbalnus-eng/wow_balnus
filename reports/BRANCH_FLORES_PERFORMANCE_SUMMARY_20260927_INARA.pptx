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  <c:pt idx="22">
                  <c:v>17.0</c:v>
                </c:pt>
                <c:pt idx="23">
                  <c:v>17.0</c:v>
                </c:pt>
                <c:pt idx="24">
                  <c:v>15.0</c:v>
                </c:pt>
                <c:pt idx="25">
                  <c:v>9.0</c:v>
                </c:pt>
                <c:pt idx="26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  <c:pt idx="22">
                  <c:v>7.0</c:v>
                </c:pt>
                <c:pt idx="23">
                  <c:v>6.0</c:v>
                </c:pt>
                <c:pt idx="24">
                  <c:v>8.0</c:v>
                </c:pt>
                <c:pt idx="25">
                  <c:v>9.0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  <c:pt idx="25">
                  <c:v>10.0</c:v>
                </c:pt>
                <c:pt idx="2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  <c:pt idx="22">
                  <c:v>14.0</c:v>
                </c:pt>
                <c:pt idx="23">
                  <c:v>13.0</c:v>
                </c:pt>
                <c:pt idx="24">
                  <c:v>13.0</c:v>
                </c:pt>
                <c:pt idx="25">
                  <c:v>6.0</c:v>
                </c:pt>
                <c:pt idx="26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  <c:pt idx="22">
                  <c:v>11.0</c:v>
                </c:pt>
                <c:pt idx="23">
                  <c:v>12.0</c:v>
                </c:pt>
                <c:pt idx="24">
                  <c:v>11.0</c:v>
                </c:pt>
                <c:pt idx="25">
                  <c:v>4.0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1.737   Δ 649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+16,2%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+13,4%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72 (59,7%)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+7,5%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79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64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71 (60,6%)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+22,9%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136 (14,7%)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+17,6%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+24,0%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72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79 (26,6%)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64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71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101 (43,3%)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183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102 (86,4%)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94 | MoM +8,0%
PS: 93 | MoM +12,0%
• Junior
  RE: 80 | Active 58,8% | MoM +8,1%
  PS: 79 | Active 58,1% | MoM +12,9%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6
• Grapari Ende: PS +31,0%, Gap 9
• Grapari Kalabahi: PS -26,9%, Gap -7
• Grapari Labuan Bajo: PS -11,1%,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+44,4%, Gap 4
• Grapari Maumere: PS -16,7%, Gap -3
• Grapari Ruteng: PS +25,0%,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