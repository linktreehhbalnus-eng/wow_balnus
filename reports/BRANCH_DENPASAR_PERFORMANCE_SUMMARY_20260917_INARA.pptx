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Sheet1!$F$2:$F$18</c:f>
              <c:numCache>
                <c:formatCode>General</c:formatCode>
                <c:ptCount val="17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Sheet1!$F$2:$F$18</c:f>
              <c:numCache>
                <c:formatCode>General</c:formatCode>
                <c:ptCount val="17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1.678,2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211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202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+27,6%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156   Δ 43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4.507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3.397   Δ 1.110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+26,7%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155 / 310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194 / 351 (55,3%)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116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68 (54,4%)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-17,8%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80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85 (54,1%)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93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93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77 (50,6%)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85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 / 310 (6,8%)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45 / 351 (12,8%)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 | Turun 116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68 (13,2%)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80 (17,5%)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80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77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336 (10,0%)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1.088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191 (37,1%)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205 | MoM -2,8%
PS: 194 | MoM -4,0%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166 | Active 53,5% | MoM -4,0%
  PS: 155 | Active 50,0% | MoM -6,1%
• Greenfield
  RE: 19 | Active 95,0% | MoM +11,8%
  PS: 19 | Active 95,0% | MoM +18,8%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+55,6%, Gap 5
• Grapari Kuta: PS +500,0%, Gap 5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-4,3%, Gap -1
• Grapari Singaraja: PS -20,0%, Gap -1
• Grapari Tabanan: PS -16,7%, Gap -1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-49 (-9,6%), PS -37 (-8,4%)
• Bali Timur: RE 1 (+0,3%), PS -26 (-9,3%)
• Bali Tengah 2: RE -26 (-4,9%), PS -17 (-3,8%)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-33 (-39,8%), PS -25 (-39,1%)
• Bali Tengah 1: RE -11 (-17,7%), PS -13 (-26,5%)
• Bali Barat: RE -16 (-45,7%), PS -7 (-38,9%)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 (-50,0%), PS -2 (-50,0%)
• Bali Timur: RE -1 (-9,1%), PS -2 (-28,6%)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