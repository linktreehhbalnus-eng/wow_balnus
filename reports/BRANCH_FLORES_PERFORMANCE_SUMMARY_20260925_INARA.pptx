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  <c:pt idx="23">
                  <c:v>23.0</c:v>
                </c:pt>
                <c:pt idx="24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  <c:pt idx="22">
                  <c:v>17.0</c:v>
                </c:pt>
                <c:pt idx="23">
                  <c:v>17.0</c:v>
                </c:pt>
                <c:pt idx="24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  <c:pt idx="22">
                  <c:v>7.0</c:v>
                </c:pt>
                <c:pt idx="23">
                  <c:v>6.0</c:v>
                </c:pt>
                <c:pt idx="24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  <c:pt idx="23">
                  <c:v>25.0</c:v>
                </c:pt>
                <c:pt idx="24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  <c:pt idx="22">
                  <c:v>14.0</c:v>
                </c:pt>
                <c:pt idx="23">
                  <c:v>13.0</c:v>
                </c:pt>
                <c:pt idx="24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  <c:pt idx="22">
                  <c:v>11.0</c:v>
                </c:pt>
                <c:pt idx="23">
                  <c:v>12.0</c:v>
                </c:pt>
                <c:pt idx="24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86   Δ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+39,3%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1.660   Δ 652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+16,2% | Turun 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+13,4%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72 (59,7%)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+7,5%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79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64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71 (60,6%)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+22,9%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+17,6% | Turun 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+29,2%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72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79 (26,6%)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64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71 (14,1%)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(42,5%)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(83,9%)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94 | MoM +9,3%
PS: 93 | MoM +13,4%
• Junior
  RE: 80 | Active 58,8% | MoM +9,6%
  PS: 79 | Active 58,1% | MoM +14,5%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+83,3%, Gap 5
• Grapari Ende: PS +42,3%, Gap 11
• Grapari Kalabahi: PS -26,9%, Gap -7
• Grapari Labuan Bajo: PS -16,7%,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+116,7%, Gap 7
• Grapari Maumere: PS -27,8%, Gap -5
• Grapari Ruteng: PS +12,5%,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