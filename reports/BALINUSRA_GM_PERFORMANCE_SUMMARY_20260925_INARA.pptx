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12/09</c:v>
                </c:pt>
                <c:pt idx="1">
                  <c:v>13/09</c:v>
                </c:pt>
                <c:pt idx="2">
                  <c:v>14/09</c:v>
                </c:pt>
                <c:pt idx="3">
                  <c:v>15/09</c:v>
                </c:pt>
                <c:pt idx="4">
                  <c:v>16/09</c:v>
                </c:pt>
                <c:pt idx="5">
                  <c:v>17/09</c:v>
                </c:pt>
                <c:pt idx="6">
                  <c:v>18/09</c:v>
                </c:pt>
                <c:pt idx="7">
                  <c:v>19/09</c:v>
                </c:pt>
                <c:pt idx="8">
                  <c:v>20/09</c:v>
                </c:pt>
                <c:pt idx="9">
                  <c:v>21/09</c:v>
                </c:pt>
                <c:pt idx="10">
                  <c:v>22/09</c:v>
                </c:pt>
                <c:pt idx="11">
                  <c:v>23/09</c:v>
                </c:pt>
                <c:pt idx="12">
                  <c:v>24/09</c:v>
                </c:pt>
                <c:pt idx="13">
                  <c:v>25/09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254.0</c:v>
                </c:pt>
                <c:pt idx="1">
                  <c:v>169.0</c:v>
                </c:pt>
                <c:pt idx="2">
                  <c:v>339.0</c:v>
                </c:pt>
                <c:pt idx="3">
                  <c:v>320.0</c:v>
                </c:pt>
                <c:pt idx="4">
                  <c:v>322.0</c:v>
                </c:pt>
                <c:pt idx="5">
                  <c:v>334.0</c:v>
                </c:pt>
                <c:pt idx="6">
                  <c:v>305.0</c:v>
                </c:pt>
                <c:pt idx="7">
                  <c:v>267.0</c:v>
                </c:pt>
                <c:pt idx="8">
                  <c:v>193.0</c:v>
                </c:pt>
                <c:pt idx="9">
                  <c:v>378.0</c:v>
                </c:pt>
                <c:pt idx="10">
                  <c:v>316.0</c:v>
                </c:pt>
                <c:pt idx="11">
                  <c:v>299.0</c:v>
                </c:pt>
                <c:pt idx="12">
                  <c:v>309.0</c:v>
                </c:pt>
                <c:pt idx="13">
                  <c:v>302.0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12/09</c:v>
                </c:pt>
                <c:pt idx="1">
                  <c:v>13/09</c:v>
                </c:pt>
                <c:pt idx="2">
                  <c:v>14/09</c:v>
                </c:pt>
                <c:pt idx="3">
                  <c:v>15/09</c:v>
                </c:pt>
                <c:pt idx="4">
                  <c:v>16/09</c:v>
                </c:pt>
                <c:pt idx="5">
                  <c:v>17/09</c:v>
                </c:pt>
                <c:pt idx="6">
                  <c:v>18/09</c:v>
                </c:pt>
                <c:pt idx="7">
                  <c:v>19/09</c:v>
                </c:pt>
                <c:pt idx="8">
                  <c:v>20/09</c:v>
                </c:pt>
                <c:pt idx="9">
                  <c:v>21/09</c:v>
                </c:pt>
                <c:pt idx="10">
                  <c:v>22/09</c:v>
                </c:pt>
                <c:pt idx="11">
                  <c:v>23/09</c:v>
                </c:pt>
                <c:pt idx="12">
                  <c:v>24/09</c:v>
                </c:pt>
                <c:pt idx="13">
                  <c:v>25/09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191.0</c:v>
                </c:pt>
                <c:pt idx="1">
                  <c:v>151.0</c:v>
                </c:pt>
                <c:pt idx="2">
                  <c:v>266.0</c:v>
                </c:pt>
                <c:pt idx="3">
                  <c:v>271.0</c:v>
                </c:pt>
                <c:pt idx="4">
                  <c:v>266.0</c:v>
                </c:pt>
                <c:pt idx="5">
                  <c:v>261.0</c:v>
                </c:pt>
                <c:pt idx="6">
                  <c:v>242.0</c:v>
                </c:pt>
                <c:pt idx="7">
                  <c:v>209.0</c:v>
                </c:pt>
                <c:pt idx="8">
                  <c:v>177.0</c:v>
                </c:pt>
                <c:pt idx="9">
                  <c:v>269.0</c:v>
                </c:pt>
                <c:pt idx="10">
                  <c:v>271.0</c:v>
                </c:pt>
                <c:pt idx="11">
                  <c:v>247.0</c:v>
                </c:pt>
                <c:pt idx="12">
                  <c:v>254.0</c:v>
                </c:pt>
                <c:pt idx="13">
                  <c:v>239.0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+3,8% &amp; PS +3,1% MoM — Achievement Mencapai 75,2% (RE) / 74,6%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Stabil, PS Melemah pada 25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01–25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(+18,9%), Denpasar Terdalam (-2,7%)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+18,9%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+5,7%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+4,3%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74,9%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(+29,5%), Bali Tengah 1 Terdalam (-11,2%)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(+172), Buleleng Tumbuh Tertinggi (+57,9%)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+360, Bottom 5 -290, dan perubahan PS regional +181.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(+42,4%), TSEL One &gt;30 Mbps Turun Terdalam (-54,8%)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+3,9%, Aktivitas DJP -0,4%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15.062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37.948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83.061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5.247
Dikunjungi: 1.175 (22,4%)
Visit DJP: 3.237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1.341
Dikunjungi: 955 (71,2%)
Visit DJP: 2.946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Stefanus jefri kantur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Cornelis Desanto Karo Karel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Ismail Marzuki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Riko Simanjuntak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FILIA REGINA DOLOROSA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STANISLAUS APRIANUS HUN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Yudi arman 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Mita muliati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IBNU MAULANA MAHENDRA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IFA HANIFAH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FERI ANDI SEMBIRING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tarmizi taher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Ibadillah Hish Sholihah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Barthlomeus Mario Jeriko Pareira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01–25 Sep 2026 vs MTD-1 01–25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Sep 2026 vs MTD-1 01–25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2.220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1.078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5.890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6.071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2.727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2.654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Sep 2026 vs MTD-1 01–25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Sep 2026 vs MTD-1 01–25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7.390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7.668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5.890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6.071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6.281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6.455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5.147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5.291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+23,0%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+58,7%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633 | MoM +3,6%
PS: 613 | MoM +3,9%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542 | Active 67,9% | MoM +4,0%
  PS: 523 | Active 65,5% | MoM +4,6%
• Greenfield
  RE: 55 | Active 94,8% | MoM +3,8%
  PS: 54 | Active 93,1% | MoM +1,9%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+19,5%, Gap +17
• Flores: PS +8,3%, Gap +9
• Kupang: PS +32,4%, Gap +11
• Mataram: PS -4,4%, Gap 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Maluk (Mataram): -66,7%, Gap -2
• Grapari Lombok Utara (Mataram): -50,0%, Gap -1
• Grapari Gatsu Tengah (Denpasar): -37,5%, Gap -3
• Grapari Singaraja (Denpasar): -37,5%, Gap -3
• Grapari Maumere (Flores): -27,8%, Gap -5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-69 (-9,5%), PS -67 (-10,7%)
• Bali Tengah 2: RE -63 (-8,0%), PS -57 (-8,7%)
• Bali Timur: RE +12 (+2,6%), PS -30 (-7,4%)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-36 (-31,0%), PS -33 (-36,3%)
• Bali Tengah 1: RE -10 (-12,3%), PS -12 (-19,0%)
• Bali Barat: RE -13 (-31,7%), PS -5 (-25,0%)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-15 (-34,9%), PS -7 (-38,9%)
• Bali Barat: RE -7 (-41,2%), PS -3 (-50,0%)
• Bali Tengah 1: RE +2 (+11,1%), PS -3 (-21,4%)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-3 (-75,0%), PS -2 (-66,7%)
• Lombok: RE -4 (-57,1%),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01–25 Sep 2026 vs MTD-1 01–25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181 / 310 (58,4%)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220 / 351 (62,7%)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 / 136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+16,2% | Turun 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150 (62,0%)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+13,4%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+12,4%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+9,9%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16 (93,8%)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163 / 213 (76,5%)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189 / 240 (78,8%)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54 / 58 (93,1%)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 | Turun 24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523 / 798 (65,5%)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+2,3% | Turun 235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614 / 924 (66,5%)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+3,4% | Turun 283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2.335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1.068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3.346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+9,2%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+518,4%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5.288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20 (35,0%)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310 (11,9%)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-7,5% | Turun 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 / 351 (18,2%)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 | Turun 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+66,7%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136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+17,6% | Turun 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+29,2% | Turun 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139 (16,5%)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+21,1% | Turun 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27 / 152 (17,8%)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+17,4% | Turun 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16 (31,2%)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 / 213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 / 240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-2,0% | Turun 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 / 58 (37,9%)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+22,2% | Turun 24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114 / 798 (14,3%)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+1,8% | Turun 235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+5,6%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9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172 / 924 (18,6%)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+7,5% | Turun 283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