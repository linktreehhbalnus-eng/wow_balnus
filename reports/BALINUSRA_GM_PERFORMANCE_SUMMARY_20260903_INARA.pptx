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21/08</c:v>
                </c:pt>
                <c:pt idx="1">
                  <c:v>22/08</c:v>
                </c:pt>
                <c:pt idx="2">
                  <c:v>23/08</c:v>
                </c:pt>
                <c:pt idx="3">
                  <c:v>24/08</c:v>
                </c:pt>
                <c:pt idx="4">
                  <c:v>25/08</c:v>
                </c:pt>
                <c:pt idx="5">
                  <c:v>26/08</c:v>
                </c:pt>
                <c:pt idx="6">
                  <c:v>27/08</c:v>
                </c:pt>
                <c:pt idx="7">
                  <c:v>28/08</c:v>
                </c:pt>
                <c:pt idx="8">
                  <c:v>29/08</c:v>
                </c:pt>
                <c:pt idx="9">
                  <c:v>30/08</c:v>
                </c:pt>
                <c:pt idx="10">
                  <c:v>31/08</c:v>
                </c:pt>
                <c:pt idx="11">
                  <c:v>01/09</c:v>
                </c:pt>
                <c:pt idx="12">
                  <c:v>02/09</c:v>
                </c:pt>
                <c:pt idx="13">
                  <c:v>03/09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358.0</c:v>
                </c:pt>
                <c:pt idx="1">
                  <c:v>316.0</c:v>
                </c:pt>
                <c:pt idx="2">
                  <c:v>211.0</c:v>
                </c:pt>
                <c:pt idx="3">
                  <c:v>343.0</c:v>
                </c:pt>
                <c:pt idx="4">
                  <c:v>296.0</c:v>
                </c:pt>
                <c:pt idx="5">
                  <c:v>348.0</c:v>
                </c:pt>
                <c:pt idx="6">
                  <c:v>307.0</c:v>
                </c:pt>
                <c:pt idx="7">
                  <c:v>339.0</c:v>
                </c:pt>
                <c:pt idx="8">
                  <c:v>270.0</c:v>
                </c:pt>
                <c:pt idx="9">
                  <c:v>203.0</c:v>
                </c:pt>
                <c:pt idx="10">
                  <c:v>311.0</c:v>
                </c:pt>
                <c:pt idx="11">
                  <c:v>407.0</c:v>
                </c:pt>
                <c:pt idx="12">
                  <c:v>359.0</c:v>
                </c:pt>
                <c:pt idx="13">
                  <c:v>333.0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21/08</c:v>
                </c:pt>
                <c:pt idx="1">
                  <c:v>22/08</c:v>
                </c:pt>
                <c:pt idx="2">
                  <c:v>23/08</c:v>
                </c:pt>
                <c:pt idx="3">
                  <c:v>24/08</c:v>
                </c:pt>
                <c:pt idx="4">
                  <c:v>25/08</c:v>
                </c:pt>
                <c:pt idx="5">
                  <c:v>26/08</c:v>
                </c:pt>
                <c:pt idx="6">
                  <c:v>27/08</c:v>
                </c:pt>
                <c:pt idx="7">
                  <c:v>28/08</c:v>
                </c:pt>
                <c:pt idx="8">
                  <c:v>29/08</c:v>
                </c:pt>
                <c:pt idx="9">
                  <c:v>30/08</c:v>
                </c:pt>
                <c:pt idx="10">
                  <c:v>31/08</c:v>
                </c:pt>
                <c:pt idx="11">
                  <c:v>01/09</c:v>
                </c:pt>
                <c:pt idx="12">
                  <c:v>02/09</c:v>
                </c:pt>
                <c:pt idx="13">
                  <c:v>03/09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271.0</c:v>
                </c:pt>
                <c:pt idx="1">
                  <c:v>256.0</c:v>
                </c:pt>
                <c:pt idx="2">
                  <c:v>197.0</c:v>
                </c:pt>
                <c:pt idx="3">
                  <c:v>266.0</c:v>
                </c:pt>
                <c:pt idx="4">
                  <c:v>228.0</c:v>
                </c:pt>
                <c:pt idx="5">
                  <c:v>230.0</c:v>
                </c:pt>
                <c:pt idx="6">
                  <c:v>298.0</c:v>
                </c:pt>
                <c:pt idx="7">
                  <c:v>255.0</c:v>
                </c:pt>
                <c:pt idx="8">
                  <c:v>238.0</c:v>
                </c:pt>
                <c:pt idx="9">
                  <c:v>142.0</c:v>
                </c:pt>
                <c:pt idx="10">
                  <c:v>250.0</c:v>
                </c:pt>
                <c:pt idx="11">
                  <c:v>271.0</c:v>
                </c:pt>
                <c:pt idx="12">
                  <c:v>315.0</c:v>
                </c:pt>
                <c:pt idx="13">
                  <c:v>270.0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+16,8% &amp; PS +30,9% MoM — Achievement Mencapai 9,8% (RE) / 9,3%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Melemah, PS Menguat pada 3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01–03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(+64,4%), Denpasar Terdalam (+19,2%)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+64,4%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+36,7%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+36,6%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7,1%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(+107,1%), Bali Tengah 1 Terdalam (-6,5%)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(+50), Lombok Tengah Tumbuh Tertinggi (+350,0%)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+106, Bottom 5 -17, dan perubahan PS regional +202.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(+165,0%), 50 Mbps Turun Terdalam (-27,2%)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+11,0%, Aktivitas DJP +354,6%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4.761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56.034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83.173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5.438
Dikunjungi: 1.265 (23,3%)
Visit DJP: 4.089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1.112
Dikunjungi: 858 (77,2%)
Visit DJP: 2.979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PURNAMA RAYA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Kiki kurniawan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WILDAN FADILAH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Ania Amalia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Siska wulandari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Florianus Antus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KETUT TINA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RIZUL FAHMI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SYAFRUDIN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Ketut wijana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 SUBANDRI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anggun yuliandi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ADI SURATMAN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FRANSISKUS NDAGANG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MARIANIS TAPIN WOKAL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Aprillinda Wulandary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IRUL KURNIAWAN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 ARNOP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SRI WULAN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ANIS MARIATUL KIPTIAN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IDHAR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BUDIONO HARSONO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PUPUT APRILISIA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Ipradictus Fransis Adipapa Blegur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RAFIKI ABDURAHMAN PUA JENDO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MARLINA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&amp;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Sep 2026 vs MTD-1 01–03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777240"/>
            <a:ext cx="45262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Format sel: MTD-1 → MTD  |  MoM | Contribution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69848"/>
          <a:ext cx="11548867" cy="2075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5457"/>
                <a:gridCol w="1431270"/>
                <a:gridCol w="1233853"/>
                <a:gridCol w="1233853"/>
                <a:gridCol w="1332562"/>
                <a:gridCol w="1529978"/>
                <a:gridCol w="1529978"/>
                <a:gridCol w="1381916"/>
              </a:tblGrid>
              <a:tr h="34594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&gt;30 Mbps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</a:tr>
              <a:tr h="345948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257 → 351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+36,6% | 41,0%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173 → 126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-27,2% | 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82 → 145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+76,8% | 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40 → 106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+165,0% | 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99 → 122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+23,2% | 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3 → 6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+100,0% | 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654 → 856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+30,9% | 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345948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141 → 202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+43,3% | 50,9%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57 → 44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-22,8% | 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55 → 60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+9,1% | 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29 → 36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+24,1% | 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49 → 54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+10,2% | 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2 → 1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-50,0% | 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333 → 397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+19,2% | 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345948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46 → 73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+58,7% | 60,8%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21 → 9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-57,1% | 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4 → 29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+625,0% | 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1 → 9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+800,0% | 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0 → 0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— |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1 → 0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-100,0% |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73 → 120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+64,4% | 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345948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29 → 42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+44,8% | 37,5%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44 → 17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-61,4% | 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6 → 36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+500,0% | 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3 → 14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+366,7% | 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0 → 0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— |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0 → 3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— | 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82 → 112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+36,6% | 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345948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41 → 34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-17,1% | 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51 → 56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+9,8% | 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17 → 20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+17,6% | 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7 → 47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+571,4% | 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50 → 68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+36,0% | 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0 → 2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— | 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166 → 227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+36,7% | 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401568"/>
            <a:ext cx="749807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Revenue New Sales by Speed — Region &amp; Branch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419856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712463"/>
          <a:ext cx="11548867" cy="2075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5457"/>
                <a:gridCol w="1431270"/>
                <a:gridCol w="1233853"/>
                <a:gridCol w="1233853"/>
                <a:gridCol w="1332562"/>
                <a:gridCol w="1529978"/>
                <a:gridCol w="1529978"/>
                <a:gridCol w="1381916"/>
              </a:tblGrid>
              <a:tr h="34594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&gt;30 Mbps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solidFill>
                      <a:srgbClr val="102C50"/>
                    </a:solidFill>
                  </a:tcPr>
                </a:tc>
              </a:tr>
              <a:tr h="345948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43,2 Jt → Rp 57,3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+32,8% | 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42,0 Jt → Rp 29,7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-29,3% | 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21,3 Jt → Rp 36,7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+72,7% | 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14,2 Jt → Rp 38,9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+173,9% | 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15,5 Jt → Rp 18,2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+17,1% | 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890,0 Rb → Rp 1,8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+96,6% | 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137,1 Jt → Rp 182,6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+33,2% | 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345948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21,5 Jt → Rp 29,4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+36,7% | 39,3%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13,5 Jt → Rp 10,1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-25,0% | 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13,9 Jt → Rp 14,6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+5,1% | 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9,8 Jt → Rp 11,4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+16,9% | 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8,7 Jt → Rp 8,9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+2,6% | 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555,0 Rb → Rp 285,0 Rb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-48,6% | 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67,9 Jt → Rp 74,8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+10,1% | 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345948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8,7 Jt → Rp 13,8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+58,9% | 52,2%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5,5 Jt → Rp 2,2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-60,4% | 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1,1 Jt → Rp 7,7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+583,0% | 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375,0 Rb → Rp 2,8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+657,3% | 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0 → Rp 0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— |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335,0 Rb → Rp 0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-100,0% |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16,0 Jt → Rp 26,5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+65,5% | 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345948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5,5 Jt → Rp 7,9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+44,2% | 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10,9 Jt → Rp 4,1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-62,4% | 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1,7 Jt → Rp 9,1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+440,8% | 34,9%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1,2 Jt → Rp 4,1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+243,5% | 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0 → Rp 0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— |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0 → Rp 870,0 Rb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— | 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19,2 Jt → Rp 26,0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+35,4% | 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345948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7,5 Jt → Rp 6,2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-17,0% | 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12,2 Jt → Rp 13,3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+9,3% | 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4,5 Jt → Rp 5,3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+17,8% | 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2,9 Jt → Rp 20,6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+615,2% | 37,2%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6,9 Jt → Rp 9,3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+35,5% | 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0 → Rp 595,0 Rb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— | 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Rp 34,0 Jt → Rp 55,4 Jt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20252B"/>
                          </a:solidFill>
                          <a:latin typeface="Arial"/>
                        </a:rPr>
                        <a:t>+63,1% | 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