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Denpasar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Sheet1!$A$2:$A$16</c:f>
              <c:strCache>
                <c:ptCount val="15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</c:strCache>
            </c:strRef>
          </c:cat>
          <c:val>
            <c:numRef>
              <c:f>Sheet1!$B$2:$B$16</c:f>
              <c:numCache>
                <c:formatCode>General</c:formatCode>
                <c:ptCount val="15"/>
                <c:pt idx="0">
                  <c:v>59.0</c:v>
                </c:pt>
                <c:pt idx="1">
                  <c:v>59.0</c:v>
                </c:pt>
                <c:pt idx="2">
                  <c:v>50.0</c:v>
                </c:pt>
                <c:pt idx="3">
                  <c:v>46.0</c:v>
                </c:pt>
                <c:pt idx="4">
                  <c:v>57.0</c:v>
                </c:pt>
                <c:pt idx="5">
                  <c:v>52.0</c:v>
                </c:pt>
                <c:pt idx="6">
                  <c:v>50.0</c:v>
                </c:pt>
                <c:pt idx="7">
                  <c:v>62.0</c:v>
                </c:pt>
                <c:pt idx="8">
                  <c:v>40.0</c:v>
                </c:pt>
                <c:pt idx="9">
                  <c:v>45.0</c:v>
                </c:pt>
                <c:pt idx="10">
                  <c:v>35.0</c:v>
                </c:pt>
                <c:pt idx="11">
                  <c:v>55.0</c:v>
                </c:pt>
                <c:pt idx="12">
                  <c:v>44.0</c:v>
                </c:pt>
                <c:pt idx="13">
                  <c:v>38.0</c:v>
                </c:pt>
                <c:pt idx="14">
                  <c:v>41.0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Bali Barat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Sheet1!$A$2:$A$16</c:f>
              <c:strCache>
                <c:ptCount val="15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</c:strCache>
            </c:strRef>
          </c:cat>
          <c:val>
            <c:numRef>
              <c:f>Sheet1!$C$2:$C$16</c:f>
              <c:numCache>
                <c:formatCode>General</c:formatCode>
                <c:ptCount val="15"/>
                <c:pt idx="0">
                  <c:v>15.0</c:v>
                </c:pt>
                <c:pt idx="1">
                  <c:v>16.0</c:v>
                </c:pt>
                <c:pt idx="2">
                  <c:v>13.0</c:v>
                </c:pt>
                <c:pt idx="3">
                  <c:v>14.0</c:v>
                </c:pt>
                <c:pt idx="4">
                  <c:v>15.0</c:v>
                </c:pt>
                <c:pt idx="5">
                  <c:v>15.0</c:v>
                </c:pt>
                <c:pt idx="6">
                  <c:v>13.0</c:v>
                </c:pt>
                <c:pt idx="7">
                  <c:v>18.0</c:v>
                </c:pt>
                <c:pt idx="8">
                  <c:v>13.0</c:v>
                </c:pt>
                <c:pt idx="9">
                  <c:v>17.0</c:v>
                </c:pt>
                <c:pt idx="10">
                  <c:v>10.0</c:v>
                </c:pt>
                <c:pt idx="11">
                  <c:v>11.0</c:v>
                </c:pt>
                <c:pt idx="12">
                  <c:v>13.0</c:v>
                </c:pt>
                <c:pt idx="13">
                  <c:v>11.0</c:v>
                </c:pt>
                <c:pt idx="14">
                  <c:v>12.0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Bali Tengah 1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Sheet1!$A$2:$A$16</c:f>
              <c:strCache>
                <c:ptCount val="15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</c:strCache>
            </c:strRef>
          </c:cat>
          <c:val>
            <c:numRef>
              <c:f>Sheet1!$D$2:$D$16</c:f>
              <c:numCache>
                <c:formatCode>General</c:formatCode>
                <c:ptCount val="15"/>
                <c:pt idx="0">
                  <c:v>20.0</c:v>
                </c:pt>
                <c:pt idx="1">
                  <c:v>21.0</c:v>
                </c:pt>
                <c:pt idx="2">
                  <c:v>18.0</c:v>
                </c:pt>
                <c:pt idx="3">
                  <c:v>10.0</c:v>
                </c:pt>
                <c:pt idx="4">
                  <c:v>18.0</c:v>
                </c:pt>
                <c:pt idx="5">
                  <c:v>15.0</c:v>
                </c:pt>
                <c:pt idx="6">
                  <c:v>24.0</c:v>
                </c:pt>
                <c:pt idx="7">
                  <c:v>19.0</c:v>
                </c:pt>
                <c:pt idx="8">
                  <c:v>12.0</c:v>
                </c:pt>
                <c:pt idx="9">
                  <c:v>11.0</c:v>
                </c:pt>
                <c:pt idx="10">
                  <c:v>12.0</c:v>
                </c:pt>
                <c:pt idx="11">
                  <c:v>24.0</c:v>
                </c:pt>
                <c:pt idx="12">
                  <c:v>17.0</c:v>
                </c:pt>
                <c:pt idx="13">
                  <c:v>8.0</c:v>
                </c:pt>
                <c:pt idx="14">
                  <c:v>15.0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Bali Tengah 2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Sheet1!$A$2:$A$16</c:f>
              <c:strCache>
                <c:ptCount val="15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</c:strCache>
            </c:strRef>
          </c:cat>
          <c:val>
            <c:numRef>
              <c:f>Sheet1!$E$2:$E$16</c:f>
              <c:numCache>
                <c:formatCode>General</c:formatCode>
                <c:ptCount val="15"/>
                <c:pt idx="0">
                  <c:v>15.0</c:v>
                </c:pt>
                <c:pt idx="1">
                  <c:v>19.0</c:v>
                </c:pt>
                <c:pt idx="2">
                  <c:v>20.0</c:v>
                </c:pt>
                <c:pt idx="3">
                  <c:v>16.0</c:v>
                </c:pt>
                <c:pt idx="4">
                  <c:v>21.0</c:v>
                </c:pt>
                <c:pt idx="5">
                  <c:v>17.0</c:v>
                </c:pt>
                <c:pt idx="6">
                  <c:v>15.0</c:v>
                </c:pt>
                <c:pt idx="7">
                  <c:v>22.0</c:v>
                </c:pt>
                <c:pt idx="8">
                  <c:v>10.0</c:v>
                </c:pt>
                <c:pt idx="9">
                  <c:v>16.0</c:v>
                </c:pt>
                <c:pt idx="10">
                  <c:v>9.0</c:v>
                </c:pt>
                <c:pt idx="11">
                  <c:v>13.0</c:v>
                </c:pt>
                <c:pt idx="12">
                  <c:v>8.0</c:v>
                </c:pt>
                <c:pt idx="13">
                  <c:v>11.0</c:v>
                </c:pt>
                <c:pt idx="14">
                  <c:v>13.0</c:v>
                </c:pt>
              </c:numCache>
            </c:numRef>
          </c:val>
          <c:smooth val="0"/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Bali Timur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Sheet1!$A$2:$A$16</c:f>
              <c:strCache>
                <c:ptCount val="15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</c:strCache>
            </c:strRef>
          </c:cat>
          <c:val>
            <c:numRef>
              <c:f>Sheet1!$F$2:$F$16</c:f>
              <c:numCache>
                <c:formatCode>General</c:formatCode>
                <c:ptCount val="15"/>
                <c:pt idx="0">
                  <c:v>12.0</c:v>
                </c:pt>
                <c:pt idx="1">
                  <c:v>11.0</c:v>
                </c:pt>
                <c:pt idx="2">
                  <c:v>9.0</c:v>
                </c:pt>
                <c:pt idx="3">
                  <c:v>10.0</c:v>
                </c:pt>
                <c:pt idx="4">
                  <c:v>11.0</c:v>
                </c:pt>
                <c:pt idx="5">
                  <c:v>13.0</c:v>
                </c:pt>
                <c:pt idx="6">
                  <c:v>8.0</c:v>
                </c:pt>
                <c:pt idx="7">
                  <c:v>13.0</c:v>
                </c:pt>
                <c:pt idx="8">
                  <c:v>8.0</c:v>
                </c:pt>
                <c:pt idx="9">
                  <c:v>8.0</c:v>
                </c:pt>
                <c:pt idx="10">
                  <c:v>8.0</c:v>
                </c:pt>
                <c:pt idx="11">
                  <c:v>13.0</c:v>
                </c:pt>
                <c:pt idx="12">
                  <c:v>11.0</c:v>
                </c:pt>
                <c:pt idx="13">
                  <c:v>10.0</c:v>
                </c:pt>
                <c:pt idx="14">
                  <c:v>7.0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Denpasar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Sheet1!$A$2:$A$16</c:f>
              <c:strCache>
                <c:ptCount val="15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</c:strCache>
            </c:strRef>
          </c:cat>
          <c:val>
            <c:numRef>
              <c:f>Sheet1!$B$2:$B$16</c:f>
              <c:numCache>
                <c:formatCode>General</c:formatCode>
                <c:ptCount val="15"/>
                <c:pt idx="0">
                  <c:v>53.0</c:v>
                </c:pt>
                <c:pt idx="1">
                  <c:v>53.0</c:v>
                </c:pt>
                <c:pt idx="2">
                  <c:v>57.0</c:v>
                </c:pt>
                <c:pt idx="3">
                  <c:v>41.0</c:v>
                </c:pt>
                <c:pt idx="4">
                  <c:v>42.0</c:v>
                </c:pt>
                <c:pt idx="5">
                  <c:v>45.0</c:v>
                </c:pt>
                <c:pt idx="6">
                  <c:v>57.0</c:v>
                </c:pt>
                <c:pt idx="7">
                  <c:v>56.0</c:v>
                </c:pt>
                <c:pt idx="8">
                  <c:v>43.0</c:v>
                </c:pt>
                <c:pt idx="9">
                  <c:v>41.0</c:v>
                </c:pt>
                <c:pt idx="10">
                  <c:v>32.0</c:v>
                </c:pt>
                <c:pt idx="11">
                  <c:v>42.0</c:v>
                </c:pt>
                <c:pt idx="12">
                  <c:v>43.0</c:v>
                </c:pt>
                <c:pt idx="13">
                  <c:v>34.0</c:v>
                </c:pt>
                <c:pt idx="14">
                  <c:v>31.0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Bali Barat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Sheet1!$A$2:$A$16</c:f>
              <c:strCache>
                <c:ptCount val="15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</c:strCache>
            </c:strRef>
          </c:cat>
          <c:val>
            <c:numRef>
              <c:f>Sheet1!$C$2:$C$16</c:f>
              <c:numCache>
                <c:formatCode>General</c:formatCode>
                <c:ptCount val="15"/>
                <c:pt idx="0">
                  <c:v>11.0</c:v>
                </c:pt>
                <c:pt idx="1">
                  <c:v>15.0</c:v>
                </c:pt>
                <c:pt idx="2">
                  <c:v>13.0</c:v>
                </c:pt>
                <c:pt idx="3">
                  <c:v>9.0</c:v>
                </c:pt>
                <c:pt idx="4">
                  <c:v>11.0</c:v>
                </c:pt>
                <c:pt idx="5">
                  <c:v>8.0</c:v>
                </c:pt>
                <c:pt idx="6">
                  <c:v>19.0</c:v>
                </c:pt>
                <c:pt idx="7">
                  <c:v>15.0</c:v>
                </c:pt>
                <c:pt idx="8">
                  <c:v>11.0</c:v>
                </c:pt>
                <c:pt idx="9">
                  <c:v>14.0</c:v>
                </c:pt>
                <c:pt idx="10">
                  <c:v>12.0</c:v>
                </c:pt>
                <c:pt idx="11">
                  <c:v>11.0</c:v>
                </c:pt>
                <c:pt idx="12">
                  <c:v>12.0</c:v>
                </c:pt>
                <c:pt idx="13">
                  <c:v>6.0</c:v>
                </c:pt>
                <c:pt idx="14">
                  <c:v>9.0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Bali Tengah 1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Sheet1!$A$2:$A$16</c:f>
              <c:strCache>
                <c:ptCount val="15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</c:strCache>
            </c:strRef>
          </c:cat>
          <c:val>
            <c:numRef>
              <c:f>Sheet1!$D$2:$D$16</c:f>
              <c:numCache>
                <c:formatCode>General</c:formatCode>
                <c:ptCount val="15"/>
                <c:pt idx="0">
                  <c:v>20.0</c:v>
                </c:pt>
                <c:pt idx="1">
                  <c:v>14.0</c:v>
                </c:pt>
                <c:pt idx="2">
                  <c:v>24.0</c:v>
                </c:pt>
                <c:pt idx="3">
                  <c:v>10.0</c:v>
                </c:pt>
                <c:pt idx="4">
                  <c:v>16.0</c:v>
                </c:pt>
                <c:pt idx="5">
                  <c:v>19.0</c:v>
                </c:pt>
                <c:pt idx="6">
                  <c:v>20.0</c:v>
                </c:pt>
                <c:pt idx="7">
                  <c:v>19.0</c:v>
                </c:pt>
                <c:pt idx="8">
                  <c:v>11.0</c:v>
                </c:pt>
                <c:pt idx="9">
                  <c:v>8.0</c:v>
                </c:pt>
                <c:pt idx="10">
                  <c:v>9.0</c:v>
                </c:pt>
                <c:pt idx="11">
                  <c:v>16.0</c:v>
                </c:pt>
                <c:pt idx="12">
                  <c:v>16.0</c:v>
                </c:pt>
                <c:pt idx="13">
                  <c:v>13.0</c:v>
                </c:pt>
                <c:pt idx="14">
                  <c:v>11.0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Bali Tengah 2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Sheet1!$A$2:$A$16</c:f>
              <c:strCache>
                <c:ptCount val="15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</c:strCache>
            </c:strRef>
          </c:cat>
          <c:val>
            <c:numRef>
              <c:f>Sheet1!$E$2:$E$16</c:f>
              <c:numCache>
                <c:formatCode>General</c:formatCode>
                <c:ptCount val="15"/>
                <c:pt idx="0">
                  <c:v>11.0</c:v>
                </c:pt>
                <c:pt idx="1">
                  <c:v>18.0</c:v>
                </c:pt>
                <c:pt idx="2">
                  <c:v>19.0</c:v>
                </c:pt>
                <c:pt idx="3">
                  <c:v>18.0</c:v>
                </c:pt>
                <c:pt idx="4">
                  <c:v>13.0</c:v>
                </c:pt>
                <c:pt idx="5">
                  <c:v>20.0</c:v>
                </c:pt>
                <c:pt idx="6">
                  <c:v>13.0</c:v>
                </c:pt>
                <c:pt idx="7">
                  <c:v>15.0</c:v>
                </c:pt>
                <c:pt idx="8">
                  <c:v>16.0</c:v>
                </c:pt>
                <c:pt idx="9">
                  <c:v>10.0</c:v>
                </c:pt>
                <c:pt idx="10">
                  <c:v>13.0</c:v>
                </c:pt>
                <c:pt idx="11">
                  <c:v>14.0</c:v>
                </c:pt>
                <c:pt idx="12">
                  <c:v>11.0</c:v>
                </c:pt>
                <c:pt idx="13">
                  <c:v>13.0</c:v>
                </c:pt>
                <c:pt idx="14">
                  <c:v>8.0</c:v>
                </c:pt>
              </c:numCache>
            </c:numRef>
          </c:val>
          <c:smooth val="0"/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Bali Timur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Sheet1!$A$2:$A$16</c:f>
              <c:strCache>
                <c:ptCount val="15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</c:strCache>
            </c:strRef>
          </c:cat>
          <c:val>
            <c:numRef>
              <c:f>Sheet1!$F$2:$F$16</c:f>
              <c:numCache>
                <c:formatCode>General</c:formatCode>
                <c:ptCount val="15"/>
                <c:pt idx="0">
                  <c:v>12.0</c:v>
                </c:pt>
                <c:pt idx="1">
                  <c:v>8.0</c:v>
                </c:pt>
                <c:pt idx="2">
                  <c:v>9.0</c:v>
                </c:pt>
                <c:pt idx="3">
                  <c:v>6.0</c:v>
                </c:pt>
                <c:pt idx="4">
                  <c:v>12.0</c:v>
                </c:pt>
                <c:pt idx="5">
                  <c:v>7.0</c:v>
                </c:pt>
                <c:pt idx="6">
                  <c:v>12.0</c:v>
                </c:pt>
                <c:pt idx="7">
                  <c:v>14.0</c:v>
                </c:pt>
                <c:pt idx="8">
                  <c:v>9.0</c:v>
                </c:pt>
                <c:pt idx="9">
                  <c:v>12.0</c:v>
                </c:pt>
                <c:pt idx="10">
                  <c:v>3.0</c:v>
                </c:pt>
                <c:pt idx="11">
                  <c:v>8.0</c:v>
                </c:pt>
                <c:pt idx="12">
                  <c:v>8.0</c:v>
                </c:pt>
                <c:pt idx="13">
                  <c:v>6.0</c:v>
                </c:pt>
                <c:pt idx="14">
                  <c:v>7.0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Area &amp; Product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01–15 Oct 2026 vs MTD-1 01–15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Branch Performance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33271"/>
          <a:ext cx="5394957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1824"/>
                <a:gridCol w="683868"/>
                <a:gridCol w="683868"/>
                <a:gridCol w="683868"/>
                <a:gridCol w="835838"/>
                <a:gridCol w="759853"/>
                <a:gridCol w="835838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1.986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1.595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-19,7%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-1.595,0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1.652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1.282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-22,4%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-1.282,0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011680"/>
            <a:ext cx="53949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Target Branch = agregasi target 4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221992"/>
          <a:ext cx="5394958" cy="301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7331"/>
                <a:gridCol w="1412965"/>
                <a:gridCol w="1412965"/>
                <a:gridCol w="1241697"/>
              </a:tblGrid>
              <a:tr h="3017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to RE Ratio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MTD-1: 83,2%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MTD: 80,4%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-2,8 pp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44768" y="749808"/>
            <a:ext cx="57150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RE &amp; PS Performance by Speed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44768" y="1033271"/>
          <a:ext cx="5714998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6630"/>
                <a:gridCol w="559076"/>
                <a:gridCol w="559076"/>
                <a:gridCol w="559076"/>
                <a:gridCol w="559076"/>
                <a:gridCol w="559076"/>
                <a:gridCol w="559076"/>
                <a:gridCol w="434836"/>
                <a:gridCol w="559076"/>
              </a:tblGrid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Kontrib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-27,8%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702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-31,9%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84,9%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37,3%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74,8%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72,4%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-27,1%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-22,8%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3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054096"/>
            <a:ext cx="987552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WOK Performance — seluruh WOK Denpasar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20040" y="3337560"/>
          <a:ext cx="9646911" cy="13075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5727"/>
                <a:gridCol w="742070"/>
                <a:gridCol w="742070"/>
                <a:gridCol w="742070"/>
                <a:gridCol w="742070"/>
                <a:gridCol w="816277"/>
                <a:gridCol w="742070"/>
                <a:gridCol w="742070"/>
                <a:gridCol w="742070"/>
                <a:gridCol w="742070"/>
                <a:gridCol w="816277"/>
                <a:gridCol w="742070"/>
              </a:tblGrid>
              <a:tr h="26151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6151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-32,4%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-38,9%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79,4%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6151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6151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82,4%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615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-19,9%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78,3%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320040" y="4892040"/>
            <a:ext cx="115214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Kabupaten Performance — Top 3 &amp; Bottom 3 by MoM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5175503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37D3F"/>
                </a:solidFill>
                <a:latin typeface="Arial"/>
              </a:rPr>
              <a:t>Top 3 (MoM PS Tertinggi)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7648" y="5175503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D73527"/>
                </a:solidFill>
                <a:latin typeface="Arial"/>
              </a:rPr>
              <a:t>Bottom 3 (MoM PS Terendah)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5385816"/>
          <a:ext cx="5559550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5378"/>
                <a:gridCol w="958543"/>
                <a:gridCol w="958543"/>
                <a:gridCol w="958543"/>
                <a:gridCol w="958543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Klaten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Karang Asem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Kota 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-61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327648" y="5385816"/>
          <a:ext cx="5541262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9702"/>
                <a:gridCol w="955390"/>
                <a:gridCol w="955390"/>
                <a:gridCol w="955390"/>
                <a:gridCol w="955390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Unknown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Buleleng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-154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-52,2%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Klungkung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-38,5%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Sales Force &amp; DJP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01–15 Oct 2026 vs MTD-1 01–15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Sales Force Scorecard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9760" y="749808"/>
            <a:ext cx="23317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000" b="0" i="1">
                <a:solidFill>
                  <a:srgbClr val="687386"/>
                </a:solidFill>
                <a:latin typeface="Arial"/>
              </a:rPr>
              <a:t>Registered SF: 351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165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20240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-16,2%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197   Δ -32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27832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7560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164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28032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-8,9%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60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180   Δ -16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35624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5352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DJP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45352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226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35824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+3,2%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5352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219   Δ 7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43416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53144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Aktivitas DJP — Total Visit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53144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7.035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43616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+9,6%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53144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6.419   Δ 616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2221992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&amp; DJP by WOK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20040" y="2505456"/>
          <a:ext cx="11548867" cy="19385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98708"/>
                <a:gridCol w="661194"/>
                <a:gridCol w="749354"/>
                <a:gridCol w="749354"/>
                <a:gridCol w="749354"/>
                <a:gridCol w="749354"/>
                <a:gridCol w="749354"/>
                <a:gridCol w="749354"/>
                <a:gridCol w="749354"/>
                <a:gridCol w="749354"/>
                <a:gridCol w="749354"/>
                <a:gridCol w="881593"/>
                <a:gridCol w="881593"/>
                <a:gridCol w="881593"/>
              </a:tblGrid>
              <a:tr h="323088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Reg.</a:t>
                      </a:r>
                    </a:p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SF Active 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SF Active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6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DJP Activity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3088">
                <a:tc vMerge="1">
                  <a:txBody>
                    <a:bodyPr/>
                    <a:lstStyle/>
                    <a:p/>
                  </a:txBody>
                  <a:tcPr/>
                </a:tc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-6,2%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-2,4%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-7,7%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1.307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1.909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+46,1%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-18,2%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-7,8%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+2,4%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1.999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2.121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+6,1%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-19,1%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-15,6%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+20,0%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1.822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1.636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-10,2%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-21,3%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-9,5%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1.291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1.369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+6,0%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320040" y="4791456"/>
            <a:ext cx="9601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SF Active RE &amp; PS by Speed — Branch Denpasar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20040" y="5065776"/>
          <a:ext cx="7680955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1819"/>
                <a:gridCol w="908500"/>
                <a:gridCol w="908500"/>
                <a:gridCol w="743318"/>
                <a:gridCol w="908500"/>
                <a:gridCol w="908500"/>
                <a:gridCol w="743318"/>
                <a:gridCol w="908500"/>
              </a:tblGrid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-19,2%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-22,8%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-32,4%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320040" y="6519672"/>
            <a:ext cx="8229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SF Active dihitung berdasarkan SF Code unik per kelompok; Aktivitas DJP merupakan total visit.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SF Class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01–15 Oct 2026 vs MTD-1 01–15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22376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SF Active PS per Class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987552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133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133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17 / 20 (85,0%)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+41,7% | Turun 10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127 / 310 (41,0%)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-13,0% | Turun 93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4 / 5 (80,0%)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6 / 6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+500,0% | Turun 5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-9,1% | Turun 7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164 / 351 (46,7%)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-5,7% | Turun 118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133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 / 6 (66,7%)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+33,3% | Turun 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32 / 68 (47,1%)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+3,2% | Turun 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3 (66,7%)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41 / 80 (51,2%)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+5,1% | Turun 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133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 / 3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39 / 85 (45,9%)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-11,4% | Turun 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N/A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 / 3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47 / 93 (50,5%)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-7,8% | Turun 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133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 / 6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+20,0% | Turun 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25 / 80 (31,2%)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-24,2% | Turun 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N/A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4 / 4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-20,0% | Turun 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38 / 93 (40,9%)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-13,6% | Turun 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133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 / 5 (80,0%)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+300,0% | Turun 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31 / 77 (40,3%)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-18,4% | Turun 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N/A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38 / 85 (44,7%)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-5,0% | Turun 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386584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PS per Class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651760"/>
          <a:ext cx="1154887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1859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859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92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+1,1%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497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-36,1%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76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116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+110,9%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338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-20,8%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1.119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-22,6%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859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-57,7%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133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-45,7%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-58,6%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-43,6%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89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288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-40,6%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859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+41,4%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147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-23,8%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+69,2%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144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+32,1%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417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+16,8%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859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-9,4%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93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-34,5%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-27,3%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82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-58,2%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227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-40,4%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859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+175,0%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124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-37,4%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+9,5%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187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-16,1%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3886200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SF Productive per Class (minimum 10 PS)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151376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133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133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2 / 20 (10,0%)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-50,0% | Turun 10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13 / 310 (4,2%)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-40,9% | Turun 93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3 / 5 (60,0%)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-25,0% | Turun 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5 / 6 (83,3%)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+400,0% | Turun 5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9 / 10 (90,0%)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-18,2% | Turun 7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32 / 351 (9,1%)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-23,8% | Turun 118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133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0 / 6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 / 68 (4,4%)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-57,1% | Turun 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3 (66,7%)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8 / 80 (10,0%)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-38,5% | Turun 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133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3 (66,7%)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 / 85 (2,4%)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-66,7% | Turun 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N/A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 / 3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9 / 93 (9,7%)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-25,0% | Turun 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133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0 / 6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 / 80 (3,8%)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2 (50,0%)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N/A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 / 4 (75,0%)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-40,0% | Turun 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7 / 93 (7,5%)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-30,0% | Turun 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133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5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5 / 77 (6,5%)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-16,7% | Turun 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N/A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8 / 85 (9,4%)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+14,3% | Turun 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559612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1">
                <a:solidFill>
                  <a:srgbClr val="687386"/>
                </a:solidFill>
                <a:latin typeface="Arial"/>
              </a:rPr>
              <a:t>Active = minimum 1 PS. Turun = jumlah SF dengan PS MTD lebih rendah dibanding MTD-1 pada periode tanggal yang sama.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Daily SF Active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01–15 Oct 2026 vs MTD-1 01–15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SF Active RE Harian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320040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327648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PS Harian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327648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4645152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Ringkasan Produktivitas Harian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956048"/>
          <a:ext cx="7955277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6049"/>
                <a:gridCol w="1735697"/>
                <a:gridCol w="1108917"/>
                <a:gridCol w="1735697"/>
                <a:gridCol w="1108917"/>
              </a:tblGrid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RE/Hari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PS/Hari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48,9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44,7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623620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Total Branch merupakan SF Code unik per hari; angka WOK tidak dijumlahkan jika satu SF beraktivitas pada lebih dari satu WOK.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Channel &amp; ODP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01–15 Oct 2026 vs MTD-1 01–15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Agency Performance by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07008"/>
          <a:ext cx="5541260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81,6%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-23,7%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-34,7%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-39,5%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82,2%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327648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Grapari Performance by WOK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7648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27648" y="1207008"/>
          <a:ext cx="5541260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-46,7%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87,5%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-47,1%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-64,3%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55,6%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145536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Channel Scorecard — Total Branch Denpasar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3438144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AGENCY TOTAL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20040" y="3703320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1.728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1.352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-21,8%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1.458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1.119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327648" y="3438144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GRAPARI TOTAL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327648" y="3703320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-28,2%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-32,2%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320040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ODP Occupancy Summary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4928616"/>
          <a:ext cx="5413243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0202"/>
                <a:gridCol w="880202"/>
                <a:gridCol w="880202"/>
                <a:gridCol w="880202"/>
                <a:gridCol w="880202"/>
                <a:gridCol w="1012233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ORANGE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YELLOW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GREEN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BLACK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 ODP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7.604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21.214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15.177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3.252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47.277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16,1%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44,9%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327648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E.  DJP pada ODP Khusus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27648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55664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D73527"/>
                </a:solidFill>
                <a:latin typeface="Arial"/>
              </a:rPr>
              <a:t>ODP BLACK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55664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3.252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5664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715 (22,0%)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5664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36408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D73527"/>
                </a:solidFill>
                <a:latin typeface="Arial"/>
              </a:rPr>
              <a:t>1.934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72016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00032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37D3F"/>
                </a:solidFill>
                <a:latin typeface="Arial"/>
              </a:rPr>
              <a:t>ODP GREENFIELD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00032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552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00032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433 (78,4%)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0032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0776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137D3F"/>
                </a:solidFill>
                <a:latin typeface="Arial"/>
              </a:rPr>
              <a:t>1.199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Performance RE &amp; PS per Channel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01–15 Oct 2026 vs MTD-1 01–15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Channel Scorecard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24128"/>
          <a:ext cx="11548867" cy="157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3834"/>
                <a:gridCol w="1077894"/>
                <a:gridCol w="1077894"/>
                <a:gridCol w="975238"/>
                <a:gridCol w="1077894"/>
                <a:gridCol w="1077894"/>
                <a:gridCol w="975238"/>
                <a:gridCol w="1385864"/>
                <a:gridCol w="1129223"/>
                <a:gridCol w="1077894"/>
              </a:tblGrid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% Contr.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1.983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1.583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1.650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1.274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-22,8%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264,5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-19,4%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Agency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1.728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1.352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-21,8%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1.458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1.119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223,8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-19,8%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87,8%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Grapari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-28,2%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-32,2%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10,0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-30,9%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Web &amp; Apps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24,3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B2B2C &amp; Others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5,6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Sobi Affiliate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-62,5%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800,0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-57,9%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85292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Kontributor Penurunan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Agency SF Class Active (%, MoM)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SF ACTIVE TOTAL
RE: 165 | MoM -16,2%
PS: 164 | MoM -8,9%
• Elite
  RE: 10 | Active 100,0% | MoM 0,0%
  PS: 10 | Active 100,0% | MoM 0,0%
• Performer
  RE: 6 | Active 100,0% | MoM 0,0%
  PS: 6 | Active 100,0% | MoM 0,0%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36976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Junior
  RE: 129 | Active 41,6% | MoM -18,9%
  PS: 127 | Active 41,0% | MoM -11,2%
• Greenfield
  RE: 16 | Active 80,0% | MoM -11,1%
  PS: 17 | Active 85,0% | MoM 0,0%
• Junior Plus
  RE: 4 | Active 80,0% | MoM 0,0%
  PS: 4 | Active 80,0% | MoM 0,0%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72783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GraPARI Performance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59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Amlapura: PS 0,0%, Gap 0
• Grapari Gatsu Tengah: PS 0,0%, Gap 0
• Grapari Jimbaran: PS -16,7%, Gap -2
• Grapari Kuta: PS -16,7%, Gap -1
• Grapari Negara: PS -50,0%, Gap -2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9992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Renon: PS -38,9%, Gap -7
• Grapari Singaraja: PS -50,0%, Gap -2
• Grapari Tabanan: PS -80,0%, Gap -4
• Grapari Ubud: PS -14,3%, Gap -1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0040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479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Agency per WOK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Bali Barat: RE -182 (-34,7%), PS -184 (-39,5%)
• Bali Tengah 2: RE -79 (-17,5%), PS -64 (-16,8%)
• Bali Tengah 1: RE -44 (-9,7%), PS -52 (-13,5%)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236976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28416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Web &amp; Apps per WOK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46704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Bali Tengah 1: RE -12 (-23,1%), PS -7 (-20,0%)
• Bali Timur: RE 2 (+6,7%), PS -5 (-22,7%)
• Bali Tengah 2: RE 6 (+14,0%), PS -2 (-5,6%)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53912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5351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B2B2C &amp; Others per WOK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Bali Tengah 2: RE -3 (-20,0%), PS -3 (-27,3%)
• Bali Timur: RE -3 (-33,3%), PS -1 (-20,0%)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70848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62288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SOBI Affiliate per WOK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0576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Bali Timur: RE -1 (-33,3%), PS -2 (-66,7%)
• Bali Barat: RE 0 (0,0%), PS -1 (-100,0%)
• Bali Tengah 1: RE 0 (0,0%), PS -1 (-50,0%)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0040" y="6181344"/>
            <a:ext cx="114300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Gap = perubahan absolut MTD terhadap MTD-1 pada periode tanggal yang sama. Angka dalam kurung menunjukkan MoM.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01–15 Oct 2026 vs MTD-1 01–15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PS by Speed — Total Branch &amp; WOK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702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37,3%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-15,9%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-45,3%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-9,7%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37,8%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-14,9%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-29,2%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34,5%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+28,8%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-27,6%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-27,5%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-13,5%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206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-22,8%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+18,9%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-9,7%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-28,9%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26,3%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1887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1887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1.652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1.282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-22,4%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1887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-38,9%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1887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1887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1887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01–15 Oct 2026 vs MTD-1 01–15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Revenue New Sales by Speed — Total Branch &amp;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777240"/>
            <a:ext cx="420624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 i="1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104,5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75,4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-27,8%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28,3%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46,4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43,6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67,9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57,2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-15,8%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35,6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21,0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39,5%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-9,7%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11,6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29,3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24,0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-17,9%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29,2%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15,4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13,1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-14,9%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19,7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19,3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30,5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21,9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-28,1%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26,1%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12,0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15,4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+28,8%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26,6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18,8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-29,4%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11,9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-27,2%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10,1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11,2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63,6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53,5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-15,8%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44,4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35,6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-19,9%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17,3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10,0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21,6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18,2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-15,6%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825,0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270,0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-67,3%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24,0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18,9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-21,3%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+18,9%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810,0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270,0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10,1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-14,1%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12,8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-26,6%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580,0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1887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1887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328,5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266,5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1887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79,5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53,2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-33,0%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1887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93,8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82,3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1887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101,2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84,1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1887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54,0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46,9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Appendix — Top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01–15 Oct 2026 vs MTD-1 01–15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Zakaria Rafiif Ahmad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HAIDAR EL JAWAS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ARDIANSYAH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IDA AYU MIRAH PADMINI, SE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SYAFII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ANIS MARIATUL KIPTIAN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AHMAD AMMAR DANI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MADE MAWAYANA SE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Erlan Bahtiar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GEDE WISADA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IDA AYU MIRAH PADMINI, SE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9,0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HAIDAR EL JAWAS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Zakaria Rafiif Ahmad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ARDIANSYAH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ANIS MARIATUL KIPTIAN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Bangbang Ilyasa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SYAFII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AYU GEDE FAJAR SARI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LUH SURYA PERTIWI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KOMANG AGUS ARTANA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137D3F"/>
                </a:solidFill>
                <a:latin typeface="Arial"/>
              </a:rPr>
              <a:t>Top 10 branch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Appendix — Bottom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01–15 Oct 2026 vs MTD-1 01–15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Indra syah putra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IRMA NUR AINI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Ida ayu Made Sri Pradnya tari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Vira dwi agustin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Marselinus Supardi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KADEK RIDAYANI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Kunzita Lazuardi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Riko Simanjuntak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ERNAWATU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MUHAZAM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Vira dwi agustin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ROSA NINGRUM FATMALA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Marselinus Supardi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KADEK RIDAYANI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Kunzita Lazuardi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WINDA SAPUTRI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ERNAWATU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MUHAZAM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Antonius Basten Cristian Lang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GST NGURAH PT WIDIYADANA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D73527"/>
                </a:solidFill>
                <a:latin typeface="Arial"/>
              </a:rPr>
              <a:t>Bottom 10 branch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