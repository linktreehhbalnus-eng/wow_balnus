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64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-30,2%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43   Δ -13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-30,4%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1.012   Δ -308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(21,0%)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 (54,7%)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5727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3621024"/>
            <a:ext cx="5449824" cy="98755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40" b="0" i="0">
                <a:solidFill>
                  <a:srgbClr val="20252B"/>
                </a:solidFill>
                <a:latin typeface="Arial"/>
              </a:rPr>
              <a:t>SF Active Total: RE 80 (+14,3%) | PS 71 (+10,9%)
Junior: RE 66 48,9% (+15,8%) | PS 57 42,2% (+11,8%)
Greenfield: RE 13 100,0% (+8,3%) | PS 13 100,0% (+8,3%)
Junior Plus: RE 1 100,0% (0,0%) | PS 1 100,0% (0,0%)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182112"/>
            <a:ext cx="5705856" cy="15727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1" y="3621024"/>
            <a:ext cx="2660904" cy="98755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20" b="0" i="0">
                <a:solidFill>
                  <a:srgbClr val="20252B"/>
                </a:solidFill>
                <a:latin typeface="Arial"/>
              </a:rPr>
              <a:t>Grapari Bajawa: PS -66,7%, Gap -2
Grapari Ende: PS 0,0%, Gap 0
Grapari Kalabahi: PS -41,7%, Gap -5
Grapari Labuan Bajo: PS -14,3%, Gap 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621024"/>
            <a:ext cx="2660904" cy="98755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20" b="0" i="0">
                <a:solidFill>
                  <a:srgbClr val="20252B"/>
                </a:solidFill>
                <a:latin typeface="Arial"/>
              </a:rPr>
              <a:t>Grapari Larantuka: PS -33,3%, Gap -1
Grapari Maumere: PS -16,7%, Gap -1
Grapari Ruteng: PS N/A, Gap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89204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974336"/>
            <a:ext cx="2606039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321808"/>
            <a:ext cx="2569463" cy="6583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4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489204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4974336"/>
            <a:ext cx="2606039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321808"/>
            <a:ext cx="2569463" cy="6583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4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489204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4974336"/>
            <a:ext cx="2606039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321808"/>
            <a:ext cx="2569463" cy="6583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4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4892040"/>
            <a:ext cx="2788920" cy="126187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4974336"/>
            <a:ext cx="2606039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321808"/>
            <a:ext cx="2569463" cy="6583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74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Anmisa putrianingsih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