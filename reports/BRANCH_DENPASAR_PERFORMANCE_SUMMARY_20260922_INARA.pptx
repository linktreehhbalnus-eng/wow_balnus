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  <c:pt idx="19">
                  <c:v>19.0</c:v>
                </c:pt>
                <c:pt idx="20">
                  <c:v>23.0</c:v>
                </c:pt>
                <c:pt idx="21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  <c:pt idx="19">
                  <c:v>12.0</c:v>
                </c:pt>
                <c:pt idx="20">
                  <c:v>19.0</c:v>
                </c:pt>
                <c:pt idx="21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  <c:pt idx="19">
                  <c:v>12.0</c:v>
                </c:pt>
                <c:pt idx="20">
                  <c:v>14.0</c:v>
                </c:pt>
                <c:pt idx="21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Sheet1!$F$2:$F$23</c:f>
              <c:numCache>
                <c:formatCode>General</c:formatCode>
                <c:ptCount val="22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  <c:pt idx="19">
                  <c:v>10.0</c:v>
                </c:pt>
                <c:pt idx="20">
                  <c:v>13.0</c:v>
                </c:pt>
                <c:pt idx="21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16.0</c:v>
                </c:pt>
                <c:pt idx="20">
                  <c:v>19.0</c:v>
                </c:pt>
                <c:pt idx="21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10.0</c:v>
                </c:pt>
                <c:pt idx="20">
                  <c:v>10.0</c:v>
                </c:pt>
                <c:pt idx="21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17.0</c:v>
                </c:pt>
                <c:pt idx="20">
                  <c:v>16.0</c:v>
                </c:pt>
                <c:pt idx="21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Sheet1!$F$2:$F$23</c:f>
              <c:numCache>
                <c:formatCode>General</c:formatCode>
                <c:ptCount val="22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9.0</c:v>
                </c:pt>
                <c:pt idx="20">
                  <c:v>10.0</c:v>
                </c:pt>
                <c:pt idx="21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228   Δ -9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218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193   Δ 22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5.646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5.018   Δ 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171 / 310 (55,2%)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-8,6%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210 / 351 (59,8%)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-4,5% | Turun 128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68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 / 80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 / 85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 / 93 (62,4%)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80 (47,5%)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93 (54,8%)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77 (55,8%)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85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+4,1%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2.097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-16,2%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351 (16,2%)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-1,7% | Turun 128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68 (17,6%)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80 (22,5%)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85 (8,2%)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93 (15,1%)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80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93 (16,1%)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77 (7,8%)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85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2.537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4.555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27.894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513 (15,3%)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1.459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264 (48,9%)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848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219 | MoM -3,9%
PS: 210 | MoM -3,7%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180 | Active 58,1% | MoM -4,8%
  PS: 171 | Active 55,2% | MoM -5,5%
• Greenfield
  RE: 19 | Active 95,0% | MoM +5,6%
  PS: 19 | Active 95,0% | MoM +18,8%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-57,1%, Gap -4
• Grapari Jimbaran: PS +41,7%, Gap 5
• Grapari Kuta: PS +100,0%, Gap 3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-33,3%, Gap -2
• Grapari Tabanan: PS -14,3%, Gap -1
• Grapari Ubud: PS +57,1%, Gap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-73 (-11,0%), PS -68 (-12,0%)
• Bali Tengah 2: RE -70 (-10,0%), PS -39 (-6,7%)
• Bali Timur: RE 5 (+1,2%), PS -26 (-7,4%)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-44 (-40,0%), PS -35 (-40,7%)
• Bali Tengah 1: RE -14 (-18,4%), PS -12 (-21,1%)
• Bali Barat: RE -15 (-38,5%), PS -7 (-35,0%)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3 (+20,0%), PS -3 (-27,3%)
• Bali Timur: RE 1 (+9,1%), PS -3 (-37,5%)
• Bali Barat: RE -7 (-43,8%), PS -2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