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  <c:pt idx="27">
                  <c:v>21.0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  <c:pt idx="25">
                  <c:v>9.0</c:v>
                </c:pt>
                <c:pt idx="26">
                  <c:v>5.0</c:v>
                </c:pt>
                <c:pt idx="27">
                  <c:v>14.0</c:v>
                </c:pt>
                <c:pt idx="28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  <c:pt idx="25">
                  <c:v>9.0</c:v>
                </c:pt>
                <c:pt idx="26">
                  <c:v>4.0</c:v>
                </c:pt>
                <c:pt idx="27">
                  <c:v>7.0</c:v>
                </c:pt>
                <c:pt idx="28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  <c:pt idx="27">
                  <c:v>19.0</c:v>
                </c:pt>
                <c:pt idx="28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  <c:pt idx="25">
                  <c:v>6.0</c:v>
                </c:pt>
                <c:pt idx="26">
                  <c:v>2.0</c:v>
                </c:pt>
                <c:pt idx="27">
                  <c:v>15.0</c:v>
                </c:pt>
                <c:pt idx="28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  <c:pt idx="25">
                  <c:v>4.0</c:v>
                </c:pt>
                <c:pt idx="26">
                  <c:v>5.0</c:v>
                </c:pt>
                <c:pt idx="27">
                  <c:v>4.0</c:v>
                </c:pt>
                <c:pt idx="28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1.942   Δ 579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+10,7%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136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150 (22,0%)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64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71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(43,7%)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+9,1%
PS: 93 | MoM +9,4%
• Junior
  RE: 82 | Active 60,3% | MoM +9,3%
  PS: 79 | Active 58,1% | MoM +9,7%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+75,0%, Gap 6
• Grapari Ende: PS +46,7%, Gap 14
• Grapari Kalabahi: PS -11,5%, Gap -3
• Grapari Labuan Bajo: PS -15,0%,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+66,7%, Gap 6
• Grapari Maumere: PS -20,0%, Gap -4
• Grapari Ruteng: PS +62,5%,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