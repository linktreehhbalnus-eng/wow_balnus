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  <p:sldId id="269" r:id="rId20"/>
    <p:sldId id="270" r:id="rId21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27/08</c:v>
                </c:pt>
                <c:pt idx="1">
                  <c:v>28/08</c:v>
                </c:pt>
                <c:pt idx="2">
                  <c:v>29/08</c:v>
                </c:pt>
                <c:pt idx="3">
                  <c:v>30/08</c:v>
                </c:pt>
                <c:pt idx="4">
                  <c:v>31/08</c:v>
                </c:pt>
                <c:pt idx="5">
                  <c:v>01/09</c:v>
                </c:pt>
                <c:pt idx="6">
                  <c:v>02/09</c:v>
                </c:pt>
                <c:pt idx="7">
                  <c:v>03/09</c:v>
                </c:pt>
                <c:pt idx="8">
                  <c:v>04/09</c:v>
                </c:pt>
                <c:pt idx="9">
                  <c:v>05/09</c:v>
                </c:pt>
                <c:pt idx="10">
                  <c:v>06/09</c:v>
                </c:pt>
                <c:pt idx="11">
                  <c:v>07/09</c:v>
                </c:pt>
                <c:pt idx="12">
                  <c:v>08/09</c:v>
                </c:pt>
                <c:pt idx="13">
                  <c:v>09/09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307.0</c:v>
                </c:pt>
                <c:pt idx="1">
                  <c:v>339.0</c:v>
                </c:pt>
                <c:pt idx="2">
                  <c:v>270.0</c:v>
                </c:pt>
                <c:pt idx="3">
                  <c:v>203.0</c:v>
                </c:pt>
                <c:pt idx="4">
                  <c:v>311.0</c:v>
                </c:pt>
                <c:pt idx="5">
                  <c:v>407.0</c:v>
                </c:pt>
                <c:pt idx="6">
                  <c:v>359.0</c:v>
                </c:pt>
                <c:pt idx="7">
                  <c:v>334.0</c:v>
                </c:pt>
                <c:pt idx="8">
                  <c:v>324.0</c:v>
                </c:pt>
                <c:pt idx="9">
                  <c:v>279.0</c:v>
                </c:pt>
                <c:pt idx="10">
                  <c:v>198.0</c:v>
                </c:pt>
                <c:pt idx="11">
                  <c:v>362.0</c:v>
                </c:pt>
                <c:pt idx="12">
                  <c:v>351.0</c:v>
                </c:pt>
                <c:pt idx="13">
                  <c:v>315.0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27/08</c:v>
                </c:pt>
                <c:pt idx="1">
                  <c:v>28/08</c:v>
                </c:pt>
                <c:pt idx="2">
                  <c:v>29/08</c:v>
                </c:pt>
                <c:pt idx="3">
                  <c:v>30/08</c:v>
                </c:pt>
                <c:pt idx="4">
                  <c:v>31/08</c:v>
                </c:pt>
                <c:pt idx="5">
                  <c:v>01/09</c:v>
                </c:pt>
                <c:pt idx="6">
                  <c:v>02/09</c:v>
                </c:pt>
                <c:pt idx="7">
                  <c:v>03/09</c:v>
                </c:pt>
                <c:pt idx="8">
                  <c:v>04/09</c:v>
                </c:pt>
                <c:pt idx="9">
                  <c:v>05/09</c:v>
                </c:pt>
                <c:pt idx="10">
                  <c:v>06/09</c:v>
                </c:pt>
                <c:pt idx="11">
                  <c:v>07/09</c:v>
                </c:pt>
                <c:pt idx="12">
                  <c:v>08/09</c:v>
                </c:pt>
                <c:pt idx="13">
                  <c:v>09/09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298.0</c:v>
                </c:pt>
                <c:pt idx="1">
                  <c:v>255.0</c:v>
                </c:pt>
                <c:pt idx="2">
                  <c:v>238.0</c:v>
                </c:pt>
                <c:pt idx="3">
                  <c:v>142.0</c:v>
                </c:pt>
                <c:pt idx="4">
                  <c:v>250.0</c:v>
                </c:pt>
                <c:pt idx="5">
                  <c:v>271.0</c:v>
                </c:pt>
                <c:pt idx="6">
                  <c:v>315.0</c:v>
                </c:pt>
                <c:pt idx="7">
                  <c:v>270.0</c:v>
                </c:pt>
                <c:pt idx="8">
                  <c:v>255.0</c:v>
                </c:pt>
                <c:pt idx="9">
                  <c:v>185.0</c:v>
                </c:pt>
                <c:pt idx="10">
                  <c:v>159.0</c:v>
                </c:pt>
                <c:pt idx="11">
                  <c:v>256.0</c:v>
                </c:pt>
                <c:pt idx="12">
                  <c:v>285.0</c:v>
                </c:pt>
                <c:pt idx="13">
                  <c:v>266.0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+6,8% &amp; PS +4,2% MoM — Achievement Mencapai 26,2% (RE) / 24,6%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01–09 Sep 2026 vs MTD-1 01–09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Menguat pada 9 September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01–09 Sep 2026 vs MTD-1 01–09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01–09 September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 Pendorong Utama PS (+15,4%), Denpasar Terdalam (-2,6%)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01–09 Sep 2026 vs MTD-1 01–09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+15,4%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+10,3%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+7,3%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-2,6%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25,9%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25,8%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24,5%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19,5%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Sumba Tertinggi (+54,9%), Bali Tengah 1 Terdalam (-12,8%)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01–09 Sep 2026 vs MTD-1 01–09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Buleleng Penyumbang PS Absolut Terbesar (+87), Rote Ndao Tumbuh Tertinggi (+200,0%)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01–09 Sep 2026 vs MTD-1 01–09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+180, Bottom 5 -160, dan perubahan PS regional +91.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≥100 Mbps Tumbuh Tertinggi (+131,3%), TSEL One &gt;30 Mbps Turun Terdalam (-61,8%)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01–09 Sep 2026 vs MTD-1 01–09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+0,4%, Aktivitas DJP +10,3% MoM — Registered SF 864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01–09 Sep 2026 vs MTD-1 01–09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4.838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9.913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55.955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7.095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5.434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83.235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5.434
Dikunjungi: 442 (8,1%)
Visit DJP: 1.144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1.162
Dikunjungi: 379 (32,6%)
Visit DJP: 1.069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01–09 Sep 2026 vs MTD-1 01–09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01–09 Sep 2026 vs MTD-1 01–09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lestari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DIANA TRI ANGGRAINI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RANGGA BELA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JEPRIANUS MUJI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ROBIL ANWAR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PUTU LINGGAR GERRY KUSUMA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MARTHERNUS M SANBEIN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HERLINA JULIANTHI EDDY 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ADRIANUS MARIOLIANUS OWON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lestari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HERLINA JULIANTHI EDDY 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PUTU LINGGAR GERRY KUSUMA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DIANA TRI ANGGRAINI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Anak Agung Gde Agung Adhiaksa Pratama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Sumiyati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MARTHERNUS M SANBEIN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MUHAMAD SUNARTO WETI DALA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Utami muji kristina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EMANUEL LAGA TIFAONA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01–09 Sep 2026 vs MTD-1 01–09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LITA MELIANA HUSEN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MARTINUS YONGKI MANGGO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KAMALUDIN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AGUSTINUS MAPADA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Marianus Hilton Raja reda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KAMALUDIN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ERNY JUMRIANTY AGUSTIN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ATI DUA LIRONG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01–09 Sep 2026 vs MTD-1 01–09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01–09 Sep 2026 vs MTD-1 01–09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01–09 Sep 2026 vs MTD-1 01–09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+460,0%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+580,0%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2.171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2.262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1.062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1.034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01–09 Sep 2026 vs MTD-1 01–09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140,9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496,5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153,3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01–09 Sep 2026 vs MTD-1 01–09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2.743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2.929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+6,8%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2.171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2.262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496,5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2.278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2.471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1.856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1.971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422,8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33,9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31,1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+178,8%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1810512" cy="2322576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3182112"/>
            <a:ext cx="1664208" cy="38404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00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" y="3675887"/>
            <a:ext cx="1645920" cy="1527048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00" b="0">
                <a:solidFill>
                  <a:srgbClr val="20252B"/>
                </a:solidFill>
                <a:latin typeface="Arial"/>
              </a:rPr>
              <a:t>Bali Tengah 1: RE -30, PS -25
Bali Timur: RE +4, PS -17
Bali Tengah 2: RE 0, PS -1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9424" y="3090672"/>
            <a:ext cx="1810512" cy="2322576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22576" y="3182112"/>
            <a:ext cx="1664208" cy="38404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00" b="1">
                <a:solidFill>
                  <a:srgbClr val="102C50"/>
                </a:solidFill>
                <a:latin typeface="Arial"/>
              </a:rPr>
              <a:t>Agency SF 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675887"/>
            <a:ext cx="1645920" cy="1527048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00" b="0">
                <a:solidFill>
                  <a:srgbClr val="20252B"/>
                </a:solidFill>
                <a:latin typeface="Arial"/>
              </a:rPr>
              <a:t>Junior Plus: Active PS -5,0%
Junior: Active PS -0,5%
Elite: Active PS 0,0%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78807" y="3090672"/>
            <a:ext cx="1810512" cy="2322576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59" y="3182112"/>
            <a:ext cx="1664208" cy="38404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00" b="1">
                <a:solidFill>
                  <a:srgbClr val="102C50"/>
                </a:solidFill>
                <a:latin typeface="Arial"/>
              </a:rPr>
              <a:t>GraPARI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1103" y="3675887"/>
            <a:ext cx="1645920" cy="1527048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00" b="0">
                <a:solidFill>
                  <a:srgbClr val="20252B"/>
                </a:solidFill>
                <a:latin typeface="Arial"/>
              </a:rPr>
              <a:t>Grapari Renon: PS -7
Grapari Kalabahi: PS -5
Grapari Gatsu Tengah: PS -4
Grapari Bajawa: PS -2
Grapari Singaraja: PS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08192" y="3090672"/>
            <a:ext cx="1810512" cy="2322576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1344" y="3182112"/>
            <a:ext cx="1664208" cy="38404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00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3675887"/>
            <a:ext cx="1645920" cy="1527048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00" b="0">
                <a:solidFill>
                  <a:srgbClr val="20252B"/>
                </a:solidFill>
                <a:latin typeface="Arial"/>
              </a:rPr>
              <a:t>Bali Tengah 2: RE -24, PS -21
Bali Tengah 1: RE -8, PS -8
Bali Barat: RE -8, PS -6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7575" y="3090672"/>
            <a:ext cx="1810512" cy="2322576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0727" y="3182112"/>
            <a:ext cx="1664208" cy="38404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00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1" y="3675887"/>
            <a:ext cx="1645920" cy="1527048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00" b="0">
                <a:solidFill>
                  <a:srgbClr val="20252B"/>
                </a:solidFill>
                <a:latin typeface="Arial"/>
              </a:rPr>
              <a:t>Bali Timur: RE -1, PS -3
Bali Barat: RE -3, PS -2
Sumbawa Barat - Sumbawa Timur: RE -1, PS -2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66959" y="3090672"/>
            <a:ext cx="1810512" cy="2322576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0111" y="3182112"/>
            <a:ext cx="1664208" cy="38404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00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49255" y="3675887"/>
            <a:ext cx="1645920" cy="1527048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00" b="0">
                <a:solidFill>
                  <a:srgbClr val="20252B"/>
                </a:solidFill>
                <a:latin typeface="Arial"/>
              </a:rPr>
              <a:t>Lombok: RE -3, PS -1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5650992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menunjukkan perubahan absolut MTD terhadap MTD-1 pada periode tanggal yang sama.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5961888"/>
            <a:ext cx="11430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50" b="1">
                <a:solidFill>
                  <a:srgbClr val="102C50"/>
                </a:solidFill>
                <a:latin typeface="Arial"/>
              </a:rPr>
              <a:t>Insight lapangan: ____________________   Event/gangguan: ____________________   Action plan/PIC: 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