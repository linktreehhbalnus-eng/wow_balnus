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27/08</c:v>
                </c:pt>
                <c:pt idx="1">
                  <c:v>28/08</c:v>
                </c:pt>
                <c:pt idx="2">
                  <c:v>29/08</c:v>
                </c:pt>
                <c:pt idx="3">
                  <c:v>30/08</c:v>
                </c:pt>
                <c:pt idx="4">
                  <c:v>31/08</c:v>
                </c:pt>
                <c:pt idx="5">
                  <c:v>01/09</c:v>
                </c:pt>
                <c:pt idx="6">
                  <c:v>02/09</c:v>
                </c:pt>
                <c:pt idx="7">
                  <c:v>03/09</c:v>
                </c:pt>
                <c:pt idx="8">
                  <c:v>04/09</c:v>
                </c:pt>
                <c:pt idx="9">
                  <c:v>05/09</c:v>
                </c:pt>
                <c:pt idx="10">
                  <c:v>06/09</c:v>
                </c:pt>
                <c:pt idx="11">
                  <c:v>07/09</c:v>
                </c:pt>
                <c:pt idx="12">
                  <c:v>08/09</c:v>
                </c:pt>
                <c:pt idx="13">
                  <c:v>09/09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307.0</c:v>
                </c:pt>
                <c:pt idx="1">
                  <c:v>339.0</c:v>
                </c:pt>
                <c:pt idx="2">
                  <c:v>270.0</c:v>
                </c:pt>
                <c:pt idx="3">
                  <c:v>203.0</c:v>
                </c:pt>
                <c:pt idx="4">
                  <c:v>311.0</c:v>
                </c:pt>
                <c:pt idx="5">
                  <c:v>407.0</c:v>
                </c:pt>
                <c:pt idx="6">
                  <c:v>359.0</c:v>
                </c:pt>
                <c:pt idx="7">
                  <c:v>334.0</c:v>
                </c:pt>
                <c:pt idx="8">
                  <c:v>324.0</c:v>
                </c:pt>
                <c:pt idx="9">
                  <c:v>279.0</c:v>
                </c:pt>
                <c:pt idx="10">
                  <c:v>198.0</c:v>
                </c:pt>
                <c:pt idx="11">
                  <c:v>362.0</c:v>
                </c:pt>
                <c:pt idx="12">
                  <c:v>351.0</c:v>
                </c:pt>
                <c:pt idx="13">
                  <c:v>315.0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27/08</c:v>
                </c:pt>
                <c:pt idx="1">
                  <c:v>28/08</c:v>
                </c:pt>
                <c:pt idx="2">
                  <c:v>29/08</c:v>
                </c:pt>
                <c:pt idx="3">
                  <c:v>30/08</c:v>
                </c:pt>
                <c:pt idx="4">
                  <c:v>31/08</c:v>
                </c:pt>
                <c:pt idx="5">
                  <c:v>01/09</c:v>
                </c:pt>
                <c:pt idx="6">
                  <c:v>02/09</c:v>
                </c:pt>
                <c:pt idx="7">
                  <c:v>03/09</c:v>
                </c:pt>
                <c:pt idx="8">
                  <c:v>04/09</c:v>
                </c:pt>
                <c:pt idx="9">
                  <c:v>05/09</c:v>
                </c:pt>
                <c:pt idx="10">
                  <c:v>06/09</c:v>
                </c:pt>
                <c:pt idx="11">
                  <c:v>07/09</c:v>
                </c:pt>
                <c:pt idx="12">
                  <c:v>08/09</c:v>
                </c:pt>
                <c:pt idx="13">
                  <c:v>09/09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298.0</c:v>
                </c:pt>
                <c:pt idx="1">
                  <c:v>255.0</c:v>
                </c:pt>
                <c:pt idx="2">
                  <c:v>238.0</c:v>
                </c:pt>
                <c:pt idx="3">
                  <c:v>142.0</c:v>
                </c:pt>
                <c:pt idx="4">
                  <c:v>250.0</c:v>
                </c:pt>
                <c:pt idx="5">
                  <c:v>271.0</c:v>
                </c:pt>
                <c:pt idx="6">
                  <c:v>315.0</c:v>
                </c:pt>
                <c:pt idx="7">
                  <c:v>270.0</c:v>
                </c:pt>
                <c:pt idx="8">
                  <c:v>255.0</c:v>
                </c:pt>
                <c:pt idx="9">
                  <c:v>185.0</c:v>
                </c:pt>
                <c:pt idx="10">
                  <c:v>159.0</c:v>
                </c:pt>
                <c:pt idx="11">
                  <c:v>256.0</c:v>
                </c:pt>
                <c:pt idx="12">
                  <c:v>285.0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+6,8% &amp; PS +4,2% MoM — Achievement Mencapai 26,2% (RE) / 24,6%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9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01–09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(+15,4%), Denpasar Terdalam (-2,6%)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(+54,9%), Bali Tengah 1 Terdalam (-12,8%)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(+87), Rote Ndao Tumbuh Tertinggi (+200,0%)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+180, Bottom 5 -160, dan perubahan PS regional +91.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(+131,3%), TSEL One &gt;30 Mbps Turun Terdalam (-61,8%)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+0,4%, Aktivitas DJP +10,3%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442 (8,1%)
Visit DJP: 1.144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379 (32,6%)
Visit DJP: 1.069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RANGGA BELA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MUHAMAD SUNARTO WETI DALA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2.743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57276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3529584"/>
            <a:ext cx="544982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SF Active Total: RE 487 (+3,4%) | PS 448 (+0,4%)
Elite: RE 10 100,0% (0,0%) | PS 10 100,0% (0,0%)
Performer: RE 7 100,0% (0,0%) | PS 7 100,0% (0,0%)
Junior: RE 401 52,1% (+2,0%) | PS 366 47,6% (-0,5%)
Greenfield: RE 50 86,2% (+22,0%) | PS 46 79,3% (+12,2%)
Junior Plus: RE 19 95,0% (-5,0%) | PS 19 95,0% (-5,0%)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5" y="3090672"/>
            <a:ext cx="5705856" cy="157276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1" y="3529584"/>
            <a:ext cx="544982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Denpasar: PS -7,7%, Gap -3
Flores: PS -13,3%, Gap -6
Kupang: PS +20,0%, Gap +3
Mataram: PS +8,5%, Gap +4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800600"/>
            <a:ext cx="2788920" cy="126187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488289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23036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Bali Tengah 1: RE -30 (-10,1%), PS -25 (-10,1%)
Bali Timur: RE +4 (+2,1%), PS -17 (-10,6%)
Bali Tengah 2: RE 0 (0,0%), PS -1 (-0,4%)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4800600"/>
            <a:ext cx="2788920" cy="126187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28416" y="488289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6704" y="523036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Bali Tengah 2: RE -24 (-46,2%), PS -21 (-55,3%)
Bali Tengah 1: RE -8 (-21,1%), PS -8 (-26,7%)
Bali Barat: RE -8 (-40,0%), PS -6 (-50,0%)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4800600"/>
            <a:ext cx="2788920" cy="126187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1" y="488289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23036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Bali Timur: RE -1 (-14,3%), PS -3 (-60,0%)
Bali Barat: RE -3 (-42,9%), PS -2 (-66,7%)
Sumbawa Barat - Sumbawa Timur: RE -1 (-8,3%), PS -2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0848" y="4800600"/>
            <a:ext cx="2788920" cy="1261872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488289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3036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>
                <a:solidFill>
                  <a:srgbClr val="20252B"/>
                </a:solidFill>
                <a:latin typeface="Arial"/>
              </a:rPr>
              <a:t>Lombok: RE -3 (-75,0%), PS -1 (-100,0%)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108192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