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9"/>
    <p:sldId id="269" r:id="rId20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27/08</c:v>
                </c:pt>
                <c:pt idx="1">
                  <c:v>28/08</c:v>
                </c:pt>
                <c:pt idx="2">
                  <c:v>29/08</c:v>
                </c:pt>
                <c:pt idx="3">
                  <c:v>30/08</c:v>
                </c:pt>
                <c:pt idx="4">
                  <c:v>31/08</c:v>
                </c:pt>
                <c:pt idx="5">
                  <c:v>01/09</c:v>
                </c:pt>
                <c:pt idx="6">
                  <c:v>02/09</c:v>
                </c:pt>
                <c:pt idx="7">
                  <c:v>03/09</c:v>
                </c:pt>
                <c:pt idx="8">
                  <c:v>04/09</c:v>
                </c:pt>
                <c:pt idx="9">
                  <c:v>05/09</c:v>
                </c:pt>
                <c:pt idx="10">
                  <c:v>06/09</c:v>
                </c:pt>
                <c:pt idx="11">
                  <c:v>07/09</c:v>
                </c:pt>
                <c:pt idx="12">
                  <c:v>08/09</c:v>
                </c:pt>
                <c:pt idx="13">
                  <c:v>09/09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307.0</c:v>
                </c:pt>
                <c:pt idx="1">
                  <c:v>339.0</c:v>
                </c:pt>
                <c:pt idx="2">
                  <c:v>270.0</c:v>
                </c:pt>
                <c:pt idx="3">
                  <c:v>203.0</c:v>
                </c:pt>
                <c:pt idx="4">
                  <c:v>311.0</c:v>
                </c:pt>
                <c:pt idx="5">
                  <c:v>407.0</c:v>
                </c:pt>
                <c:pt idx="6">
                  <c:v>359.0</c:v>
                </c:pt>
                <c:pt idx="7">
                  <c:v>334.0</c:v>
                </c:pt>
                <c:pt idx="8">
                  <c:v>324.0</c:v>
                </c:pt>
                <c:pt idx="9">
                  <c:v>279.0</c:v>
                </c:pt>
                <c:pt idx="10">
                  <c:v>198.0</c:v>
                </c:pt>
                <c:pt idx="11">
                  <c:v>362.0</c:v>
                </c:pt>
                <c:pt idx="12">
                  <c:v>351.0</c:v>
                </c:pt>
                <c:pt idx="13">
                  <c:v>315.0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27/08</c:v>
                </c:pt>
                <c:pt idx="1">
                  <c:v>28/08</c:v>
                </c:pt>
                <c:pt idx="2">
                  <c:v>29/08</c:v>
                </c:pt>
                <c:pt idx="3">
                  <c:v>30/08</c:v>
                </c:pt>
                <c:pt idx="4">
                  <c:v>31/08</c:v>
                </c:pt>
                <c:pt idx="5">
                  <c:v>01/09</c:v>
                </c:pt>
                <c:pt idx="6">
                  <c:v>02/09</c:v>
                </c:pt>
                <c:pt idx="7">
                  <c:v>03/09</c:v>
                </c:pt>
                <c:pt idx="8">
                  <c:v>04/09</c:v>
                </c:pt>
                <c:pt idx="9">
                  <c:v>05/09</c:v>
                </c:pt>
                <c:pt idx="10">
                  <c:v>06/09</c:v>
                </c:pt>
                <c:pt idx="11">
                  <c:v>07/09</c:v>
                </c:pt>
                <c:pt idx="12">
                  <c:v>08/09</c:v>
                </c:pt>
                <c:pt idx="13">
                  <c:v>09/09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298.0</c:v>
                </c:pt>
                <c:pt idx="1">
                  <c:v>255.0</c:v>
                </c:pt>
                <c:pt idx="2">
                  <c:v>238.0</c:v>
                </c:pt>
                <c:pt idx="3">
                  <c:v>142.0</c:v>
                </c:pt>
                <c:pt idx="4">
                  <c:v>250.0</c:v>
                </c:pt>
                <c:pt idx="5">
                  <c:v>271.0</c:v>
                </c:pt>
                <c:pt idx="6">
                  <c:v>315.0</c:v>
                </c:pt>
                <c:pt idx="7">
                  <c:v>270.0</c:v>
                </c:pt>
                <c:pt idx="8">
                  <c:v>255.0</c:v>
                </c:pt>
                <c:pt idx="9">
                  <c:v>185.0</c:v>
                </c:pt>
                <c:pt idx="10">
                  <c:v>159.0</c:v>
                </c:pt>
                <c:pt idx="11">
                  <c:v>256.0</c:v>
                </c:pt>
                <c:pt idx="12">
                  <c:v>285.0</c:v>
                </c:pt>
                <c:pt idx="13">
                  <c:v>266.0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+6,8% &amp; PS +4,2% MoM — Achievement Mencapai 26,2% (RE) / 24,6%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Sep 2026 vs MTD-1 01–09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9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Sep 2026 vs MTD-1 01–09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01–09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 Pendorong Utama PS (+15,4%), Denpasar Terdalam (-2,6%)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Sep 2026 vs MTD-1 01–09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+15,4%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+10,3%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+7,3%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-2,6%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25,9%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25,8%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24,5%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19,5%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 Tertinggi (+54,9%), Bali Tengah 1 Terdalam (-12,8%)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Sep 2026 vs MTD-1 01–09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(+87), Rote Ndao Tumbuh Tertinggi (+200,0%)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Sep 2026 vs MTD-1 01–09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+180, Bottom 5 -160, dan perubahan PS regional +91.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≥100 Mbps Tumbuh Tertinggi (+131,3%), TSEL One &gt;30 Mbps Turun Terdalam (-61,8%)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Sep 2026 vs MTD-1 01–09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+0,4%, Aktivitas DJP +10,3% MoM — Registered SF 864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Sep 2026 vs MTD-1 01–09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4.838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9.913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55.955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7.095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83.235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5.434
Dikunjungi: 442 (8,1%)
Visit DJP: 1.144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1.162
Dikunjungi: 379 (32,6%)
Visit DJP: 1.069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Sep 2026 vs MTD-1 01–09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Sep 2026 vs MTD-1 01–09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TRI ANGGRAINI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RANGGA BELA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JEPRIANUS MUJI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ROBIL ANWAR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LINGGAR GERRY KUSUMA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MARTHERNUS M SANBEIN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ADRIANUS MARIOLIANUS OWON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LINGGAR GERRY KUSUMA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TRI ANGGRAINI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Anak Agung Gde Agung Adhiaksa Pratama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Sumiyati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MARTHERNUS M SANBEIN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MUHAMAD SUNARTO WETI DALA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Utami muji kristina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EMANUEL LAGA TIFAONA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Sep 2026 vs MTD-1 01–09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LITA MELIANA HUSEN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MARTINUS YONGKI MANGGO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KAMALUDIN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Marianus Hilton Raja reda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KAMALUDIN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ERNY JUMRIANTY AGUSTIN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ATI DUA LIRONG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Sep 2026 vs MTD-1 01–09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Sep 2026 vs MTD-1 01–09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01–09 Sep 2026 vs MTD-1 01–09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+580,0%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2.171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2.262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01–09 Sep 2026 vs MTD-1 01–09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