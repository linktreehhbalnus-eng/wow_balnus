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  <c:pt idx="13">
                  <c:v>64.0</c:v>
                </c:pt>
                <c:pt idx="14">
                  <c:v>67.0</c:v>
                </c:pt>
                <c:pt idx="15">
                  <c:v>67.0</c:v>
                </c:pt>
                <c:pt idx="16">
                  <c:v>71.0</c:v>
                </c:pt>
                <c:pt idx="17">
                  <c:v>50.0</c:v>
                </c:pt>
                <c:pt idx="18">
                  <c:v>58.0</c:v>
                </c:pt>
                <c:pt idx="19">
                  <c:v>52.0</c:v>
                </c:pt>
                <c:pt idx="20">
                  <c:v>69.0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  <c:pt idx="12">
                  <c:v>16.0</c:v>
                </c:pt>
                <c:pt idx="13">
                  <c:v>16.0</c:v>
                </c:pt>
                <c:pt idx="14">
                  <c:v>21.0</c:v>
                </c:pt>
                <c:pt idx="15">
                  <c:v>21.0</c:v>
                </c:pt>
                <c:pt idx="16">
                  <c:v>21.0</c:v>
                </c:pt>
                <c:pt idx="17">
                  <c:v>19.0</c:v>
                </c:pt>
                <c:pt idx="18">
                  <c:v>18.0</c:v>
                </c:pt>
                <c:pt idx="19">
                  <c:v>19.0</c:v>
                </c:pt>
                <c:pt idx="20">
                  <c:v>23.0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12.0</c:v>
                </c:pt>
                <c:pt idx="12">
                  <c:v>13.0</c:v>
                </c:pt>
                <c:pt idx="13">
                  <c:v>20.0</c:v>
                </c:pt>
                <c:pt idx="14">
                  <c:v>17.0</c:v>
                </c:pt>
                <c:pt idx="15">
                  <c:v>17.0</c:v>
                </c:pt>
                <c:pt idx="16">
                  <c:v>17.0</c:v>
                </c:pt>
                <c:pt idx="17">
                  <c:v>13.0</c:v>
                </c:pt>
                <c:pt idx="18">
                  <c:v>11.0</c:v>
                </c:pt>
                <c:pt idx="19">
                  <c:v>12.0</c:v>
                </c:pt>
                <c:pt idx="20">
                  <c:v>19.0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  <c:pt idx="12">
                  <c:v>12.0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18.0</c:v>
                </c:pt>
                <c:pt idx="17">
                  <c:v>11.0</c:v>
                </c:pt>
                <c:pt idx="18">
                  <c:v>16.0</c:v>
                </c:pt>
                <c:pt idx="19">
                  <c:v>12.0</c:v>
                </c:pt>
                <c:pt idx="20">
                  <c:v>14.0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Sheet1!$F$2:$F$22</c:f>
              <c:numCache>
                <c:formatCode>General</c:formatCode>
                <c:ptCount val="21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13.0</c:v>
                </c:pt>
                <c:pt idx="15">
                  <c:v>13.0</c:v>
                </c:pt>
                <c:pt idx="16">
                  <c:v>16.0</c:v>
                </c:pt>
                <c:pt idx="17">
                  <c:v>7.0</c:v>
                </c:pt>
                <c:pt idx="18">
                  <c:v>13.0</c:v>
                </c:pt>
                <c:pt idx="19">
                  <c:v>10.0</c:v>
                </c:pt>
                <c:pt idx="20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  <c:pt idx="13">
                  <c:v>51.0</c:v>
                </c:pt>
                <c:pt idx="14">
                  <c:v>58.0</c:v>
                </c:pt>
                <c:pt idx="15">
                  <c:v>59.0</c:v>
                </c:pt>
                <c:pt idx="16">
                  <c:v>59.0</c:v>
                </c:pt>
                <c:pt idx="17">
                  <c:v>55.0</c:v>
                </c:pt>
                <c:pt idx="18">
                  <c:v>46.0</c:v>
                </c:pt>
                <c:pt idx="19">
                  <c:v>52.0</c:v>
                </c:pt>
                <c:pt idx="20">
                  <c:v>55.0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  <c:pt idx="12">
                  <c:v>16.0</c:v>
                </c:pt>
                <c:pt idx="13">
                  <c:v>15.0</c:v>
                </c:pt>
                <c:pt idx="14">
                  <c:v>15.0</c:v>
                </c:pt>
                <c:pt idx="15">
                  <c:v>17.0</c:v>
                </c:pt>
                <c:pt idx="16">
                  <c:v>18.0</c:v>
                </c:pt>
                <c:pt idx="17">
                  <c:v>14.0</c:v>
                </c:pt>
                <c:pt idx="18">
                  <c:v>15.0</c:v>
                </c:pt>
                <c:pt idx="19">
                  <c:v>16.0</c:v>
                </c:pt>
                <c:pt idx="20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  <c:pt idx="12">
                  <c:v>13.0</c:v>
                </c:pt>
                <c:pt idx="13">
                  <c:v>13.0</c:v>
                </c:pt>
                <c:pt idx="14">
                  <c:v>18.0</c:v>
                </c:pt>
                <c:pt idx="15">
                  <c:v>15.0</c:v>
                </c:pt>
                <c:pt idx="16">
                  <c:v>14.0</c:v>
                </c:pt>
                <c:pt idx="17">
                  <c:v>16.0</c:v>
                </c:pt>
                <c:pt idx="18">
                  <c:v>12.0</c:v>
                </c:pt>
                <c:pt idx="19">
                  <c:v>10.0</c:v>
                </c:pt>
                <c:pt idx="20">
                  <c:v>10.0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  <c:pt idx="12">
                  <c:v>11.0</c:v>
                </c:pt>
                <c:pt idx="13">
                  <c:v>14.0</c:v>
                </c:pt>
                <c:pt idx="14">
                  <c:v>12.0</c:v>
                </c:pt>
                <c:pt idx="15">
                  <c:v>15.0</c:v>
                </c:pt>
                <c:pt idx="16">
                  <c:v>17.0</c:v>
                </c:pt>
                <c:pt idx="17">
                  <c:v>17.0</c:v>
                </c:pt>
                <c:pt idx="18">
                  <c:v>10.0</c:v>
                </c:pt>
                <c:pt idx="19">
                  <c:v>17.0</c:v>
                </c:pt>
                <c:pt idx="20">
                  <c:v>16.0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</c:strCache>
            </c:strRef>
          </c:cat>
          <c:val>
            <c:numRef>
              <c:f>Sheet1!$F$2:$F$22</c:f>
              <c:numCache>
                <c:formatCode>General</c:formatCode>
                <c:ptCount val="21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  <c:pt idx="12">
                  <c:v>5.0</c:v>
                </c:pt>
                <c:pt idx="13">
                  <c:v>9.0</c:v>
                </c:pt>
                <c:pt idx="14">
                  <c:v>13.0</c:v>
                </c:pt>
                <c:pt idx="15">
                  <c:v>12.0</c:v>
                </c:pt>
                <c:pt idx="16">
                  <c:v>10.0</c:v>
                </c:pt>
                <c:pt idx="17">
                  <c:v>8.0</c:v>
                </c:pt>
                <c:pt idx="18">
                  <c:v>10.0</c:v>
                </c:pt>
                <c:pt idx="19">
                  <c:v>9.0</c:v>
                </c:pt>
                <c:pt idx="20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1.682,7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1.283,2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223   Δ -4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215   Δ -9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188   Δ 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5.405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+15,0%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4.701   Δ 704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1.560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+18,8%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167 / 310 (53,9%)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-9,2% | Turun 107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206 / 351 (58,7%)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-5,1% | Turun 129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 / 68 (57,4%)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-15,2%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49 / 80 (61,3%)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-14,0%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 / 85 (56,5%)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56 / 93 (60,2%)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-8,2%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 / 80 (46,2%)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-5,1%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50 / 93 (53,8%)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-2,0%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 / 77 (55,8%)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-4,4%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 / 85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968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+428,6%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1.998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 / 20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28 / 310 (9,0%)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107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53 / 351 (15,1%)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-3,6% | Turun 129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68 (16,2%)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80 (21,2%)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85 (7,1%)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93 (14,0%)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-18,8%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80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93 (15,1%)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+7,7%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77 (7,8%)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85 (10,6%)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2.417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2.492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31.994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462 (13,8%)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1.370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242 (47,0%)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807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447,4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219 | MoM -1,8%
PS: 206 | MoM -4,2%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180 | Active 58,1% | MoM -2,7%
  PS: 167 | Active 53,9% | MoM -6,2%
• Greenfield
  RE: 19 | Active 95,0% | MoM +11,8%
  PS: 19 | Active 95,0% | MoM +18,8%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-66,7%, Gap -4
• Grapari Jimbaran: PS +41,7%, Gap 5
• Grapari Kuta: PS +200,0%, Gap 4
• Grapari Negara: PS +100,0%,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-12,9%, Gap -4
• Grapari Singaraja: PS -20,0%, Gap -1
• Grapari Tabanan: PS -16,7%, Gap -1
• Grapari Ubud: PS +57,1%, Gap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-72 (-11,3%), PS -64 (-11,9%)
• Bali Timur: RE 7 (+1,7%), PS -29 (-8,5%)
• Bali Tengah 2: RE -55 (-8,3%), PS -22 (-4,1%)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-44 (-41,1%), PS -32 (-38,6%)
• Bali Tengah 1: RE -14 (-19,2%), PS -10 (-18,5%)
• Bali Barat: RE -14 (-36,8%), PS -8 (-40,0%)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-7 (-46,7%), PS -3 (-60,0%)
• Bali Tengah 1: RE 3 (+21,4%), PS -3 (-27,3%)
• Bali Timur: RE 1 (+9,1%), PS -3 (-37,5%)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470,7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447,9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 SUSILAWATI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PUTRA SANJAYA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TINA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Gde Agung Adhiaksa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Linda Ariyani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AZRILFIAN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Sep 2026 vs MTD-1 01–21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Zulkarnain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WYN ARYANITI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