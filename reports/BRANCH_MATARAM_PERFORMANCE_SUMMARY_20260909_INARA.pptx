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136   Δ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131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1.608   Δ 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(13,0%)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197 (39,5%)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3621024"/>
            <a:ext cx="544982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SF Active Total: RE 150 (+10,3%) | PS 137 (+4,6%)
Performer: RE 1 100,0% (0,0%) | PS 1 100,0% (0,0%)
Junior: RE 126 59,7% (+9,6%) | PS 114 54,0% (+3,6%)
Greenfield: RE 13 81,2% (+30,0%) | PS 12 75,0% (+20,0%)
Junior Plus: RE 10 100,0% (0,0%) | PS 10 100,0% (0,0%)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182112"/>
            <a:ext cx="5705856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1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Bima: PS +6,7%, Gap 1
Grapari Dompu: PS +150,0%, Gap 3
Grapari Lombok Timur: PS -100,0%, Gap -1
Grapari Lombok Utara: PS 0,0%, Gap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621024"/>
            <a:ext cx="2660904" cy="98755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20" b="0" i="0">
                <a:solidFill>
                  <a:srgbClr val="20252B"/>
                </a:solidFill>
                <a:latin typeface="Arial"/>
              </a:rPr>
              <a:t>Grapari Maluk: PS -100,0%, Gap -1
Grapari Mataram: PS +4,3%, Gap 1
Grapari Sumbawa: PS +50,0%, Gap 2
Grapari Taliwang: PS -100,0%, Gap 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Sumbawa Barat - Sumbawa Timur: RE -1 (-8,3%), PS -2 (-28,6%)
Lombok: RE -2 (-50,0%), PS -1 (-33,3%)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4892040"/>
            <a:ext cx="2788920" cy="126187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4974336"/>
            <a:ext cx="2606039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321808"/>
            <a:ext cx="2569463" cy="658368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740" b="0" i="0">
                <a:solidFill>
                  <a:srgbClr val="20252B"/>
                </a:solidFill>
                <a:latin typeface="Arial"/>
              </a:rPr>
              <a:t>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ALVIN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01–09 Sep 2026 vs MTD-1 01–09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