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Mataram</c:v>
                </c:pt>
              </c:strCache>
            </c:strRef>
          </c:tx>
          <c:spPr>
            <a:ln w="31750"/>
          </c:spPr>
          <c:marker>
            <c:size val="6"/>
          </c:marker>
          <c:dLbls>
            <c:txPr>
              <a:bodyPr/>
              <a:lstStyle/>
              <a:p>
                <a:pPr>
                  <a:defRPr sz="8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Sheet1!$A$2:$A$14</c:f>
              <c:strCache>
                <c:ptCount val="13"/>
                <c:pt idx="0">
                  <c:v>01 Sep</c:v>
                </c:pt>
                <c:pt idx="1">
                  <c:v>02 Sep</c:v>
                </c:pt>
                <c:pt idx="2">
                  <c:v>03 Sep</c:v>
                </c:pt>
                <c:pt idx="3">
                  <c:v>04 Sep</c:v>
                </c:pt>
                <c:pt idx="4">
                  <c:v>05 Sep</c:v>
                </c:pt>
                <c:pt idx="5">
                  <c:v>06 Sep</c:v>
                </c:pt>
                <c:pt idx="6">
                  <c:v>07 Sep</c:v>
                </c:pt>
                <c:pt idx="7">
                  <c:v>08 Sep</c:v>
                </c:pt>
                <c:pt idx="8">
                  <c:v>09 Sep</c:v>
                </c:pt>
                <c:pt idx="9">
                  <c:v>10 Sep</c:v>
                </c:pt>
                <c:pt idx="10">
                  <c:v>11 Sep</c:v>
                </c:pt>
                <c:pt idx="11">
                  <c:v>12 Sep</c:v>
                </c:pt>
                <c:pt idx="12">
                  <c:v>13 Sep</c:v>
                </c:pt>
              </c:strCache>
            </c: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60.0</c:v>
                </c:pt>
                <c:pt idx="1">
                  <c:v>57.0</c:v>
                </c:pt>
                <c:pt idx="2">
                  <c:v>49.0</c:v>
                </c:pt>
                <c:pt idx="3">
                  <c:v>49.0</c:v>
                </c:pt>
                <c:pt idx="4">
                  <c:v>49.0</c:v>
                </c:pt>
                <c:pt idx="5">
                  <c:v>38.0</c:v>
                </c:pt>
                <c:pt idx="6">
                  <c:v>59.0</c:v>
                </c:pt>
                <c:pt idx="7">
                  <c:v>61.0</c:v>
                </c:pt>
                <c:pt idx="8">
                  <c:v>48.0</c:v>
                </c:pt>
                <c:pt idx="9">
                  <c:v>51.0</c:v>
                </c:pt>
                <c:pt idx="10">
                  <c:v>57.0</c:v>
                </c:pt>
                <c:pt idx="11">
                  <c:v>51.0</c:v>
                </c:pt>
                <c:pt idx="12">
                  <c:v>32.0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Lombok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Sheet1!$A$2:$A$14</c:f>
              <c:strCache>
                <c:ptCount val="13"/>
                <c:pt idx="0">
                  <c:v>01 Sep</c:v>
                </c:pt>
                <c:pt idx="1">
                  <c:v>02 Sep</c:v>
                </c:pt>
                <c:pt idx="2">
                  <c:v>03 Sep</c:v>
                </c:pt>
                <c:pt idx="3">
                  <c:v>04 Sep</c:v>
                </c:pt>
                <c:pt idx="4">
                  <c:v>05 Sep</c:v>
                </c:pt>
                <c:pt idx="5">
                  <c:v>06 Sep</c:v>
                </c:pt>
                <c:pt idx="6">
                  <c:v>07 Sep</c:v>
                </c:pt>
                <c:pt idx="7">
                  <c:v>08 Sep</c:v>
                </c:pt>
                <c:pt idx="8">
                  <c:v>09 Sep</c:v>
                </c:pt>
                <c:pt idx="9">
                  <c:v>10 Sep</c:v>
                </c:pt>
                <c:pt idx="10">
                  <c:v>11 Sep</c:v>
                </c:pt>
                <c:pt idx="11">
                  <c:v>12 Sep</c:v>
                </c:pt>
                <c:pt idx="12">
                  <c:v>13 Sep</c:v>
                </c:pt>
              </c:strCache>
            </c:strRef>
          </c:cat>
          <c:val>
            <c:numRef>
              <c:f>Sheet1!$C$2:$C$14</c:f>
              <c:numCache>
                <c:formatCode>General</c:formatCode>
                <c:ptCount val="13"/>
                <c:pt idx="0">
                  <c:v>36.0</c:v>
                </c:pt>
                <c:pt idx="1">
                  <c:v>34.0</c:v>
                </c:pt>
                <c:pt idx="2">
                  <c:v>28.0</c:v>
                </c:pt>
                <c:pt idx="3">
                  <c:v>22.0</c:v>
                </c:pt>
                <c:pt idx="4">
                  <c:v>29.0</c:v>
                </c:pt>
                <c:pt idx="5">
                  <c:v>23.0</c:v>
                </c:pt>
                <c:pt idx="6">
                  <c:v>36.0</c:v>
                </c:pt>
                <c:pt idx="7">
                  <c:v>28.0</c:v>
                </c:pt>
                <c:pt idx="8">
                  <c:v>31.0</c:v>
                </c:pt>
                <c:pt idx="9">
                  <c:v>35.0</c:v>
                </c:pt>
                <c:pt idx="10">
                  <c:v>26.0</c:v>
                </c:pt>
                <c:pt idx="11">
                  <c:v>28.0</c:v>
                </c:pt>
                <c:pt idx="12">
                  <c:v>21.0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Sumbawa Barat - Sumbawa Timur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Sheet1!$A$2:$A$14</c:f>
              <c:strCache>
                <c:ptCount val="13"/>
                <c:pt idx="0">
                  <c:v>01 Sep</c:v>
                </c:pt>
                <c:pt idx="1">
                  <c:v>02 Sep</c:v>
                </c:pt>
                <c:pt idx="2">
                  <c:v>03 Sep</c:v>
                </c:pt>
                <c:pt idx="3">
                  <c:v>04 Sep</c:v>
                </c:pt>
                <c:pt idx="4">
                  <c:v>05 Sep</c:v>
                </c:pt>
                <c:pt idx="5">
                  <c:v>06 Sep</c:v>
                </c:pt>
                <c:pt idx="6">
                  <c:v>07 Sep</c:v>
                </c:pt>
                <c:pt idx="7">
                  <c:v>08 Sep</c:v>
                </c:pt>
                <c:pt idx="8">
                  <c:v>09 Sep</c:v>
                </c:pt>
                <c:pt idx="9">
                  <c:v>10 Sep</c:v>
                </c:pt>
                <c:pt idx="10">
                  <c:v>11 Sep</c:v>
                </c:pt>
                <c:pt idx="11">
                  <c:v>12 Sep</c:v>
                </c:pt>
                <c:pt idx="12">
                  <c:v>13 Sep</c:v>
                </c:pt>
              </c:strCache>
            </c:strRef>
          </c:cat>
          <c:val>
            <c:numRef>
              <c:f>Sheet1!$D$2:$D$14</c:f>
              <c:numCache>
                <c:formatCode>General</c:formatCode>
                <c:ptCount val="13"/>
                <c:pt idx="0">
                  <c:v>24.0</c:v>
                </c:pt>
                <c:pt idx="1">
                  <c:v>23.0</c:v>
                </c:pt>
                <c:pt idx="2">
                  <c:v>21.0</c:v>
                </c:pt>
                <c:pt idx="3">
                  <c:v>27.0</c:v>
                </c:pt>
                <c:pt idx="4">
                  <c:v>20.0</c:v>
                </c:pt>
                <c:pt idx="5">
                  <c:v>15.0</c:v>
                </c:pt>
                <c:pt idx="6">
                  <c:v>23.0</c:v>
                </c:pt>
                <c:pt idx="7">
                  <c:v>33.0</c:v>
                </c:pt>
                <c:pt idx="8">
                  <c:v>17.0</c:v>
                </c:pt>
                <c:pt idx="9">
                  <c:v>16.0</c:v>
                </c:pt>
                <c:pt idx="10">
                  <c:v>31.0</c:v>
                </c:pt>
                <c:pt idx="11">
                  <c:v>23.0</c:v>
                </c:pt>
                <c:pt idx="12">
                  <c:v>11.0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9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Mataram</c:v>
                </c:pt>
              </c:strCache>
            </c:strRef>
          </c:tx>
          <c:spPr>
            <a:ln w="31750"/>
          </c:spPr>
          <c:marker>
            <c:size val="6"/>
          </c:marker>
          <c:dLbls>
            <c:txPr>
              <a:bodyPr/>
              <a:lstStyle/>
              <a:p>
                <a:pPr>
                  <a:defRPr sz="8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Sheet1!$A$2:$A$14</c:f>
              <c:strCache>
                <c:ptCount val="13"/>
                <c:pt idx="0">
                  <c:v>01 Sep</c:v>
                </c:pt>
                <c:pt idx="1">
                  <c:v>02 Sep</c:v>
                </c:pt>
                <c:pt idx="2">
                  <c:v>03 Sep</c:v>
                </c:pt>
                <c:pt idx="3">
                  <c:v>04 Sep</c:v>
                </c:pt>
                <c:pt idx="4">
                  <c:v>05 Sep</c:v>
                </c:pt>
                <c:pt idx="5">
                  <c:v>06 Sep</c:v>
                </c:pt>
                <c:pt idx="6">
                  <c:v>07 Sep</c:v>
                </c:pt>
                <c:pt idx="7">
                  <c:v>08 Sep</c:v>
                </c:pt>
                <c:pt idx="8">
                  <c:v>09 Sep</c:v>
                </c:pt>
                <c:pt idx="9">
                  <c:v>10 Sep</c:v>
                </c:pt>
                <c:pt idx="10">
                  <c:v>11 Sep</c:v>
                </c:pt>
                <c:pt idx="11">
                  <c:v>12 Sep</c:v>
                </c:pt>
                <c:pt idx="12">
                  <c:v>13 Sep</c:v>
                </c:pt>
              </c:strCache>
            </c: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44.0</c:v>
                </c:pt>
                <c:pt idx="1">
                  <c:v>44.0</c:v>
                </c:pt>
                <c:pt idx="2">
                  <c:v>40.0</c:v>
                </c:pt>
                <c:pt idx="3">
                  <c:v>34.0</c:v>
                </c:pt>
                <c:pt idx="4">
                  <c:v>34.0</c:v>
                </c:pt>
                <c:pt idx="5">
                  <c:v>21.0</c:v>
                </c:pt>
                <c:pt idx="6">
                  <c:v>44.0</c:v>
                </c:pt>
                <c:pt idx="7">
                  <c:v>56.0</c:v>
                </c:pt>
                <c:pt idx="8">
                  <c:v>54.0</c:v>
                </c:pt>
                <c:pt idx="9">
                  <c:v>38.0</c:v>
                </c:pt>
                <c:pt idx="10">
                  <c:v>33.0</c:v>
                </c:pt>
                <c:pt idx="11">
                  <c:v>43.0</c:v>
                </c:pt>
                <c:pt idx="12">
                  <c:v>25.0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Lombok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Sheet1!$A$2:$A$14</c:f>
              <c:strCache>
                <c:ptCount val="13"/>
                <c:pt idx="0">
                  <c:v>01 Sep</c:v>
                </c:pt>
                <c:pt idx="1">
                  <c:v>02 Sep</c:v>
                </c:pt>
                <c:pt idx="2">
                  <c:v>03 Sep</c:v>
                </c:pt>
                <c:pt idx="3">
                  <c:v>04 Sep</c:v>
                </c:pt>
                <c:pt idx="4">
                  <c:v>05 Sep</c:v>
                </c:pt>
                <c:pt idx="5">
                  <c:v>06 Sep</c:v>
                </c:pt>
                <c:pt idx="6">
                  <c:v>07 Sep</c:v>
                </c:pt>
                <c:pt idx="7">
                  <c:v>08 Sep</c:v>
                </c:pt>
                <c:pt idx="8">
                  <c:v>09 Sep</c:v>
                </c:pt>
                <c:pt idx="9">
                  <c:v>10 Sep</c:v>
                </c:pt>
                <c:pt idx="10">
                  <c:v>11 Sep</c:v>
                </c:pt>
                <c:pt idx="11">
                  <c:v>12 Sep</c:v>
                </c:pt>
                <c:pt idx="12">
                  <c:v>13 Sep</c:v>
                </c:pt>
              </c:strCache>
            </c:strRef>
          </c:cat>
          <c:val>
            <c:numRef>
              <c:f>Sheet1!$C$2:$C$14</c:f>
              <c:numCache>
                <c:formatCode>General</c:formatCode>
                <c:ptCount val="13"/>
                <c:pt idx="0">
                  <c:v>23.0</c:v>
                </c:pt>
                <c:pt idx="1">
                  <c:v>29.0</c:v>
                </c:pt>
                <c:pt idx="2">
                  <c:v>23.0</c:v>
                </c:pt>
                <c:pt idx="3">
                  <c:v>18.0</c:v>
                </c:pt>
                <c:pt idx="4">
                  <c:v>19.0</c:v>
                </c:pt>
                <c:pt idx="5">
                  <c:v>12.0</c:v>
                </c:pt>
                <c:pt idx="6">
                  <c:v>32.0</c:v>
                </c:pt>
                <c:pt idx="7">
                  <c:v>29.0</c:v>
                </c:pt>
                <c:pt idx="8">
                  <c:v>31.0</c:v>
                </c:pt>
                <c:pt idx="9">
                  <c:v>19.0</c:v>
                </c:pt>
                <c:pt idx="10">
                  <c:v>21.0</c:v>
                </c:pt>
                <c:pt idx="11">
                  <c:v>25.0</c:v>
                </c:pt>
                <c:pt idx="12">
                  <c:v>18.0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Sumbawa Barat - Sumbawa Timur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Sheet1!$A$2:$A$14</c:f>
              <c:strCache>
                <c:ptCount val="13"/>
                <c:pt idx="0">
                  <c:v>01 Sep</c:v>
                </c:pt>
                <c:pt idx="1">
                  <c:v>02 Sep</c:v>
                </c:pt>
                <c:pt idx="2">
                  <c:v>03 Sep</c:v>
                </c:pt>
                <c:pt idx="3">
                  <c:v>04 Sep</c:v>
                </c:pt>
                <c:pt idx="4">
                  <c:v>05 Sep</c:v>
                </c:pt>
                <c:pt idx="5">
                  <c:v>06 Sep</c:v>
                </c:pt>
                <c:pt idx="6">
                  <c:v>07 Sep</c:v>
                </c:pt>
                <c:pt idx="7">
                  <c:v>08 Sep</c:v>
                </c:pt>
                <c:pt idx="8">
                  <c:v>09 Sep</c:v>
                </c:pt>
                <c:pt idx="9">
                  <c:v>10 Sep</c:v>
                </c:pt>
                <c:pt idx="10">
                  <c:v>11 Sep</c:v>
                </c:pt>
                <c:pt idx="11">
                  <c:v>12 Sep</c:v>
                </c:pt>
                <c:pt idx="12">
                  <c:v>13 Sep</c:v>
                </c:pt>
              </c:strCache>
            </c:strRef>
          </c:cat>
          <c:val>
            <c:numRef>
              <c:f>Sheet1!$D$2:$D$14</c:f>
              <c:numCache>
                <c:formatCode>General</c:formatCode>
                <c:ptCount val="13"/>
                <c:pt idx="0">
                  <c:v>21.0</c:v>
                </c:pt>
                <c:pt idx="1">
                  <c:v>15.0</c:v>
                </c:pt>
                <c:pt idx="2">
                  <c:v>17.0</c:v>
                </c:pt>
                <c:pt idx="3">
                  <c:v>16.0</c:v>
                </c:pt>
                <c:pt idx="4">
                  <c:v>15.0</c:v>
                </c:pt>
                <c:pt idx="5">
                  <c:v>9.0</c:v>
                </c:pt>
                <c:pt idx="6">
                  <c:v>12.0</c:v>
                </c:pt>
                <c:pt idx="7">
                  <c:v>27.0</c:v>
                </c:pt>
                <c:pt idx="8">
                  <c:v>23.0</c:v>
                </c:pt>
                <c:pt idx="9">
                  <c:v>19.0</c:v>
                </c:pt>
                <c:pt idx="10">
                  <c:v>12.0</c:v>
                </c:pt>
                <c:pt idx="11">
                  <c:v>18.0</c:v>
                </c:pt>
                <c:pt idx="12">
                  <c:v>7.0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9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Mataram Area &amp; Product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01–13 Sep 2026 vs MTD-1 01–13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Mataram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Branch Performance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33271"/>
          <a:ext cx="5394957" cy="941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1824"/>
                <a:gridCol w="683868"/>
                <a:gridCol w="683868"/>
                <a:gridCol w="683868"/>
                <a:gridCol w="835838"/>
                <a:gridCol w="759853"/>
                <a:gridCol w="835838"/>
              </a:tblGrid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Metric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Target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1.014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1.145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+12,9%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2.623,1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43,7%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1.478,1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800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808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2.094,1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38,6%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1.286,1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011680"/>
            <a:ext cx="53949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Target Branch = agregasi target 2 WOK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2221992"/>
          <a:ext cx="5394958" cy="3017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7331"/>
                <a:gridCol w="1412965"/>
                <a:gridCol w="1412965"/>
                <a:gridCol w="1241697"/>
              </a:tblGrid>
              <a:tr h="30175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to RE Ratio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MTD-1: 78,9%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MTD: 70,6%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-8,3 pp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144768" y="749808"/>
            <a:ext cx="57150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RE &amp; PS Performance by Speed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144768" y="1033271"/>
          <a:ext cx="5714998" cy="1783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66630"/>
                <a:gridCol w="559076"/>
                <a:gridCol w="559076"/>
                <a:gridCol w="559076"/>
                <a:gridCol w="559076"/>
                <a:gridCol w="559076"/>
                <a:gridCol w="559076"/>
                <a:gridCol w="434836"/>
                <a:gridCol w="559076"/>
              </a:tblGrid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Speed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Kontrib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274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259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222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158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-28,8%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61,0%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19,6%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282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275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191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-12,8%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69,5%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23,6%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122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+29,8%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62,3%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+167,9%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173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+193,2%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79,7%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21,4%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258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267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206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77,2%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25,5%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3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-69,2%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3054096"/>
            <a:ext cx="987552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WOK Performance — seluruh WOK Mataram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320040" y="3337560"/>
          <a:ext cx="9646911" cy="9326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5727"/>
                <a:gridCol w="742070"/>
                <a:gridCol w="742070"/>
                <a:gridCol w="742070"/>
                <a:gridCol w="742070"/>
                <a:gridCol w="816277"/>
                <a:gridCol w="742070"/>
                <a:gridCol w="742070"/>
                <a:gridCol w="742070"/>
                <a:gridCol w="742070"/>
                <a:gridCol w="816277"/>
                <a:gridCol w="74207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551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+11,6%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45,8%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726,9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442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466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43,5%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605,3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75,8%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463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530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+14,5%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41,4%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751,2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358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342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33,4%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680,8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64,5%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320040" y="4517136"/>
            <a:ext cx="115214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D.  Kabupaten Performance — Top 3 &amp; Bottom 3 by MoM 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" y="4800599"/>
            <a:ext cx="539496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37D3F"/>
                </a:solidFill>
                <a:latin typeface="Arial"/>
              </a:rPr>
              <a:t>Top 3 (MoM PS Tertinggi)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27648" y="4800599"/>
            <a:ext cx="539496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D73527"/>
                </a:solidFill>
                <a:latin typeface="Arial"/>
              </a:rPr>
              <a:t>Bottom 3 (MoM PS Terendah)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320040" y="5010912"/>
          <a:ext cx="5559550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25378"/>
                <a:gridCol w="958543"/>
                <a:gridCol w="958543"/>
                <a:gridCol w="958543"/>
                <a:gridCol w="958543"/>
              </a:tblGrid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Kabupaten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Bima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33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+55,0%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Lombok Tengah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19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+41,3%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Lombok Utara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+36,0%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6327648" y="5010912"/>
          <a:ext cx="5541262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9702"/>
                <a:gridCol w="955390"/>
                <a:gridCol w="955390"/>
                <a:gridCol w="955390"/>
                <a:gridCol w="955390"/>
              </a:tblGrid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Kabupaten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Sumbawa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-9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-34,6%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Kota Bima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128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-38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-29,7%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Lombok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-12,5%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Mataram Sales Force &amp; DJP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01–13 Sep 2026 vs MTD-1 01–13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Mataram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Sales Force Scorecard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60" y="749808"/>
            <a:ext cx="23317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000" b="0" i="1">
                <a:solidFill>
                  <a:srgbClr val="687386"/>
                </a:solidFill>
                <a:latin typeface="Arial"/>
              </a:rPr>
              <a:t>Registered SF: 238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8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166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20240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137D3F"/>
                </a:solidFill>
                <a:latin typeface="Arial"/>
              </a:rPr>
              <a:t>+7,8%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154   Δ 12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27832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37560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37560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155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28032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137D3F"/>
                </a:solidFill>
                <a:latin typeface="Arial"/>
              </a:rPr>
              <a:t>+2,6%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37560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151   Δ 4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35624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45352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DJP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45352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157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35824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137D3F"/>
                </a:solidFill>
                <a:latin typeface="Arial"/>
              </a:rPr>
              <a:t>+45,4%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45352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108   Δ 49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043416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53144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Aktivitas DJP — Total Visit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53144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2.756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43616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137D3F"/>
                </a:solidFill>
                <a:latin typeface="Arial"/>
              </a:rPr>
              <a:t>+4,0%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53144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2.650   Δ 106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0040" y="2221992"/>
            <a:ext cx="10058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SF Active &amp; DJP by WOK</a:t>
            </a:r>
          </a:p>
        </p:txBody>
      </p:sp>
      <p:graphicFrame>
        <p:nvGraphicFramePr>
          <p:cNvPr id="30" name="Table 29"/>
          <p:cNvGraphicFramePr>
            <a:graphicFrameLocks noGrp="1"/>
          </p:cNvGraphicFramePr>
          <p:nvPr/>
        </p:nvGraphicFramePr>
        <p:xfrm>
          <a:off x="320040" y="2505456"/>
          <a:ext cx="11548867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98708"/>
                <a:gridCol w="661194"/>
                <a:gridCol w="749354"/>
                <a:gridCol w="749354"/>
                <a:gridCol w="749354"/>
                <a:gridCol w="749354"/>
                <a:gridCol w="749354"/>
                <a:gridCol w="749354"/>
                <a:gridCol w="749354"/>
                <a:gridCol w="749354"/>
                <a:gridCol w="749354"/>
                <a:gridCol w="881593"/>
                <a:gridCol w="881593"/>
                <a:gridCol w="881593"/>
              </a:tblGrid>
              <a:tr h="320040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Reg.</a:t>
                      </a:r>
                    </a:p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3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SF Active 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3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SF Active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6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DJP Activity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20040">
                <a:tc vMerge="1">
                  <a:txBody>
                    <a:bodyPr/>
                    <a:lstStyle/>
                    <a:p/>
                  </a:txBody>
                  <a:tcPr/>
                </a:tc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Active SF</a:t>
                      </a:r>
                    </a:p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Active SF</a:t>
                      </a:r>
                    </a:p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Visit</a:t>
                      </a:r>
                    </a:p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Visit</a:t>
                      </a:r>
                    </a:p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004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146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87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95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137D3F"/>
                          </a:solidFill>
                          <a:latin typeface="Arial"/>
                        </a:rPr>
                        <a:t>+9,2%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86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89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137D3F"/>
                          </a:solidFill>
                          <a:latin typeface="Arial"/>
                        </a:rPr>
                        <a:t>+3,5%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51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85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137D3F"/>
                          </a:solidFill>
                          <a:latin typeface="Arial"/>
                        </a:rPr>
                        <a:t>+66,7%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1.278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1.066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D73527"/>
                          </a:solidFill>
                          <a:latin typeface="Arial"/>
                        </a:rPr>
                        <a:t>-16,6%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004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92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67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71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137D3F"/>
                          </a:solidFill>
                          <a:latin typeface="Arial"/>
                        </a:rPr>
                        <a:t>+6,0%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65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66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137D3F"/>
                          </a:solidFill>
                          <a:latin typeface="Arial"/>
                        </a:rPr>
                        <a:t>+1,5%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57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72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137D3F"/>
                          </a:solidFill>
                          <a:latin typeface="Arial"/>
                        </a:rPr>
                        <a:t>+26,3%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1.372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1.690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137D3F"/>
                          </a:solidFill>
                          <a:latin typeface="Arial"/>
                        </a:rPr>
                        <a:t>+23,2%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1" name="TextBox 30"/>
          <p:cNvSpPr txBox="1"/>
          <p:nvPr/>
        </p:nvSpPr>
        <p:spPr>
          <a:xfrm>
            <a:off x="320040" y="4133088"/>
            <a:ext cx="9601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SF Active RE &amp; PS by Speed — Branch Mataram</a:t>
            </a:r>
          </a:p>
        </p:txBody>
      </p:sp>
      <p:graphicFrame>
        <p:nvGraphicFramePr>
          <p:cNvPr id="32" name="Table 31"/>
          <p:cNvGraphicFramePr>
            <a:graphicFrameLocks noGrp="1"/>
          </p:cNvGraphicFramePr>
          <p:nvPr/>
        </p:nvGraphicFramePr>
        <p:xfrm>
          <a:off x="320040" y="4407408"/>
          <a:ext cx="7680955" cy="1417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51819"/>
                <a:gridCol w="908500"/>
                <a:gridCol w="908500"/>
                <a:gridCol w="743318"/>
                <a:gridCol w="908500"/>
                <a:gridCol w="908500"/>
                <a:gridCol w="743318"/>
                <a:gridCol w="908500"/>
              </a:tblGrid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Speed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per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-17,5%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-11,0%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-17,9%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+33,3%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+7,7%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+82,9%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+114,3%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+14,8%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+17,9%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3,1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-63,6%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-57,1%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3" name="TextBox 32"/>
          <p:cNvSpPr txBox="1"/>
          <p:nvPr/>
        </p:nvSpPr>
        <p:spPr>
          <a:xfrm>
            <a:off x="320040" y="5861304"/>
            <a:ext cx="8229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SF Active dihitung berdasarkan SF Code unik per kelompok; Aktivitas DJP merupakan total visit.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Mataram SF Class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01–13 Sep 2026 vs MTD-1 01–13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Mataram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22376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SF Active PS per Class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987552"/>
          <a:ext cx="1154887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32004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004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14 / 16 (87,5%)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+16,7% | Turun 7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130 / 211 (61,6%)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64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10 / 10 (100,0%)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5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N/A | Turun 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155 / 238 (65,1%)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+2,0% | Turun 76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004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9 / 11 (81,8%)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+12,5% | Turun 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74 / 129 (57,4%)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+1,4% | Turun 30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5 / 5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N/A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89 / 146 (61,0%)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+3,5% | Turun 38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004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5 / 5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+25,0% | Turun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56 / 82 (68,3%)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-1,8% | Turun 34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5 / 5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66 / 92 (71,7%)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38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386584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PS per Class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2651760"/>
          <a:ext cx="11548870" cy="1115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2788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788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56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+14,3%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513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-0,6%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106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-10,2%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24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699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+2,3%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788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37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+48,0%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292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62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-10,1%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24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415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+7,5%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788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19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-20,8%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221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44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-10,2%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284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-4,4%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3886200"/>
            <a:ext cx="82296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SF Productive per Class (minimum 10 PS)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4151376"/>
          <a:ext cx="1154887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32004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004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 / 16 (6,2%)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7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13 / 211 (6,2%)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+30,0% | Turun 64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5 / 10 (50,0%)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-16,7% | Turun 5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N/A | Turun 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20 / 238 (8,4%)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+17,6% | Turun 76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004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11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10 / 129 (7,8%)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+25,0% | Turun 30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4 / 5 (80,0%)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N/A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15 / 146 (10,3%)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+25,0% | Turun 38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004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5 (20,0%)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3 / 82 (3,7%)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+50,0% | Turun 34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1 / 5 (20,0%)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-50,0% | Turun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5 / 92 (5,4%)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38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5596128"/>
            <a:ext cx="1133856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19" b="0" i="1">
                <a:solidFill>
                  <a:srgbClr val="687386"/>
                </a:solidFill>
                <a:latin typeface="Arial"/>
              </a:rPr>
              <a:t>Active = minimum 1 PS. Turun = jumlah SF dengan PS MTD lebih rendah dibanding MTD-1 pada periode tanggal yang sama.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Mataram Daily SF Active Trend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01–13 Sep 2026 vs MTD-1 01–13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Mataram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86384"/>
            <a:ext cx="55778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SF Active RE Harian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320040" y="1097280"/>
          <a:ext cx="5532120" cy="3246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327648" y="786384"/>
            <a:ext cx="55778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SF Active PS Harian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6327648" y="1097280"/>
          <a:ext cx="5532120" cy="324612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4645152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Ringkasan Produktivitas Harian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4956048"/>
          <a:ext cx="7955277" cy="1188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66049"/>
                <a:gridCol w="1735697"/>
                <a:gridCol w="1108917"/>
                <a:gridCol w="1735697"/>
                <a:gridCol w="1108917"/>
              </a:tblGrid>
              <a:tr h="29718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Avg SF Active RE/Hari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per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Avg SF Active PS/Hari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per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9718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50,8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39,2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9718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29,0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23,0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9718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21,8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16,2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6236208"/>
            <a:ext cx="1133856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1">
                <a:solidFill>
                  <a:srgbClr val="687386"/>
                </a:solidFill>
                <a:latin typeface="Arial"/>
              </a:rPr>
              <a:t>Total Branch merupakan SF Code unik per hari; angka WOK tidak dijumlahkan jika satu SF beraktivitas pada lebih dari satu WOK.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Mataram Channel &amp; ODP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01–13 Sep 2026 vs MTD-1 01–13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Mataram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Agency Performance by WOK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987552"/>
            <a:ext cx="530352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Diurutkan MoM PS tertinggi → terendah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207008"/>
          <a:ext cx="5541260" cy="1115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4957"/>
                <a:gridCol w="667622"/>
                <a:gridCol w="667622"/>
                <a:gridCol w="600859"/>
                <a:gridCol w="667622"/>
                <a:gridCol w="667622"/>
                <a:gridCol w="600859"/>
                <a:gridCol w="534097"/>
              </a:tblGrid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475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544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+14,5%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386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+7,5%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76,3%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362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421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+16,3%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297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284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67,5%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327648" y="7498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Grapari Performance by WOK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27648" y="987552"/>
            <a:ext cx="530352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Diurutkan MoM PS tertinggi → terendah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327648" y="1207008"/>
          <a:ext cx="5541260" cy="1115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4957"/>
                <a:gridCol w="667622"/>
                <a:gridCol w="667622"/>
                <a:gridCol w="600859"/>
                <a:gridCol w="667622"/>
                <a:gridCol w="667622"/>
                <a:gridCol w="600859"/>
                <a:gridCol w="534097"/>
              </a:tblGrid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73,0%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-11,4%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55,4%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2651760"/>
            <a:ext cx="10058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Channel Scorecard — Total Branch Mataram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" y="2944368"/>
            <a:ext cx="53035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02C50"/>
                </a:solidFill>
                <a:latin typeface="Arial"/>
              </a:rPr>
              <a:t>AGENCY TOTAL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320040" y="3209544"/>
          <a:ext cx="5394960" cy="621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9160"/>
                <a:gridCol w="899160"/>
                <a:gridCol w="899160"/>
                <a:gridCol w="899160"/>
                <a:gridCol w="899160"/>
                <a:gridCol w="89916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837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965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+15,3%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683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699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6327648" y="2944368"/>
            <a:ext cx="53035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02C50"/>
                </a:solidFill>
                <a:latin typeface="Arial"/>
              </a:rPr>
              <a:t>GRAPARI TOTAL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6327648" y="3209544"/>
          <a:ext cx="5394960" cy="621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9160"/>
                <a:gridCol w="899160"/>
                <a:gridCol w="899160"/>
                <a:gridCol w="899160"/>
                <a:gridCol w="899160"/>
                <a:gridCol w="89916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92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320040" y="46360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D.  ODP Occupancy Summary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320040" y="4928616"/>
          <a:ext cx="5413243" cy="941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80202"/>
                <a:gridCol w="880202"/>
                <a:gridCol w="880202"/>
                <a:gridCol w="880202"/>
                <a:gridCol w="880202"/>
                <a:gridCol w="1012233"/>
              </a:tblGrid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ORANGE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YELLOW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GREEN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BLACK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 ODP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998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1.928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13.643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1.796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1.442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19.807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5,0%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68,9%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6327648" y="46360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E.  DJP pada ODP Khusus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27648" y="4928616"/>
            <a:ext cx="2779776" cy="143560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55664" y="5056632"/>
            <a:ext cx="246888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D73527"/>
                </a:solidFill>
                <a:latin typeface="Arial"/>
              </a:rPr>
              <a:t>ODP BLACK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55664" y="5404104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Jumlah ODP  1.442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55664" y="5669280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20252B"/>
                </a:solidFill>
                <a:latin typeface="Arial"/>
              </a:rPr>
              <a:t>ODP dikunjungi  313 (21,7%)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55664" y="5916168"/>
            <a:ext cx="12801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687386"/>
                </a:solidFill>
                <a:latin typeface="Arial"/>
              </a:rPr>
              <a:t>Total Visit DJP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36408" y="5870448"/>
            <a:ext cx="10972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400" b="1" i="0">
                <a:solidFill>
                  <a:srgbClr val="D73527"/>
                </a:solidFill>
                <a:latin typeface="Arial"/>
              </a:rPr>
              <a:t>557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272016" y="4928616"/>
            <a:ext cx="2779776" cy="143560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400032" y="5056632"/>
            <a:ext cx="246888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37D3F"/>
                </a:solidFill>
                <a:latin typeface="Arial"/>
              </a:rPr>
              <a:t>ODP GREENFIELD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00032" y="5404104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Jumlah ODP  499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00032" y="5669280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20252B"/>
                </a:solidFill>
                <a:latin typeface="Arial"/>
              </a:rPr>
              <a:t>ODP dikunjungi  305 (61,1%)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00032" y="5916168"/>
            <a:ext cx="12801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687386"/>
                </a:solidFill>
                <a:latin typeface="Arial"/>
              </a:rPr>
              <a:t>Total Visit DJP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780776" y="5870448"/>
            <a:ext cx="10972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400" b="1" i="0">
                <a:solidFill>
                  <a:srgbClr val="137D3F"/>
                </a:solidFill>
                <a:latin typeface="Arial"/>
              </a:rPr>
              <a:t>738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Mataram Performance RE &amp; PS per Channel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01–13 Sep 2026 vs MTD-1 01–13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Mataram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Channel Scorecard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24128"/>
          <a:ext cx="11548867" cy="15727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3834"/>
                <a:gridCol w="1077894"/>
                <a:gridCol w="1077894"/>
                <a:gridCol w="975238"/>
                <a:gridCol w="1077894"/>
                <a:gridCol w="1077894"/>
                <a:gridCol w="975238"/>
                <a:gridCol w="1385864"/>
                <a:gridCol w="1129223"/>
                <a:gridCol w="1077894"/>
              </a:tblGrid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Channel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Rev NS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Rev NS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% Contr.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1.008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1.144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+13,5%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798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808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203,7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Agency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837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965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+15,3%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683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699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175,3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+25,1%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86,5%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Grapari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12,7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-14,0%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Web &amp; Apps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+25,0%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12,7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+16,5%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B2B2C &amp; Others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-14,3%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2,5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+8,6%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Sobi Affiliate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480,0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852928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Kontributor Penurunan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0040" y="3182112"/>
            <a:ext cx="5705856" cy="184708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9768" y="3264408"/>
            <a:ext cx="54864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50" b="1" i="0">
                <a:solidFill>
                  <a:srgbClr val="102C50"/>
                </a:solidFill>
                <a:latin typeface="Arial"/>
              </a:rPr>
              <a:t>Agency SF Class Active (%, MoM)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" y="3602736"/>
            <a:ext cx="2633472" cy="128016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SF ACTIVE TOTAL
RE: 166 | MoM +7,8%
PS: 155 | MoM +2,6%
• Performer
  RE: 1 | Active 100,0% | MoM 0,0%
  PS: 1 | Active 100,0% | MoM 0,0%
• Junior
  RE: 141 | Active 66,8% | MoM +8,5%
  PS: 130 | Active 61,6% | MoM +2,4%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36976" y="3602736"/>
            <a:ext cx="2633472" cy="128016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Greenfield
  RE: 14 | Active 87,5% | MoM +7,7%
  PS: 14 | Active 87,5% | MoM +7,7%
• Junior Plus
  RE: 10 | Active 100,0% | MoM 0,0%
  PS: 10 | Active 100,0% | MoM 0,0%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63055" y="3182112"/>
            <a:ext cx="5705856" cy="184708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72783" y="3264408"/>
            <a:ext cx="54864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50" b="1" i="0">
                <a:solidFill>
                  <a:srgbClr val="102C50"/>
                </a:solidFill>
                <a:latin typeface="Arial"/>
              </a:rPr>
              <a:t>GraPARI Performance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59" y="3621024"/>
            <a:ext cx="2633472" cy="123444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50" b="0" i="0">
                <a:solidFill>
                  <a:srgbClr val="20252B"/>
                </a:solidFill>
                <a:latin typeface="Arial"/>
              </a:rPr>
              <a:t>• Grapari Bima: PS -17,4%, Gap -4
• Grapari Dompu: PS +66,7%, Gap 2
• Grapari Lombok Timur: PS 0,0%, Gap 0
• Grapari Lombok Utara: PS -100,0%, Gap -1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79992" y="3621024"/>
            <a:ext cx="2633472" cy="123444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50" b="0" i="0">
                <a:solidFill>
                  <a:srgbClr val="20252B"/>
                </a:solidFill>
                <a:latin typeface="Arial"/>
              </a:rPr>
              <a:t>• Grapari Maluk: PS -100,0%, Gap -1
• Grapari Mataram: PS -10,3%, Gap -3
• Grapari Sumbawa: PS +20,0%, Gap 1
• Grapari Taliwang: PS -50,0%, Gap -1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20040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11479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Agency per WOK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9768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Sumbawa Barat - Sumbawa Timur: RE 59 (+16,3%), PS -13 (-4,4%)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236976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328416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Web &amp; Apps per WOK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46704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Lombok: RE 1 (+3,6%), PS -1 (-4,5%)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53912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45351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B2B2C &amp; Others per WOK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63640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Sumbawa Barat - Sumbawa Timur: RE -1 (-6,7%), PS -1 (-14,3%)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070848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62288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SOBI Affiliate per WOK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80576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Lombok: RE -3 (-75,0%), PS -1 (-100,0%)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20040" y="6181344"/>
            <a:ext cx="1143000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Gap = perubahan absolut MTD terhadap MTD-1 pada periode tanggal yang sama. Angka dalam kurung menunjukkan MoM.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Mataram Appendix — PS by Speed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01–13 Sep 2026 vs MTD-1 01–13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Mataram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58952"/>
            <a:ext cx="82296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PS by Speed — Total Branch &amp; WOK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78992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93192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93192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222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158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-28,8%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19,6%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191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-12,8%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23,6%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76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76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40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-11,1%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73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-18,9%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15,7%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48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+4,3%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177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-33,3%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34,5%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129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-8,5%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34,5%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-6,7%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3273552"/>
            <a:ext cx="64008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Kelompok Speed Lanjutan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3584448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93192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93192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173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+193,2%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21,4%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206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25,5%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-69,2%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97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+115,6%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20,8%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206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44,2%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-60,0%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76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+442,9%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22,2%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-75,0%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0040" y="5760720"/>
          <a:ext cx="7315197" cy="713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7138"/>
                <a:gridCol w="1405179"/>
                <a:gridCol w="1405179"/>
                <a:gridCol w="1239864"/>
                <a:gridCol w="1487837"/>
              </a:tblGrid>
              <a:tr h="17830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7830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800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808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7830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442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466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7830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358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342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Mataram Appendix — Revenue New Sales by Speed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01–13 Sep 2026 vs MTD-1 01–13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Mataram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58952"/>
            <a:ext cx="82296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Revenue New Sales by Speed — Total Branch &amp; WOK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35240" y="777240"/>
            <a:ext cx="420624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850" b="0" i="1">
                <a:solidFill>
                  <a:srgbClr val="687386"/>
                </a:solidFill>
                <a:latin typeface="Arial"/>
              </a:rPr>
              <a:t>Revenue = total price_package dari PS unik per order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078992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93192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93192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40,6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29,1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-28,3%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14,3%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52,6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45,5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-13,5%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22,3%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20,1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19,9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-0,8%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8,0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7,4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-8,3%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6,7%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21,3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17,2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-19,4%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15,6%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11,9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12,3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11,1%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32,5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21,7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-33,3%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23,2%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31,3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28,3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-9,5%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30,3%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8,1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7,7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-6,0%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320040" y="3273552"/>
            <a:ext cx="64008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Kelompok Speed Lanjutan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0040" y="3584448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93192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93192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22,4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80,0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+257,6%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39,3%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28,9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28,1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13,8%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4,5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-74,1%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17,6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44,8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+154,9%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40,6%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28,9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28,1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25,5%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565,0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-65,4%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4,8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35,2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+633,2%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37,6%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590,0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-79,2%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5760720"/>
          <a:ext cx="7315197" cy="713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7138"/>
                <a:gridCol w="1405179"/>
                <a:gridCol w="1405179"/>
                <a:gridCol w="1239864"/>
                <a:gridCol w="1487837"/>
              </a:tblGrid>
              <a:tr h="17830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7830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168,9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203,7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7830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89,3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110,2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+23,3%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7830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79,6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93,5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+17,4%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Mataram Appendix — Top 10 SF berdasarkan Pertumbuhan RE &amp; 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01–13 Sep 2026 vs MTD-1 01–13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Mataram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Top 10 — Growth 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7648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Top 10 — Growth PS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NISH RINAH HAMIDAH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11,0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+1100,0%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ARIEF RAMADHOAN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+600,0%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Indah lestari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+460,0%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Lalu anggarita arya sukma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IMAM EFENDI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SELLY TRI NOVIASTANTI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SULASTRI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Baiq nilna audia oktapia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Herpan jayadi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Abdul Haris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327648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Utami muji kristina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11,0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Lalu anggarita arya sukma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Indah lestari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 PUTU LINGGAR GERRY KUSUMA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9,0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IMAM EFENDI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NUR UTARI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ASMARAHADI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+233,3%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Ida ayu mega dirgantini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Baiq nilna audia oktapia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Herpan jayadi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5742432"/>
            <a:ext cx="1138428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1">
                <a:solidFill>
                  <a:srgbClr val="687386"/>
                </a:solidFill>
                <a:latin typeface="Arial"/>
              </a:rPr>
              <a:t>Growth (%) dihitung dari volume RE/PS periode berjalan terhadap periode sebelumnya per SF Code. Ranking hanya mencakup SF pada branch ini.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78440" y="6144768"/>
            <a:ext cx="132588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00" b="1" i="0">
                <a:solidFill>
                  <a:srgbClr val="137D3F"/>
                </a:solidFill>
                <a:latin typeface="Arial"/>
              </a:rPr>
              <a:t>Top 10 branch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Mataram Appendix — Bottom 10 SF berdasarkan Pertumbuhan RE &amp; 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01–13 Sep 2026 vs MTD-1 01–13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Mataram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Bottom 10 — Growth 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7648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Bottom 10 — Growth PS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YANTI 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Samsul Hadi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HERNAWATI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HUZAIMATUL HADI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 GST BAGUS AGUNG ADIATMA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Wahdatun aulia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 tarmizi taher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Ibadillah Hish Sholihah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Nuraini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Wiratja atmaja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327648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YANTI 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ERNY JUMRIANTY AGUSTIN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Samsul Hadi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NURJANAH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HUZAIMATUL HADI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 GST BAGUS AGUNG ADIATMA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 tarmizi taher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Ibadillah Hish Sholihah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Nuraini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Wiratja atmaja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5742432"/>
            <a:ext cx="1138428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1">
                <a:solidFill>
                  <a:srgbClr val="687386"/>
                </a:solidFill>
                <a:latin typeface="Arial"/>
              </a:rPr>
              <a:t>Growth (%) dihitung dari volume RE/PS periode berjalan terhadap periode sebelumnya per SF Code. Ranking hanya mencakup SF pada branch ini.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78440" y="6144768"/>
            <a:ext cx="132588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00" b="1" i="0">
                <a:solidFill>
                  <a:srgbClr val="D73527"/>
                </a:solidFill>
                <a:latin typeface="Arial"/>
              </a:rPr>
              <a:t>Bottom 10 branch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