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11/08</c:v>
                </c:pt>
                <c:pt idx="1">
                  <c:v>12/08</c:v>
                </c:pt>
                <c:pt idx="2">
                  <c:v>13/08</c:v>
                </c:pt>
                <c:pt idx="3">
                  <c:v>14/08</c:v>
                </c:pt>
                <c:pt idx="4">
                  <c:v>15/08</c:v>
                </c:pt>
                <c:pt idx="5">
                  <c:v>16/08</c:v>
                </c:pt>
                <c:pt idx="6">
                  <c:v>17/08</c:v>
                </c:pt>
                <c:pt idx="7">
                  <c:v>18/08</c:v>
                </c:pt>
                <c:pt idx="8">
                  <c:v>19/08</c:v>
                </c:pt>
                <c:pt idx="9">
                  <c:v>20/08</c:v>
                </c:pt>
                <c:pt idx="10">
                  <c:v>21/08</c:v>
                </c:pt>
                <c:pt idx="11">
                  <c:v>22/08</c:v>
                </c:pt>
                <c:pt idx="12">
                  <c:v>23/08</c:v>
                </c:pt>
                <c:pt idx="13">
                  <c:v>24/08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320.0</c:v>
                </c:pt>
                <c:pt idx="1">
                  <c:v>325.0</c:v>
                </c:pt>
                <c:pt idx="2">
                  <c:v>270.0</c:v>
                </c:pt>
                <c:pt idx="3">
                  <c:v>263.0</c:v>
                </c:pt>
                <c:pt idx="4">
                  <c:v>214.0</c:v>
                </c:pt>
                <c:pt idx="5">
                  <c:v>214.0</c:v>
                </c:pt>
                <c:pt idx="6">
                  <c:v>218.0</c:v>
                </c:pt>
                <c:pt idx="7">
                  <c:v>358.0</c:v>
                </c:pt>
                <c:pt idx="8">
                  <c:v>297.0</c:v>
                </c:pt>
                <c:pt idx="9">
                  <c:v>303.0</c:v>
                </c:pt>
                <c:pt idx="10">
                  <c:v>358.0</c:v>
                </c:pt>
                <c:pt idx="11">
                  <c:v>316.0</c:v>
                </c:pt>
                <c:pt idx="12">
                  <c:v>211.0</c:v>
                </c:pt>
                <c:pt idx="13">
                  <c:v>343.0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11/08</c:v>
                </c:pt>
                <c:pt idx="1">
                  <c:v>12/08</c:v>
                </c:pt>
                <c:pt idx="2">
                  <c:v>13/08</c:v>
                </c:pt>
                <c:pt idx="3">
                  <c:v>14/08</c:v>
                </c:pt>
                <c:pt idx="4">
                  <c:v>15/08</c:v>
                </c:pt>
                <c:pt idx="5">
                  <c:v>16/08</c:v>
                </c:pt>
                <c:pt idx="6">
                  <c:v>17/08</c:v>
                </c:pt>
                <c:pt idx="7">
                  <c:v>18/08</c:v>
                </c:pt>
                <c:pt idx="8">
                  <c:v>19/08</c:v>
                </c:pt>
                <c:pt idx="9">
                  <c:v>20/08</c:v>
                </c:pt>
                <c:pt idx="10">
                  <c:v>21/08</c:v>
                </c:pt>
                <c:pt idx="11">
                  <c:v>22/08</c:v>
                </c:pt>
                <c:pt idx="12">
                  <c:v>23/08</c:v>
                </c:pt>
                <c:pt idx="13">
                  <c:v>24/08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275.0</c:v>
                </c:pt>
                <c:pt idx="1">
                  <c:v>235.0</c:v>
                </c:pt>
                <c:pt idx="2">
                  <c:v>263.0</c:v>
                </c:pt>
                <c:pt idx="3">
                  <c:v>217.0</c:v>
                </c:pt>
                <c:pt idx="4">
                  <c:v>162.0</c:v>
                </c:pt>
                <c:pt idx="5">
                  <c:v>151.0</c:v>
                </c:pt>
                <c:pt idx="6">
                  <c:v>149.0</c:v>
                </c:pt>
                <c:pt idx="7">
                  <c:v>278.0</c:v>
                </c:pt>
                <c:pt idx="8">
                  <c:v>268.0</c:v>
                </c:pt>
                <c:pt idx="9">
                  <c:v>231.0</c:v>
                </c:pt>
                <c:pt idx="10">
                  <c:v>271.0</c:v>
                </c:pt>
                <c:pt idx="11">
                  <c:v>256.0</c:v>
                </c:pt>
                <c:pt idx="12">
                  <c:v>197.0</c:v>
                </c:pt>
                <c:pt idx="13">
                  <c:v>266.0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-3,1% &amp; PS -4,1% MoM — Achievement Mencapai 60,7% (RE) / 58,1%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01–24 Agu 2026 vs MTD-1 01–24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7.324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11.688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5.903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5.662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RE–PS Melemah Menjelang 24 Agustus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01–24 Agu 2026 vs MTD-1 01–24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01–24 Agustus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11.688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5.662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9.740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 Pendorong Utama PS (-1,1%), Kupang Terdalam (-15,8%)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01–24 Agu 2026 vs MTD-1 01–24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-3,7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-1,1%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-1,2%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-6,5%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-15,8%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63,7%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61,0%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59,6%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44,3%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Lombok Tertinggi (+5,7%), Sumba Terdalam (-16,6%) — 10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01–24 Agu 2026 vs MTD-1 01–24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10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1788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4714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681728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Lombok Tengah Penyumbang PS Absolut Terbesar (+70), Lombok Tengah Tumbuh Tertinggi (+72,9%)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01–24 Agu 2026 vs MTD-1 01–24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+207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38 kabupaten: Top 5 menyumbang +207, Bottom 5 -231, dan perubahan PS regional -241.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(+41,8%), 50 Mbps Turun Terdalam (-24,5%)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01–24 Agu 2026 vs MTD-1 01–24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Naik +6,7%, Aktivitas DJP -2,7% MoM — Registered SF 861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01–24 Agu 2026 vs MTD-1 01–24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Registered 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14.369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Active &amp; DJP by Branch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346704"/>
          <a:ext cx="9262872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640080"/>
                <a:gridCol w="621792"/>
                <a:gridCol w="621792"/>
                <a:gridCol w="594360"/>
                <a:gridCol w="621792"/>
                <a:gridCol w="621792"/>
                <a:gridCol w="594360"/>
                <a:gridCol w="621792"/>
                <a:gridCol w="621792"/>
                <a:gridCol w="594360"/>
                <a:gridCol w="685800"/>
                <a:gridCol w="685800"/>
                <a:gridCol w="64008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5.132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4.201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9.614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56.569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7.185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5.458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83.027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5.458
Dikunjungi: 1.075 (19,7%)
Visit DJP: 2.664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947
Dikunjungi: 668 (70,5%)
Visit DJP: 1.685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01–24 Agu 2026 vs MTD-1 01–24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01–24 Agu 2026 vs MTD-1 01–24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Muhammad Khusairi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KADEK RIDAYANI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PUSPITA 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NURYANTI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lukmanul hakim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LULU KARMILA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NURSIAH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YOHANIS GLORIA INRIJAYA DIRU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YOHANES RADJO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NURSIAH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Muhammad Khusairi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INDAH PUSPITA SARI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KADEK RIDAYANI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ZAENUDDIN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Marianus Hilton Raja reda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Balla panja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YOHANES RADJO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01–24 Agu 2026 vs MTD-1 01–24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ALFANNY KHAIRUNNISA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MOHAMMAD FAISAL ASSEGAF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 PUTU ARIANI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Sri Widiawati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Lalu esa pramudya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FIRMAN HIDAYAT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ABDIL RAHMAN MUSA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KHADIJAH AHLUSSUFFI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HAIRIL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ARI SAPUTRA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ALFANNY KHAIRUNNISA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MOHAMMAD FAISAL ASSEGAF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DODYK SUPRIADI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Sri Widiawati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FIRMAN HIDAYAT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ABDIL RAHMAN MUSA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KHADIJAH AHLUSSUFFI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HAIRIL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PRASDIKA FADKUR ROHMAN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PUTU ARI SAPUTRA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10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01–24 Agu 2026 vs MTD-1 01–24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10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 - 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 - 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 - 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01–24 Agu 2026 vs MTD-1 01–24 Jul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