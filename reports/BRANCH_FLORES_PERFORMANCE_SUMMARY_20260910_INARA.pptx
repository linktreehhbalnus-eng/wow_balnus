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Flores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Sheet1!$A$2:$A$11</c:f>
              <c:strCache>
                <c:ptCount val="10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29.0</c:v>
                </c:pt>
                <c:pt idx="1">
                  <c:v>24.0</c:v>
                </c:pt>
                <c:pt idx="2">
                  <c:v>28.0</c:v>
                </c:pt>
                <c:pt idx="3">
                  <c:v>28.0</c:v>
                </c:pt>
                <c:pt idx="4">
                  <c:v>27.0</c:v>
                </c:pt>
                <c:pt idx="5">
                  <c:v>10.0</c:v>
                </c:pt>
                <c:pt idx="6">
                  <c:v>30.0</c:v>
                </c:pt>
                <c:pt idx="7">
                  <c:v>23.0</c:v>
                </c:pt>
                <c:pt idx="8">
                  <c:v>32.0</c:v>
                </c:pt>
                <c:pt idx="9">
                  <c:v>31.0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Ende Sikka - Flores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Sheet1!$A$2:$A$11</c:f>
              <c:strCache>
                <c:ptCount val="10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17.0</c:v>
                </c:pt>
                <c:pt idx="1">
                  <c:v>13.0</c:v>
                </c:pt>
                <c:pt idx="2">
                  <c:v>18.0</c:v>
                </c:pt>
                <c:pt idx="3">
                  <c:v>18.0</c:v>
                </c:pt>
                <c:pt idx="4">
                  <c:v>21.0</c:v>
                </c:pt>
                <c:pt idx="5">
                  <c:v>4.0</c:v>
                </c:pt>
                <c:pt idx="6">
                  <c:v>19.0</c:v>
                </c:pt>
                <c:pt idx="7">
                  <c:v>15.0</c:v>
                </c:pt>
                <c:pt idx="8">
                  <c:v>18.0</c:v>
                </c:pt>
                <c:pt idx="9">
                  <c:v>18.0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Manggarai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Sheet1!$A$2:$A$11</c:f>
              <c:strCache>
                <c:ptCount val="10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12.0</c:v>
                </c:pt>
                <c:pt idx="1">
                  <c:v>11.0</c:v>
                </c:pt>
                <c:pt idx="2">
                  <c:v>10.0</c:v>
                </c:pt>
                <c:pt idx="3">
                  <c:v>10.0</c:v>
                </c:pt>
                <c:pt idx="4">
                  <c:v>6.0</c:v>
                </c:pt>
                <c:pt idx="5">
                  <c:v>6.0</c:v>
                </c:pt>
                <c:pt idx="6">
                  <c:v>11.0</c:v>
                </c:pt>
                <c:pt idx="7">
                  <c:v>8.0</c:v>
                </c:pt>
                <c:pt idx="8">
                  <c:v>14.0</c:v>
                </c:pt>
                <c:pt idx="9">
                  <c:v>13.0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Flores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Sheet1!$A$2:$A$11</c:f>
              <c:strCache>
                <c:ptCount val="10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20.0</c:v>
                </c:pt>
                <c:pt idx="1">
                  <c:v>26.0</c:v>
                </c:pt>
                <c:pt idx="2">
                  <c:v>24.0</c:v>
                </c:pt>
                <c:pt idx="3">
                  <c:v>25.0</c:v>
                </c:pt>
                <c:pt idx="4">
                  <c:v>15.0</c:v>
                </c:pt>
                <c:pt idx="5">
                  <c:v>15.0</c:v>
                </c:pt>
                <c:pt idx="6">
                  <c:v>19.0</c:v>
                </c:pt>
                <c:pt idx="7">
                  <c:v>10.0</c:v>
                </c:pt>
                <c:pt idx="8">
                  <c:v>30.0</c:v>
                </c:pt>
                <c:pt idx="9">
                  <c:v>20.0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Ende Sikka - Flores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Sheet1!$A$2:$A$11</c:f>
              <c:strCache>
                <c:ptCount val="10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14.0</c:v>
                </c:pt>
                <c:pt idx="1">
                  <c:v>17.0</c:v>
                </c:pt>
                <c:pt idx="2">
                  <c:v>14.0</c:v>
                </c:pt>
                <c:pt idx="3">
                  <c:v>16.0</c:v>
                </c:pt>
                <c:pt idx="4">
                  <c:v>7.0</c:v>
                </c:pt>
                <c:pt idx="5">
                  <c:v>9.0</c:v>
                </c:pt>
                <c:pt idx="6">
                  <c:v>11.0</c:v>
                </c:pt>
                <c:pt idx="7">
                  <c:v>9.0</c:v>
                </c:pt>
                <c:pt idx="8">
                  <c:v>18.0</c:v>
                </c:pt>
                <c:pt idx="9">
                  <c:v>12.0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Manggarai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Sheet1!$A$2:$A$11</c:f>
              <c:strCache>
                <c:ptCount val="10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6.0</c:v>
                </c:pt>
                <c:pt idx="1">
                  <c:v>9.0</c:v>
                </c:pt>
                <c:pt idx="2">
                  <c:v>10.0</c:v>
                </c:pt>
                <c:pt idx="3">
                  <c:v>9.0</c:v>
                </c:pt>
                <c:pt idx="4">
                  <c:v>8.0</c:v>
                </c:pt>
                <c:pt idx="5">
                  <c:v>6.0</c:v>
                </c:pt>
                <c:pt idx="6">
                  <c:v>8.0</c:v>
                </c:pt>
                <c:pt idx="7">
                  <c:v>1.0</c:v>
                </c:pt>
                <c:pt idx="8">
                  <c:v>12.0</c:v>
                </c:pt>
                <c:pt idx="9">
                  <c:v>8.0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01–10 Sep 2026 vs MTD-1 01–10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1.525,6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32,8%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1.024,6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1.257,9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26,7%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921,9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67,1%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-8,8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-60,4%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+351,6%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+275,0%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+480,0%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Flores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31,5%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26,8%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583,2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+21,0%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35,1%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362,7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26,5%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338,7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+37,0%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Alor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Ngada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01–10 Sep 2026 vs MTD-1 01–10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149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82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+12,3%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73   Δ 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73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+12,3%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65   Δ 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-30,2%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43   Δ -13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704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-30,4%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1.012   Δ -308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7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708"/>
                <a:gridCol w="66119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881593"/>
                <a:gridCol w="881593"/>
                <a:gridCol w="881593"/>
              </a:tblGrid>
              <a:tr h="32004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0040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+9,8%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+10,8%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667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383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-42,6%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+15,6%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-7,7%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321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-7,0%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133088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Flores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407408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-65,2%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-52,8%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+280,0%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+275,0%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861304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01–10 Sep 2026 vs MTD-1 01–10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01–10 Sep 2026 vs MTD-1 01–10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Flores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343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760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3.467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6.012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12,6%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243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51 (21,0%)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73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86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47 (54,7%)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01–10 Sep 2026 vs MTD-1 01–10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74,4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59,1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10,5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+127,3%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+47,3%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850,0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+61,9%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540,0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82 | MoM +12,3%
PS: 73 | MoM +12,3%
• Junior
  RE: 68 | Active 50,4% | MoM +13,3%
  PS: 59 | Active 43,7% | MoM +13,5%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13 | Active 100,0% | MoM +8,3%
  PS: 13 | Active 100,0% | MoM +8,3%
• Junior Plus
  RE: 1 | Active 100,0% | MoM 0,0%
  PS: 1 | Active 100,0%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Bajawa: PS -66,7%, Gap -2
• Grapari Ende: PS 0,0%, Gap 0
• Grapari Kalabahi: PS -38,5%, Gap -5
• Grapari Labuan Bajo: PS -30,0%, Gap -3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Larantuka: PS -60,0%, Gap -3
• Grapari Maumere: PS -14,3%, Gap -1
• Grapari Ruteng: PS +300,0%, Gap 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01–10 Sep 2026 vs MTD-1 01–10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+480,0%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01–10 Sep 2026 vs MTD-1 01–10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40,1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36,4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23,6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20,0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+231,9%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29,8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26,7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+346,7%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+378,2%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+392,4%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335,0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750,0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+356,7%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840,0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72,7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74,4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46,8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46,5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25,9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27,9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01–10 Sep 2026 vs MTD-1 01–10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umar mangu laga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Yohanes gunawan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Albertus Makur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YOHANA FRANSISKA SIANA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ADRIANUS MARIOLIANUS OWON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Yesualdus Harsen Pande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Anmisa putrianingsih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YOHANES PASKALIS MARIYONO NAHONG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Clemens Novanus Rae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BERRTOLOMEUS DONBOSCO DEMO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PURNAMA RAYA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Clemens Novanus Rae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MUHAMAD SUNARTO WETI DALA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FILIA REGINA DOLOROSA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Albertus Makur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ADRIANUS MARIOLIANUS OWON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YOHANA FRANSISKA SIANA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YOHANES PASKALIS MARIYONO NAHONG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BERRTOLOMEUS DONBOSCO DEMO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DOMINGGUS RATU LELE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01–10 Sep 2026 vs MTD-1 01–10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MARTINUS YONGKI MANGGO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AGUSTINUS MAPADA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VINSENSIUS JEMADA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EMANUEL MARYANUS DE ORNAY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ROSALINA GETRUDIS MONGGO EDY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AGUSTINA MARGARETA KEDANG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Romanus Opun Wokal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rikardus apriliano ngadas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PETRUS SUWANDI NONG SUSAR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Mohamad fahrul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ATI DUA LIRONG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umar mangu laga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FERDINANDUS PENO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YOSAFAT SUDARSO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EMANUEL MARYANUS DE ORNAY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ROSALINA GETRUDIS MONGGO EDY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Romanus Opun Wokal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Rahmad syukur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PETRUS SUWANDI NONG SUSAR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BENYAMIN NDEWI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