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Flores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Sheet1!$A$2:$A$15</c:f>
              <c:strCache>
                <c:ptCount val="14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29.0</c:v>
                </c:pt>
                <c:pt idx="1">
                  <c:v>24.0</c:v>
                </c:pt>
                <c:pt idx="2">
                  <c:v>28.0</c:v>
                </c:pt>
                <c:pt idx="3">
                  <c:v>28.0</c:v>
                </c:pt>
                <c:pt idx="4">
                  <c:v>27.0</c:v>
                </c:pt>
                <c:pt idx="5">
                  <c:v>10.0</c:v>
                </c:pt>
                <c:pt idx="6">
                  <c:v>30.0</c:v>
                </c:pt>
                <c:pt idx="7">
                  <c:v>23.0</c:v>
                </c:pt>
                <c:pt idx="8">
                  <c:v>32.0</c:v>
                </c:pt>
                <c:pt idx="9">
                  <c:v>31.0</c:v>
                </c:pt>
                <c:pt idx="10">
                  <c:v>27.0</c:v>
                </c:pt>
                <c:pt idx="11">
                  <c:v>29.0</c:v>
                </c:pt>
                <c:pt idx="12">
                  <c:v>15.0</c:v>
                </c:pt>
                <c:pt idx="13">
                  <c:v>34.0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Ende Sikka - Flores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Sheet1!$A$2:$A$15</c:f>
              <c:strCache>
                <c:ptCount val="14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</c:strCache>
            </c: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17.0</c:v>
                </c:pt>
                <c:pt idx="1">
                  <c:v>13.0</c:v>
                </c:pt>
                <c:pt idx="2">
                  <c:v>18.0</c:v>
                </c:pt>
                <c:pt idx="3">
                  <c:v>18.0</c:v>
                </c:pt>
                <c:pt idx="4">
                  <c:v>21.0</c:v>
                </c:pt>
                <c:pt idx="5">
                  <c:v>4.0</c:v>
                </c:pt>
                <c:pt idx="6">
                  <c:v>19.0</c:v>
                </c:pt>
                <c:pt idx="7">
                  <c:v>15.0</c:v>
                </c:pt>
                <c:pt idx="8">
                  <c:v>18.0</c:v>
                </c:pt>
                <c:pt idx="9">
                  <c:v>18.0</c:v>
                </c:pt>
                <c:pt idx="10">
                  <c:v>13.0</c:v>
                </c:pt>
                <c:pt idx="11">
                  <c:v>20.0</c:v>
                </c:pt>
                <c:pt idx="12">
                  <c:v>10.0</c:v>
                </c:pt>
                <c:pt idx="13">
                  <c:v>21.0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Manggarai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Sheet1!$A$2:$A$15</c:f>
              <c:strCache>
                <c:ptCount val="14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</c:strCache>
            </c:strRef>
          </c:cat>
          <c:val>
            <c:numRef>
              <c:f>Sheet1!$D$2:$D$15</c:f>
              <c:numCache>
                <c:formatCode>General</c:formatCode>
                <c:ptCount val="14"/>
                <c:pt idx="0">
                  <c:v>12.0</c:v>
                </c:pt>
                <c:pt idx="1">
                  <c:v>11.0</c:v>
                </c:pt>
                <c:pt idx="2">
                  <c:v>10.0</c:v>
                </c:pt>
                <c:pt idx="3">
                  <c:v>10.0</c:v>
                </c:pt>
                <c:pt idx="4">
                  <c:v>6.0</c:v>
                </c:pt>
                <c:pt idx="5">
                  <c:v>6.0</c:v>
                </c:pt>
                <c:pt idx="6">
                  <c:v>11.0</c:v>
                </c:pt>
                <c:pt idx="7">
                  <c:v>8.0</c:v>
                </c:pt>
                <c:pt idx="8">
                  <c:v>14.0</c:v>
                </c:pt>
                <c:pt idx="9">
                  <c:v>13.0</c:v>
                </c:pt>
                <c:pt idx="10">
                  <c:v>14.0</c:v>
                </c:pt>
                <c:pt idx="11">
                  <c:v>9.0</c:v>
                </c:pt>
                <c:pt idx="12">
                  <c:v>5.0</c:v>
                </c:pt>
                <c:pt idx="13">
                  <c:v>13.0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Flores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Sheet1!$A$2:$A$15</c:f>
              <c:strCache>
                <c:ptCount val="14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20.0</c:v>
                </c:pt>
                <c:pt idx="1">
                  <c:v>26.0</c:v>
                </c:pt>
                <c:pt idx="2">
                  <c:v>24.0</c:v>
                </c:pt>
                <c:pt idx="3">
                  <c:v>25.0</c:v>
                </c:pt>
                <c:pt idx="4">
                  <c:v>15.0</c:v>
                </c:pt>
                <c:pt idx="5">
                  <c:v>15.0</c:v>
                </c:pt>
                <c:pt idx="6">
                  <c:v>19.0</c:v>
                </c:pt>
                <c:pt idx="7">
                  <c:v>10.0</c:v>
                </c:pt>
                <c:pt idx="8">
                  <c:v>30.0</c:v>
                </c:pt>
                <c:pt idx="9">
                  <c:v>20.0</c:v>
                </c:pt>
                <c:pt idx="10">
                  <c:v>31.0</c:v>
                </c:pt>
                <c:pt idx="11">
                  <c:v>16.0</c:v>
                </c:pt>
                <c:pt idx="12">
                  <c:v>19.0</c:v>
                </c:pt>
                <c:pt idx="13">
                  <c:v>28.0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Ende Sikka - Flores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Sheet1!$A$2:$A$15</c:f>
              <c:strCache>
                <c:ptCount val="14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</c:strCache>
            </c: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14.0</c:v>
                </c:pt>
                <c:pt idx="1">
                  <c:v>17.0</c:v>
                </c:pt>
                <c:pt idx="2">
                  <c:v>14.0</c:v>
                </c:pt>
                <c:pt idx="3">
                  <c:v>16.0</c:v>
                </c:pt>
                <c:pt idx="4">
                  <c:v>7.0</c:v>
                </c:pt>
                <c:pt idx="5">
                  <c:v>9.0</c:v>
                </c:pt>
                <c:pt idx="6">
                  <c:v>11.0</c:v>
                </c:pt>
                <c:pt idx="7">
                  <c:v>9.0</c:v>
                </c:pt>
                <c:pt idx="8">
                  <c:v>18.0</c:v>
                </c:pt>
                <c:pt idx="9">
                  <c:v>12.0</c:v>
                </c:pt>
                <c:pt idx="10">
                  <c:v>16.0</c:v>
                </c:pt>
                <c:pt idx="11">
                  <c:v>10.0</c:v>
                </c:pt>
                <c:pt idx="12">
                  <c:v>13.0</c:v>
                </c:pt>
                <c:pt idx="13">
                  <c:v>18.0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Manggarai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Sheet1!$A$2:$A$15</c:f>
              <c:strCache>
                <c:ptCount val="14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</c:strCache>
            </c:strRef>
          </c:cat>
          <c:val>
            <c:numRef>
              <c:f>Sheet1!$D$2:$D$15</c:f>
              <c:numCache>
                <c:formatCode>General</c:formatCode>
                <c:ptCount val="14"/>
                <c:pt idx="0">
                  <c:v>6.0</c:v>
                </c:pt>
                <c:pt idx="1">
                  <c:v>9.0</c:v>
                </c:pt>
                <c:pt idx="2">
                  <c:v>10.0</c:v>
                </c:pt>
                <c:pt idx="3">
                  <c:v>9.0</c:v>
                </c:pt>
                <c:pt idx="4">
                  <c:v>8.0</c:v>
                </c:pt>
                <c:pt idx="5">
                  <c:v>6.0</c:v>
                </c:pt>
                <c:pt idx="6">
                  <c:v>8.0</c:v>
                </c:pt>
                <c:pt idx="7">
                  <c:v>1.0</c:v>
                </c:pt>
                <c:pt idx="8">
                  <c:v>12.0</c:v>
                </c:pt>
                <c:pt idx="9">
                  <c:v>8.0</c:v>
                </c:pt>
                <c:pt idx="10">
                  <c:v>15.0</c:v>
                </c:pt>
                <c:pt idx="11">
                  <c:v>6.0</c:v>
                </c:pt>
                <c:pt idx="12">
                  <c:v>6.0</c:v>
                </c:pt>
                <c:pt idx="13">
                  <c:v>10.0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01–14 Sep 2026 vs MTD-1 01–14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1.391,8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46,8%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739,8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1.111,1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43,9%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623,1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2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79,7%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74,8%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-4,9 pp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-65,3%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-67,2%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+282,6%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+260,0%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+152,6%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+227,3%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Flores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932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45,3%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482,1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43,9%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395,2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49,4%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257,7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44,0%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227,9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517136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010912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010912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Alor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Ngada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01–14 Sep 2026 vs MTD-1 01–14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749808"/>
            <a:ext cx="23317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Registered SF: 149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88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+7,3%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82   Δ 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84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+6,3%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79   Δ 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55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5824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+7,8%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51   Δ 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1.538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43616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+6,4%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1.445   Δ 93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1548867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8708"/>
                <a:gridCol w="66119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881593"/>
                <a:gridCol w="881593"/>
                <a:gridCol w="881593"/>
              </a:tblGrid>
              <a:tr h="32004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Reg.</a:t>
                      </a:r>
                    </a:p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6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DJP Activity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0040"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+2,2%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+5,9%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942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973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+13,9%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+14,7%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+11,8%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503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565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+12,3%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133088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Flores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4407408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-67,3%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-54,5%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+147,1%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+143,8%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+157,1%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5861304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01–14 Sep 2026 vs MTD-1 01–14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13 / 13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70 / 135 (51,9%)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+7,7% | Turun 34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84 / 149 (56,4%)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+6,3% | Turun 38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 / 6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38 / 72 (52,8%)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45 / 79 (57,0%)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 / 7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32 / 63 (50,8%)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+18,5% | Turun 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39 / 70 (55,7%)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+14,7% | Turun 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94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296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+2,8%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+6,7%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406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197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261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99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145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5 / 13 (38,5%)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9 / 135 (6,7%)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+28,6% | Turun 34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15 / 149 (10,1%)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+15,4% | Turun 38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6 (50,0%)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 / 72 (9,7%)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+16,7% | Turun 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11 / 79 (13,9%)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+22,2% | Turun 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 / 7 (28,6%)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-33,3%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63 (3,2%)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+100,0% | Turun 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70 (5,7%)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1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01–14 Sep 2026 vs MTD-1 01–14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955277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049"/>
                <a:gridCol w="1735697"/>
                <a:gridCol w="1108917"/>
                <a:gridCol w="1735697"/>
                <a:gridCol w="1108917"/>
              </a:tblGrid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Total Branch merupakan SF Code unik per hari; angka WOK tidak dijumlahkan jika satu SF beraktivitas pada lebih dari satu WOK.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01–14 Sep 2026 vs MTD-1 01–14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-24,0%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-26,5%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-33,9%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2651760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Flores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490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-30,9%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793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1.247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3.454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6.054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13,1%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263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77 (29,3%)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129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117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78 (66,7%)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158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01–14 Sep 2026 vs MTD-1 01–14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Channel Scorecard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24128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834"/>
                <a:gridCol w="1077894"/>
                <a:gridCol w="1077894"/>
                <a:gridCol w="975238"/>
                <a:gridCol w="1077894"/>
                <a:gridCol w="1077894"/>
                <a:gridCol w="975238"/>
                <a:gridCol w="1385864"/>
                <a:gridCol w="1129223"/>
                <a:gridCol w="1077894"/>
              </a:tblGrid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108,4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88,3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-30,9%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14,1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-27,3%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+45,5%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4,5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+42,4%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+45,5%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540,0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85292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Kontributor Penurunan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SF ACTIVE TOTAL
RE: 88 | MoM +7,3%
PS: 84 | MoM +6,3%
• Junior
  RE: 74 | Active 54,8% | MoM +7,2%
  PS: 70 | Active 51,9% | MoM +6,1%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Greenfield
  RE: 13 | Active 100,0% | MoM +8,3%
  PS: 13 | Active 100,0% | MoM +8,3%
• Junior Plus
  RE: 1 | Active 100,0% | MoM 0,0%
  PS: 1 | Active 100,0% | MoM 0,0%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3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GraPARI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Bajawa: PS -25,0%, Gap -1
• Grapari Ende: PS -20,0%, Gap -4
• Grapari Kalabahi: PS -33,3%, Gap -6
• Grapari Labuan Bajo: PS -43,8%, Gap -7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Larantuka: PS -60,0%, Gap -3
• Grapari Maumere: PS -46,2%, Gap -6
• Grapari Ruteng: PS +40,0%, Gap 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Manggarai: RE 22 (+12,2%), PS -3 (-2,0%)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36976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28416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6704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Ende Sikka - Flores Timur: RE 6 (+75,0%), PS -1 (-12,5%)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1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0848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6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01–14 Sep 2026 vs MTD-1 01–14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-67,2%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+260,0%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+363,2%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28,5%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+137,5%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+227,3%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+360,0%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+116,7%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01–14 Sep 2026 vs MTD-1 01–14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59,0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52,3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34,4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10,6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10,0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32,8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+227,7%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43,8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37,1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16,2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22,8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+313,4%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33,7%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15,2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15,2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37,2%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18,2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10,6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10,1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+123,0%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11,1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+180,6%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+301,7%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335,0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620,0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840,0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930,0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108,5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108,4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67,6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67,7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40,9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40,7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01–14 Sep 2026 vs MTD-1 01–14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MARIO MAXIMILIANO AGUSTO WIO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umar mangu laga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FILIA REGINA DOLOROSA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Albertus Makur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ADRIANUS MARIOLIANUS OWON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Yohanes gunawan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Yesualdus Harsen Pande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MUHAMAD SUNARTO WETI DALA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YOHANA FRANSISKA SIANA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10,0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Clemens Novanus Rae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MUHAMAD SUNARTO WETI DALA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FILIA REGINA DOLOROSA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Clemens Novanus Rae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MARIO MAXIMILIANO AGUSTO WIO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Albertus Makur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ADRIANUS MARIOLIANUS OWON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YOHANA FRANSISKA SIANA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10,0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+142,9%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PURNAMA RAYA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WILLYAM RICSKY SAUDALE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YOHANES PASKALIS MARIYONO NAHONG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01–14 Sep 2026 vs MTD-1 01–14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AGUSTINUS MAPADA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VINSENSIUS JEMADA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Santiar roti saputri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Yanuarius Ngampu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AGUSTINA MARGARETA KEDANG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Romanus Opun Wokal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rikardus apriliano ngadas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PETRUS SUWANDI NONG SUSAR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Mohamad fahrul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MARTINUS YONGKI MANGGO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AGUSTINUS MAPADA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ATI DUA LIRONG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umar mangu laga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Santiar roti saputri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ROSALINA GETRUDIS MONGGO EDY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Yanuarius Ngampu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Romanus Opun Wokal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rikardus apriliano ngadas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PETRUS SUWANDI NONG SUSAR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Mohamad fahrul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