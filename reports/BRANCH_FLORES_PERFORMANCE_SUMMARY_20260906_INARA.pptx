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Flores</c:v>
                </c:pt>
              </c:strCache>
            </c:strRef>
          </c:tx>
          <c:spPr>
            <a:ln w="31750"/>
          </c:spPr>
          <c:marker>
            <c:size val="6"/>
          </c:marker>
          <c:cat>
            <c:strRef>
              <c:f>Sheet1!$A$2:$A$7</c:f>
              <c:strCache>
                <c:ptCount val="6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29.0</c:v>
                </c:pt>
                <c:pt idx="1">
                  <c:v>24.0</c:v>
                </c:pt>
                <c:pt idx="2">
                  <c:v>28.0</c:v>
                </c:pt>
                <c:pt idx="3">
                  <c:v>28.0</c:v>
                </c:pt>
                <c:pt idx="4">
                  <c:v>27.0</c:v>
                </c:pt>
                <c:pt idx="5">
                  <c:v>10.0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Ende Sikka - Flores Timur</c:v>
                </c:pt>
              </c:strCache>
            </c:strRef>
          </c:tx>
          <c:spPr>
            <a:ln w="20320"/>
          </c:spPr>
          <c:marker>
            <c:size val="4"/>
          </c:marker>
          <c:cat>
            <c:strRef>
              <c:f>Sheet1!$A$2:$A$7</c:f>
              <c:strCache>
                <c:ptCount val="6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17.0</c:v>
                </c:pt>
                <c:pt idx="1">
                  <c:v>13.0</c:v>
                </c:pt>
                <c:pt idx="2">
                  <c:v>18.0</c:v>
                </c:pt>
                <c:pt idx="3">
                  <c:v>18.0</c:v>
                </c:pt>
                <c:pt idx="4">
                  <c:v>21.0</c:v>
                </c:pt>
                <c:pt idx="5">
                  <c:v>4.0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Manggarai</c:v>
                </c:pt>
              </c:strCache>
            </c:strRef>
          </c:tx>
          <c:spPr>
            <a:ln w="20320"/>
          </c:spPr>
          <c:marker>
            <c:size val="4"/>
          </c:marker>
          <c:cat>
            <c:strRef>
              <c:f>Sheet1!$A$2:$A$7</c:f>
              <c:strCache>
                <c:ptCount val="6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12.0</c:v>
                </c:pt>
                <c:pt idx="1">
                  <c:v>11.0</c:v>
                </c:pt>
                <c:pt idx="2">
                  <c:v>10.0</c:v>
                </c:pt>
                <c:pt idx="3">
                  <c:v>10.0</c:v>
                </c:pt>
                <c:pt idx="4">
                  <c:v>6.0</c:v>
                </c:pt>
                <c:pt idx="5">
                  <c:v>6.0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Flores</c:v>
                </c:pt>
              </c:strCache>
            </c:strRef>
          </c:tx>
          <c:spPr>
            <a:ln w="31750"/>
          </c:spPr>
          <c:marker>
            <c:size val="6"/>
          </c:marker>
          <c:cat>
            <c:strRef>
              <c:f>Sheet1!$A$2:$A$7</c:f>
              <c:strCache>
                <c:ptCount val="6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20.0</c:v>
                </c:pt>
                <c:pt idx="1">
                  <c:v>26.0</c:v>
                </c:pt>
                <c:pt idx="2">
                  <c:v>24.0</c:v>
                </c:pt>
                <c:pt idx="3">
                  <c:v>25.0</c:v>
                </c:pt>
                <c:pt idx="4">
                  <c:v>15.0</c:v>
                </c:pt>
                <c:pt idx="5">
                  <c:v>15.0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Ende Sikka - Flores Timur</c:v>
                </c:pt>
              </c:strCache>
            </c:strRef>
          </c:tx>
          <c:spPr>
            <a:ln w="20320"/>
          </c:spPr>
          <c:marker>
            <c:size val="4"/>
          </c:marker>
          <c:cat>
            <c:strRef>
              <c:f>Sheet1!$A$2:$A$7</c:f>
              <c:strCache>
                <c:ptCount val="6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14.0</c:v>
                </c:pt>
                <c:pt idx="1">
                  <c:v>17.0</c:v>
                </c:pt>
                <c:pt idx="2">
                  <c:v>14.0</c:v>
                </c:pt>
                <c:pt idx="3">
                  <c:v>16.0</c:v>
                </c:pt>
                <c:pt idx="4">
                  <c:v>7.0</c:v>
                </c:pt>
                <c:pt idx="5">
                  <c:v>9.0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Manggarai</c:v>
                </c:pt>
              </c:strCache>
            </c:strRef>
          </c:tx>
          <c:spPr>
            <a:ln w="20320"/>
          </c:spPr>
          <c:marker>
            <c:size val="4"/>
          </c:marker>
          <c:cat>
            <c:strRef>
              <c:f>Sheet1!$A$2:$A$7</c:f>
              <c:strCache>
                <c:ptCount val="6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6.0</c:v>
                </c:pt>
                <c:pt idx="1">
                  <c:v>9.0</c:v>
                </c:pt>
                <c:pt idx="2">
                  <c:v>10.0</c:v>
                </c:pt>
                <c:pt idx="3">
                  <c:v>9.0</c:v>
                </c:pt>
                <c:pt idx="4">
                  <c:v>8.0</c:v>
                </c:pt>
                <c:pt idx="5">
                  <c:v>6.0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Area &amp; 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01–06 Sep 2026 vs MTD-1 01–06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Branch Performance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33271"/>
          <a:ext cx="5394957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824"/>
                <a:gridCol w="683868"/>
                <a:gridCol w="683868"/>
                <a:gridCol w="683868"/>
                <a:gridCol w="835838"/>
                <a:gridCol w="759853"/>
                <a:gridCol w="835838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1.525,6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18,1%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1.249,6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-0,5%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1.257,9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16,3%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1.052,9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011680"/>
            <a:ext cx="53949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Target Branch = agregasi target 2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221992"/>
          <a:ext cx="5394958" cy="301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331"/>
                <a:gridCol w="1412965"/>
                <a:gridCol w="1412965"/>
                <a:gridCol w="1241697"/>
              </a:tblGrid>
              <a:tr h="3017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to RE Ratio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MTD-1: 75,7%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MTD: 74,3%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-1,5 pp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44768" y="749808"/>
            <a:ext cx="57150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RE &amp; PS Performance by Speed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44768" y="1033271"/>
          <a:ext cx="5714998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30"/>
                <a:gridCol w="559076"/>
                <a:gridCol w="559076"/>
                <a:gridCol w="559076"/>
                <a:gridCol w="559076"/>
                <a:gridCol w="559076"/>
                <a:gridCol w="559076"/>
                <a:gridCol w="434836"/>
                <a:gridCol w="559076"/>
              </a:tblGrid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Kontrib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84,6%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59,0%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-65,1%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-64,8%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65,5%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+364,7%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+336,4%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3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054096"/>
            <a:ext cx="987552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WOK Performance — seluruh WOK Flores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0040" y="3337560"/>
          <a:ext cx="9646911" cy="932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727"/>
                <a:gridCol w="742070"/>
                <a:gridCol w="742070"/>
                <a:gridCol w="742070"/>
                <a:gridCol w="742070"/>
                <a:gridCol w="816277"/>
                <a:gridCol w="742070"/>
                <a:gridCol w="742070"/>
                <a:gridCol w="742070"/>
                <a:gridCol w="742070"/>
                <a:gridCol w="816277"/>
                <a:gridCol w="74207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17,9%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793,9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16,7%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664,2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18,4%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455,7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15,6%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388,7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69,9%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20040" y="4517136"/>
            <a:ext cx="115214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Kabupaten Performance — Top 3 &amp; Bottom 3 by MoM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4800599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37D3F"/>
                </a:solidFill>
                <a:latin typeface="Arial"/>
              </a:rPr>
              <a:t>Top 3 (MoM PS Tertinggi)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4800599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D73527"/>
                </a:solidFill>
                <a:latin typeface="Arial"/>
              </a:rPr>
              <a:t>Bottom 3 (MoM PS Terendah)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5010912"/>
          <a:ext cx="555955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378"/>
                <a:gridCol w="958543"/>
                <a:gridCol w="958543"/>
                <a:gridCol w="958543"/>
                <a:gridCol w="958543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Lembata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+18,2%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Alor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327648" y="5010912"/>
          <a:ext cx="5541262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702"/>
                <a:gridCol w="955390"/>
                <a:gridCol w="955390"/>
                <a:gridCol w="955390"/>
                <a:gridCol w="955390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-23,5%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Ngada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Sales Force &amp; DJP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01–06 Sep 2026 vs MTD-1 01–06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Sales Force 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749808"/>
            <a:ext cx="23317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000" b="0" i="1">
                <a:solidFill>
                  <a:srgbClr val="687386"/>
                </a:solidFill>
                <a:latin typeface="Arial"/>
              </a:rPr>
              <a:t>Registered SF: 149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64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-3,0%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66   Δ -2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61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8032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+1,7%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60   Δ 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DJP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25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35824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-19,4%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31   Δ -6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3416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Aktivitas DJP — Total Visit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485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43616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+172,5%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178   Δ 307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2221992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&amp; DJP by WOK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20040" y="2505456"/>
          <a:ext cx="11548867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8708"/>
                <a:gridCol w="66119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881593"/>
                <a:gridCol w="881593"/>
                <a:gridCol w="881593"/>
              </a:tblGrid>
              <a:tr h="32004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Reg.</a:t>
                      </a:r>
                    </a:p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 Active 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 Active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6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DJP Activity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0040"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+2,7%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+9,1%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-14,3%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114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314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+175,4%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-10,3%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-7,4%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-30,0%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171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+167,2%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320040" y="4133088"/>
            <a:ext cx="9601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SF Active RE &amp; PS by Speed — Branch Flores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20040" y="4407408"/>
          <a:ext cx="768095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819"/>
                <a:gridCol w="908500"/>
                <a:gridCol w="908500"/>
                <a:gridCol w="743318"/>
                <a:gridCol w="908500"/>
                <a:gridCol w="908500"/>
                <a:gridCol w="743318"/>
                <a:gridCol w="908500"/>
              </a:tblGrid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-68,6%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+440,0%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+475,0%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+266,7%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320040" y="5861304"/>
            <a:ext cx="8229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SF Active dihitung berdasarkan SF Code unik per kelompok; Aktivitas DJP merupakan total visit.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Daily SF Active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01–06 Sep 2026 vs MTD-1 01–06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SF Active RE Harian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20040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327648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PS Harian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327648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4645152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Ringkasan Produktivitas Harian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956048"/>
          <a:ext cx="7498078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9686"/>
                <a:gridCol w="1558042"/>
                <a:gridCol w="1071154"/>
                <a:gridCol w="1558042"/>
                <a:gridCol w="1071154"/>
              </a:tblGrid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Active RE/Hari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Peak 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Active PS/Hari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Peak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623620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Total Branch merupakan SF Code unik per hari; angka WOK tidak dijumlahkan jika satu SF beraktivitas pada lebih dari satu WOK.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Channel &amp; ODP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01–06 Sep 2026 vs MTD-1 01–06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Agency Performance by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07008"/>
          <a:ext cx="554126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-0,9%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+11,0%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27648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Grapari Performance by WOK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27648" y="1207008"/>
          <a:ext cx="554126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-23,5%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53,8%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2651760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Channel Scorecard — Total Branch Flores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2944368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AGENCY TOTAL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" y="3209544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211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27648" y="2944368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GRAPARI TOTAL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27648" y="3209544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20040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ODP Occupancy Summary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4928616"/>
          <a:ext cx="5413243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202"/>
                <a:gridCol w="880202"/>
                <a:gridCol w="880202"/>
                <a:gridCol w="880202"/>
                <a:gridCol w="880202"/>
                <a:gridCol w="1012233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ORANGE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YELLOW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BLACK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 ODP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735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1.240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3.495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6.012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12,2%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58,1%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327648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E.  DJP pada ODP Khusus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73527"/>
                </a:solidFill>
                <a:latin typeface="Arial"/>
              </a:rPr>
              <a:t>ODP BLACK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244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89 (36,5%)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D73527"/>
                </a:solidFill>
                <a:latin typeface="Arial"/>
              </a:rPr>
              <a:t>179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72016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37D3F"/>
                </a:solidFill>
                <a:latin typeface="Arial"/>
              </a:rPr>
              <a:t>ODP GREENFIELD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84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72 (85,7%)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0776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37D3F"/>
                </a:solidFill>
                <a:latin typeface="Arial"/>
              </a:rPr>
              <a:t>147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Appendix — PS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01–06 Sep 2026 vs MTD-1 01–06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PS by Speed — Total Branch &amp; WOK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59,0%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-64,8%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+336,4%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66,9%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+483,3%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26,3%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-8,6%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44,4%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-26,9%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26,4%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+160,0%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+750,0%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+800,0%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+700,0%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-0,5%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Appendix — Revenue New Sales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01–06 Sep 2026 vs MTD-1 01–06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Revenue New Sales by Speed — Total Branch &amp;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777240"/>
            <a:ext cx="420624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850" b="0" i="1">
                <a:solidFill>
                  <a:srgbClr val="687386"/>
                </a:solidFill>
                <a:latin typeface="Arial"/>
              </a:rPr>
              <a:t>Revenue = total price_package dari PS unik per order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25,6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22,9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14,0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-67,2%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12,6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+303,5%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27,7%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19,0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16,9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58,4%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+422,4%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-9,1%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36,4%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-28,5%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27,9%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+152,6%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750,0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+612,7%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375,0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+677,3%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335,0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375,0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+548,1%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840,0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44,6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45,4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29,0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28,9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-0,4%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15,6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16,5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Appendix — Top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01–06 Sep 2026 vs MTD-1 01–06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[TECHNICIAN] YOHANES PASKALIS MARIYONO NAHONG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PURNAMA RAYA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YASINTA MBASI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MUHAMAD SUNARTO WETI DALA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YOHANES NATALIS TOLEK KELEN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Albertus Makur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TEOFELUS EPIPEO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Yanuri Nona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WILLYAM RICSKY SAUDALE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Yesualdus Harsen Pande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Clemens Novanus Rae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PURNAMA RAYA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Ania Amalia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Florianus Antus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ALBERTO CARLOS X K KOBAN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Putu Wira Anggrawan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[TECHNICIAN] YOHANES PASKALIS MARIYONO NAHONG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KLAUDIUS IVANTUS LAJAR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FELIX LABA GOLE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helmina dianafri jon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137D3F"/>
                </a:solidFill>
                <a:latin typeface="Arial"/>
              </a:rPr>
              <a:t>Top 10 branch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Appendix — Bottom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01–06 Sep 2026 vs MTD-1 01–06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FRANSISKUS NDAGANG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MARIANIS TAPIN WOKAL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MARTINUS YONGKI MANGGO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JENIATI BETI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AGUSTINUS MAPADA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ATI DUA LIRONG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[TECHNICIAN] VINSENSIUS JEMADA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YOSAFAT SUDARSO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EMANUEL MARYANUS DE ORNAY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ROSALINA GETRUDIS MONGGO EDY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Marianus Hilton Raja reda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JENIATI BETI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ATI DUA LIRONG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Stefanus stewon liwun fernandez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MAGDALENA JULIANITA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Balla panja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[TECHNICIAN] FERDINANDUS PENO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YOSAFAT SUDARSO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EMANUEL MARYANUS DE ORNAY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ROSALINA GETRUDIS MONGGO EDY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D73527"/>
                </a:solidFill>
                <a:latin typeface="Arial"/>
              </a:rPr>
              <a:t>Bottom 10 branch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