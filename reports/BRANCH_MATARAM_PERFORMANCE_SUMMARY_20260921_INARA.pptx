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Sheet1!$A$2:$A$22</c:f>
              <c:strCache>
                <c:ptCount val="21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</c:strCache>
            </c:strRef>
          </c:cat>
          <c:val>
            <c:numRef>
              <c:f>Sheet1!$B$2:$B$22</c:f>
              <c:numCache>
                <c:formatCode>General</c:formatCode>
                <c:ptCount val="21"/>
                <c:pt idx="0">
                  <c:v>44.0</c:v>
                </c:pt>
                <c:pt idx="1">
                  <c:v>44.0</c:v>
                </c:pt>
                <c:pt idx="2">
                  <c:v>40.0</c:v>
                </c:pt>
                <c:pt idx="3">
                  <c:v>34.0</c:v>
                </c:pt>
                <c:pt idx="4">
                  <c:v>34.0</c:v>
                </c:pt>
                <c:pt idx="5">
                  <c:v>21.0</c:v>
                </c:pt>
                <c:pt idx="6">
                  <c:v>44.0</c:v>
                </c:pt>
                <c:pt idx="7">
                  <c:v>56.0</c:v>
                </c:pt>
                <c:pt idx="8">
                  <c:v>54.0</c:v>
                </c:pt>
                <c:pt idx="9">
                  <c:v>38.0</c:v>
                </c:pt>
                <c:pt idx="10">
                  <c:v>33.0</c:v>
                </c:pt>
                <c:pt idx="11">
                  <c:v>43.0</c:v>
                </c:pt>
                <c:pt idx="12">
                  <c:v>25.0</c:v>
                </c:pt>
                <c:pt idx="13">
                  <c:v>50.0</c:v>
                </c:pt>
                <c:pt idx="14">
                  <c:v>55.0</c:v>
                </c:pt>
                <c:pt idx="15">
                  <c:v>58.0</c:v>
                </c:pt>
                <c:pt idx="16">
                  <c:v>46.0</c:v>
                </c:pt>
                <c:pt idx="17">
                  <c:v>41.0</c:v>
                </c:pt>
                <c:pt idx="18">
                  <c:v>45.0</c:v>
                </c:pt>
                <c:pt idx="19">
                  <c:v>0</c:v>
                </c:pt>
                <c:pt idx="20">
                  <c:v>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Sheet1!$A$2:$A$22</c:f>
              <c:strCache>
                <c:ptCount val="21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</c:strCache>
            </c:strRef>
          </c:cat>
          <c:val>
            <c:numRef>
              <c:f>Sheet1!$C$2:$C$22</c:f>
              <c:numCache>
                <c:formatCode>General</c:formatCode>
                <c:ptCount val="21"/>
                <c:pt idx="0">
                  <c:v>23.0</c:v>
                </c:pt>
                <c:pt idx="1">
                  <c:v>29.0</c:v>
                </c:pt>
                <c:pt idx="2">
                  <c:v>23.0</c:v>
                </c:pt>
                <c:pt idx="3">
                  <c:v>18.0</c:v>
                </c:pt>
                <c:pt idx="4">
                  <c:v>19.0</c:v>
                </c:pt>
                <c:pt idx="5">
                  <c:v>12.0</c:v>
                </c:pt>
                <c:pt idx="6">
                  <c:v>32.0</c:v>
                </c:pt>
                <c:pt idx="7">
                  <c:v>29.0</c:v>
                </c:pt>
                <c:pt idx="8">
                  <c:v>31.0</c:v>
                </c:pt>
                <c:pt idx="9">
                  <c:v>19.0</c:v>
                </c:pt>
                <c:pt idx="10">
                  <c:v>21.0</c:v>
                </c:pt>
                <c:pt idx="11">
                  <c:v>25.0</c:v>
                </c:pt>
                <c:pt idx="12">
                  <c:v>18.0</c:v>
                </c:pt>
                <c:pt idx="13">
                  <c:v>33.0</c:v>
                </c:pt>
                <c:pt idx="14">
                  <c:v>32.0</c:v>
                </c:pt>
                <c:pt idx="15">
                  <c:v>37.0</c:v>
                </c:pt>
                <c:pt idx="16">
                  <c:v>29.0</c:v>
                </c:pt>
                <c:pt idx="17">
                  <c:v>25.0</c:v>
                </c:pt>
                <c:pt idx="18">
                  <c:v>26.0</c:v>
                </c:pt>
                <c:pt idx="19">
                  <c:v>0</c:v>
                </c:pt>
                <c:pt idx="20">
                  <c:v>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 - Sumbawa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Sheet1!$A$2:$A$22</c:f>
              <c:strCache>
                <c:ptCount val="21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</c:strCache>
            </c:strRef>
          </c:cat>
          <c:val>
            <c:numRef>
              <c:f>Sheet1!$D$2:$D$22</c:f>
              <c:numCache>
                <c:formatCode>General</c:formatCode>
                <c:ptCount val="21"/>
                <c:pt idx="0">
                  <c:v>21.0</c:v>
                </c:pt>
                <c:pt idx="1">
                  <c:v>15.0</c:v>
                </c:pt>
                <c:pt idx="2">
                  <c:v>17.0</c:v>
                </c:pt>
                <c:pt idx="3">
                  <c:v>16.0</c:v>
                </c:pt>
                <c:pt idx="4">
                  <c:v>15.0</c:v>
                </c:pt>
                <c:pt idx="5">
                  <c:v>9.0</c:v>
                </c:pt>
                <c:pt idx="6">
                  <c:v>12.0</c:v>
                </c:pt>
                <c:pt idx="7">
                  <c:v>27.0</c:v>
                </c:pt>
                <c:pt idx="8">
                  <c:v>23.0</c:v>
                </c:pt>
                <c:pt idx="9">
                  <c:v>19.0</c:v>
                </c:pt>
                <c:pt idx="10">
                  <c:v>12.0</c:v>
                </c:pt>
                <c:pt idx="11">
                  <c:v>18.0</c:v>
                </c:pt>
                <c:pt idx="12">
                  <c:v>7.0</c:v>
                </c:pt>
                <c:pt idx="13">
                  <c:v>17.0</c:v>
                </c:pt>
                <c:pt idx="14">
                  <c:v>23.0</c:v>
                </c:pt>
                <c:pt idx="15">
                  <c:v>21.0</c:v>
                </c:pt>
                <c:pt idx="16">
                  <c:v>17.0</c:v>
                </c:pt>
                <c:pt idx="17">
                  <c:v>16.0</c:v>
                </c:pt>
                <c:pt idx="18">
                  <c:v>19.0</c:v>
                </c:pt>
                <c:pt idx="19">
                  <c:v>0</c:v>
                </c:pt>
                <c:pt idx="20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Sheet1!$A$2:$A$22</c:f>
              <c:strCache>
                <c:ptCount val="21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</c:strCache>
            </c:strRef>
          </c:cat>
          <c:val>
            <c:numRef>
              <c:f>Sheet1!$B$2:$B$22</c:f>
              <c:numCache>
                <c:formatCode>General</c:formatCode>
                <c:ptCount val="21"/>
                <c:pt idx="0">
                  <c:v>44.0</c:v>
                </c:pt>
                <c:pt idx="1">
                  <c:v>44.0</c:v>
                </c:pt>
                <c:pt idx="2">
                  <c:v>40.0</c:v>
                </c:pt>
                <c:pt idx="3">
                  <c:v>34.0</c:v>
                </c:pt>
                <c:pt idx="4">
                  <c:v>34.0</c:v>
                </c:pt>
                <c:pt idx="5">
                  <c:v>21.0</c:v>
                </c:pt>
                <c:pt idx="6">
                  <c:v>44.0</c:v>
                </c:pt>
                <c:pt idx="7">
                  <c:v>56.0</c:v>
                </c:pt>
                <c:pt idx="8">
                  <c:v>54.0</c:v>
                </c:pt>
                <c:pt idx="9">
                  <c:v>38.0</c:v>
                </c:pt>
                <c:pt idx="10">
                  <c:v>33.0</c:v>
                </c:pt>
                <c:pt idx="11">
                  <c:v>43.0</c:v>
                </c:pt>
                <c:pt idx="12">
                  <c:v>25.0</c:v>
                </c:pt>
                <c:pt idx="13">
                  <c:v>50.0</c:v>
                </c:pt>
                <c:pt idx="14">
                  <c:v>55.0</c:v>
                </c:pt>
                <c:pt idx="15">
                  <c:v>58.0</c:v>
                </c:pt>
                <c:pt idx="16">
                  <c:v>46.0</c:v>
                </c:pt>
                <c:pt idx="17">
                  <c:v>41.0</c:v>
                </c:pt>
                <c:pt idx="18">
                  <c:v>45.0</c:v>
                </c:pt>
                <c:pt idx="19">
                  <c:v>0</c:v>
                </c:pt>
                <c:pt idx="20">
                  <c:v>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Sheet1!$A$2:$A$22</c:f>
              <c:strCache>
                <c:ptCount val="21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</c:strCache>
            </c:strRef>
          </c:cat>
          <c:val>
            <c:numRef>
              <c:f>Sheet1!$C$2:$C$22</c:f>
              <c:numCache>
                <c:formatCode>General</c:formatCode>
                <c:ptCount val="21"/>
                <c:pt idx="0">
                  <c:v>23.0</c:v>
                </c:pt>
                <c:pt idx="1">
                  <c:v>29.0</c:v>
                </c:pt>
                <c:pt idx="2">
                  <c:v>23.0</c:v>
                </c:pt>
                <c:pt idx="3">
                  <c:v>18.0</c:v>
                </c:pt>
                <c:pt idx="4">
                  <c:v>19.0</c:v>
                </c:pt>
                <c:pt idx="5">
                  <c:v>12.0</c:v>
                </c:pt>
                <c:pt idx="6">
                  <c:v>32.0</c:v>
                </c:pt>
                <c:pt idx="7">
                  <c:v>29.0</c:v>
                </c:pt>
                <c:pt idx="8">
                  <c:v>31.0</c:v>
                </c:pt>
                <c:pt idx="9">
                  <c:v>19.0</c:v>
                </c:pt>
                <c:pt idx="10">
                  <c:v>21.0</c:v>
                </c:pt>
                <c:pt idx="11">
                  <c:v>25.0</c:v>
                </c:pt>
                <c:pt idx="12">
                  <c:v>18.0</c:v>
                </c:pt>
                <c:pt idx="13">
                  <c:v>33.0</c:v>
                </c:pt>
                <c:pt idx="14">
                  <c:v>32.0</c:v>
                </c:pt>
                <c:pt idx="15">
                  <c:v>37.0</c:v>
                </c:pt>
                <c:pt idx="16">
                  <c:v>29.0</c:v>
                </c:pt>
                <c:pt idx="17">
                  <c:v>25.0</c:v>
                </c:pt>
                <c:pt idx="18">
                  <c:v>26.0</c:v>
                </c:pt>
                <c:pt idx="19">
                  <c:v>0</c:v>
                </c:pt>
                <c:pt idx="20">
                  <c:v>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 - Sumbawa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Sheet1!$A$2:$A$22</c:f>
              <c:strCache>
                <c:ptCount val="21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</c:strCache>
            </c:strRef>
          </c:cat>
          <c:val>
            <c:numRef>
              <c:f>Sheet1!$D$2:$D$22</c:f>
              <c:numCache>
                <c:formatCode>General</c:formatCode>
                <c:ptCount val="21"/>
                <c:pt idx="0">
                  <c:v>21.0</c:v>
                </c:pt>
                <c:pt idx="1">
                  <c:v>15.0</c:v>
                </c:pt>
                <c:pt idx="2">
                  <c:v>17.0</c:v>
                </c:pt>
                <c:pt idx="3">
                  <c:v>16.0</c:v>
                </c:pt>
                <c:pt idx="4">
                  <c:v>15.0</c:v>
                </c:pt>
                <c:pt idx="5">
                  <c:v>9.0</c:v>
                </c:pt>
                <c:pt idx="6">
                  <c:v>12.0</c:v>
                </c:pt>
                <c:pt idx="7">
                  <c:v>27.0</c:v>
                </c:pt>
                <c:pt idx="8">
                  <c:v>23.0</c:v>
                </c:pt>
                <c:pt idx="9">
                  <c:v>19.0</c:v>
                </c:pt>
                <c:pt idx="10">
                  <c:v>12.0</c:v>
                </c:pt>
                <c:pt idx="11">
                  <c:v>18.0</c:v>
                </c:pt>
                <c:pt idx="12">
                  <c:v>7.0</c:v>
                </c:pt>
                <c:pt idx="13">
                  <c:v>17.0</c:v>
                </c:pt>
                <c:pt idx="14">
                  <c:v>23.0</c:v>
                </c:pt>
                <c:pt idx="15">
                  <c:v>21.0</c:v>
                </c:pt>
                <c:pt idx="16">
                  <c:v>17.0</c:v>
                </c:pt>
                <c:pt idx="17">
                  <c:v>16.0</c:v>
                </c:pt>
                <c:pt idx="18">
                  <c:v>19.0</c:v>
                </c:pt>
                <c:pt idx="19">
                  <c:v>0</c:v>
                </c:pt>
                <c:pt idx="20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01–21 Sep 2026 vs MTD-1 01–21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2.623,1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48,8%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1.343,1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2.094,1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61,1%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814,1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2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 pp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Mataram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55,2%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600,9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69,2%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330,3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42,1%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52,7%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483,8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517136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010912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+62,8%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Utara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+31,0%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010912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Bima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Dompu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01–21 Sep 2026 vs MTD-1 01–21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240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176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+3,5%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170   Δ 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176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+3,5%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170   Δ 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183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+28,0%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143   Δ 40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3.884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+1,9%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3.811   Δ 73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8708"/>
                <a:gridCol w="66119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881593"/>
                <a:gridCol w="881593"/>
                <a:gridCol w="881593"/>
              </a:tblGrid>
              <a:tr h="32004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0040"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+4,0%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+4,0%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+35,6%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1.755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1.624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2.056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2.260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+9,9%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133088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Mataram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407408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5861304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01–21 Sep 2026 vs MTD-1 01–21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14 / 16 (87,5%)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+16,7% | Turun 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151 / 213 (70,9%)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+5,6% | Turun 62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176 / 240 (73,3%)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+6,7% | Turun 73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11 (81,8%)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+12,5%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90 / 131 (68,7%)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+8,4% | Turun 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105 / 148 (70,9%)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+9,4% | Turun 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+25,0%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61 / 82 (74,4%)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+1,7% | Turun 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71 / 92 (77,2%)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+2,9% | Turun 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+25,7%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800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+4,8%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182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+0,6%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1.115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+9,5%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465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102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667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335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448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 / 16 (18,8%)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24 / 213 (11,3%)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62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+25,0%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38 / 240 (15,8%)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+8,6% | Turun 73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11 (18,2%)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+100,0%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 / 131 (11,5%)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23 / 148 (15,5%)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+9,5% | Turun 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5 (20,0%)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82 (11,0%)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+66,7%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 / 92 (16,3%)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+7,1% | Turun 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01–21 Sep 2026 vs MTD-1 01–21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01–21 Sep 2026 vs MTD-1 01–21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651760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Mataram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1.172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1.019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1.937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13.653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19.858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5,1%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1.451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391 (26,9%)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866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520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411 (79,0%)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1.189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01–21 Sep 2026 vs MTD-1 01–21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326,2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282,3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18,6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20,8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176 | MoM +3,5%
PS: 176 | MoM +3,5%
• Performer
  RE: 1 | Active 100,0% | MoM 0,0%
  PS: 1 | Active 100,0% | MoM 0,0%
• Junior
  RE: 151 | Active 70,9% | MoM +4,1%
  PS: 151 | Active 70,9% | MoM +4,1%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14 | Active 87,5% | MoM 0,0%
  PS: 14 | Active 87,5% | MoM 0,0%
• Junior Plus
  RE: 10 | Active 100,0% | MoM 0,0%
  PS: 10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Bima: PS -6,9%, Gap -2
• Grapari Dompu: PS 0,0%, Gap 0
• Grapari Lombok Timur: PS -50,0%, Gap -1
• Grapari Lombok Utara: PS -100,0%, Gap -1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Maluk: PS -66,7%, Gap -2
• Grapari Mataram: PS -28,9%, Gap -13
• Grapari Sumbawa: PS +80,0%, Gap 4
• Grapari Taliwang: PS +25,0%, Gap 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Lombok: RE -43 (-6,1%), PS -43 (-6,1%)
• Sumbawa Barat - Sumbawa Timur: RE -14 (-3,0%), PS -14 (-3,0%)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Sumbawa Barat - Sumbawa Timur: RE -1 (-11,1%), PS -1 (-11,1%)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Lombok: RE -2 (-100,0%), PS -2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01–21 Sep 2026 vs MTD-1 01–21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+387,5%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01–21 Sep 2026 vs MTD-1 01–21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60,2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47,3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79,9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29,0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106,8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47,5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47,5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565,0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+573,7%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870,0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331,5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326,2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210,4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179,8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121,1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146,4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01–21 Sep 2026 vs MTD-1 01–21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Suryani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FIKA AYU PUSPITASARI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Hendra Tauhid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ARIEF RAMADHOAN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Yudi arman 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PUTU LINGGAR GERRY KUSUMA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Indah lestari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MIFTAHUL JANNAH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GEORANO INDRIANTO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 UTARI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Suryani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FIKA AYU PUSPITASARI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Hendra Tauhid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ARIEF RAMADHOAN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Yudi arman 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PUTU LINGGAR GERRY KUSUMA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Indah lestari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MIFTAHUL JANNAH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GEORANO INDRIANTO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 UTARI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01–21 Sep 2026 vs MTD-1 01–21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YANTI 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ERNY JUMRIANTY AGUSTIN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Samsul 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HUZAIMATUL 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tarmizi taher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Ibadillah Hish Sholihah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Nuraini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BAIQ RIRIN DWI APRILIANTI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MUHAMAD IHSAN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Riskia nur komalasari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YANTI 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ERNY JUMRIANTY AGUSTIN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Samsul 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HUZAIMATUL 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tarmizi taher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Ibadillah Hish Sholihah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Nuraini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BAIQ RIRIN DWI APRILIANTI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MUHAMAD IHSAN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Riskia nur komalasari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