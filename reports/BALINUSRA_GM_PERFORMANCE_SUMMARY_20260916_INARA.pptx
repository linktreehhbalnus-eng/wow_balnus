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22"/>
    <p:sldId id="264" r:id="rId10"/>
    <p:sldId id="265" r:id="rId11"/>
    <p:sldId id="266" r:id="rId12"/>
    <p:sldId id="267" r:id="rId13"/>
    <p:sldId id="268" r:id="rId19"/>
    <p:sldId id="269" r:id="rId20"/>
    <p:sldId id="270" r:id="rId21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03/09</c:v>
                </c:pt>
                <c:pt idx="1">
                  <c:v>04/09</c:v>
                </c:pt>
                <c:pt idx="2">
                  <c:v>05/09</c:v>
                </c:pt>
                <c:pt idx="3">
                  <c:v>06/09</c:v>
                </c:pt>
                <c:pt idx="4">
                  <c:v>07/09</c:v>
                </c:pt>
                <c:pt idx="5">
                  <c:v>08/09</c:v>
                </c:pt>
                <c:pt idx="6">
                  <c:v>09/09</c:v>
                </c:pt>
                <c:pt idx="7">
                  <c:v>10/09</c:v>
                </c:pt>
                <c:pt idx="8">
                  <c:v>11/09</c:v>
                </c:pt>
                <c:pt idx="9">
                  <c:v>12/09</c:v>
                </c:pt>
                <c:pt idx="10">
                  <c:v>13/09</c:v>
                </c:pt>
                <c:pt idx="11">
                  <c:v>14/09</c:v>
                </c:pt>
                <c:pt idx="12">
                  <c:v>15/09</c:v>
                </c:pt>
                <c:pt idx="13">
                  <c:v>16/09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334.0</c:v>
                </c:pt>
                <c:pt idx="1">
                  <c:v>324.0</c:v>
                </c:pt>
                <c:pt idx="2">
                  <c:v>279.0</c:v>
                </c:pt>
                <c:pt idx="3">
                  <c:v>198.0</c:v>
                </c:pt>
                <c:pt idx="4">
                  <c:v>362.0</c:v>
                </c:pt>
                <c:pt idx="5">
                  <c:v>351.0</c:v>
                </c:pt>
                <c:pt idx="6">
                  <c:v>315.0</c:v>
                </c:pt>
                <c:pt idx="7">
                  <c:v>313.0</c:v>
                </c:pt>
                <c:pt idx="8">
                  <c:v>319.0</c:v>
                </c:pt>
                <c:pt idx="9">
                  <c:v>254.0</c:v>
                </c:pt>
                <c:pt idx="10">
                  <c:v>169.0</c:v>
                </c:pt>
                <c:pt idx="11">
                  <c:v>339.0</c:v>
                </c:pt>
                <c:pt idx="12">
                  <c:v>320.0</c:v>
                </c:pt>
                <c:pt idx="13">
                  <c:v>320.0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03/09</c:v>
                </c:pt>
                <c:pt idx="1">
                  <c:v>04/09</c:v>
                </c:pt>
                <c:pt idx="2">
                  <c:v>05/09</c:v>
                </c:pt>
                <c:pt idx="3">
                  <c:v>06/09</c:v>
                </c:pt>
                <c:pt idx="4">
                  <c:v>07/09</c:v>
                </c:pt>
                <c:pt idx="5">
                  <c:v>08/09</c:v>
                </c:pt>
                <c:pt idx="6">
                  <c:v>09/09</c:v>
                </c:pt>
                <c:pt idx="7">
                  <c:v>10/09</c:v>
                </c:pt>
                <c:pt idx="8">
                  <c:v>11/09</c:v>
                </c:pt>
                <c:pt idx="9">
                  <c:v>12/09</c:v>
                </c:pt>
                <c:pt idx="10">
                  <c:v>13/09</c:v>
                </c:pt>
                <c:pt idx="11">
                  <c:v>14/09</c:v>
                </c:pt>
                <c:pt idx="12">
                  <c:v>15/09</c:v>
                </c:pt>
                <c:pt idx="13">
                  <c:v>16/09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270.0</c:v>
                </c:pt>
                <c:pt idx="1">
                  <c:v>255.0</c:v>
                </c:pt>
                <c:pt idx="2">
                  <c:v>185.0</c:v>
                </c:pt>
                <c:pt idx="3">
                  <c:v>159.0</c:v>
                </c:pt>
                <c:pt idx="4">
                  <c:v>256.0</c:v>
                </c:pt>
                <c:pt idx="5">
                  <c:v>285.0</c:v>
                </c:pt>
                <c:pt idx="6">
                  <c:v>266.0</c:v>
                </c:pt>
                <c:pt idx="7">
                  <c:v>237.0</c:v>
                </c:pt>
                <c:pt idx="8">
                  <c:v>258.0</c:v>
                </c:pt>
                <c:pt idx="9">
                  <c:v>191.0</c:v>
                </c:pt>
                <c:pt idx="10">
                  <c:v>151.0</c:v>
                </c:pt>
                <c:pt idx="11">
                  <c:v>266.0</c:v>
                </c:pt>
                <c:pt idx="12">
                  <c:v>271.0</c:v>
                </c:pt>
                <c:pt idx="13">
                  <c:v>266.0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+5,8% &amp; PS +4,2% MoM — Achievement Mencapai 48,7% (RE) / 48,0%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01–16 Sep 2026 vs MTD-1 01–16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4.963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-1,3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RE–PS Menguat pada 16 September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01–16 Sep 2026 vs MTD-1 01–16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01–16 September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4.963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 Pendorong Utama PS (+13,3%), Denpasar Terdalam (-2,3%)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01–16 Sep 2026 vs MTD-1 01–16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+0,8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-2,7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+0,6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-3,4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+13,3%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+11,3%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+3,2%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-2,3%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50,9%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50,7%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49,6%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37,2%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Sumba Tertinggi (+27,7%), Bali Tengah 1 Terdalam (-9,8%) — 10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01–16 Sep 2026 vs MTD-1 01–16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10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1788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Buleleng Penyumbang PS Absolut Terbesar (+125), Bima Tumbuh Tertinggi (+70,8%)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01–16 Sep 2026 vs MTD-1 01–16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38 kabupaten: Top 5 menyumbang +256, Bottom 5 -181, dan perubahan PS regional +156.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≥100 Mbps Tumbuh Tertinggi (+90,5%), TSEL One &gt;30 Mbps Turun Terdalam (-65,0%)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01–16 Sep 2026 vs MTD-1 01–16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Naik +2,1%, Aktivitas DJP +5,0% MoM — Registered SF 893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01–16 Sep 2026 vs MTD-1 01–16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Registered 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9.931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10.429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Active &amp; DJP by Branch</a:t>
            </a:r>
            <a:endParaRPr lang="en-US" sz="15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346704"/>
          <a:ext cx="926287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40080"/>
                <a:gridCol w="621792"/>
                <a:gridCol w="621792"/>
                <a:gridCol w="594360"/>
                <a:gridCol w="621792"/>
                <a:gridCol w="621792"/>
                <a:gridCol w="594360"/>
                <a:gridCol w="621792"/>
                <a:gridCol w="621792"/>
                <a:gridCol w="594360"/>
                <a:gridCol w="685800"/>
                <a:gridCol w="685800"/>
                <a:gridCol w="64008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4.951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9.963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55.889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7.080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5.469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83.352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5.469
Dikunjungi: 779 (14,2%)
Visit DJP: 2.135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1.258
Dikunjungi: 636 (50,6%)
Visit DJP: 1.910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01–16 Sep 2026 vs MTD-1 01–16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01–16 Sep 2026 vs MTD-1 01–16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NISH RINAH HAMIDAH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MARIO MAXIMILIANO AGUSTO WIO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ARIEF RAMADHOAN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Cornelis Desanto Karo Karel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DJULEHA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+428,6%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Abdul Haris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umar mangu laga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ALI TOPAN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STANISLAUS APRIANUS HUN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Indah lestari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Utami muji kristina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NISH RINAH HAMIDAH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FIKA AYU PUSPITASARI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MARIO MAXIMILIANO AGUSTO WIO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DJULEHA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ADRIANI NELSIANA ABUK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 FILIA REGINA DOLOROSA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ALVIN HIDAYAT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MADE RIVAN ANDIKA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HERLINA JULIANTHI EDDY PUTRI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01–16 Sep 2026 vs MTD-1 01–16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AISA TUKUBRA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GUSTI AGUNG PUTU SANTIKA PARAMITA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HERI SUSANTO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AGUSTINUS MAPADA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GEDE EKA PANDI ASTAWAN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FERDY ARYANDO JARA JUTALO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HERNAWATI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[TECHNICIAN] VINSENSIUS JEMADA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IFA HANIFAH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HUZAIMATUL HADI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GUSTI AGUNG PUTU SANTIKA PARAMITA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YANTI 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HERI SUSANTO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ERNY JUMRIANTY AGUSTIN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AGUSTINUS MAPADA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Samsul Hadi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GEDE EKA PANDI ASTAWAN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 ATI DUA LIRONG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umar mangu laga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IFA HANIFAH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10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01–16 Sep 2026 vs MTD-1 01–16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10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01–16 Sep 2026 vs MTD-1 01–16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01–16 Sep 2026 vs MTD-1 01–16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PS by Speed — Region &amp;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1.497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1.436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965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-35,2%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719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+63,0%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744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324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57,5%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+278,4%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+226,8%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558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+27,8%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290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-73,9%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+272,7%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+195,2%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-72,2%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3.746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3.902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1.800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1.758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563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1.065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01–16 Sep 2026 vs MTD-1 01–16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Revenue New Sales by Speed — Region &amp;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777240"/>
            <a:ext cx="43434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252,6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240,1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232,7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147,6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-36,6%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115,3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111,8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110,6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82,8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49,2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66,9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60,1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34,9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36,5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+244,0%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30,1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56,2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45,8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+197,9%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46,9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38,3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58,8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60,2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102,9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203,7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+98,0%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77,2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84,8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-68,4%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55,4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68,6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+23,7%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42,8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48,3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+218,9%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+157,8%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36,4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104,2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34,5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36,5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-76,1%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799,8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863,8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366,5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349,4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110,7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124,5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117,5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121,0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205,0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268,9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01–16 Sep 2026 vs MTD-1 01–16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941832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6280"/>
                <a:gridCol w="1064412"/>
                <a:gridCol w="1064412"/>
                <a:gridCol w="957970"/>
                <a:gridCol w="1064412"/>
                <a:gridCol w="1064412"/>
                <a:gridCol w="957970"/>
                <a:gridCol w="1383735"/>
                <a:gridCol w="1117632"/>
                <a:gridCol w="1117632"/>
              </a:tblGrid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4.690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4.963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137D3F"/>
                          </a:solidFill>
                          <a:latin typeface="Arial"/>
                        </a:rPr>
                        <a:t>+5,8%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3.746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3.902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Rp 863,8 Jt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137D3F"/>
                          </a:solidFill>
                          <a:latin typeface="Arial"/>
                        </a:rPr>
                        <a:t>+8,0%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3.917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4.210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+7,5%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3.222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3.412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+5,9%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737,7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+10,3%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87,4%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345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+2,1%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249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-6,4%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55,8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-2,4%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312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297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-4,8%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217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-12,0%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54,9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11,4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-4,0%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2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+11,1%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+220,0%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3,9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+165,7%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2761488"/>
            <a:ext cx="4572000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Kontributor Penurunan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SF ACTIVE TOTAL
RE: 573 | MoM +5,5%
PS: 540 | MoM +2,1%
• Elite
  RE: 10 | Active 100,0% | MoM 0,0%
  PS: 10 | Active 100,0% | MoM 0,0%
• Performer
  RE: 7 | Active 100,0% | MoM 0,0%
  PS: 7 | Active 100,0% | MoM 0,0%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Junior
  RE: 483 | Active 60,5% | MoM +5,0%
  PS: 452 | Active 56,6% | MoM +1,3%
• Greenfield
  RE: 54 | Active 93,1% | MoM +17,4%
  PS: 52 | Active 89,7% | MoM +13,0%
• Junior Plus
  RE: 19 | Active 95,0% | MoM -5,0%
  PS: 19 | Active 95,0% | MoM -5,0%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3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GraPARI Performance per 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PER BRANCH
• Denpasar: PS +6,9%, Gap +4
• Flores: PS -19,5%, Gap -16
• Kupang: PS +20,0%, Gap +5
• Mataram: PS -8,9%, Gap -7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BOTTOM 5 PS MoM
• Grapari Lombok Utara (Mataram): -100,0%, Gap -1
• Grapari Gatsu Tengah (Denpasar): -66,7%, Gap -4
• Grapari Taliwang (Mataram): -66,7%, Gap -2
• Grapari Lombok Timur (Mataram): -50,0%, Gap -1
• Grapari Maluk (Mataram): -50,0%, Gap -1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 1: RE -41 (-8,5%), PS -34 (-8,2%)
• Bali Timur: RE -5 (-1,6%), PS -25 (-9,4%)
• Bali Tengah 2: RE -35 (-6,8%), PS -22 (-5,2%)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36976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46704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 2: RE -30 (-39,0%), PS -24 (-38,7%)
• Bali Tengah 1: RE -13 (-21,0%), PS -13 (-27,1%)
• Bali Barat: RE -13 (-40,6%), PS -6 (-35,3%)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1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Kupang Rote - Malaka Timtim Belu: RE -13 (-48,1%), PS -7 (-53,8%)
• Bali Barat: RE -5 (-50,0%), PS -2 (-50,0%)
• Bali Timur: RE 0 (0,0%), PS -2 (-28,6%)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0848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2288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6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Lombok: RE -5 (-83,3%), PS -1 (-100,0%)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01–16 Sep 2026 vs MTD-1 01–16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 / 20 (90,0%)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+20,0% | Turun 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151 / 310 (48,7%)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-11,2% | Turun 97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-9,1% | Turun 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189 / 351 (53,8%)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-6,4% | Turun 118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13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71 / 136 (52,2%)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+9,2% | Turun 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85 / 150 (56,7%)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+7,6% | Turun 35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9 (77,8%)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88 / 139 (63,3%)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+3,5% | Turun 34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99 / 152 (65,1%)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+5,3% | Turun 39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 / 16 (87,5%)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+16,7% | Turun 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142 / 213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+4,4% | Turun 55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167 / 240 (69,6%)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+5,7% | Turun 64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52 / 58 (89,7%)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+15,6% | Turun 21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452 / 798 (56,6%)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-0,9% | Turun 216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 / 20 (95,0%)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-5,0% | Turun 8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+600,0% | Turun 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8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541 / 924 (58,5%)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+1,5% | Turun 260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743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+629,2%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417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1.553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343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472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+55,6%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389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456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672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930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+15,8%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311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+15,2%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2.147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+1,2%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328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+11,6%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208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+766,7%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417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-17,9%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3.412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+6,0%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20 (20,0%)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 / 310 (6,1%)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-26,9% | Turun 97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-9,1% | Turun 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43 / 351 (12,3%)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-4,4% | Turun 118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13 (38,5%)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 / 136 (8,8%)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 / 150 (12,0%)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+28,6% | Turun 35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139 (4,3%)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-14,3% | Turun 34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4 (75,0%)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152 (5,9%)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-18,2% | Turun 39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16 (12,5%)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21 / 213 (9,9%)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55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10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32 / 240 (13,3%)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 | Turun 64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11 / 58 (19,0%)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21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58 / 798 (7,3%)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+5,5% | Turun 216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16 / 20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8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+600,0% | Turun 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8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102 / 924 (11,0%)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+8,5% | Turun 260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