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07/08</c:v>
                </c:pt>
                <c:pt idx="1">
                  <c:v>08/08</c:v>
                </c:pt>
                <c:pt idx="2">
                  <c:v>09/08</c:v>
                </c:pt>
                <c:pt idx="3">
                  <c:v>10/08</c:v>
                </c:pt>
                <c:pt idx="4">
                  <c:v>11/08</c:v>
                </c:pt>
                <c:pt idx="5">
                  <c:v>12/08</c:v>
                </c:pt>
                <c:pt idx="6">
                  <c:v>13/08</c:v>
                </c:pt>
                <c:pt idx="7">
                  <c:v>14/08</c:v>
                </c:pt>
                <c:pt idx="8">
                  <c:v>15/08</c:v>
                </c:pt>
                <c:pt idx="9">
                  <c:v>16/08</c:v>
                </c:pt>
                <c:pt idx="10">
                  <c:v>17/08</c:v>
                </c:pt>
                <c:pt idx="11">
                  <c:v>18/08</c:v>
                </c:pt>
                <c:pt idx="12">
                  <c:v>19/08</c:v>
                </c:pt>
                <c:pt idx="13">
                  <c:v>20/08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296.0</c:v>
                </c:pt>
                <c:pt idx="1">
                  <c:v>235.0</c:v>
                </c:pt>
                <c:pt idx="2">
                  <c:v>209.0</c:v>
                </c:pt>
                <c:pt idx="3">
                  <c:v>341.0</c:v>
                </c:pt>
                <c:pt idx="4">
                  <c:v>320.0</c:v>
                </c:pt>
                <c:pt idx="5">
                  <c:v>325.0</c:v>
                </c:pt>
                <c:pt idx="6">
                  <c:v>270.0</c:v>
                </c:pt>
                <c:pt idx="7">
                  <c:v>263.0</c:v>
                </c:pt>
                <c:pt idx="8">
                  <c:v>214.0</c:v>
                </c:pt>
                <c:pt idx="9">
                  <c:v>214.0</c:v>
                </c:pt>
                <c:pt idx="10">
                  <c:v>218.0</c:v>
                </c:pt>
                <c:pt idx="11">
                  <c:v>358.0</c:v>
                </c:pt>
                <c:pt idx="12">
                  <c:v>297.0</c:v>
                </c:pt>
                <c:pt idx="13">
                  <c:v>303.0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07/08</c:v>
                </c:pt>
                <c:pt idx="1">
                  <c:v>08/08</c:v>
                </c:pt>
                <c:pt idx="2">
                  <c:v>09/08</c:v>
                </c:pt>
                <c:pt idx="3">
                  <c:v>10/08</c:v>
                </c:pt>
                <c:pt idx="4">
                  <c:v>11/08</c:v>
                </c:pt>
                <c:pt idx="5">
                  <c:v>12/08</c:v>
                </c:pt>
                <c:pt idx="6">
                  <c:v>13/08</c:v>
                </c:pt>
                <c:pt idx="7">
                  <c:v>14/08</c:v>
                </c:pt>
                <c:pt idx="8">
                  <c:v>15/08</c:v>
                </c:pt>
                <c:pt idx="9">
                  <c:v>16/08</c:v>
                </c:pt>
                <c:pt idx="10">
                  <c:v>17/08</c:v>
                </c:pt>
                <c:pt idx="11">
                  <c:v>18/08</c:v>
                </c:pt>
                <c:pt idx="12">
                  <c:v>19/08</c:v>
                </c:pt>
                <c:pt idx="13">
                  <c:v>20/08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227.0</c:v>
                </c:pt>
                <c:pt idx="1">
                  <c:v>243.0</c:v>
                </c:pt>
                <c:pt idx="2">
                  <c:v>150.0</c:v>
                </c:pt>
                <c:pt idx="3">
                  <c:v>272.0</c:v>
                </c:pt>
                <c:pt idx="4">
                  <c:v>275.0</c:v>
                </c:pt>
                <c:pt idx="5">
                  <c:v>235.0</c:v>
                </c:pt>
                <c:pt idx="6">
                  <c:v>263.0</c:v>
                </c:pt>
                <c:pt idx="7">
                  <c:v>217.0</c:v>
                </c:pt>
                <c:pt idx="8">
                  <c:v>162.0</c:v>
                </c:pt>
                <c:pt idx="9">
                  <c:v>151.0</c:v>
                </c:pt>
                <c:pt idx="10">
                  <c:v>149.0</c:v>
                </c:pt>
                <c:pt idx="11">
                  <c:v>278.0</c:v>
                </c:pt>
                <c:pt idx="12">
                  <c:v>268.0</c:v>
                </c:pt>
                <c:pt idx="13">
                  <c:v>231.0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-3,1% &amp; PS -2,8% MoM — Achievement Mencapai 50,2% (RE) / 48,0%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Agu 2026 vs MTD-1 01–20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6.052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4.806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Menjelang 20 Agustus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Agu 2026 vs MTD-1 01–20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01–20 Agustus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5.822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4.672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9.740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(+3,4%), Kupang Terdalam (-9,7%)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Agu 2026 vs MTD-1 01–20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+3,4%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-1,5%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-4,2%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-9,7%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52,4%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50,3%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49,9%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36,7%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2.607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Tertinggi (+9,6%), Bali Timur Terdalam (-14,3%) — 10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Agu 2026 vs MTD-1 01–20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10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1788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47141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681728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Tabanan Penyumbang PS Absolut Terbesar (+55), Alor Tumbuh Tertinggi (+41,7%)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Agu 2026 vs MTD-1 01–20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+146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-181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-134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+146, Bottom 5 -181, dan perubahan PS regional -134.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(+31,0%), 50 Mbps Turun Terdalam (-20,4%)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Agu 2026 vs MTD-1 01–20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5.006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Naik +6,9%, Aktivitas DJP -5,3% MoM — Registered SF 845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Agu 2026 vs MTD-1 01–20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Registered 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11.690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11.070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Active &amp; DJP by Branch</a:t>
            </a:r>
            <a:endParaRPr lang="en-US" sz="15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346704"/>
          <a:ext cx="9262872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640080"/>
                <a:gridCol w="621792"/>
                <a:gridCol w="621792"/>
                <a:gridCol w="594360"/>
                <a:gridCol w="621792"/>
                <a:gridCol w="621792"/>
                <a:gridCol w="594360"/>
                <a:gridCol w="621792"/>
                <a:gridCol w="621792"/>
                <a:gridCol w="594360"/>
                <a:gridCol w="685800"/>
                <a:gridCol w="685800"/>
                <a:gridCol w="640080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gridSpan="3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 hMerge="1">
                  <a:tcPr/>
                </a:tc>
                <a:tc hMerge="1"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3.311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4.201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9.614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56.569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7.185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5.458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83.027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5.458
Dikunjungi: 934 (17,1%)
Visit DJP: 2.039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947
Dikunjungi: 588 (62,1%)
Visit DJP: 1.413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Agu 2026 vs MTD-1 01–20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Agu 2026 vs MTD-1 01–20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Muhammad Khusairi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Wiratja atmaja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NURYANTI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YOHANIS GLORIA INRIJAYA DIRU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RADJO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lukmanul hakim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LULU KARMILA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Andi Setiawan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Zaharani Mustika Sonjaya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NURSIAH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GUSTAF RIHI MANGNGI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VINSENSIUS JEMADA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KADEK RIDAYANI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ZAENUDDIN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lukmanul hakim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Marianus Hilton Raja reda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D. BUDIONO HARSONO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YOHANES RADJO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Agu 2026 vs MTD-1 01–20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STEFANI WEA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NI PUTU ARIANI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Lalu esa pramudya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Jerry Aldo Wahjudi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 Widiawati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WAYAN SUPARTA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 STEFANI WEA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ALFANNY KHAIRUNNISA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Anita Welmince ukat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MOHAMMAD FAISAL ASSEGAF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DODYK SUPRIADI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GUSTI AGUNG PUTRA SANJAYA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Jerry Aldo Wahjudi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Sri Widiawati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WAYAN SUPARTA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10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Agu 2026 vs MTD-1 01–20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10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 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 - 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 - 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 - 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01–20 Agu 2026 vs MTD-1 01–20 Jul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