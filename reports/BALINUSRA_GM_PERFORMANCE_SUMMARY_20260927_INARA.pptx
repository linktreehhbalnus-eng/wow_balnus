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339.0</c:v>
                </c:pt>
                <c:pt idx="1">
                  <c:v>320.0</c:v>
                </c:pt>
                <c:pt idx="2">
                  <c:v>322.0</c:v>
                </c:pt>
                <c:pt idx="3">
                  <c:v>334.0</c:v>
                </c:pt>
                <c:pt idx="4">
                  <c:v>305.0</c:v>
                </c:pt>
                <c:pt idx="5">
                  <c:v>267.0</c:v>
                </c:pt>
                <c:pt idx="6">
                  <c:v>193.0</c:v>
                </c:pt>
                <c:pt idx="7">
                  <c:v>378.0</c:v>
                </c:pt>
                <c:pt idx="8">
                  <c:v>316.0</c:v>
                </c:pt>
                <c:pt idx="9">
                  <c:v>299.0</c:v>
                </c:pt>
                <c:pt idx="10">
                  <c:v>309.0</c:v>
                </c:pt>
                <c:pt idx="11">
                  <c:v>303.0</c:v>
                </c:pt>
                <c:pt idx="12">
                  <c:v>248.0</c:v>
                </c:pt>
                <c:pt idx="13">
                  <c:v>149.0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14/09</c:v>
                </c:pt>
                <c:pt idx="1">
                  <c:v>15/09</c:v>
                </c:pt>
                <c:pt idx="2">
                  <c:v>16/09</c:v>
                </c:pt>
                <c:pt idx="3">
                  <c:v>17/09</c:v>
                </c:pt>
                <c:pt idx="4">
                  <c:v>18/09</c:v>
                </c:pt>
                <c:pt idx="5">
                  <c:v>19/09</c:v>
                </c:pt>
                <c:pt idx="6">
                  <c:v>20/09</c:v>
                </c:pt>
                <c:pt idx="7">
                  <c:v>21/09</c:v>
                </c:pt>
                <c:pt idx="8">
                  <c:v>22/09</c:v>
                </c:pt>
                <c:pt idx="9">
                  <c:v>23/09</c:v>
                </c:pt>
                <c:pt idx="10">
                  <c:v>24/09</c:v>
                </c:pt>
                <c:pt idx="11">
                  <c:v>25/09</c:v>
                </c:pt>
                <c:pt idx="12">
                  <c:v>26/09</c:v>
                </c:pt>
                <c:pt idx="13">
                  <c:v>27/09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271.0</c:v>
                </c:pt>
                <c:pt idx="2">
                  <c:v>266.0</c:v>
                </c:pt>
                <c:pt idx="3">
                  <c:v>261.0</c:v>
                </c:pt>
                <c:pt idx="4">
                  <c:v>242.0</c:v>
                </c:pt>
                <c:pt idx="5">
                  <c:v>209.0</c:v>
                </c:pt>
                <c:pt idx="6">
                  <c:v>177.0</c:v>
                </c:pt>
                <c:pt idx="7">
                  <c:v>269.0</c:v>
                </c:pt>
                <c:pt idx="8">
                  <c:v>271.0</c:v>
                </c:pt>
                <c:pt idx="9">
                  <c:v>247.0</c:v>
                </c:pt>
                <c:pt idx="10">
                  <c:v>254.0</c:v>
                </c:pt>
                <c:pt idx="11">
                  <c:v>239.0</c:v>
                </c:pt>
                <c:pt idx="12">
                  <c:v>173.0</c:v>
                </c:pt>
                <c:pt idx="13">
                  <c:v>131.0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+0,3% &amp; PS -0,7% MoM — Achievement Mencapai 79,2% (RE) / 78,4%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27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01–27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(+13,4%), Denpasar Terdalam (-3,2%)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-3,2%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61,7%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(+25,4%), Bali Tengah 1 Terdalam (-10,8%)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(+153), Buleleng Tumbuh Tertinggi (+47,1%)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+286, Bottom 5 -311, dan perubahan PS regional -43.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(+33,8%), TSEL One &gt;30 Mbps Turun Terdalam (-55,4%)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+1,7%, Aktivitas DJP -4,1%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24.741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5.255
Dikunjungi: 1.284 (24,4%)
Visit DJP: 3.457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1.375
Dikunjungi: 1.057 (76,9%)
Visit DJP: 3.248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Herzza Rahmadhani Duha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GEORANO INDRIANTO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INLY OLIFA PABALA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ELISA PUTRI 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Barthlomeus Mario Jeriko Pareira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01–27 Sep 2026 vs MTD-1 01–27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1.032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6.418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6.375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2.906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1.851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8.045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8.066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6.418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6.375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6.844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6.788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5.608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5.542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100,4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635 | MoM +1,4%
PS: 615 | MoM +1,7%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543 | Active 68,0% | MoM +1,5%
  PS: 525 | Active 65,8% | MoM +2,1%
• Greenfield
  RE: 56 | Active 96,6% | MoM +3,7%
  PS: 54 | Active 93,1% | MoM 0,0%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+19,6%, Gap +18
• Flores: PS +8,8%, Gap +10
• Kupang: PS +27,8%, Gap +10
• Mataram: PS -9,3%,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-50,0%, Gap -1
• Grapari Maluk (Mataram): -50,0%, Gap -2
• Grapari Gatsu Tengah (Denpasar): -44,4%, Gap -4
• Grapari Singaraja (Denpasar): -37,5%, Gap -3
• Grapari Kalabahi (Flores): -26,9%, Gap -7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-76 (-9,7%), PS -70 (-10,5%)
• Lombok: RE -96 (-7,6%), PS -63 (-6,4%)
• Bali Tengah 2: RE -72 (-8,6%), PS -62 (-8,8%)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-38 (-30,4%), PS -37 (-37,4%)
• Bali Tengah 1: RE -6 (-7,0%), PS -10 (-14,9%)
• Bali Barat: RE -12 (-27,9%), PS -5 (-23,8%)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-15 (-31,9%), PS -8 (-38,1%)
• Bali Timur: RE +1 (+7,7%), PS -4 (-44,4%)
• Bali Barat: RE -7 (-36,8%), PS -2 (-33,3%)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-5 (-62,5%), PS -3 (-100,0%)
• Bali Tengah 1: RE -3 (-75,0%), PS -2 (-66,7%)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01–27 Sep 2026 vs MTD-1 01–27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 / 310 (58,7%)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 | Turun 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221 / 351 (63,0%)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-6,4% | Turun 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136 (58,1%)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+14,5%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150 (62,0%)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+7,8%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16 (93,8%)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164 / 213 (77,0%)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190 / 240 (79,2%)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58 (93,1%)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+1,9%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525 / 798 (65,8%)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+0,4% | Turun 257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616 / 924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307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2.468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1.573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3.485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+490,7%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5.538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20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310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 | Turun 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351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136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150 (20,7%)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+24,0% | Turun 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139 (16,5%)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152 (17,8%)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 (31,2%)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213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 | Turun 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240 (20,8%)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-18,0%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58 (39,7%)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 | Turun 27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114 / 798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 | Turun 257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+5,6%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173 / 924 (18,7%)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 | Turun 307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