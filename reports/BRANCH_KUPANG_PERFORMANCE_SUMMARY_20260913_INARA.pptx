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Kupang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Sheet1!$A$2:$A$14</c:f>
              <c:strCache>
                <c:ptCount val="13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36.0</c:v>
                </c:pt>
                <c:pt idx="1">
                  <c:v>29.0</c:v>
                </c:pt>
                <c:pt idx="2">
                  <c:v>22.0</c:v>
                </c:pt>
                <c:pt idx="3">
                  <c:v>32.0</c:v>
                </c:pt>
                <c:pt idx="4">
                  <c:v>20.0</c:v>
                </c:pt>
                <c:pt idx="5">
                  <c:v>16.0</c:v>
                </c:pt>
                <c:pt idx="6">
                  <c:v>38.0</c:v>
                </c:pt>
                <c:pt idx="7">
                  <c:v>28.0</c:v>
                </c:pt>
                <c:pt idx="8">
                  <c:v>27.0</c:v>
                </c:pt>
                <c:pt idx="9">
                  <c:v>26.0</c:v>
                </c:pt>
                <c:pt idx="10">
                  <c:v>23.0</c:v>
                </c:pt>
                <c:pt idx="11">
                  <c:v>17.0</c:v>
                </c:pt>
                <c:pt idx="12">
                  <c:v>11.0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Kupang Rote - Malaka Timtim Belu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Sheet1!$A$2:$A$14</c:f>
              <c:strCache>
                <c:ptCount val="13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</c:strCache>
            </c:strRef>
          </c:cat>
          <c:val>
            <c:numRef>
              <c:f>Sheet1!$C$2:$C$14</c:f>
              <c:numCache>
                <c:formatCode>General</c:formatCode>
                <c:ptCount val="13"/>
                <c:pt idx="0">
                  <c:v>29.0</c:v>
                </c:pt>
                <c:pt idx="1">
                  <c:v>21.0</c:v>
                </c:pt>
                <c:pt idx="2">
                  <c:v>16.0</c:v>
                </c:pt>
                <c:pt idx="3">
                  <c:v>26.0</c:v>
                </c:pt>
                <c:pt idx="4">
                  <c:v>12.0</c:v>
                </c:pt>
                <c:pt idx="5">
                  <c:v>13.0</c:v>
                </c:pt>
                <c:pt idx="6">
                  <c:v>30.0</c:v>
                </c:pt>
                <c:pt idx="7">
                  <c:v>19.0</c:v>
                </c:pt>
                <c:pt idx="8">
                  <c:v>23.0</c:v>
                </c:pt>
                <c:pt idx="9">
                  <c:v>19.0</c:v>
                </c:pt>
                <c:pt idx="10">
                  <c:v>16.0</c:v>
                </c:pt>
                <c:pt idx="11">
                  <c:v>14.0</c:v>
                </c:pt>
                <c:pt idx="12">
                  <c:v>9.0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Sumba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Sheet1!$A$2:$A$14</c:f>
              <c:strCache>
                <c:ptCount val="13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</c:strCache>
            </c:strRef>
          </c:cat>
          <c:val>
            <c:numRef>
              <c:f>Sheet1!$D$2:$D$14</c:f>
              <c:numCache>
                <c:formatCode>General</c:formatCode>
                <c:ptCount val="13"/>
                <c:pt idx="0">
                  <c:v>7.0</c:v>
                </c:pt>
                <c:pt idx="1">
                  <c:v>8.0</c:v>
                </c:pt>
                <c:pt idx="2">
                  <c:v>6.0</c:v>
                </c:pt>
                <c:pt idx="3">
                  <c:v>6.0</c:v>
                </c:pt>
                <c:pt idx="4">
                  <c:v>8.0</c:v>
                </c:pt>
                <c:pt idx="5">
                  <c:v>3.0</c:v>
                </c:pt>
                <c:pt idx="6">
                  <c:v>8.0</c:v>
                </c:pt>
                <c:pt idx="7">
                  <c:v>9.0</c:v>
                </c:pt>
                <c:pt idx="8">
                  <c:v>4.0</c:v>
                </c:pt>
                <c:pt idx="9">
                  <c:v>7.0</c:v>
                </c:pt>
                <c:pt idx="10">
                  <c:v>7.0</c:v>
                </c:pt>
                <c:pt idx="11">
                  <c:v>3.0</c:v>
                </c:pt>
                <c:pt idx="12">
                  <c:v>2.0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Kupang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Sheet1!$A$2:$A$14</c:f>
              <c:strCache>
                <c:ptCount val="13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27.0</c:v>
                </c:pt>
                <c:pt idx="1">
                  <c:v>24.0</c:v>
                </c:pt>
                <c:pt idx="2">
                  <c:v>25.0</c:v>
                </c:pt>
                <c:pt idx="3">
                  <c:v>27.0</c:v>
                </c:pt>
                <c:pt idx="4">
                  <c:v>18.0</c:v>
                </c:pt>
                <c:pt idx="5">
                  <c:v>14.0</c:v>
                </c:pt>
                <c:pt idx="6">
                  <c:v>27.0</c:v>
                </c:pt>
                <c:pt idx="7">
                  <c:v>27.0</c:v>
                </c:pt>
                <c:pt idx="8">
                  <c:v>24.0</c:v>
                </c:pt>
                <c:pt idx="9">
                  <c:v>24.0</c:v>
                </c:pt>
                <c:pt idx="10">
                  <c:v>25.0</c:v>
                </c:pt>
                <c:pt idx="11">
                  <c:v>15.0</c:v>
                </c:pt>
                <c:pt idx="12">
                  <c:v>7.0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Kupang Rote - Malaka Timtim Belu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Sheet1!$A$2:$A$14</c:f>
              <c:strCache>
                <c:ptCount val="13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</c:strCache>
            </c:strRef>
          </c:cat>
          <c:val>
            <c:numRef>
              <c:f>Sheet1!$C$2:$C$14</c:f>
              <c:numCache>
                <c:formatCode>General</c:formatCode>
                <c:ptCount val="13"/>
                <c:pt idx="0">
                  <c:v>23.0</c:v>
                </c:pt>
                <c:pt idx="1">
                  <c:v>20.0</c:v>
                </c:pt>
                <c:pt idx="2">
                  <c:v>18.0</c:v>
                </c:pt>
                <c:pt idx="3">
                  <c:v>20.0</c:v>
                </c:pt>
                <c:pt idx="4">
                  <c:v>11.0</c:v>
                </c:pt>
                <c:pt idx="5">
                  <c:v>12.0</c:v>
                </c:pt>
                <c:pt idx="6">
                  <c:v>19.0</c:v>
                </c:pt>
                <c:pt idx="7">
                  <c:v>20.0</c:v>
                </c:pt>
                <c:pt idx="8">
                  <c:v>16.0</c:v>
                </c:pt>
                <c:pt idx="9">
                  <c:v>18.0</c:v>
                </c:pt>
                <c:pt idx="10">
                  <c:v>19.0</c:v>
                </c:pt>
                <c:pt idx="11">
                  <c:v>11.0</c:v>
                </c:pt>
                <c:pt idx="12">
                  <c:v>6.0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Sumba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Sheet1!$A$2:$A$14</c:f>
              <c:strCache>
                <c:ptCount val="13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</c:strCache>
            </c:strRef>
          </c:cat>
          <c:val>
            <c:numRef>
              <c:f>Sheet1!$D$2:$D$14</c:f>
              <c:numCache>
                <c:formatCode>General</c:formatCode>
                <c:ptCount val="13"/>
                <c:pt idx="0">
                  <c:v>4.0</c:v>
                </c:pt>
                <c:pt idx="1">
                  <c:v>4.0</c:v>
                </c:pt>
                <c:pt idx="2">
                  <c:v>7.0</c:v>
                </c:pt>
                <c:pt idx="3">
                  <c:v>7.0</c:v>
                </c:pt>
                <c:pt idx="4">
                  <c:v>7.0</c:v>
                </c:pt>
                <c:pt idx="5">
                  <c:v>2.0</c:v>
                </c:pt>
                <c:pt idx="6">
                  <c:v>8.0</c:v>
                </c:pt>
                <c:pt idx="7">
                  <c:v>7.0</c:v>
                </c:pt>
                <c:pt idx="8">
                  <c:v>8.0</c:v>
                </c:pt>
                <c:pt idx="9">
                  <c:v>6.0</c:v>
                </c:pt>
                <c:pt idx="10">
                  <c:v>6.0</c:v>
                </c:pt>
                <c:pt idx="11">
                  <c:v>4.0</c:v>
                </c:pt>
                <c:pt idx="12">
                  <c:v>1.0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Area &amp; Product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01–13 Sep 2026 vs MTD-1 01–13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Branch Performance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33271"/>
          <a:ext cx="5394957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1824"/>
                <a:gridCol w="683868"/>
                <a:gridCol w="683868"/>
                <a:gridCol w="683868"/>
                <a:gridCol w="835838"/>
                <a:gridCol w="759853"/>
                <a:gridCol w="835838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Target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486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1.739,5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27,9%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1.253,5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403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1.388,7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29,0%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985,7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011680"/>
            <a:ext cx="53949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Target Branch = agregasi target 2 WOK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221992"/>
          <a:ext cx="5394958" cy="301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7331"/>
                <a:gridCol w="1412965"/>
                <a:gridCol w="1412965"/>
                <a:gridCol w="1241697"/>
              </a:tblGrid>
              <a:tr h="3017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to RE Ratio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MTD-1: 80,7%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MTD: 82,9%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+2,2 pp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144768" y="749808"/>
            <a:ext cx="57150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RE &amp; PS Performance by Speed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144768" y="1033271"/>
          <a:ext cx="5714998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6630"/>
                <a:gridCol w="559076"/>
                <a:gridCol w="559076"/>
                <a:gridCol w="559076"/>
                <a:gridCol w="559076"/>
                <a:gridCol w="559076"/>
                <a:gridCol w="559076"/>
                <a:gridCol w="434836"/>
                <a:gridCol w="559076"/>
              </a:tblGrid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Kontrib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-26,8%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-16,0%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88,7%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31,3%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-57,4%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-60,3%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+222,2%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+237,2%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36,0%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+231,6%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+318,2%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73,0%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3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-66,7%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054096"/>
            <a:ext cx="987552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WOK Performance — seluruh WOK Kupang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20040" y="3337560"/>
          <a:ext cx="9646911" cy="9326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5727"/>
                <a:gridCol w="742070"/>
                <a:gridCol w="742070"/>
                <a:gridCol w="742070"/>
                <a:gridCol w="742070"/>
                <a:gridCol w="816277"/>
                <a:gridCol w="742070"/>
                <a:gridCol w="742070"/>
                <a:gridCol w="742070"/>
                <a:gridCol w="742070"/>
                <a:gridCol w="816277"/>
                <a:gridCol w="74207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406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25,7%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1.070,0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303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26,4%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846,6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81,9%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38,7%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183,5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+16,3%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41,8%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139,1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86,2%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320040" y="4517136"/>
            <a:ext cx="115214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Kabupaten Performance — Top 3 &amp; Bottom 3 by MoM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4800599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37D3F"/>
                </a:solidFill>
                <a:latin typeface="Arial"/>
              </a:rPr>
              <a:t>Top 3 (MoM PS Tertinggi)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4800599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D73527"/>
                </a:solidFill>
                <a:latin typeface="Arial"/>
              </a:rPr>
              <a:t>Bottom 3 (MoM PS Terendah)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5010912"/>
          <a:ext cx="5559550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5378"/>
                <a:gridCol w="958543"/>
                <a:gridCol w="958543"/>
                <a:gridCol w="958543"/>
                <a:gridCol w="958543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+29,4%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+28,9%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Rote Ndao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+28,6%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327648" y="5010912"/>
          <a:ext cx="5541262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702"/>
                <a:gridCol w="955390"/>
                <a:gridCol w="955390"/>
                <a:gridCol w="955390"/>
                <a:gridCol w="955390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Timor Tengah Selatan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-32,6%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Malaka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-25,9%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-24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-20,5%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Sales Force &amp; DJP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01–13 Sep 2026 vs MTD-1 01–13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Sales Force Scorecard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749808"/>
            <a:ext cx="23317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000" b="0" i="1">
                <a:solidFill>
                  <a:srgbClr val="687386"/>
                </a:solidFill>
                <a:latin typeface="Arial"/>
              </a:rPr>
              <a:t>Registered SF: 127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96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+3,2%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93   Δ 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27832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94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28032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+4,4%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90   Δ 4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35624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45352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DJP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5352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58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35824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-20,5%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73   Δ -15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43416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53144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Aktivitas DJP — Total Visit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53144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1.403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43616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-38,2%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53144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2.272   Δ -869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2221992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&amp; DJP by WOK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20040" y="2505456"/>
          <a:ext cx="11548867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8708"/>
                <a:gridCol w="661194"/>
                <a:gridCol w="749354"/>
                <a:gridCol w="749354"/>
                <a:gridCol w="749354"/>
                <a:gridCol w="749354"/>
                <a:gridCol w="749354"/>
                <a:gridCol w="749354"/>
                <a:gridCol w="749354"/>
                <a:gridCol w="749354"/>
                <a:gridCol w="749354"/>
                <a:gridCol w="881593"/>
                <a:gridCol w="881593"/>
                <a:gridCol w="881593"/>
              </a:tblGrid>
              <a:tr h="32004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Reg.</a:t>
                      </a:r>
                    </a:p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SF Active 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SF Active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6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DJP Activity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0040">
                <a:tc vMerge="1">
                  <a:txBody>
                    <a:bodyPr/>
                    <a:lstStyle/>
                    <a:p/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+2,6%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+2,7%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-23,0%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2.025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1.134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-44,0%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+13,3%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-8,3%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247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269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+8,9%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320040" y="4133088"/>
            <a:ext cx="9601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SF Active RE &amp; PS by Speed — Branch Kupang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20040" y="4407408"/>
          <a:ext cx="7680955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1819"/>
                <a:gridCol w="908500"/>
                <a:gridCol w="908500"/>
                <a:gridCol w="743318"/>
                <a:gridCol w="908500"/>
                <a:gridCol w="908500"/>
                <a:gridCol w="743318"/>
                <a:gridCol w="908500"/>
              </a:tblGrid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-17,7%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-58,0%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-61,0%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+158,3%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+132,0%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+237,5%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+333,3%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320040" y="5861304"/>
            <a:ext cx="8229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SF Active dihitung berdasarkan SF Code unik per kelompok; Aktivitas DJP merupakan total visit.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SF Class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01–13 Sep 2026 vs MTD-1 01–13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22376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SF Active PS per Class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987552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5 / 9 (55,6%)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+25,0% | Turun 2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85 / 114 (74,6%)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+2,4% | Turun 39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4 / 4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3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94 / 127 (74,0%)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+3,3% | Turun 44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 / 8 (50,0%)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70 / 84 (83,3%)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+1,4% | Turun 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 / 3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77 / 95 (81,1%)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+1,3% | Turun 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N/A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15 / 30 (50,0%)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+7,1% | Turun 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17 / 32 (53,1%)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+13,3% | Turun 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386584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PS per Class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651760"/>
          <a:ext cx="1154887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788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788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+37,5%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304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-4,1%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43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-18,9%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358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-5,3%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788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229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-9,5%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28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-22,2%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265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788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75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+17,2%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15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-11,8%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93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+14,8%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3886200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SF Productive per Class (minimum 10 PS)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151376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9 (0,0%)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4 / 114 (3,5%)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39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2 / 4 (50,0%)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-50,0% | Turun 3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6 / 127 (4,7%)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-25,0% | Turun 44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8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84 (2,4%)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 / 3 (33,3%)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-66,7%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3 / 95 (3,2%)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-40,0% | Turun 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1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30 (6,7%)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 / 32 (9,4%)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559612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 i="1">
                <a:solidFill>
                  <a:srgbClr val="687386"/>
                </a:solidFill>
                <a:latin typeface="Arial"/>
              </a:rPr>
              <a:t>Active = minimum 1 PS. Turun = jumlah SF dengan PS MTD lebih rendah dibanding MTD-1 pada periode tanggal yang sama.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Daily SF Active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01–13 Sep 2026 vs MTD-1 01–13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SF Active RE Harian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20040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327648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PS Harian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327648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4645152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Ringkasan Produktivitas Harian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956048"/>
          <a:ext cx="7955277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6049"/>
                <a:gridCol w="1735697"/>
                <a:gridCol w="1108917"/>
                <a:gridCol w="1735697"/>
                <a:gridCol w="1108917"/>
              </a:tblGrid>
              <a:tr h="2971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RE/Hari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PS/Hari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971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971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971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623620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Total Branch merupakan SF Code unik per hari; angka WOK tidak dijumlahkan jika satu SF beraktivitas pada lebih dari satu WOK.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Channel &amp; ODP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01–13 Sep 2026 vs MTD-1 01–13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Agency Performance by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207008"/>
          <a:ext cx="554126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+14,8%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303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87,8%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327648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Grapari Performance by WOK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7648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327648" y="1207008"/>
          <a:ext cx="554126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60,7%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-25,0%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2651760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Channel Scorecard — Total Branch Kupang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2944368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AGENCY TOTAL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20040" y="3209544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448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406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327648" y="2944368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GRAPARI TOTAL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327648" y="3209544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320040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ODP Occupancy Summary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4928616"/>
          <a:ext cx="5413243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0202"/>
                <a:gridCol w="880202"/>
                <a:gridCol w="880202"/>
                <a:gridCol w="880202"/>
                <a:gridCol w="880202"/>
                <a:gridCol w="1012233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ORANGE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YELLOW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GREEN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BLACK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 ODP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725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1.626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6.783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10.013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7,2%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67,7%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6327648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E.  DJP pada ODP Khusus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27648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55664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D73527"/>
                </a:solidFill>
                <a:latin typeface="Arial"/>
              </a:rPr>
              <a:t>ODP BLACK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430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5664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69 (16,0%)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5664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36408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D73527"/>
                </a:solidFill>
                <a:latin typeface="Arial"/>
              </a:rPr>
              <a:t>275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72016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00032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37D3F"/>
                </a:solidFill>
                <a:latin typeface="Arial"/>
              </a:rPr>
              <a:t>ODP GREENFIELD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00032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154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00032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58 (37,7%)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00032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0776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137D3F"/>
                </a:solidFill>
                <a:latin typeface="Arial"/>
              </a:rPr>
              <a:t>228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Performance RE &amp; PS per Channel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01–13 Sep 2026 vs MTD-1 01–13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Channel Scorecard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24128"/>
          <a:ext cx="11548867" cy="1572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3834"/>
                <a:gridCol w="1077894"/>
                <a:gridCol w="1077894"/>
                <a:gridCol w="975238"/>
                <a:gridCol w="1077894"/>
                <a:gridCol w="1077894"/>
                <a:gridCol w="975238"/>
                <a:gridCol w="1385864"/>
                <a:gridCol w="1129223"/>
                <a:gridCol w="1077894"/>
              </a:tblGrid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Channel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% Contr.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402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94,1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Agency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406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83,6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89,3%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Grapari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5,3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Web &amp; Apps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+61,1%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3,3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B2B2C &amp; Others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-42,9%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-44,4%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-42,2%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Sobi Affiliate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720,0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85292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Kontributor Penurunan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Agency SF Class Active (%, MoM)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SF ACTIVE TOTAL
RE: 96 | MoM +3,2%
PS: 94 | MoM +4,4%
• Junior
  RE: 85 | Active 74,6% | MoM 0,0%
  PS: 85 | Active 74,6% | MoM +3,7%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36976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Greenfield
  RE: 7 | Active 77,8% | MoM +75,0%
  PS: 5 | Active 55,6% | MoM +25,0%
• Junior Plus
  RE: 4 | Active 100,0% | MoM 0,0%
  PS: 4 | Active 100,0% | MoM 0,0%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72783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GraPARI Performance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59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Atambua: PS 0,0%, Gap 0
• Grapari Baa Rote: PS N/A, Gap 2
• Grapari Kefamenanu: PS +66,7%, Gap 2
• Grapari Kupang: PS -44,4%, Gap -4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79992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Malaka: PS N/A, Gap 1
• Grapari Soe: PS 0,0%, Gap 0
• Grapari Waikabubak: PS -50,0%, Gap -1
• Grapari Waingapu: PS +33,3%, Gap 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0040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79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Agency per WOK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Kupang Rote - Malaka Timtim Belu: RE -38 (-11,1%), PS -34 (-11,3%)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36976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28416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Web &amp; Apps per WOK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46704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Kupang Rote - Malaka Timtim Belu: RE 5 (+29,4%), PS -1 (-8,3%)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53912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45351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B2B2C &amp; Others per WOK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Kupang Rote - Malaka Timtim Belu: RE -8 (-40,0%), PS -4 (-44,4%)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70848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62288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SOBI Affiliate per WOK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0576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Tidak ada penurunan PS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" y="6181344"/>
            <a:ext cx="1143000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Gap = perubahan absolut MTD terhadap MTD-1 pada periode tanggal yang sama. Angka dalam kurung menunjukkan MoM.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Appendix — PS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01–13 Sep 2026 vs MTD-1 01–13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PS by Speed — Total Branch &amp; WOK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93192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93192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-16,0%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31,3%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+237,2%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36,0%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-19,6%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27,1%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-57,6%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24,8%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106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+194,4%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-8,3%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44,0%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-77,8%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+457,1%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39,0%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93192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93192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+318,2%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+260,0%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+900,0%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403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303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+16,3%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Appendix — Revenue New Sales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01–13 Sep 2026 vs MTD-1 01–13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Revenue New Sales by Speed — Total Branch &amp;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777240"/>
            <a:ext cx="420624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850" b="0" i="1">
                <a:solidFill>
                  <a:srgbClr val="687386"/>
                </a:solidFill>
                <a:latin typeface="Arial"/>
              </a:rPr>
              <a:t>Revenue = total price_package dari PS unik per order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93192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93192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28,2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23,7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-15,9%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25,1%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50,3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19,4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-61,4%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12,1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36,2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+200,5%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38,4%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19,1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15,4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-19,6%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43,0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18,0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-58,2%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25,3%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10,0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25,9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+158,2%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36,5%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9,1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8,3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-8,2%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35,8%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7,3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-80,2%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10,3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+411,9%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44,2%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93192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93192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13,5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+245,3%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-71,9%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10,6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+199,7%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-72,9%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375,0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+676,0%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950,0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310,0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-67,4%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99,5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94,3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79,9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71,0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19,7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23,3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+18,4%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Appendix — Top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01–13 Sep 2026 vs MTD-1 01–13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Cornelis Desanto Karo Karel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STANISLAUS APRIANUS HUN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JEVRIANUS DIMA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JEPRIANUS MUJI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FELIKS VENTIANUS MARIO JEMA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DELFIANA SILLA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INLY OLIFA PABALA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Maria Igniosa Manek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ADRIANI NELSIANA ABUK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GUSTAF RIHI MANGNGI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+140,0%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ADRIANI NELSIANA ABUK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MARIA RANGGA BELA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FELIKS VENTIANUS MARIO JEMA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DELFIANA SILLA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INLY OLIFA PABALA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Stefanus jefri kantur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ALVIONA CHETERINA RIZNAWATY MAU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JEVRIANUS DIMA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+166,7%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JEPRIANUS MUJI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[TECHNICIAN] HENDRIK YAKOBIS ZACHARYA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137D3F"/>
                </a:solidFill>
                <a:latin typeface="Arial"/>
              </a:rPr>
              <a:t>Top 10 branch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Appendix — Bottom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01–13 Sep 2026 vs MTD-1 01–13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FERDY ARYANDO JARA JUTALO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FERI ANDI SEMBIRING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SATURNINO PAULO DE DEUS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AHMAD TRIJAYADI SAPUTRA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Novita maria anggraeny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Joel Arsel Alakmo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MARIA ANGELINA DARA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ISABELLA THALL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Andrianus Umbu Engge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SUSANA ASTUTI PIUNG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-85,7%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FERI ANDI SEMBIRING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SATURNINO PAULO DE DEUS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AHMAD TRIJAYADI SAPUTRA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SONYA IMELDA TUTFAUT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Joel Arsel Alakmo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MARIA ANGELINA DARA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ISABELLA THALL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Charlie Apryanto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RICHARDUS YOHANES MOENSAKU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Andrianus Umbu Engge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D73527"/>
                </a:solidFill>
                <a:latin typeface="Arial"/>
              </a:rPr>
              <a:t>Bottom 10 branch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