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02/09</c:v>
                </c:pt>
                <c:pt idx="1">
                  <c:v>03/09</c:v>
                </c:pt>
                <c:pt idx="2">
                  <c:v>04/09</c:v>
                </c:pt>
                <c:pt idx="3">
                  <c:v>05/09</c:v>
                </c:pt>
                <c:pt idx="4">
                  <c:v>06/09</c:v>
                </c:pt>
                <c:pt idx="5">
                  <c:v>07/09</c:v>
                </c:pt>
                <c:pt idx="6">
                  <c:v>08/09</c:v>
                </c:pt>
                <c:pt idx="7">
                  <c:v>09/09</c:v>
                </c:pt>
                <c:pt idx="8">
                  <c:v>10/09</c:v>
                </c:pt>
                <c:pt idx="9">
                  <c:v>11/09</c:v>
                </c:pt>
                <c:pt idx="10">
                  <c:v>12/09</c:v>
                </c:pt>
                <c:pt idx="11">
                  <c:v>13/09</c:v>
                </c:pt>
                <c:pt idx="12">
                  <c:v>14/09</c:v>
                </c:pt>
                <c:pt idx="13">
                  <c:v>15/09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359.0</c:v>
                </c:pt>
                <c:pt idx="1">
                  <c:v>334.0</c:v>
                </c:pt>
                <c:pt idx="2">
                  <c:v>324.0</c:v>
                </c:pt>
                <c:pt idx="3">
                  <c:v>279.0</c:v>
                </c:pt>
                <c:pt idx="4">
                  <c:v>198.0</c:v>
                </c:pt>
                <c:pt idx="5">
                  <c:v>362.0</c:v>
                </c:pt>
                <c:pt idx="6">
                  <c:v>351.0</c:v>
                </c:pt>
                <c:pt idx="7">
                  <c:v>315.0</c:v>
                </c:pt>
                <c:pt idx="8">
                  <c:v>313.0</c:v>
                </c:pt>
                <c:pt idx="9">
                  <c:v>319.0</c:v>
                </c:pt>
                <c:pt idx="10">
                  <c:v>254.0</c:v>
                </c:pt>
                <c:pt idx="11">
                  <c:v>169.0</c:v>
                </c:pt>
                <c:pt idx="12">
                  <c:v>339.0</c:v>
                </c:pt>
                <c:pt idx="13">
                  <c:v>320.0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02/09</c:v>
                </c:pt>
                <c:pt idx="1">
                  <c:v>03/09</c:v>
                </c:pt>
                <c:pt idx="2">
                  <c:v>04/09</c:v>
                </c:pt>
                <c:pt idx="3">
                  <c:v>05/09</c:v>
                </c:pt>
                <c:pt idx="4">
                  <c:v>06/09</c:v>
                </c:pt>
                <c:pt idx="5">
                  <c:v>07/09</c:v>
                </c:pt>
                <c:pt idx="6">
                  <c:v>08/09</c:v>
                </c:pt>
                <c:pt idx="7">
                  <c:v>09/09</c:v>
                </c:pt>
                <c:pt idx="8">
                  <c:v>10/09</c:v>
                </c:pt>
                <c:pt idx="9">
                  <c:v>11/09</c:v>
                </c:pt>
                <c:pt idx="10">
                  <c:v>12/09</c:v>
                </c:pt>
                <c:pt idx="11">
                  <c:v>13/09</c:v>
                </c:pt>
                <c:pt idx="12">
                  <c:v>14/09</c:v>
                </c:pt>
                <c:pt idx="13">
                  <c:v>15/09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315.0</c:v>
                </c:pt>
                <c:pt idx="1">
                  <c:v>270.0</c:v>
                </c:pt>
                <c:pt idx="2">
                  <c:v>255.0</c:v>
                </c:pt>
                <c:pt idx="3">
                  <c:v>185.0</c:v>
                </c:pt>
                <c:pt idx="4">
                  <c:v>159.0</c:v>
                </c:pt>
                <c:pt idx="5">
                  <c:v>256.0</c:v>
                </c:pt>
                <c:pt idx="6">
                  <c:v>285.0</c:v>
                </c:pt>
                <c:pt idx="7">
                  <c:v>266.0</c:v>
                </c:pt>
                <c:pt idx="8">
                  <c:v>237.0</c:v>
                </c:pt>
                <c:pt idx="9">
                  <c:v>258.0</c:v>
                </c:pt>
                <c:pt idx="10">
                  <c:v>191.0</c:v>
                </c:pt>
                <c:pt idx="11">
                  <c:v>151.0</c:v>
                </c:pt>
                <c:pt idx="12">
                  <c:v>266.0</c:v>
                </c:pt>
                <c:pt idx="13">
                  <c:v>271.0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+3,7% &amp; PS +1,1% MoM — Achievement Mencapai 45,6% (RE) / 44,7%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Sep 2026 vs MTD-1 01–15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-2,0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Menguat pada 15 September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Sep 2026 vs MTD-1 01–15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01–15 September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 Pendorong Utama PS (+8,5%), Denpasar Terdalam (-3,4%)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Sep 2026 vs MTD-1 01–15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+0,9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-4,7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+1,8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-5,7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+8,5%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+5,2%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-0,8%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-3,4%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47,2%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46,7%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46,7%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34,7%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Sumba Tertinggi (+19,8%), Bali Tengah 1 Terdalam (-10,8%)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Sep 2026 vs MTD-1 01–15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Buleleng Penyumbang PS Absolut Terbesar (+115), Buleleng Tumbuh Tertinggi (+64,6%)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Sep 2026 vs MTD-1 01–15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+211, Bottom 5 -188, dan perubahan PS regional +41.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≥100 Mbps Tumbuh Tertinggi (+92,7%), TSEL One &gt;30 Mbps Turun Terdalam (-65,5%)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Sep 2026 vs MTD-1 01–15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+0,6%, Aktivitas DJP +5,0% MoM — Registered SF 893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Sep 2026 vs MTD-1 01–15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10.429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4.951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9.963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55.889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7.080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5.469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83.352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5.469
Dikunjungi: 779 (14,2%)
Visit DJP: 2.135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1.258
Dikunjungi: 636 (50,6%)
Visit DJP: 1.910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Sep 2026 vs MTD-1 01–15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Sep 2026 vs MTD-1 01–15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NISH RINAH HAMIDAH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MARIO MAXIMILIANO AGUSTO WIO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ARIEF RAMADHOAN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Herpan jayadi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SULASTRI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IMAM EFENDI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Cornelis Desanto Karo Karel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STANISLAUS APRIANUS HUN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DJULEHA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Utami muji kristina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NISH RINAH HAMIDAH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FIKA AYU PUSPITASARI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 UTARI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ADRIANI NELSIANA ABUK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Kadek Linda Ariyani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DJULEHA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ASMARAHADI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HERLINA JULIANTHI EDDY 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MADE RIVAN ANDIKA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Sep 2026 vs MTD-1 01–15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AISA TUKUBRA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AGUSTINUS MAPADA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Samsul Hadi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GEDE EKA PANDI ASTAWAN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FERDY ARYANDO JARA JUTALO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HERNAWATI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VINSENSIUS JEMADA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IFA HANIFAH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YANTI 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ERNY JUMRIANTY AGUSTIN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AGUSTINUS MAPADA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Samsul Hadi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GEDE EKA PANDI ASTAWAN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ATI DUA LIRONG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IFA HANIFAH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Sep 2026 vs MTD-1 01–15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01–15 Sep 2026 vs MTD-1 01–15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01–15 Sep 2026 vs MTD-1 01–15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1.439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1.345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679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704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702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499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3.595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3.636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1.710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1.652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01–15 Sep 2026 vs MTD-1 01–15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242,9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224,8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226,4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136,9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171,3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105,7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46,4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64,9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67,9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55,3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43,0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45,0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93,2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73,9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78,0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40,4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766,0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804,2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348,3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328,5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116,2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114,3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194,3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01–15 Sep 2026 vs MTD-1 01–15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4.476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4.643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3.595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3.636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804,2 Jt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3.727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3.947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3.087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3.177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686,3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+7,4%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51,9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292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51,4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-19,4%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10,6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-7,6%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+5,6%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+220,0%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3,9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+165,7%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558 | MoM +3,5%
PS: 527 | MoM +0,6%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469 | Active 58,8% | MoM +2,9%
  PS: 441 | Active 55,3% | MoM -0,2%
• Greenfield
  RE: 53 | Active 91,4% | MoM +15,2%
  PS: 50 | Active 86,2% | MoM +11,1%
• Junior Plus
  RE: 19 | Active 95,0% | MoM -5,0%
  PS: 19 | Active 95,0% | MoM -5,0%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+3,5%, Gap +2
• Flores: PS -26,8%, Gap -22
• Kupang: PS +16,7%, Gap +4
• Mataram: PS -10,7%, Gap -8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Lombok Utara (Mataram): -100,0%, Gap -1
• Grapari Maluk (Mataram): -100,0%, Gap -1
• Grapari Gatsu Tengah (Denpasar): -66,7%, Gap -4
• Grapari Taliwang (Mataram): -66,7%, Gap -2
• Grapari Lombok Timur (Mataram): -50,0%, Gap -1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 1: RE -40 (-8,8%), PS -36 (-9,1%)
• Bali Timur: RE +1 (+0,3%), PS -30 (-11,8%)
• Kupang Rote - Malaka Timtim Belu: RE -28 (-7,2%), PS -25 (-7,4%)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 2: RE -32 (-42,7%), PS -25 (-41,0%)
• Bali Tengah 1: RE -14 (-23,7%), PS -13 (-28,3%)
• Bali Barat: RE -12 (-40,0%), PS -7 (-41,2%)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Kupang Rote - Malaka Timtim Belu: RE -13 (-50,0%), PS -7 (-53,8%)
• Bali Barat: RE -5 (-50,0%), PS -2 (-50,0%)
• Bali Timur: RE -1 (-10,0%), PS -2 (-28,6%)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Lombok: RE -5 (-83,3%), PS -1 (-100,0%)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01–15 Sep 2026 vs MTD-1 01–15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20 (85,0%)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+13,3%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143 / 310 (46,1%)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-14,4% | Turun 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180 / 351 (51,3%)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-9,5% | Turun 115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71 / 136 (52,2%)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+9,2% | Turun 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85 / 150 (56,7%)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+7,6% | Turun 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9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88 / 139 (63,3%)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+3,5% | Turun 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98 / 152 (64,5%)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+5,4% | Turun 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16 (87,5%)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+16,7%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139 / 213 (65,3%)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+3,0% | Turun 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164 / 240 (68,3%)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+4,5% | Turun 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50 / 58 (86,2%)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+13,6% | Turun 21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441 / 798 (55,3%)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-2,4% | Turun 223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-5,0%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528 / 924 (57,1%)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266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695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+659,1%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399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1.458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322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440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360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854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286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+11,7%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1.995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-2,2%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299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+7,6%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+795,5%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399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-18,2%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3.177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+3,0%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20 (15,0%)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310 (6,1%)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-20,8% | Turun 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42 / 351 (12,0%)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-2,3% | Turun 115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13 (38,5%)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136 (7,4%)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+42,9% | Turun 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 / 150 (10,7%)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+23,1% | Turun 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139 (4,3%)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4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152 (5,9%)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 | Turun 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16 (12,5%)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213 (8,9%)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+46,2% | Turun 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10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+14,3%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30 / 240 (12,5%)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+42,9% | Turun 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58 (17,2%)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54 / 798 (6,8%)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+8,0% | Turun 223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16 / 20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+6,7%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97 / 924 (10,5%)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+11,5% | Turun 266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