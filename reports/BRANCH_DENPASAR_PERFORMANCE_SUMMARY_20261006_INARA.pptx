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60.0</c:v>
                </c:pt>
                <c:pt idx="1">
                  <c:v>61.0</c:v>
                </c:pt>
                <c:pt idx="2">
                  <c:v>50.0</c:v>
                </c:pt>
                <c:pt idx="3">
                  <c:v>47.0</c:v>
                </c:pt>
                <c:pt idx="4">
                  <c:v>59.0</c:v>
                </c:pt>
                <c:pt idx="5">
                  <c:v>54.0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Bali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15.0</c:v>
                </c:pt>
                <c:pt idx="1">
                  <c:v>18.0</c:v>
                </c:pt>
                <c:pt idx="2">
                  <c:v>15.0</c:v>
                </c:pt>
                <c:pt idx="3">
                  <c:v>14.0</c:v>
                </c:pt>
                <c:pt idx="4">
                  <c:v>15.0</c:v>
                </c:pt>
                <c:pt idx="5">
                  <c:v>15.0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Bali Tengah 1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18.0</c:v>
                </c:pt>
                <c:pt idx="1">
                  <c:v>19.0</c:v>
                </c:pt>
                <c:pt idx="2">
                  <c:v>17.0</c:v>
                </c:pt>
                <c:pt idx="3">
                  <c:v>11.0</c:v>
                </c:pt>
                <c:pt idx="4">
                  <c:v>17.0</c:v>
                </c:pt>
                <c:pt idx="5">
                  <c:v>15.0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 Tengah 2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16.0</c:v>
                </c:pt>
                <c:pt idx="1">
                  <c:v>20.0</c:v>
                </c:pt>
                <c:pt idx="2">
                  <c:v>20.0</c:v>
                </c:pt>
                <c:pt idx="3">
                  <c:v>17.0</c:v>
                </c:pt>
                <c:pt idx="4">
                  <c:v>22.0</c:v>
                </c:pt>
                <c:pt idx="5">
                  <c:v>17.0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Bali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</c:strCache>
            </c:strRef>
          </c:cat>
          <c:val>
            <c:numRef>
              <c:f>Sheet1!$F$2:$F$7</c:f>
              <c:numCache>
                <c:formatCode>General</c:formatCode>
                <c:ptCount val="6"/>
                <c:pt idx="0">
                  <c:v>12.0</c:v>
                </c:pt>
                <c:pt idx="1">
                  <c:v>11.0</c:v>
                </c:pt>
                <c:pt idx="2">
                  <c:v>9.0</c:v>
                </c:pt>
                <c:pt idx="3">
                  <c:v>9.0</c:v>
                </c:pt>
                <c:pt idx="4">
                  <c:v>11.0</c:v>
                </c:pt>
                <c:pt idx="5">
                  <c:v>14.0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54.0</c:v>
                </c:pt>
                <c:pt idx="1">
                  <c:v>53.0</c:v>
                </c:pt>
                <c:pt idx="2">
                  <c:v>57.0</c:v>
                </c:pt>
                <c:pt idx="3">
                  <c:v>43.0</c:v>
                </c:pt>
                <c:pt idx="4">
                  <c:v>43.0</c:v>
                </c:pt>
                <c:pt idx="5">
                  <c:v>46.0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Bali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11.0</c:v>
                </c:pt>
                <c:pt idx="1">
                  <c:v>15.0</c:v>
                </c:pt>
                <c:pt idx="2">
                  <c:v>16.0</c:v>
                </c:pt>
                <c:pt idx="3">
                  <c:v>9.0</c:v>
                </c:pt>
                <c:pt idx="4">
                  <c:v>9.0</c:v>
                </c:pt>
                <c:pt idx="5">
                  <c:v>8.0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Bali Tengah 1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19.0</c:v>
                </c:pt>
                <c:pt idx="1">
                  <c:v>14.0</c:v>
                </c:pt>
                <c:pt idx="2">
                  <c:v>20.0</c:v>
                </c:pt>
                <c:pt idx="3">
                  <c:v>12.0</c:v>
                </c:pt>
                <c:pt idx="4">
                  <c:v>17.0</c:v>
                </c:pt>
                <c:pt idx="5">
                  <c:v>19.0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 Tengah 2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12.0</c:v>
                </c:pt>
                <c:pt idx="1">
                  <c:v>18.0</c:v>
                </c:pt>
                <c:pt idx="2">
                  <c:v>19.0</c:v>
                </c:pt>
                <c:pt idx="3">
                  <c:v>19.0</c:v>
                </c:pt>
                <c:pt idx="4">
                  <c:v>13.0</c:v>
                </c:pt>
                <c:pt idx="5">
                  <c:v>21.0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Bali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</c:strCache>
            </c:strRef>
          </c:cat>
          <c:val>
            <c:numRef>
              <c:f>Sheet1!$F$2:$F$7</c:f>
              <c:numCache>
                <c:formatCode>General</c:formatCode>
                <c:ptCount val="6"/>
                <c:pt idx="0">
                  <c:v>12.0</c:v>
                </c:pt>
                <c:pt idx="1">
                  <c:v>8.0</c:v>
                </c:pt>
                <c:pt idx="2">
                  <c:v>9.0</c:v>
                </c:pt>
                <c:pt idx="3">
                  <c:v>5.0</c:v>
                </c:pt>
                <c:pt idx="4">
                  <c:v>12.0</c:v>
                </c:pt>
                <c:pt idx="5">
                  <c:v>7.0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Oct 2026 vs MTD-1 01–06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-746,0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-563,0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4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-5,8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Denpasar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307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-49,0%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92040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75503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75503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85816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Karang Asem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Bangli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85816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Buleleng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Jembrana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Gianyar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Oct 2026 vs MTD-1 01–06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351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136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-6,8%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146   Δ -10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123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-4,7%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129   Δ -6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+3,2%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219   Δ 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7.035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+9,6%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6.419   Δ 616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1.307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1.909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+46,1%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+13,5%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+21,9%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1.999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2.121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+6,1%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1.822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1.636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1.291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1.369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+6,0%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Denpasar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Oct 2026 vs MTD-1 01–06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14 / 20 (70,0%)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+16,7% | Turun 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89 / 310 (28,7%)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-10,1% | Turun 69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+500,0%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-9,1% | Turun 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123 / 351 (35,0%)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-3,1% | Turun 87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 / 6 (33,3%)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22 / 68 (32,4%)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-15,4% | Turun 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29 / 80 (36,2%)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-14,7% | Turun 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31 / 85 (36,5%)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+24,0%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39 / 93 (41,9%)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+21,9% | Turun 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17 / 80 (21,2%)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-19,0% | Turun 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30 / 93 (32,3%)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-6,2% | Turun 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5 (60,0%)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19 / 77 (24,7%)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-29,6% | Turun 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25 / 85 (29,4%)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-13,8% | Turun 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+12,8%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214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-32,1%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-22,7%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+124,0%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135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-27,8%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492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-20,4%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108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202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109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 / 20 (10,0%)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+100,0% | Turun 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 / 310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 | Turun 69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 / 5 (20,0%)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 / 6 (33,3%)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+100,0%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6 / 10 (60,0%)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-40,0% | Turun 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11 / 351 (3,1%)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-35,3% | Turun 87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6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68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3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 / 80 (2,5%)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-71,4% | Turun 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85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93 (6,5%)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+50,0% | Turun 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6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80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2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 / 4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 / 93 (2,2%)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5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77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2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 / 85 (1,2%)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Oct 2026 vs MTD-1 01–06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Oct 2026 vs MTD-1 01–06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-51,3%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Denpasar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7.604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21.214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15.177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3.252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47.277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16,1%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3.252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715 (22,0%)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1.934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552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433 (78,4%)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1.199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Oct 2026 vs MTD-1 01–06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118,2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100,3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10,7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230,0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136 | MoM -6,8%
PS: 123 | MoM -4,7%
• Elite
  RE: 10 | Active 100,0% | MoM 0,0%
  PS: 10 | Active 100,0% | MoM 0,0%
• Performer
  RE: 6 | Active 100,0% | MoM 0,0%
  PS: 6 | Active 100,0% | MoM 0,0%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Junior
  RE: 102 | Active 32,9% | MoM -6,4%
  PS: 89 | Active 28,7% | MoM -6,3%
• Greenfield
  RE: 14 | Active 70,0% | MoM -17,6%
  PS: 14 | Active 70,0% | MoM 0,0%
• Junior Plus
  RE: 4 | Active 80,0% | MoM 0,0%
  PS: 4 | Active 80,0%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Amlapura: PS 0,0%, Gap 0
• Grapari Gatsu Tengah: PS N/A, Gap 1
• Grapari Jimbaran: PS -42,9%, Gap -3
• Grapari Kuta: PS +50,0%, Gap 1
• Grapari Negara: PS 0,0%, Gap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Renon: PS 0,0%, Gap 0
• Grapari Singaraja: PS -100,0%, Gap -1
• Grapari Tabanan: PS -66,7%, Gap -2
• Grapari Ubud: PS -66,7%, Gap -2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Barat: RE -101 (-38,1%), PS -117 (-51,3%)
• Bali Timur: RE -23 (-18,3%), PS -22 (-23,2%)
• Bali Tengah 2: RE -20 (-10,4%), PS -6 (-3,8%)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Tengah 1: RE -2 (-9,5%), PS -5 (-38,5%)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Tengah 1: RE -1 (-16,7%), PS -2 (-66,7%)
• Bali Tengah 2: RE -1 (-14,3%), PS -2 (-33,3%)
• Bali Timur: RE 1 (+25,0%), PS -1 (-50,0%)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Barat: RE 0 (0,0%), PS -1 (-100,0%)
• Bali Timur: RE -1 (-100,0%), PS -1 (-100,0%)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Oct 2026 vs MTD-1 01–06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-49,0%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Oct 2026 vs MTD-1 01–06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48,6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33,3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20,7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23,7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25,9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133,9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118,9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36,8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34,3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40,8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18,9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Oct 2026 vs MTD-1 01–06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MADE AWANG DARMAWAN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Novi Rohmatul hazijah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USAMAH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IDA AYU MIRAH PADMINI, SE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Handoko Priadtmono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Septian Adiputra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DEWI SRI WULAN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Winna Fitriany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Harry Mulia Sobari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GEDE WISADA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MADE MAWAYANA SE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SHINTIA SRIGANTINY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USAMAH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Adiyance Tes Lelo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DEWI SRI WULAN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ARIK IDA MAWARIYAH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Handoko Priadtmono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MADE AWANG DARMAWAN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LUH KARTINI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WAYAN HENDRA KARJAYA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Oct 2026 vs MTD-1 01–06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Indra syah 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IRMA NUR AINI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Ida ayu Made Sri Pradnya tari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Edy Susilo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DWI PRADNYAWATI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HERLINA JULIANTHI EDDY 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Vira dwi agustin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Marselinus Supardi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KADEK RIDAYANI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wayan pebri wirianta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Edy Susilo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DWI PRADNYAWATI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HERLINA JULIANTHI EDDY 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Vira dwi agustin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ROSA NINGRUM FATMALA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Marselinus Supardi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KADEK RIDAYANI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wayan pebri wirianta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Muhammad Fajar Nanda Imani0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Muhammad Khusairi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