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lsx" ContentType="application/vnd.openxmlformats-officedocument.spreadsheetml.sheet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charts/chart1.xml" ContentType="application/vnd.openxmlformats-officedocument.drawingml.chart+xml"/>
  <Override PartName="/ppt/charts/chart2.xml" ContentType="application/vnd.openxmlformats-officedocument.drawingml.chart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  <p:sldId id="265" r:id="rId16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Relationship Id="rId16" Type="http://schemas.openxmlformats.org/officeDocument/2006/relationships/slide" Target="slides/slide10.xml"/></Relationships>
</file>

<file path=ppt/charts/_rels/chart1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1.xlsx"/></Relationships>
</file>

<file path=ppt/charts/_rels/chart2.xml.rels><?xml version='1.0' encoding='UTF-8' standalone='yes'?>
<Relationships xmlns="http://schemas.openxmlformats.org/package/2006/relationships"><Relationship Id="rId1" Type="http://schemas.openxmlformats.org/officeDocument/2006/relationships/package" Target="../embeddings/Microsoft_Excel_Sheet2.xlsx"/></Relationships>
</file>

<file path=ppt/charts/chart1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36.0</c:v>
                </c:pt>
                <c:pt idx="1">
                  <c:v>29.0</c:v>
                </c:pt>
                <c:pt idx="2">
                  <c:v>22.0</c:v>
                </c:pt>
                <c:pt idx="3">
                  <c:v>32.0</c:v>
                </c:pt>
                <c:pt idx="4">
                  <c:v>20.0</c:v>
                </c:pt>
                <c:pt idx="5">
                  <c:v>16.0</c:v>
                </c:pt>
                <c:pt idx="6">
                  <c:v>38.0</c:v>
                </c:pt>
                <c:pt idx="7">
                  <c:v>28.0</c:v>
                </c:pt>
                <c:pt idx="8">
                  <c:v>27.0</c:v>
                </c:pt>
                <c:pt idx="9">
                  <c:v>26.0</c:v>
                </c:pt>
                <c:pt idx="10">
                  <c:v>23.0</c:v>
                </c:pt>
                <c:pt idx="11">
                  <c:v>17.0</c:v>
                </c:pt>
                <c:pt idx="12">
                  <c:v>11.0</c:v>
                </c:pt>
                <c:pt idx="13">
                  <c:v>35.0</c:v>
                </c:pt>
                <c:pt idx="14">
                  <c:v>28.0</c:v>
                </c:pt>
                <c:pt idx="15">
                  <c:v>34.0</c:v>
                </c:pt>
                <c:pt idx="16">
                  <c:v>28.0</c:v>
                </c:pt>
                <c:pt idx="17">
                  <c:v>24.0</c:v>
                </c:pt>
                <c:pt idx="18">
                  <c:v>18.0</c:v>
                </c:pt>
                <c:pt idx="19">
                  <c:v>13.0</c:v>
                </c:pt>
                <c:pt idx="20">
                  <c:v>45.0</c:v>
                </c:pt>
                <c:pt idx="21">
                  <c:v>37.0</c:v>
                </c:pt>
                <c:pt idx="22">
                  <c:v>29.0</c:v>
                </c:pt>
                <c:pt idx="23">
                  <c:v>26.0</c:v>
                </c:pt>
                <c:pt idx="24">
                  <c:v>21.0</c:v>
                </c:pt>
                <c:pt idx="25">
                  <c:v>22.0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29.0</c:v>
                </c:pt>
                <c:pt idx="1">
                  <c:v>21.0</c:v>
                </c:pt>
                <c:pt idx="2">
                  <c:v>16.0</c:v>
                </c:pt>
                <c:pt idx="3">
                  <c:v>26.0</c:v>
                </c:pt>
                <c:pt idx="4">
                  <c:v>12.0</c:v>
                </c:pt>
                <c:pt idx="5">
                  <c:v>13.0</c:v>
                </c:pt>
                <c:pt idx="6">
                  <c:v>30.0</c:v>
                </c:pt>
                <c:pt idx="7">
                  <c:v>19.0</c:v>
                </c:pt>
                <c:pt idx="8">
                  <c:v>23.0</c:v>
                </c:pt>
                <c:pt idx="9">
                  <c:v>19.0</c:v>
                </c:pt>
                <c:pt idx="10">
                  <c:v>16.0</c:v>
                </c:pt>
                <c:pt idx="11">
                  <c:v>14.0</c:v>
                </c:pt>
                <c:pt idx="12">
                  <c:v>9.0</c:v>
                </c:pt>
                <c:pt idx="13">
                  <c:v>29.0</c:v>
                </c:pt>
                <c:pt idx="14">
                  <c:v>22.0</c:v>
                </c:pt>
                <c:pt idx="15">
                  <c:v>28.0</c:v>
                </c:pt>
                <c:pt idx="16">
                  <c:v>22.0</c:v>
                </c:pt>
                <c:pt idx="17">
                  <c:v>19.0</c:v>
                </c:pt>
                <c:pt idx="18">
                  <c:v>11.0</c:v>
                </c:pt>
                <c:pt idx="19">
                  <c:v>11.0</c:v>
                </c:pt>
                <c:pt idx="20">
                  <c:v>37.0</c:v>
                </c:pt>
                <c:pt idx="21">
                  <c:v>31.0</c:v>
                </c:pt>
                <c:pt idx="22">
                  <c:v>23.0</c:v>
                </c:pt>
                <c:pt idx="23">
                  <c:v>20.0</c:v>
                </c:pt>
                <c:pt idx="24">
                  <c:v>17.0</c:v>
                </c:pt>
                <c:pt idx="25">
                  <c:v>18.0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7.0</c:v>
                </c:pt>
                <c:pt idx="1">
                  <c:v>8.0</c:v>
                </c:pt>
                <c:pt idx="2">
                  <c:v>6.0</c:v>
                </c:pt>
                <c:pt idx="3">
                  <c:v>6.0</c:v>
                </c:pt>
                <c:pt idx="4">
                  <c:v>8.0</c:v>
                </c:pt>
                <c:pt idx="5">
                  <c:v>3.0</c:v>
                </c:pt>
                <c:pt idx="6">
                  <c:v>8.0</c:v>
                </c:pt>
                <c:pt idx="7">
                  <c:v>9.0</c:v>
                </c:pt>
                <c:pt idx="8">
                  <c:v>4.0</c:v>
                </c:pt>
                <c:pt idx="9">
                  <c:v>7.0</c:v>
                </c:pt>
                <c:pt idx="10">
                  <c:v>7.0</c:v>
                </c:pt>
                <c:pt idx="11">
                  <c:v>3.0</c:v>
                </c:pt>
                <c:pt idx="12">
                  <c:v>2.0</c:v>
                </c:pt>
                <c:pt idx="13">
                  <c:v>6.0</c:v>
                </c:pt>
                <c:pt idx="14">
                  <c:v>6.0</c:v>
                </c:pt>
                <c:pt idx="15">
                  <c:v>6.0</c:v>
                </c:pt>
                <c:pt idx="16">
                  <c:v>6.0</c:v>
                </c:pt>
                <c:pt idx="17">
                  <c:v>5.0</c:v>
                </c:pt>
                <c:pt idx="18">
                  <c:v>7.0</c:v>
                </c:pt>
                <c:pt idx="19">
                  <c:v>2.0</c:v>
                </c:pt>
                <c:pt idx="20">
                  <c:v>8.0</c:v>
                </c:pt>
                <c:pt idx="21">
                  <c:v>6.0</c:v>
                </c:pt>
                <c:pt idx="22">
                  <c:v>6.0</c:v>
                </c:pt>
                <c:pt idx="23">
                  <c:v>6.0</c:v>
                </c:pt>
                <c:pt idx="24">
                  <c:v>4.0</c:v>
                </c:pt>
                <c:pt idx="25">
                  <c:v>4.0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charts/chart2.xml><?xml version="1.0" encoding="utf-8"?>
<c:chartSpace xmlns:c="http://schemas.openxmlformats.org/drawingml/2006/chart" xmlns:a="http://schemas.openxmlformats.org/drawingml/2006/main" xmlns:r="http://schemas.openxmlformats.org/officeDocument/2006/relationships">
  <c:date1904 val="0"/>
  <c:chart>
    <c:autoTitleDeleted val="1"/>
    <c:plotArea>
      <c:lineChart>
        <c:grouping val="standard"/>
        <c:varyColors val="0"/>
        <c:ser>
          <c:idx val="0"/>
          <c:order val="0"/>
          <c:tx>
            <c:strRef>
              <c:f>Sheet1!$B$1</c:f>
              <c:strCache>
                <c:ptCount val="1"/>
                <c:pt idx="0">
                  <c:v>Kupang</c:v>
                </c:pt>
              </c:strCache>
            </c:strRef>
          </c:tx>
          <c:spPr>
            <a:ln w="31750"/>
          </c:spPr>
          <c:marker>
            <c:size val="6"/>
          </c:marker>
          <c:dLbls>
            <c:txPr>
              <a:bodyPr/>
              <a:lstStyle/>
              <a:p>
                <a:pPr>
                  <a:defRPr sz="80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Sheet1!$B$2:$B$28</c:f>
              <c:numCache>
                <c:formatCode>General</c:formatCode>
                <c:ptCount val="27"/>
                <c:pt idx="0">
                  <c:v>27.0</c:v>
                </c:pt>
                <c:pt idx="1">
                  <c:v>24.0</c:v>
                </c:pt>
                <c:pt idx="2">
                  <c:v>25.0</c:v>
                </c:pt>
                <c:pt idx="3">
                  <c:v>27.0</c:v>
                </c:pt>
                <c:pt idx="4">
                  <c:v>18.0</c:v>
                </c:pt>
                <c:pt idx="5">
                  <c:v>14.0</c:v>
                </c:pt>
                <c:pt idx="6">
                  <c:v>27.0</c:v>
                </c:pt>
                <c:pt idx="7">
                  <c:v>27.0</c:v>
                </c:pt>
                <c:pt idx="8">
                  <c:v>24.0</c:v>
                </c:pt>
                <c:pt idx="9">
                  <c:v>24.0</c:v>
                </c:pt>
                <c:pt idx="10">
                  <c:v>25.0</c:v>
                </c:pt>
                <c:pt idx="11">
                  <c:v>15.0</c:v>
                </c:pt>
                <c:pt idx="12">
                  <c:v>7.0</c:v>
                </c:pt>
                <c:pt idx="13">
                  <c:v>26.0</c:v>
                </c:pt>
                <c:pt idx="14">
                  <c:v>29.0</c:v>
                </c:pt>
                <c:pt idx="15">
                  <c:v>30.0</c:v>
                </c:pt>
                <c:pt idx="16">
                  <c:v>25.0</c:v>
                </c:pt>
                <c:pt idx="17">
                  <c:v>26.0</c:v>
                </c:pt>
                <c:pt idx="18">
                  <c:v>17.0</c:v>
                </c:pt>
                <c:pt idx="19">
                  <c:v>11.0</c:v>
                </c:pt>
                <c:pt idx="20">
                  <c:v>34.0</c:v>
                </c:pt>
                <c:pt idx="21">
                  <c:v>34.0</c:v>
                </c:pt>
                <c:pt idx="22">
                  <c:v>28.0</c:v>
                </c:pt>
                <c:pt idx="23">
                  <c:v>26.0</c:v>
                </c:pt>
                <c:pt idx="24">
                  <c:v>25.0</c:v>
                </c:pt>
                <c:pt idx="25">
                  <c:v>14.0</c:v>
                </c:pt>
                <c:pt idx="26">
                  <c:v>0</c:v>
                </c:pt>
              </c:numCache>
            </c:numRef>
          </c:val>
          <c:smooth val="0"/>
        </c:ser>
        <c:ser>
          <c:idx val="1"/>
          <c:order val="1"/>
          <c:tx>
            <c:strRef>
              <c:f>Sheet1!$C$1</c:f>
              <c:strCache>
                <c:ptCount val="1"/>
                <c:pt idx="0">
                  <c:v>Kupang Rote - Malaka Timtim Belu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Sheet1!$C$2:$C$28</c:f>
              <c:numCache>
                <c:formatCode>General</c:formatCode>
                <c:ptCount val="27"/>
                <c:pt idx="0">
                  <c:v>23.0</c:v>
                </c:pt>
                <c:pt idx="1">
                  <c:v>20.0</c:v>
                </c:pt>
                <c:pt idx="2">
                  <c:v>18.0</c:v>
                </c:pt>
                <c:pt idx="3">
                  <c:v>20.0</c:v>
                </c:pt>
                <c:pt idx="4">
                  <c:v>11.0</c:v>
                </c:pt>
                <c:pt idx="5">
                  <c:v>12.0</c:v>
                </c:pt>
                <c:pt idx="6">
                  <c:v>19.0</c:v>
                </c:pt>
                <c:pt idx="7">
                  <c:v>20.0</c:v>
                </c:pt>
                <c:pt idx="8">
                  <c:v>16.0</c:v>
                </c:pt>
                <c:pt idx="9">
                  <c:v>18.0</c:v>
                </c:pt>
                <c:pt idx="10">
                  <c:v>19.0</c:v>
                </c:pt>
                <c:pt idx="11">
                  <c:v>11.0</c:v>
                </c:pt>
                <c:pt idx="12">
                  <c:v>6.0</c:v>
                </c:pt>
                <c:pt idx="13">
                  <c:v>20.0</c:v>
                </c:pt>
                <c:pt idx="14">
                  <c:v>23.0</c:v>
                </c:pt>
                <c:pt idx="15">
                  <c:v>22.0</c:v>
                </c:pt>
                <c:pt idx="16">
                  <c:v>21.0</c:v>
                </c:pt>
                <c:pt idx="17">
                  <c:v>19.0</c:v>
                </c:pt>
                <c:pt idx="18">
                  <c:v>13.0</c:v>
                </c:pt>
                <c:pt idx="19">
                  <c:v>10.0</c:v>
                </c:pt>
                <c:pt idx="20">
                  <c:v>28.0</c:v>
                </c:pt>
                <c:pt idx="21">
                  <c:v>28.0</c:v>
                </c:pt>
                <c:pt idx="22">
                  <c:v>22.0</c:v>
                </c:pt>
                <c:pt idx="23">
                  <c:v>22.0</c:v>
                </c:pt>
                <c:pt idx="24">
                  <c:v>19.0</c:v>
                </c:pt>
                <c:pt idx="25">
                  <c:v>11.0</c:v>
                </c:pt>
                <c:pt idx="26">
                  <c:v>0</c:v>
                </c:pt>
              </c:numCache>
            </c:numRef>
          </c:val>
          <c:smooth val="0"/>
        </c:ser>
        <c:ser>
          <c:idx val="2"/>
          <c:order val="2"/>
          <c:tx>
            <c:strRef>
              <c:f>Sheet1!$D$1</c:f>
              <c:strCache>
                <c:ptCount val="1"/>
                <c:pt idx="0">
                  <c:v>Sumba</c:v>
                </c:pt>
              </c:strCache>
            </c:strRef>
          </c:tx>
          <c:spPr>
            <a:ln w="20320"/>
          </c:spPr>
          <c:marker>
            <c:size val="4"/>
          </c:marker>
          <c:dLbls>
            <c:txPr>
              <a:bodyPr/>
              <a:lstStyle/>
              <a:p>
                <a:pPr>
                  <a:defRPr sz="750"/>
                </a:pPr>
              </a:p>
            </c:txPr>
            <c:showLegendKey val="0"/>
            <c:showVal val="1"/>
            <c:showCatName val="0"/>
            <c:showSerName val="0"/>
            <c:showPercent val="0"/>
            <c:showBubbleSize val="0"/>
            <c:showLeaderLines val="1"/>
          </c:dLbls>
          <c:cat>
            <c:strRef>
              <c:f>Sheet1!$A$2:$A$28</c:f>
              <c:strCache>
                <c:ptCount val="27"/>
                <c:pt idx="0">
                  <c:v>01 Sep</c:v>
                </c:pt>
                <c:pt idx="1">
                  <c:v>02 Sep</c:v>
                </c:pt>
                <c:pt idx="2">
                  <c:v>03 Sep</c:v>
                </c:pt>
                <c:pt idx="3">
                  <c:v>04 Sep</c:v>
                </c:pt>
                <c:pt idx="4">
                  <c:v>05 Sep</c:v>
                </c:pt>
                <c:pt idx="5">
                  <c:v>06 Sep</c:v>
                </c:pt>
                <c:pt idx="6">
                  <c:v>07 Sep</c:v>
                </c:pt>
                <c:pt idx="7">
                  <c:v>08 Sep</c:v>
                </c:pt>
                <c:pt idx="8">
                  <c:v>09 Sep</c:v>
                </c:pt>
                <c:pt idx="9">
                  <c:v>10 Sep</c:v>
                </c:pt>
                <c:pt idx="10">
                  <c:v>11 Sep</c:v>
                </c:pt>
                <c:pt idx="11">
                  <c:v>12 Sep</c:v>
                </c:pt>
                <c:pt idx="12">
                  <c:v>13 Sep</c:v>
                </c:pt>
                <c:pt idx="13">
                  <c:v>14 Sep</c:v>
                </c:pt>
                <c:pt idx="14">
                  <c:v>15 Sep</c:v>
                </c:pt>
                <c:pt idx="15">
                  <c:v>16 Sep</c:v>
                </c:pt>
                <c:pt idx="16">
                  <c:v>17 Sep</c:v>
                </c:pt>
                <c:pt idx="17">
                  <c:v>18 Sep</c:v>
                </c:pt>
                <c:pt idx="18">
                  <c:v>19 Sep</c:v>
                </c:pt>
                <c:pt idx="19">
                  <c:v>20 Sep</c:v>
                </c:pt>
                <c:pt idx="20">
                  <c:v>21 Sep</c:v>
                </c:pt>
                <c:pt idx="21">
                  <c:v>22 Sep</c:v>
                </c:pt>
                <c:pt idx="22">
                  <c:v>23 Sep</c:v>
                </c:pt>
                <c:pt idx="23">
                  <c:v>24 Sep</c:v>
                </c:pt>
                <c:pt idx="24">
                  <c:v>25 Sep</c:v>
                </c:pt>
                <c:pt idx="25">
                  <c:v>26 Sep</c:v>
                </c:pt>
                <c:pt idx="26">
                  <c:v>27 Sep</c:v>
                </c:pt>
              </c:strCache>
            </c:strRef>
          </c:cat>
          <c:val>
            <c:numRef>
              <c:f>Sheet1!$D$2:$D$28</c:f>
              <c:numCache>
                <c:formatCode>General</c:formatCode>
                <c:ptCount val="27"/>
                <c:pt idx="0">
                  <c:v>4.0</c:v>
                </c:pt>
                <c:pt idx="1">
                  <c:v>4.0</c:v>
                </c:pt>
                <c:pt idx="2">
                  <c:v>7.0</c:v>
                </c:pt>
                <c:pt idx="3">
                  <c:v>7.0</c:v>
                </c:pt>
                <c:pt idx="4">
                  <c:v>7.0</c:v>
                </c:pt>
                <c:pt idx="5">
                  <c:v>2.0</c:v>
                </c:pt>
                <c:pt idx="6">
                  <c:v>8.0</c:v>
                </c:pt>
                <c:pt idx="7">
                  <c:v>7.0</c:v>
                </c:pt>
                <c:pt idx="8">
                  <c:v>8.0</c:v>
                </c:pt>
                <c:pt idx="9">
                  <c:v>6.0</c:v>
                </c:pt>
                <c:pt idx="10">
                  <c:v>6.0</c:v>
                </c:pt>
                <c:pt idx="11">
                  <c:v>4.0</c:v>
                </c:pt>
                <c:pt idx="12">
                  <c:v>1.0</c:v>
                </c:pt>
                <c:pt idx="13">
                  <c:v>6.0</c:v>
                </c:pt>
                <c:pt idx="14">
                  <c:v>6.0</c:v>
                </c:pt>
                <c:pt idx="15">
                  <c:v>8.0</c:v>
                </c:pt>
                <c:pt idx="16">
                  <c:v>4.0</c:v>
                </c:pt>
                <c:pt idx="17">
                  <c:v>7.0</c:v>
                </c:pt>
                <c:pt idx="18">
                  <c:v>4.0</c:v>
                </c:pt>
                <c:pt idx="19">
                  <c:v>1.0</c:v>
                </c:pt>
                <c:pt idx="20">
                  <c:v>6.0</c:v>
                </c:pt>
                <c:pt idx="21">
                  <c:v>6.0</c:v>
                </c:pt>
                <c:pt idx="22">
                  <c:v>6.0</c:v>
                </c:pt>
                <c:pt idx="23">
                  <c:v>4.0</c:v>
                </c:pt>
                <c:pt idx="24">
                  <c:v>6.0</c:v>
                </c:pt>
                <c:pt idx="25">
                  <c:v>3.0</c:v>
                </c:pt>
                <c:pt idx="26">
                  <c:v>0</c:v>
                </c:pt>
              </c:numCache>
            </c:numRef>
          </c:val>
          <c:smooth val="0"/>
        </c:ser>
        <c:marker val="1"/>
        <c:smooth val="0"/>
        <c:axId val="2118791784"/>
        <c:axId val="2140495176"/>
      </c:lineChart>
      <c:catAx>
        <c:axId val="2118791784"/>
        <c:scaling>
          <c:orientation val="minMax"/>
        </c:scaling>
        <c:delete val="0"/>
        <c:axPos val="b"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40495176"/>
        <c:crosses val="autoZero"/>
        <c:auto val="1"/>
        <c:lblAlgn val="ctr"/>
        <c:lblOffset val="100"/>
        <c:noMultiLvlLbl val="0"/>
      </c:catAx>
      <c:valAx>
        <c:axId val="2140495176"/>
        <c:scaling>
          <c:min val="0.0"/>
        </c:scaling>
        <c:delete val="0"/>
        <c:axPos val="l"/>
        <c:majorGridlines/>
        <c:majorTickMark val="out"/>
        <c:minorTickMark val="none"/>
        <c:tickLblPos val="nextTo"/>
        <c:txPr>
          <a:bodyPr/>
          <a:lstStyle/>
          <a:p>
            <a:pPr>
              <a:defRPr sz="900"/>
            </a:pPr>
          </a:p>
        </c:txPr>
        <c:crossAx val="2118791784"/>
        <c:crosses val="autoZero"/>
      </c:valAx>
    </c:plotArea>
    <c:legend>
      <c:legendPos val="b"/>
      <c:layout/>
      <c:overlay val="0"/>
      <c:txPr>
        <a:bodyPr/>
        <a:lstStyle/>
        <a:p>
          <a:pPr>
            <a:defRPr sz="900"/>
          </a:pPr>
        </a:p>
      </c:txPr>
    </c:legend>
    <c:plotVisOnly val="1"/>
    <c:dispBlanksAs val="gap"/>
    <c:showDLblsOverMax val="0"/>
  </c:chart>
  <c:txPr>
    <a:bodyPr/>
    <a:lstStyle/>
    <a:p>
      <a:pPr>
        <a:defRPr sz="1800"/>
      </a:pPr>
      <a:endParaRPr lang="en-US"/>
    </a:p>
  </c:txPr>
  <c:externalData r:id="rId1">
    <c:autoUpdate val="0"/>
  </c:externalData>
</c:chartSpace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Relationship Id="rId2" Type="http://schemas.openxmlformats.org/officeDocument/2006/relationships/chart" Target="../charts/chart1.xml"/><Relationship Id="rId3" Type="http://schemas.openxmlformats.org/officeDocument/2006/relationships/chart" Target="../charts/chart2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Area &amp; Product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Branch Performance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33271"/>
          <a:ext cx="5394957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911824"/>
                <a:gridCol w="683868"/>
                <a:gridCol w="683868"/>
                <a:gridCol w="683868"/>
                <a:gridCol w="835838"/>
                <a:gridCol w="759853"/>
                <a:gridCol w="835838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Metric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Target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1.739,5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59,0%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713,5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1.388,7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60,7%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545,7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011680"/>
            <a:ext cx="53949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Target Branch = agregasi target 2 WOK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221992"/>
          <a:ext cx="5394958" cy="30175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27331"/>
                <a:gridCol w="1412965"/>
                <a:gridCol w="1412965"/>
                <a:gridCol w="1241697"/>
              </a:tblGrid>
              <a:tr h="30175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to RE Ratio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MTD-1: 81,3%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MTD: 82,2%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+0,9 pp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6144768" y="749808"/>
            <a:ext cx="57150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RE &amp; PS Performance by Speed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144768" y="1033271"/>
          <a:ext cx="5714998" cy="178308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66630"/>
                <a:gridCol w="559076"/>
                <a:gridCol w="559076"/>
                <a:gridCol w="559076"/>
                <a:gridCol w="559076"/>
                <a:gridCol w="559076"/>
                <a:gridCol w="559076"/>
                <a:gridCol w="434836"/>
                <a:gridCol w="559076"/>
              </a:tblGrid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Kontrib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-41,9%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+55,5%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25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5473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72,7%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3054096"/>
            <a:ext cx="987552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WOK Performance — seluruh WOK Kupang</a:t>
            </a:r>
          </a:p>
        </p:txBody>
      </p:sp>
      <p:graphicFrame>
        <p:nvGraphicFramePr>
          <p:cNvPr id="14" name="Table 13"/>
          <p:cNvGraphicFramePr>
            <a:graphicFrameLocks noGrp="1"/>
          </p:cNvGraphicFramePr>
          <p:nvPr/>
        </p:nvGraphicFramePr>
        <p:xfrm>
          <a:off x="320040" y="3337560"/>
          <a:ext cx="9646911" cy="9326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5727"/>
                <a:gridCol w="742070"/>
                <a:gridCol w="742070"/>
                <a:gridCol w="742070"/>
                <a:gridCol w="742070"/>
                <a:gridCol w="816277"/>
                <a:gridCol w="742070"/>
                <a:gridCol w="742070"/>
                <a:gridCol w="742070"/>
                <a:gridCol w="742070"/>
                <a:gridCol w="816277"/>
                <a:gridCol w="74207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Achv%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Gap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844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659,0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55,7%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509,6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81,8%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54,5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84,9%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5" name="TextBox 14"/>
          <p:cNvSpPr txBox="1"/>
          <p:nvPr/>
        </p:nvSpPr>
        <p:spPr>
          <a:xfrm>
            <a:off x="320040" y="4517136"/>
            <a:ext cx="115214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Kabupaten Performance — Top 3 &amp; Bottom 3 by MoM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20040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37D3F"/>
                </a:solidFill>
                <a:latin typeface="Arial"/>
              </a:rPr>
              <a:t>Top 3 (MoM PS Tertinggi)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27648" y="4800599"/>
            <a:ext cx="539496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D73527"/>
                </a:solidFill>
                <a:latin typeface="Arial"/>
              </a:rPr>
              <a:t>Bottom 3 (MoM PS Terendah)</a:t>
            </a:r>
          </a:p>
        </p:txBody>
      </p:sp>
      <p:graphicFrame>
        <p:nvGraphicFramePr>
          <p:cNvPr id="18" name="Table 17"/>
          <p:cNvGraphicFramePr>
            <a:graphicFrameLocks noGrp="1"/>
          </p:cNvGraphicFramePr>
          <p:nvPr/>
        </p:nvGraphicFramePr>
        <p:xfrm>
          <a:off x="320040" y="5010912"/>
          <a:ext cx="5559550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25378"/>
                <a:gridCol w="958543"/>
                <a:gridCol w="958543"/>
                <a:gridCol w="958543"/>
                <a:gridCol w="958543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107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+28,9%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Sabu Raijua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+27,3%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 Barat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6327648" y="5010912"/>
          <a:ext cx="5541262" cy="89611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19702"/>
                <a:gridCol w="955390"/>
                <a:gridCol w="955390"/>
                <a:gridCol w="955390"/>
                <a:gridCol w="955390"/>
              </a:tblGrid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Kabupaten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Timor Tengah Selatan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-21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Malaka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02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-34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-14,0%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Sales Force &amp; DJP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Sales Force Scorecard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9509760" y="749808"/>
            <a:ext cx="23317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000" b="0" i="1">
                <a:solidFill>
                  <a:srgbClr val="687386"/>
                </a:solidFill>
                <a:latin typeface="Arial"/>
              </a:rPr>
              <a:t>Registered SF: 152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320040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429768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RE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429768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115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920240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+11,7%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429768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103   Δ 12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3227832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3337560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PS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3337560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111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4828032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137D3F"/>
                </a:solidFill>
                <a:latin typeface="Arial"/>
              </a:rPr>
              <a:t>+8,8%</a:t>
            </a:r>
          </a:p>
        </p:txBody>
      </p:sp>
      <p:sp>
        <p:nvSpPr>
          <p:cNvPr id="18" name="TextBox 17"/>
          <p:cNvSpPr txBox="1"/>
          <p:nvPr/>
        </p:nvSpPr>
        <p:spPr>
          <a:xfrm>
            <a:off x="3337560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102   Δ 9</a:t>
            </a:r>
          </a:p>
        </p:txBody>
      </p:sp>
      <p:sp>
        <p:nvSpPr>
          <p:cNvPr id="19" name="Rounded Rectangle 18"/>
          <p:cNvSpPr/>
          <p:nvPr/>
        </p:nvSpPr>
        <p:spPr>
          <a:xfrm>
            <a:off x="6135624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6245352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SF Active DJP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6245352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73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735824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-13,1%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245352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84   Δ -11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9043416" y="1014984"/>
            <a:ext cx="2770632" cy="987552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9153144" y="1115568"/>
            <a:ext cx="256032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00" b="1" i="0">
                <a:solidFill>
                  <a:srgbClr val="102C50"/>
                </a:solidFill>
                <a:latin typeface="Arial"/>
              </a:rPr>
              <a:t>Aktivitas DJP — Total Visit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9153144" y="1344168"/>
            <a:ext cx="1508760" cy="34747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2400" b="1" i="0">
                <a:solidFill>
                  <a:srgbClr val="20252B"/>
                </a:solidFill>
                <a:latin typeface="Arial"/>
              </a:rPr>
              <a:t>2.330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10643616" y="1362456"/>
            <a:ext cx="1024128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200" b="1" i="0">
                <a:solidFill>
                  <a:srgbClr val="D73527"/>
                </a:solidFill>
                <a:latin typeface="Arial"/>
              </a:rPr>
              <a:t>-26,8%</a:t>
            </a:r>
          </a:p>
        </p:txBody>
      </p:sp>
      <p:sp>
        <p:nvSpPr>
          <p:cNvPr id="28" name="TextBox 27"/>
          <p:cNvSpPr txBox="1"/>
          <p:nvPr/>
        </p:nvSpPr>
        <p:spPr>
          <a:xfrm>
            <a:off x="9153144" y="1728216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MTD-1: 3.181   Δ -851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320040" y="2221992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&amp; DJP by WOK</a:t>
            </a:r>
          </a:p>
        </p:txBody>
      </p:sp>
      <p:graphicFrame>
        <p:nvGraphicFramePr>
          <p:cNvPr id="30" name="Table 29"/>
          <p:cNvGraphicFramePr>
            <a:graphicFrameLocks noGrp="1"/>
          </p:cNvGraphicFramePr>
          <p:nvPr/>
        </p:nvGraphicFramePr>
        <p:xfrm>
          <a:off x="320040" y="2505456"/>
          <a:ext cx="11548867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498708"/>
                <a:gridCol w="66119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749354"/>
                <a:gridCol w="881593"/>
                <a:gridCol w="881593"/>
                <a:gridCol w="881593"/>
              </a:tblGrid>
              <a:tr h="320040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Reg.</a:t>
                      </a:r>
                    </a:p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3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SF Active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6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FFFFFF"/>
                          </a:solidFill>
                          <a:latin typeface="Arial"/>
                        </a:rPr>
                        <a:t>DJP Activity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20040">
                <a:tc vMerge="1">
                  <a:txBody>
                    <a:bodyPr/>
                    <a:lstStyle/>
                    <a:p/>
                  </a:txBody>
                  <a:tcPr/>
                </a:tc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Visit</a:t>
                      </a:r>
                    </a:p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294A7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120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86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+8,1%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68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60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2.628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1.878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-28,5%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32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+6,2%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137D3F"/>
                          </a:solidFill>
                          <a:latin typeface="Arial"/>
                        </a:rPr>
                        <a:t>+12,5%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20252B"/>
                          </a:solidFill>
                          <a:latin typeface="Arial"/>
                        </a:rPr>
                        <a:t>553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1">
                          <a:solidFill>
                            <a:srgbClr val="20252B"/>
                          </a:solidFill>
                          <a:latin typeface="Arial"/>
                        </a:rPr>
                        <a:t>452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50" b="0">
                          <a:solidFill>
                            <a:srgbClr val="D73527"/>
                          </a:solidFill>
                          <a:latin typeface="Arial"/>
                        </a:rPr>
                        <a:t>-18,3%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1" name="TextBox 30"/>
          <p:cNvSpPr txBox="1"/>
          <p:nvPr/>
        </p:nvSpPr>
        <p:spPr>
          <a:xfrm>
            <a:off x="320040" y="4133088"/>
            <a:ext cx="9601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SF Active RE &amp; PS by Speed — Branch Kupang</a:t>
            </a:r>
          </a:p>
        </p:txBody>
      </p:sp>
      <p:graphicFrame>
        <p:nvGraphicFramePr>
          <p:cNvPr id="32" name="Table 31"/>
          <p:cNvGraphicFramePr>
            <a:graphicFrameLocks noGrp="1"/>
          </p:cNvGraphicFramePr>
          <p:nvPr/>
        </p:nvGraphicFramePr>
        <p:xfrm>
          <a:off x="320040" y="4407408"/>
          <a:ext cx="7680955" cy="14173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51819"/>
                <a:gridCol w="908500"/>
                <a:gridCol w="908500"/>
                <a:gridCol w="743318"/>
                <a:gridCol w="908500"/>
                <a:gridCol w="908500"/>
                <a:gridCol w="743318"/>
                <a:gridCol w="908500"/>
              </a:tblGrid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Speed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Active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-1,3%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-49,4%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+24,2%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+17,7%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4,2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+78,3%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+85,7%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0247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-18,2%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33" name="TextBox 32"/>
          <p:cNvSpPr txBox="1"/>
          <p:nvPr/>
        </p:nvSpPr>
        <p:spPr>
          <a:xfrm>
            <a:off x="320040" y="5861304"/>
            <a:ext cx="8229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SF Active dihitung berdasarkan SF Code unik per kelompok; Aktivitas DJP merupakan total visit.</a:t>
            </a:r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SF Class Performance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22376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SF Active PS per Class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987552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7 / 9 (77,8%)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-22,2%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100 / 139 (71,9%)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+12,4%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111 / 152 (73,0%)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+8,8%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6 / 8 (75,0%)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84 / 109 (77,1%)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+12,0%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93 / 120 (77,5%)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+8,1%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30 (53,3%)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+14,3%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 / 32 (56,2%)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+12,5%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386584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PS per Class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2651760"/>
          <a:ext cx="1154887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20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-9,1%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638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+4,2%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89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D73527"/>
                          </a:solidFill>
                          <a:latin typeface="Arial"/>
                        </a:rPr>
                        <a:t>MoM -8,2%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747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+2,2%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17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-19,0%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490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+0,2%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-15,4%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562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D73527"/>
                          </a:solidFill>
                          <a:latin typeface="Arial"/>
                        </a:rPr>
                        <a:t>MoM -2,3%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788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148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+20,3%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34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185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+18,6%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3886200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SF Productive per Class (minimum 10 PS)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151376"/>
          <a:ext cx="11548870" cy="12801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845438"/>
                <a:gridCol w="1607317"/>
                <a:gridCol w="1607317"/>
                <a:gridCol w="1607317"/>
                <a:gridCol w="1607317"/>
                <a:gridCol w="1607317"/>
                <a:gridCol w="1666847"/>
              </a:tblGrid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Greenfield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Junior Plus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Performer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Elite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9 (0,0%)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23 / 139 (16,5%)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+21,1% | Turun 32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4 / 4 (100,0%)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27 / 152 (17,8%)</a:t>
                      </a:r>
                    </a:p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MoM +17,4% | Turun 38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8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16 / 109 (14,7%)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+6,7% | Turun 28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3 / 3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19 / 120 (15,8%)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+5,6% | Turun 34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2004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1 (0,0%)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7 / 30 (23,3%)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+75,0%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1 / 1 (100,0%)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0 / 0 (N/A)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0,0% | Turun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8 / 32 (25,0%)</a:t>
                      </a:r>
                    </a:p>
                    <a:p>
                      <a:pPr algn="ctr"/>
                      <a:r>
                        <a:rPr sz="770" b="0">
                          <a:solidFill>
                            <a:srgbClr val="20252B"/>
                          </a:solidFill>
                          <a:latin typeface="Arial"/>
                        </a:rPr>
                        <a:t>MoM +60,0% | Turun 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559612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19" b="0" i="1">
                <a:solidFill>
                  <a:srgbClr val="687386"/>
                </a:solidFill>
                <a:latin typeface="Arial"/>
              </a:rPr>
              <a:t>Active = minimum 1 PS. Turun = jumlah SF dengan PS MTD lebih rendah dibanding MTD-1 pada periode tanggal yang sama.</a:t>
            </a:r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Daily SF Active Trend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SF Active RE Harian</a:t>
            </a:r>
          </a:p>
        </p:txBody>
      </p:sp>
      <p:graphicFrame>
        <p:nvGraphicFramePr>
          <p:cNvPr id="8" name="Chart 7"/>
          <p:cNvGraphicFramePr>
            <a:graphicFrameLocks noGrp="1"/>
          </p:cNvGraphicFramePr>
          <p:nvPr/>
        </p:nvGraphicFramePr>
        <p:xfrm>
          <a:off x="320040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2"/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6327648" y="786384"/>
            <a:ext cx="55778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SF Active PS Harian</a:t>
            </a:r>
          </a:p>
        </p:txBody>
      </p:sp>
      <p:graphicFrame>
        <p:nvGraphicFramePr>
          <p:cNvPr id="10" name="Chart 9"/>
          <p:cNvGraphicFramePr>
            <a:graphicFrameLocks noGrp="1"/>
          </p:cNvGraphicFramePr>
          <p:nvPr/>
        </p:nvGraphicFramePr>
        <p:xfrm>
          <a:off x="6327648" y="1097280"/>
          <a:ext cx="5532120" cy="3246120"/>
        </p:xfrm>
        <a:graphic>
          <a:graphicData uri="http://schemas.openxmlformats.org/drawingml/2006/chart">
            <c:chart xmlns:c="http://schemas.openxmlformats.org/drawingml/2006/chart" r:id="rId3"/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4645152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Ringkasan Produktivitas Harian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4956048"/>
          <a:ext cx="7955277" cy="118872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2266049"/>
                <a:gridCol w="1735697"/>
                <a:gridCol w="1108917"/>
                <a:gridCol w="1735697"/>
                <a:gridCol w="1108917"/>
              </a:tblGrid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RE/Hari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Avg SF Active PS/Hari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per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25,4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22,6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19,8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97180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6236208"/>
            <a:ext cx="1133856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Total Branch merupakan SF Code unik per hari; angka WOK tidak dijumlahkan jika satu SF beraktivitas pada lebih dari satu WOK.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Channel &amp; ODP Summary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Agency Performance by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320040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+9,6%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6327648" y="7498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Grapari Performance by WOK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6327648" y="987552"/>
            <a:ext cx="530352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Diurutkan MoM PS tertinggi → terendah</a:t>
            </a:r>
          </a:p>
        </p:txBody>
      </p:sp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6327648" y="1207008"/>
          <a:ext cx="5541260" cy="11155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134957"/>
                <a:gridCol w="667622"/>
                <a:gridCol w="667622"/>
                <a:gridCol w="600859"/>
                <a:gridCol w="667622"/>
                <a:gridCol w="667622"/>
                <a:gridCol w="600859"/>
                <a:gridCol w="534097"/>
              </a:tblGrid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PS/</a:t>
                      </a:r>
                    </a:p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+30,2%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7185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+33,3%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3" name="TextBox 12"/>
          <p:cNvSpPr txBox="1"/>
          <p:nvPr/>
        </p:nvSpPr>
        <p:spPr>
          <a:xfrm>
            <a:off x="320040" y="2651760"/>
            <a:ext cx="10058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C.  Channel Scorecard — Total Branch Kupang</a:t>
            </a:r>
          </a:p>
        </p:txBody>
      </p:sp>
      <p:sp>
        <p:nvSpPr>
          <p:cNvPr id="14" name="TextBox 13"/>
          <p:cNvSpPr txBox="1"/>
          <p:nvPr/>
        </p:nvSpPr>
        <p:spPr>
          <a:xfrm>
            <a:off x="320040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AGENCY TOTAL</a:t>
            </a:r>
          </a:p>
        </p:txBody>
      </p:sp>
      <p:graphicFrame>
        <p:nvGraphicFramePr>
          <p:cNvPr id="15" name="Table 14"/>
          <p:cNvGraphicFramePr>
            <a:graphicFrameLocks noGrp="1"/>
          </p:cNvGraphicFramePr>
          <p:nvPr/>
        </p:nvGraphicFramePr>
        <p:xfrm>
          <a:off x="320040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6" name="TextBox 15"/>
          <p:cNvSpPr txBox="1"/>
          <p:nvPr/>
        </p:nvSpPr>
        <p:spPr>
          <a:xfrm>
            <a:off x="6327648" y="2944368"/>
            <a:ext cx="530352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02C50"/>
                </a:solidFill>
                <a:latin typeface="Arial"/>
              </a:rPr>
              <a:t>GRAPARI TOTAL</a:t>
            </a:r>
          </a:p>
        </p:txBody>
      </p:sp>
      <p:graphicFrame>
        <p:nvGraphicFramePr>
          <p:cNvPr id="17" name="Table 16"/>
          <p:cNvGraphicFramePr>
            <a:graphicFrameLocks noGrp="1"/>
          </p:cNvGraphicFramePr>
          <p:nvPr/>
        </p:nvGraphicFramePr>
        <p:xfrm>
          <a:off x="6327648" y="3209544"/>
          <a:ext cx="5394960" cy="62179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99160"/>
                <a:gridCol w="899160"/>
                <a:gridCol w="899160"/>
                <a:gridCol w="899160"/>
                <a:gridCol w="899160"/>
                <a:gridCol w="899160"/>
              </a:tblGrid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089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8" name="TextBox 17"/>
          <p:cNvSpPr txBox="1"/>
          <p:nvPr/>
        </p:nvSpPr>
        <p:spPr>
          <a:xfrm>
            <a:off x="320040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D.  ODP Occupancy Summary</a:t>
            </a:r>
          </a:p>
        </p:txBody>
      </p:sp>
      <p:graphicFrame>
        <p:nvGraphicFramePr>
          <p:cNvPr id="19" name="Table 18"/>
          <p:cNvGraphicFramePr>
            <a:graphicFrameLocks noGrp="1"/>
          </p:cNvGraphicFramePr>
          <p:nvPr/>
        </p:nvGraphicFramePr>
        <p:xfrm>
          <a:off x="320040" y="4928616"/>
          <a:ext cx="5413243" cy="9418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880202"/>
                <a:gridCol w="880202"/>
                <a:gridCol w="880202"/>
                <a:gridCol w="880202"/>
                <a:gridCol w="880202"/>
                <a:gridCol w="1012233"/>
              </a:tblGrid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ORANGE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YELLOW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GREEN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BLACK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 ODP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2.397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5.055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2.122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9.974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13944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24,0%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20" name="TextBox 19"/>
          <p:cNvSpPr txBox="1"/>
          <p:nvPr/>
        </p:nvSpPr>
        <p:spPr>
          <a:xfrm>
            <a:off x="6327648" y="4636008"/>
            <a:ext cx="54864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E.  DJP pada ODP Khusus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6327648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6455664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D73527"/>
                </a:solidFill>
                <a:latin typeface="Arial"/>
              </a:rPr>
              <a:t>ODP BLACK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6455664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389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6455664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107 (27,5%)</a:t>
            </a:r>
          </a:p>
        </p:txBody>
      </p:sp>
      <p:sp>
        <p:nvSpPr>
          <p:cNvPr id="25" name="TextBox 24"/>
          <p:cNvSpPr txBox="1"/>
          <p:nvPr/>
        </p:nvSpPr>
        <p:spPr>
          <a:xfrm>
            <a:off x="6455664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836408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D73527"/>
                </a:solidFill>
                <a:latin typeface="Arial"/>
              </a:rPr>
              <a:t>528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272016" y="4928616"/>
            <a:ext cx="2779776" cy="143560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400032" y="5056632"/>
            <a:ext cx="2468880" cy="201168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100" b="1" i="0">
                <a:solidFill>
                  <a:srgbClr val="137D3F"/>
                </a:solidFill>
                <a:latin typeface="Arial"/>
              </a:rPr>
              <a:t>ODP GREENFIELD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400032" y="5404104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687386"/>
                </a:solidFill>
                <a:latin typeface="Arial"/>
              </a:rPr>
              <a:t>Jumlah ODP  154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9400032" y="5669280"/>
            <a:ext cx="25146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0">
                <a:solidFill>
                  <a:srgbClr val="20252B"/>
                </a:solidFill>
                <a:latin typeface="Arial"/>
              </a:rPr>
              <a:t>ODP dikunjungi  117 (76,0%)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9400032" y="5916168"/>
            <a:ext cx="128016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0">
                <a:solidFill>
                  <a:srgbClr val="687386"/>
                </a:solidFill>
                <a:latin typeface="Arial"/>
              </a:rPr>
              <a:t>Total Visit DJP</a:t>
            </a:r>
          </a:p>
        </p:txBody>
      </p:sp>
      <p:sp>
        <p:nvSpPr>
          <p:cNvPr id="32" name="TextBox 31"/>
          <p:cNvSpPr txBox="1"/>
          <p:nvPr/>
        </p:nvSpPr>
        <p:spPr>
          <a:xfrm>
            <a:off x="10780776" y="5870448"/>
            <a:ext cx="1097280" cy="25603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400" b="1" i="0">
                <a:solidFill>
                  <a:srgbClr val="137D3F"/>
                </a:solidFill>
                <a:latin typeface="Arial"/>
              </a:rPr>
              <a:t>402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Performance RE &amp; PS per Channel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4980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Channel Scorecard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24128"/>
          <a:ext cx="11548867" cy="157276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693834"/>
                <a:gridCol w="1077894"/>
                <a:gridCol w="1077894"/>
                <a:gridCol w="975238"/>
                <a:gridCol w="1077894"/>
                <a:gridCol w="1077894"/>
                <a:gridCol w="975238"/>
                <a:gridCol w="1385864"/>
                <a:gridCol w="1129223"/>
                <a:gridCol w="1077894"/>
              </a:tblGrid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Channel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PS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Rev NS 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% Contr. 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1.064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1.024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197,8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Agency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910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864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-5,1%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778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175,2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89,3%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Grapari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+30,9%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10,8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+29,4%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Web &amp; Apps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+8,5%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0,0%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8,0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1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B2B2C &amp; Others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-36,7%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-47,6%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-48,0%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22468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Sobi Affiliate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+420,8%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0,6%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2852928"/>
            <a:ext cx="73152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Kontributor Penurunan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320040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429768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Agency SF Class Active (%, MoM)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466344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SF ACTIVE TOTAL
RE: 115 | MoM +11,7%
PS: 111 | MoM +8,8%
• Junior
  RE: 103 | Active 74,1% | MoM +13,2%
  PS: 100 | Active 71,9% | MoM +11,1%</a:t>
            </a:r>
          </a:p>
        </p:txBody>
      </p:sp>
      <p:sp>
        <p:nvSpPr>
          <p:cNvPr id="13" name="TextBox 12"/>
          <p:cNvSpPr txBox="1"/>
          <p:nvPr/>
        </p:nvSpPr>
        <p:spPr>
          <a:xfrm>
            <a:off x="3236976" y="3602736"/>
            <a:ext cx="2633472" cy="128016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Greenfield
  RE: 8 | Active 88,9% | MoM 0,0%
  PS: 7 | Active 77,8% | MoM -12,5%
• Junior Plus
  RE: 4 | Active 100,0% | MoM 0,0%
  PS: 4 | Active 100,0% | MoM 0,0%</a:t>
            </a:r>
          </a:p>
        </p:txBody>
      </p:sp>
      <p:sp>
        <p:nvSpPr>
          <p:cNvPr id="14" name="Rounded Rectangle 13"/>
          <p:cNvSpPr/>
          <p:nvPr/>
        </p:nvSpPr>
        <p:spPr>
          <a:xfrm>
            <a:off x="6163055" y="3182112"/>
            <a:ext cx="5705856" cy="1847088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272783" y="3264408"/>
            <a:ext cx="548640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50" b="1" i="0">
                <a:solidFill>
                  <a:srgbClr val="102C50"/>
                </a:solidFill>
                <a:latin typeface="Arial"/>
              </a:rPr>
              <a:t>GraPARI Performance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09359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Atambua: PS 0,0%, Gap 0
• Grapari Baa Rote: PS +200,0%, Gap 2
• Grapari Kefamenanu: PS 0,0%, Gap 0
• Grapari Kupang: PS +18,2%, Gap 2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9079992" y="3621024"/>
            <a:ext cx="2633472" cy="1234440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50" b="0" i="0">
                <a:solidFill>
                  <a:srgbClr val="20252B"/>
                </a:solidFill>
                <a:latin typeface="Arial"/>
              </a:rPr>
              <a:t>• Grapari Malaka: PS N/A, Gap 4
• Grapari Soe: PS +66,7%, Gap 2
• Grapari Waikabubak: PS +33,3%, Gap 1
• Grapari Waingapu: PS -28,6%, Gap -2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320040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TextBox 18"/>
          <p:cNvSpPr txBox="1"/>
          <p:nvPr/>
        </p:nvSpPr>
        <p:spPr>
          <a:xfrm>
            <a:off x="411479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Agency per WOK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29768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-65 (-9,1%), PS -48 (-7,8%)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3236976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2" name="TextBox 21"/>
          <p:cNvSpPr txBox="1"/>
          <p:nvPr/>
        </p:nvSpPr>
        <p:spPr>
          <a:xfrm>
            <a:off x="3328416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Web &amp; Apps per WOK</a:t>
            </a:r>
          </a:p>
        </p:txBody>
      </p:sp>
      <p:sp>
        <p:nvSpPr>
          <p:cNvPr id="23" name="TextBox 22"/>
          <p:cNvSpPr txBox="1"/>
          <p:nvPr/>
        </p:nvSpPr>
        <p:spPr>
          <a:xfrm>
            <a:off x="3346704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0 (0,0%), PS -5 (-18,5%)</a:t>
            </a:r>
          </a:p>
        </p:txBody>
      </p:sp>
      <p:sp>
        <p:nvSpPr>
          <p:cNvPr id="24" name="Rounded Rectangle 23"/>
          <p:cNvSpPr/>
          <p:nvPr/>
        </p:nvSpPr>
        <p:spPr>
          <a:xfrm>
            <a:off x="6153912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245351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B2B2C &amp; Others per WOK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6263640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• Kupang Rote - Malaka Timtim Belu: RE -17 (-36,2%), PS -10 (-47,6%)</a:t>
            </a:r>
          </a:p>
        </p:txBody>
      </p:sp>
      <p:sp>
        <p:nvSpPr>
          <p:cNvPr id="27" name="Rounded Rectangle 26"/>
          <p:cNvSpPr/>
          <p:nvPr/>
        </p:nvSpPr>
        <p:spPr>
          <a:xfrm>
            <a:off x="9070848" y="5166360"/>
            <a:ext cx="2788920" cy="1005840"/>
          </a:xfrm>
          <a:prstGeom prst="roundRect">
            <a:avLst>
              <a:gd name="adj" fmla="val 8000"/>
            </a:avLst>
          </a:prstGeom>
          <a:solidFill>
            <a:srgbClr val="F4F6F8"/>
          </a:solidFill>
          <a:ln w="7620">
            <a:solidFill>
              <a:srgbClr val="D8DEE7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8" name="TextBox 27"/>
          <p:cNvSpPr txBox="1"/>
          <p:nvPr/>
        </p:nvSpPr>
        <p:spPr>
          <a:xfrm>
            <a:off x="9162288" y="5239512"/>
            <a:ext cx="2606039" cy="237744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ctr"/>
            <a:r>
              <a:rPr sz="919" b="1" i="0">
                <a:solidFill>
                  <a:srgbClr val="102C50"/>
                </a:solidFill>
                <a:latin typeface="Arial"/>
              </a:rPr>
              <a:t>SOBI Affiliate per WOK</a:t>
            </a:r>
          </a:p>
        </p:txBody>
      </p:sp>
      <p:sp>
        <p:nvSpPr>
          <p:cNvPr id="29" name="TextBox 28"/>
          <p:cNvSpPr txBox="1"/>
          <p:nvPr/>
        </p:nvSpPr>
        <p:spPr>
          <a:xfrm>
            <a:off x="9180576" y="5559552"/>
            <a:ext cx="2569463" cy="466344"/>
          </a:xfrm>
          <a:prstGeom prst="rect">
            <a:avLst/>
          </a:prstGeom>
          <a:noFill/>
        </p:spPr>
        <p:txBody>
          <a:bodyPr wrap="none" lIns="27432" rIns="27432" tIns="0" bIns="0" anchor="t">
            <a:spAutoFit/>
          </a:bodyPr>
          <a:lstStyle/>
          <a:p>
            <a:pPr algn="l"/>
            <a:r>
              <a:rPr sz="830" b="0" i="0">
                <a:solidFill>
                  <a:srgbClr val="20252B"/>
                </a:solidFill>
                <a:latin typeface="Arial"/>
              </a:rPr>
              <a:t>Tidak ada penurunan PS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20040" y="6181344"/>
            <a:ext cx="1143000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850" b="0" i="1">
                <a:solidFill>
                  <a:srgbClr val="687386"/>
                </a:solidFill>
                <a:latin typeface="Arial"/>
              </a:rPr>
              <a:t>Gap = perubahan absolut MTD terhadap MTD-1 pada periode tanggal yang sama. Angka dalam kurung menunjukkan MoM.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PS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PS by Speed — Total Branch &amp; WOK</a:t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298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-44,7%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193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306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+58,5%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27,0%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266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162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215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+36,9%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41,4%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-77,8%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91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+152,8%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44,8%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9" name="TextBox 8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100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+112,8%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11,9%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42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83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+97,6%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-46,2%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+240,0%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8,4%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–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-66,7%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865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843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-2,5%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687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640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203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Revenue New Sales by Speed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758952"/>
            <a:ext cx="82296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A.  Revenue New Sales by Speed — Total Branch &amp; WOK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7635240" y="777240"/>
            <a:ext cx="420624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850" b="0" i="1">
                <a:solidFill>
                  <a:srgbClr val="687386"/>
                </a:solidFill>
                <a:latin typeface="Arial"/>
              </a:rPr>
              <a:t>Revenue = total price_package dari PS unik per order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078992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50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75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-13,6%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24,3%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76,2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41,3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-45,8%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20,8%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49,9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76,5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+53,3%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38,6%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39,1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-17,1%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21,5%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64,5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38,9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-39,7%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25,8%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40,1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52,5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+31,2%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16,8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15,9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33,3%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-79,6%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23,9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+143,5%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50,3%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0" name="TextBox 9"/>
          <p:cNvSpPr txBox="1"/>
          <p:nvPr/>
        </p:nvSpPr>
        <p:spPr>
          <a:xfrm>
            <a:off x="320040" y="3273552"/>
            <a:ext cx="640080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B.  Kelompok Speed Lanjutan</a:t>
            </a:r>
          </a:p>
        </p:txBody>
      </p:sp>
      <p:graphicFrame>
        <p:nvGraphicFramePr>
          <p:cNvPr id="11" name="Table 10"/>
          <p:cNvGraphicFramePr>
            <a:graphicFrameLocks noGrp="1"/>
          </p:cNvGraphicFramePr>
          <p:nvPr/>
        </p:nvGraphicFramePr>
        <p:xfrm>
          <a:off x="320040" y="3584448"/>
          <a:ext cx="11548872" cy="196596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65960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  <a:gridCol w="798576"/>
              </a:tblGrid>
              <a:tr h="393192">
                <a:tc rowSpan="2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Area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≥100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≤30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gridSpan="4"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900" b="1">
                          <a:solidFill>
                            <a:srgbClr val="FFFFFF"/>
                          </a:solidFill>
                          <a:latin typeface="Arial"/>
                        </a:rPr>
                        <a:t>TSEL One &gt;30 Mbps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  <a:tc hMerge="1">
                  <a:txBody>
                    <a:bodyPr/>
                    <a:lstStyle/>
                    <a:p/>
                  </a:txBody>
                  <a:tcPr/>
                </a:tc>
              </a:tr>
              <a:tr h="393192">
                <a:tc vMerge="1">
                  <a:txBody>
                    <a:bodyPr/>
                    <a:lstStyle/>
                    <a:p/>
                  </a:txBody>
                  <a:tcPr/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0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36577D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30,0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+94,4%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15,1%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5,4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-57,1%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13,8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24,9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+80,4%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16,5%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4,4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2,0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-54,9%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1,3%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393192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1,6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5,1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137D3F"/>
                          </a:solidFill>
                          <a:latin typeface="Arial"/>
                        </a:rPr>
                        <a:t>+213,2%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10,7%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N/A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Rp 950,0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1">
                          <a:solidFill>
                            <a:srgbClr val="20252B"/>
                          </a:solidFill>
                          <a:latin typeface="Arial"/>
                        </a:rPr>
                        <a:t>Rp 310,0 Rb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D73527"/>
                          </a:solidFill>
                          <a:latin typeface="Arial"/>
                        </a:rPr>
                        <a:t>-67,4%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850" b="0">
                          <a:solidFill>
                            <a:srgbClr val="20252B"/>
                          </a:solidFill>
                          <a:latin typeface="Arial"/>
                        </a:rPr>
                        <a:t>0,7%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2" name="Table 11"/>
          <p:cNvGraphicFramePr>
            <a:graphicFrameLocks noGrp="1"/>
          </p:cNvGraphicFramePr>
          <p:nvPr/>
        </p:nvGraphicFramePr>
        <p:xfrm>
          <a:off x="320040" y="5760720"/>
          <a:ext cx="7315197" cy="713232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777138"/>
                <a:gridCol w="1405179"/>
                <a:gridCol w="1405179"/>
                <a:gridCol w="1239864"/>
                <a:gridCol w="1487837"/>
              </a:tblGrid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TOTAL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MoM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Contribution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202,8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198,3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-2,2%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161,8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150,7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-6,9%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17830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Rp 41,0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Rp 47,6 Jt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+16,1%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100,0%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Top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Top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+400,0%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RICHARDUS YOHANES MOENSAKU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8,0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YULIUS LEDE NGONGO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DJORGHY RIZALDHY GA LONI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JEPRIANUS MUJI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+140,0%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Anita Welmince ukat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+500,0%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INLY OLIFA PABALA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Stefanus jefri kantur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+300,0%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BRAMPI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Christin Natalia Banunaek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4,0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MELISA PRATAMI ALSYATRI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2,0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+200,0%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STANISLAUS APRIANUS 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3,0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+150,0%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JOSE CORREIA DASILVA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9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5,0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+125,0%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Cornelis Desanto Karo Karel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6,0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+120,0%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MARIA RANGGA BELA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687386"/>
                          </a:solidFill>
                          <a:latin typeface="Arial"/>
                        </a:rPr>
                        <a:t>7,0</a:t>
                      </a:r>
                    </a:p>
                  </a:txBody>
                  <a:tcPr marL="27432" marR="27432" marT="0" marB="0">
                    <a:solidFill>
                      <a:srgbClr val="E9EDF2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137D3F"/>
                          </a:solidFill>
                          <a:latin typeface="Arial"/>
                        </a:rPr>
                        <a:t>+116,7%</a:t>
                      </a:r>
                    </a:p>
                  </a:txBody>
                  <a:tcPr marL="27432" marR="27432" marT="0" marB="0">
                    <a:solidFill>
                      <a:srgbClr val="E5F4EA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137D3F"/>
                </a:solidFill>
                <a:latin typeface="Arial"/>
              </a:rPr>
              <a:t>Top 10 branch</a:t>
            </a:r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21792"/>
          </a:xfrm>
          <a:prstGeom prst="rect">
            <a:avLst/>
          </a:prstGeom>
          <a:solidFill>
            <a:srgbClr val="ED0033"/>
          </a:solidFill>
          <a:ln w="7620">
            <a:solidFill>
              <a:srgbClr val="ED0033"/>
            </a:solidFill>
          </a:ln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320040" y="73152"/>
            <a:ext cx="8732520" cy="32004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750" b="1" i="0">
                <a:solidFill>
                  <a:srgbClr val="FFFFFF"/>
                </a:solidFill>
                <a:latin typeface="Arial"/>
              </a:rPr>
              <a:t>Kupang Appendix — Bottom 10 SF berdasarkan Pertumbuhan RE &amp; PS</a:t>
            </a:r>
          </a:p>
        </p:txBody>
      </p:sp>
      <p:sp>
        <p:nvSpPr>
          <p:cNvPr id="4" name="TextBox 3"/>
          <p:cNvSpPr txBox="1"/>
          <p:nvPr/>
        </p:nvSpPr>
        <p:spPr>
          <a:xfrm>
            <a:off x="320040" y="393192"/>
            <a:ext cx="685800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050" b="0" i="0">
                <a:solidFill>
                  <a:srgbClr val="FFFFFF"/>
                </a:solidFill>
                <a:latin typeface="Arial"/>
              </a:rPr>
              <a:t>MTD 01–27 Sep 2026 vs MTD-1 01–27 Aug 2026</a:t>
            </a:r>
          </a:p>
        </p:txBody>
      </p:sp>
      <p:sp>
        <p:nvSpPr>
          <p:cNvPr id="5" name="TextBox 4"/>
          <p:cNvSpPr txBox="1"/>
          <p:nvPr/>
        </p:nvSpPr>
        <p:spPr>
          <a:xfrm>
            <a:off x="9281160" y="109728"/>
            <a:ext cx="260604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1300" b="1" i="0">
                <a:solidFill>
                  <a:srgbClr val="FFFFFF"/>
                </a:solidFill>
                <a:latin typeface="Arial"/>
              </a:rPr>
              <a:t>Telkomsel — BALINUSRA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9418320" y="384048"/>
            <a:ext cx="2468880" cy="164592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50" b="0" i="0">
                <a:solidFill>
                  <a:srgbClr val="FFFFFF"/>
                </a:solidFill>
                <a:latin typeface="Arial"/>
              </a:rPr>
              <a:t>Branch Kupang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320040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RE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6327648" y="804672"/>
            <a:ext cx="5394960" cy="22860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1500" b="1" i="0">
                <a:solidFill>
                  <a:srgbClr val="102C50"/>
                </a:solidFill>
                <a:latin typeface="Arial"/>
              </a:rPr>
              <a:t>Bottom 10 — Growth PS</a:t>
            </a:r>
          </a:p>
        </p:txBody>
      </p:sp>
      <p:graphicFrame>
        <p:nvGraphicFramePr>
          <p:cNvPr id="9" name="Table 8"/>
          <p:cNvGraphicFramePr>
            <a:graphicFrameLocks noGrp="1"/>
          </p:cNvGraphicFramePr>
          <p:nvPr/>
        </p:nvGraphicFramePr>
        <p:xfrm>
          <a:off x="320040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FERDY ARYANDO JARA JUTALO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-17,0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3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-3,0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ATRY TAHUN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-9,0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-81,8%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7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-61,1%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graphicFrame>
        <p:nvGraphicFramePr>
          <p:cNvPr id="10" name="Table 9"/>
          <p:cNvGraphicFramePr>
            <a:graphicFrameLocks noGrp="1"/>
          </p:cNvGraphicFramePr>
          <p:nvPr/>
        </p:nvGraphicFramePr>
        <p:xfrm>
          <a:off x="6327648" y="1115568"/>
          <a:ext cx="5532117" cy="449884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14363"/>
                <a:gridCol w="1289265"/>
                <a:gridCol w="562588"/>
                <a:gridCol w="562588"/>
                <a:gridCol w="562588"/>
                <a:gridCol w="640725"/>
              </a:tblGrid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Nama SF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WOK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MTD-1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MTD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Selisih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FFFFFF"/>
                          </a:solidFill>
                          <a:latin typeface="Arial"/>
                        </a:rPr>
                        <a:t>Growth</a:t>
                      </a:r>
                    </a:p>
                  </a:txBody>
                  <a:tcPr marL="27432" marR="27432" marT="0" marB="0">
                    <a:solidFill>
                      <a:srgbClr val="102C50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FERI ANDI SEMBIRING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16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AHMAD TRIJAYADI SAPUTRA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Sumba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Novita maria anggraeny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Nadia stevania oematan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Joel Arsel Alakmo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-2,0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Michael Belvan ngefak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Sebastian Frederick Imanuel Lada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10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Charlie Apryanto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5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1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-4,0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-80,0%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6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Dewito Yuliarti Adu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8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2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-6,0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-75,0%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  <a:tr h="408988"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ALEXANDRA INJEL FERNANDES</a:t>
                      </a:r>
                    </a:p>
                  </a:txBody>
                  <a:tcPr marL="27432" marR="27432" marT="0" marB="0">
                    <a:solidFill>
                      <a:srgbClr val="F4F6F8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Kupang Rote - Malaka Timtim Belu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20252B"/>
                          </a:solidFill>
                          <a:latin typeface="Arial"/>
                        </a:rPr>
                        <a:t>14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1">
                          <a:solidFill>
                            <a:srgbClr val="20252B"/>
                          </a:solidFill>
                          <a:latin typeface="Arial"/>
                        </a:rPr>
                        <a:t>4</a:t>
                      </a:r>
                    </a:p>
                  </a:txBody>
                  <a:tcPr marL="27432" marR="27432" marT="0" marB="0">
                    <a:solidFill>
                      <a:srgbClr val="FFFFFF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-10,0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  <a:tc>
                  <a:txBody>
                    <a:bodyPr lIns="27432" rIns="27432" tIns="0" bIns="0" anchor="ctr"/>
                    <a:lstStyle/>
                    <a:p>
                      <a:pPr algn="ctr"/>
                      <a:r>
                        <a:rPr sz="1050" b="0">
                          <a:solidFill>
                            <a:srgbClr val="D73527"/>
                          </a:solidFill>
                          <a:latin typeface="Arial"/>
                        </a:rPr>
                        <a:t>-71,4%</a:t>
                      </a:r>
                    </a:p>
                  </a:txBody>
                  <a:tcPr marL="27432" marR="27432" marT="0" marB="0">
                    <a:solidFill>
                      <a:srgbClr val="FBE9E7"/>
                    </a:solidFill>
                    <a:lnL w="9000" cap="flat" cmpd="sng" algn="ctr">
                      <a:solidFill>
                        <a:srgbClr val="D8DEE7"/>
                      </a:solidFill>
                      <a:prstDash val="solid"/>
                    </a:lnL>
                    <a:lnR w="9000" cap="flat" cmpd="sng" algn="ctr">
                      <a:solidFill>
                        <a:srgbClr val="D8DEE7"/>
                      </a:solidFill>
                      <a:prstDash val="solid"/>
                    </a:lnR>
                    <a:lnT w="9000" cap="flat" cmpd="sng" algn="ctr">
                      <a:solidFill>
                        <a:srgbClr val="D8DEE7"/>
                      </a:solidFill>
                      <a:prstDash val="solid"/>
                    </a:lnT>
                    <a:lnB w="9000" cap="flat" cmpd="sng" algn="ctr">
                      <a:solidFill>
                        <a:srgbClr val="D8DEE7"/>
                      </a:solidFill>
                      <a:prstDash val="solid"/>
                    </a:lnB>
                  </a:tcPr>
                </a:tc>
              </a:tr>
            </a:tbl>
          </a:graphicData>
        </a:graphic>
      </p:graphicFrame>
      <p:sp>
        <p:nvSpPr>
          <p:cNvPr id="11" name="TextBox 10"/>
          <p:cNvSpPr txBox="1"/>
          <p:nvPr/>
        </p:nvSpPr>
        <p:spPr>
          <a:xfrm>
            <a:off x="320040" y="5742432"/>
            <a:ext cx="11384280" cy="27432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l"/>
            <a:r>
              <a:rPr sz="900" b="0" i="1">
                <a:solidFill>
                  <a:srgbClr val="687386"/>
                </a:solidFill>
                <a:latin typeface="Arial"/>
              </a:rPr>
              <a:t>Growth (%) dihitung dari volume RE/PS periode berjalan terhadap periode sebelumnya per SF Code. Ranking hanya mencakup SF pada branch ini.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10378440" y="6144768"/>
            <a:ext cx="1325880" cy="182880"/>
          </a:xfrm>
          <a:prstGeom prst="rect">
            <a:avLst/>
          </a:prstGeom>
          <a:noFill/>
        </p:spPr>
        <p:txBody>
          <a:bodyPr wrap="none" lIns="27432" rIns="27432" tIns="0" bIns="0" anchor="ctr">
            <a:spAutoFit/>
          </a:bodyPr>
          <a:lstStyle/>
          <a:p>
            <a:pPr algn="r"/>
            <a:r>
              <a:rPr sz="900" b="1" i="0">
                <a:solidFill>
                  <a:srgbClr val="D73527"/>
                </a:solidFill>
                <a:latin typeface="Arial"/>
              </a:rPr>
              <a:t>Bottom 10 branch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