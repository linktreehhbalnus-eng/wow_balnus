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09/09</c:v>
                </c:pt>
                <c:pt idx="1">
                  <c:v>10/09</c:v>
                </c:pt>
                <c:pt idx="2">
                  <c:v>11/09</c:v>
                </c:pt>
                <c:pt idx="3">
                  <c:v>12/09</c:v>
                </c:pt>
                <c:pt idx="4">
                  <c:v>13/09</c:v>
                </c:pt>
                <c:pt idx="5">
                  <c:v>14/09</c:v>
                </c:pt>
                <c:pt idx="6">
                  <c:v>15/09</c:v>
                </c:pt>
                <c:pt idx="7">
                  <c:v>16/09</c:v>
                </c:pt>
                <c:pt idx="8">
                  <c:v>17/09</c:v>
                </c:pt>
                <c:pt idx="9">
                  <c:v>18/09</c:v>
                </c:pt>
                <c:pt idx="10">
                  <c:v>19/09</c:v>
                </c:pt>
                <c:pt idx="11">
                  <c:v>20/09</c:v>
                </c:pt>
                <c:pt idx="12">
                  <c:v>21/09</c:v>
                </c:pt>
                <c:pt idx="13">
                  <c:v>22/09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315.0</c:v>
                </c:pt>
                <c:pt idx="1">
                  <c:v>313.0</c:v>
                </c:pt>
                <c:pt idx="2">
                  <c:v>319.0</c:v>
                </c:pt>
                <c:pt idx="3">
                  <c:v>254.0</c:v>
                </c:pt>
                <c:pt idx="4">
                  <c:v>169.0</c:v>
                </c:pt>
                <c:pt idx="5">
                  <c:v>339.0</c:v>
                </c:pt>
                <c:pt idx="6">
                  <c:v>320.0</c:v>
                </c:pt>
                <c:pt idx="7">
                  <c:v>322.0</c:v>
                </c:pt>
                <c:pt idx="8">
                  <c:v>334.0</c:v>
                </c:pt>
                <c:pt idx="9">
                  <c:v>305.0</c:v>
                </c:pt>
                <c:pt idx="10">
                  <c:v>267.0</c:v>
                </c:pt>
                <c:pt idx="11">
                  <c:v>193.0</c:v>
                </c:pt>
                <c:pt idx="12">
                  <c:v>378.0</c:v>
                </c:pt>
                <c:pt idx="13">
                  <c:v>316.0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09/09</c:v>
                </c:pt>
                <c:pt idx="1">
                  <c:v>10/09</c:v>
                </c:pt>
                <c:pt idx="2">
                  <c:v>11/09</c:v>
                </c:pt>
                <c:pt idx="3">
                  <c:v>12/09</c:v>
                </c:pt>
                <c:pt idx="4">
                  <c:v>13/09</c:v>
                </c:pt>
                <c:pt idx="5">
                  <c:v>14/09</c:v>
                </c:pt>
                <c:pt idx="6">
                  <c:v>15/09</c:v>
                </c:pt>
                <c:pt idx="7">
                  <c:v>16/09</c:v>
                </c:pt>
                <c:pt idx="8">
                  <c:v>17/09</c:v>
                </c:pt>
                <c:pt idx="9">
                  <c:v>18/09</c:v>
                </c:pt>
                <c:pt idx="10">
                  <c:v>19/09</c:v>
                </c:pt>
                <c:pt idx="11">
                  <c:v>20/09</c:v>
                </c:pt>
                <c:pt idx="12">
                  <c:v>21/09</c:v>
                </c:pt>
                <c:pt idx="13">
                  <c:v>22/09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266.0</c:v>
                </c:pt>
                <c:pt idx="1">
                  <c:v>237.0</c:v>
                </c:pt>
                <c:pt idx="2">
                  <c:v>258.0</c:v>
                </c:pt>
                <c:pt idx="3">
                  <c:v>191.0</c:v>
                </c:pt>
                <c:pt idx="4">
                  <c:v>151.0</c:v>
                </c:pt>
                <c:pt idx="5">
                  <c:v>266.0</c:v>
                </c:pt>
                <c:pt idx="6">
                  <c:v>271.0</c:v>
                </c:pt>
                <c:pt idx="7">
                  <c:v>266.0</c:v>
                </c:pt>
                <c:pt idx="8">
                  <c:v>261.0</c:v>
                </c:pt>
                <c:pt idx="9">
                  <c:v>242.0</c:v>
                </c:pt>
                <c:pt idx="10">
                  <c:v>209.0</c:v>
                </c:pt>
                <c:pt idx="11">
                  <c:v>177.0</c:v>
                </c:pt>
                <c:pt idx="12">
                  <c:v>269.0</c:v>
                </c:pt>
                <c:pt idx="13">
                  <c:v>271.0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+3,3% &amp; PS +2,5% MoM — Achievement Mencapai 66,3% (RE) / 65,5%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Sep 2026 vs MTD-1 01–22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22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Sep 2026 vs MTD-1 01–22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01–22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(+14,9%), Denpasar Terdalam (-2,5%)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Sep 2026 vs MTD-1 01–22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+14,9%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+5,3%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+2,7%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-2,5%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71,4%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67,9%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66,8%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51,6%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(+21,0%), Bali Tengah 1 Terdalam (-12,8%)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Sep 2026 vs MTD-1 01–22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(+169), Buleleng Tumbuh Tertinggi (+63,8%)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Sep 2026 vs MTD-1 01–22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+323, Bottom 5 -257, dan perubahan PS regional +132.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(+46,8%), TSEL One &gt;30 Mbps Turun Terdalam (-59,7%)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Sep 2026 vs MTD-1 01–22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+3,1%, Aktivitas DJP +3,3%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Sep 2026 vs MTD-1 01–22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13.778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5.109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9.932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55.850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7.084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5.483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83.458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5.483
Dikunjungi: 1.069 (19,5%)
Visit DJP: 2.948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1.306
Dikunjungi: 868 (66,5%)
Visit DJP: 2.638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Sep 2026 vs MTD-1 01–22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Sep 2026 vs MTD-1 01–22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STANISLAUS APRIANUS HUN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Haris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Achmad ahmadi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Hendra Tauhid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Sep 2026 vs MTD-1 01–22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Sep 2026 vs MTD-1 01–22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Sep 2026 vs MTD-1 01–22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01–22 Sep 2026 vs MTD-1 01–22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1.983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1.922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5.199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5.331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2.426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2.366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1.420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1.495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01–22 Sep 2026 vs MTD-1 01–22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01–22 Sep 2026 vs MTD-1 01–22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6.540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6.758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5.199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5.331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5.533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5.716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4.525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4.659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1,0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+104,8%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611 | MoM +3,2%
PS: 592 | MoM +3,1%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520 | Active 65,2% | MoM +3,4%
  PS: 502 | Active 62,9% | MoM +3,3%
• Greenfield
  RE: 55 | Active 94,8% | MoM +5,8%
  PS: 54 | Active 93,1% | MoM +5,9%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+9,2%, Gap +7
• Flores: PS -3,9%, Gap -4
• Kupang: PS +30,0%, Gap +9
• Mataram: PS -4,9%, Gap 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Maluk (Mataram): -66,7%, Gap -2
• Grapari Gatsu Tengah (Denpasar): -57,1%, Gap -4
• Grapari Lombok Utara (Mataram): -50,0%, Gap -1
• Grapari Maumere (Flores): -41,2%, Gap -7
• Grapari Singaraja (Denpasar): -33,3%, Gap 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-73 (-11,0%), PS -68 (-12,0%)
• Bali Tengah 2: RE -70 (-10,0%), PS -39 (-6,7%)
• Bali Timur: RE +5 (+1,2%), PS -26 (-7,4%)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-44 (-40,0%), PS -35 (-40,7%)
• Bali Tengah 1: RE -14 (-18,4%), PS -12 (-21,1%)
• Bali Barat: RE -15 (-38,5%), PS -7 (-35,0%)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-13 (-34,2%), PS -6 (-37,5%)
• Bali Tengah 1: RE +3 (+20,0%), PS -3 (-27,3%)
• Bali Timur: RE +1 (+9,1%), PS -3 (-37,5%)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-3 (-50,0%), PS -2 (-100,0%)
• Sumbawa Barat - Sumbawa Timur: RE +1 (+25,0%), PS -1 (-33,3%)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01–22 Sep 2026 vs MTD-1 01–22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+18,8%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171 / 310 (55,2%)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-8,6% | Turun 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210 / 351 (59,8%)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-4,5% | Turun 128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 / 136 (56,6%)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+13,2% | Turun 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91 / 150 (60,7%)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+11,0%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98 / 139 (70,5%)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+10,1%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109 / 152 (71,7%)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+7,9%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156 / 213 (73,2%)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+2,0% | Turun 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182 / 240 (75,8%)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+4,0% | Turun 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54 / 58 (93,1%)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+10,2% | Turun 28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502 / 798 (62,9%)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+1,0% | Turun 234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593 / 924 (64,2%)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+2,6% | Turun 285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1.020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2.097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1.304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2.945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+518,2%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4.657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20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310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-16,2% | Turun 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 / 351 (16,2%)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-1,7% | Turun 128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136 (11,8%)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 | Turun 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 / 150 (18,0%)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+22,7%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139 (10,1%)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152 (11,8%)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 / 213 (13,6%)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+7,4% | Turun 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 / 240 (18,3%)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+7,3% | Turun 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 / 58 (34,5%)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28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90 / 798 (11,3%)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-3,2% | Turun 234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146 / 924 (15,8%)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+5,0% | Turun 285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