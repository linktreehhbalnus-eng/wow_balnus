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Mataram</c:v>
                </c:pt>
              </c:strCache>
            </c:strRef>
          </c:tx>
          <c:spPr>
            <a:ln w="31750"/>
          </c:spPr>
          <c:marker>
            <c:size val="6"/>
          </c:marker>
          <c:dLbls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Sheet1!$A$2:$A$27</c:f>
              <c:strCache>
                <c:ptCount val="26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  <c:pt idx="15">
                  <c:v>16 Sep</c:v>
                </c:pt>
                <c:pt idx="16">
                  <c:v>17 Sep</c:v>
                </c:pt>
                <c:pt idx="17">
                  <c:v>18 Sep</c:v>
                </c:pt>
                <c:pt idx="18">
                  <c:v>19 Sep</c:v>
                </c:pt>
                <c:pt idx="19">
                  <c:v>20 Sep</c:v>
                </c:pt>
                <c:pt idx="20">
                  <c:v>21 Sep</c:v>
                </c:pt>
                <c:pt idx="21">
                  <c:v>22 Sep</c:v>
                </c:pt>
                <c:pt idx="22">
                  <c:v>23 Sep</c:v>
                </c:pt>
                <c:pt idx="23">
                  <c:v>24 Sep</c:v>
                </c:pt>
                <c:pt idx="24">
                  <c:v>25 Sep</c:v>
                </c:pt>
                <c:pt idx="25">
                  <c:v>26 Sep</c:v>
                </c:pt>
              </c:strCache>
            </c:strRef>
          </c:cat>
          <c:val>
            <c:numRef>
              <c:f>Sheet1!$B$2:$B$27</c:f>
              <c:numCache>
                <c:formatCode>General</c:formatCode>
                <c:ptCount val="26"/>
                <c:pt idx="0">
                  <c:v>60.0</c:v>
                </c:pt>
                <c:pt idx="1">
                  <c:v>57.0</c:v>
                </c:pt>
                <c:pt idx="2">
                  <c:v>49.0</c:v>
                </c:pt>
                <c:pt idx="3">
                  <c:v>49.0</c:v>
                </c:pt>
                <c:pt idx="4">
                  <c:v>49.0</c:v>
                </c:pt>
                <c:pt idx="5">
                  <c:v>38.0</c:v>
                </c:pt>
                <c:pt idx="6">
                  <c:v>59.0</c:v>
                </c:pt>
                <c:pt idx="7">
                  <c:v>61.0</c:v>
                </c:pt>
                <c:pt idx="8">
                  <c:v>48.0</c:v>
                </c:pt>
                <c:pt idx="9">
                  <c:v>51.0</c:v>
                </c:pt>
                <c:pt idx="10">
                  <c:v>57.0</c:v>
                </c:pt>
                <c:pt idx="11">
                  <c:v>51.0</c:v>
                </c:pt>
                <c:pt idx="12">
                  <c:v>32.0</c:v>
                </c:pt>
                <c:pt idx="13">
                  <c:v>63.0</c:v>
                </c:pt>
                <c:pt idx="14">
                  <c:v>64.0</c:v>
                </c:pt>
                <c:pt idx="15">
                  <c:v>55.0</c:v>
                </c:pt>
                <c:pt idx="16">
                  <c:v>49.0</c:v>
                </c:pt>
                <c:pt idx="17">
                  <c:v>54.0</c:v>
                </c:pt>
                <c:pt idx="18">
                  <c:v>55.0</c:v>
                </c:pt>
                <c:pt idx="19">
                  <c:v>37.0</c:v>
                </c:pt>
                <c:pt idx="20">
                  <c:v>63.0</c:v>
                </c:pt>
                <c:pt idx="21">
                  <c:v>51.0</c:v>
                </c:pt>
                <c:pt idx="22">
                  <c:v>50.0</c:v>
                </c:pt>
                <c:pt idx="23">
                  <c:v>53.0</c:v>
                </c:pt>
                <c:pt idx="24">
                  <c:v>54.0</c:v>
                </c:pt>
                <c:pt idx="25">
                  <c:v>48.0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Lombok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Sheet1!$A$2:$A$27</c:f>
              <c:strCache>
                <c:ptCount val="26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  <c:pt idx="15">
                  <c:v>16 Sep</c:v>
                </c:pt>
                <c:pt idx="16">
                  <c:v>17 Sep</c:v>
                </c:pt>
                <c:pt idx="17">
                  <c:v>18 Sep</c:v>
                </c:pt>
                <c:pt idx="18">
                  <c:v>19 Sep</c:v>
                </c:pt>
                <c:pt idx="19">
                  <c:v>20 Sep</c:v>
                </c:pt>
                <c:pt idx="20">
                  <c:v>21 Sep</c:v>
                </c:pt>
                <c:pt idx="21">
                  <c:v>22 Sep</c:v>
                </c:pt>
                <c:pt idx="22">
                  <c:v>23 Sep</c:v>
                </c:pt>
                <c:pt idx="23">
                  <c:v>24 Sep</c:v>
                </c:pt>
                <c:pt idx="24">
                  <c:v>25 Sep</c:v>
                </c:pt>
                <c:pt idx="25">
                  <c:v>26 Sep</c:v>
                </c:pt>
              </c:strCache>
            </c:strRef>
          </c:cat>
          <c:val>
            <c:numRef>
              <c:f>Sheet1!$C$2:$C$27</c:f>
              <c:numCache>
                <c:formatCode>General</c:formatCode>
                <c:ptCount val="26"/>
                <c:pt idx="0">
                  <c:v>36.0</c:v>
                </c:pt>
                <c:pt idx="1">
                  <c:v>34.0</c:v>
                </c:pt>
                <c:pt idx="2">
                  <c:v>28.0</c:v>
                </c:pt>
                <c:pt idx="3">
                  <c:v>22.0</c:v>
                </c:pt>
                <c:pt idx="4">
                  <c:v>29.0</c:v>
                </c:pt>
                <c:pt idx="5">
                  <c:v>23.0</c:v>
                </c:pt>
                <c:pt idx="6">
                  <c:v>36.0</c:v>
                </c:pt>
                <c:pt idx="7">
                  <c:v>28.0</c:v>
                </c:pt>
                <c:pt idx="8">
                  <c:v>31.0</c:v>
                </c:pt>
                <c:pt idx="9">
                  <c:v>35.0</c:v>
                </c:pt>
                <c:pt idx="10">
                  <c:v>26.0</c:v>
                </c:pt>
                <c:pt idx="11">
                  <c:v>28.0</c:v>
                </c:pt>
                <c:pt idx="12">
                  <c:v>21.0</c:v>
                </c:pt>
                <c:pt idx="13">
                  <c:v>33.0</c:v>
                </c:pt>
                <c:pt idx="14">
                  <c:v>41.0</c:v>
                </c:pt>
                <c:pt idx="15">
                  <c:v>35.0</c:v>
                </c:pt>
                <c:pt idx="16">
                  <c:v>29.0</c:v>
                </c:pt>
                <c:pt idx="17">
                  <c:v>30.0</c:v>
                </c:pt>
                <c:pt idx="18">
                  <c:v>31.0</c:v>
                </c:pt>
                <c:pt idx="19">
                  <c:v>22.0</c:v>
                </c:pt>
                <c:pt idx="20">
                  <c:v>30.0</c:v>
                </c:pt>
                <c:pt idx="21">
                  <c:v>28.0</c:v>
                </c:pt>
                <c:pt idx="22">
                  <c:v>30.0</c:v>
                </c:pt>
                <c:pt idx="23">
                  <c:v>35.0</c:v>
                </c:pt>
                <c:pt idx="24">
                  <c:v>30.0</c:v>
                </c:pt>
                <c:pt idx="25">
                  <c:v>25.0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Sumbawa Barat - Sumbawa Timur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Sheet1!$A$2:$A$27</c:f>
              <c:strCache>
                <c:ptCount val="26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  <c:pt idx="15">
                  <c:v>16 Sep</c:v>
                </c:pt>
                <c:pt idx="16">
                  <c:v>17 Sep</c:v>
                </c:pt>
                <c:pt idx="17">
                  <c:v>18 Sep</c:v>
                </c:pt>
                <c:pt idx="18">
                  <c:v>19 Sep</c:v>
                </c:pt>
                <c:pt idx="19">
                  <c:v>20 Sep</c:v>
                </c:pt>
                <c:pt idx="20">
                  <c:v>21 Sep</c:v>
                </c:pt>
                <c:pt idx="21">
                  <c:v>22 Sep</c:v>
                </c:pt>
                <c:pt idx="22">
                  <c:v>23 Sep</c:v>
                </c:pt>
                <c:pt idx="23">
                  <c:v>24 Sep</c:v>
                </c:pt>
                <c:pt idx="24">
                  <c:v>25 Sep</c:v>
                </c:pt>
                <c:pt idx="25">
                  <c:v>26 Sep</c:v>
                </c:pt>
              </c:strCache>
            </c:strRef>
          </c:cat>
          <c:val>
            <c:numRef>
              <c:f>Sheet1!$D$2:$D$27</c:f>
              <c:numCache>
                <c:formatCode>General</c:formatCode>
                <c:ptCount val="26"/>
                <c:pt idx="0">
                  <c:v>24.0</c:v>
                </c:pt>
                <c:pt idx="1">
                  <c:v>23.0</c:v>
                </c:pt>
                <c:pt idx="2">
                  <c:v>21.0</c:v>
                </c:pt>
                <c:pt idx="3">
                  <c:v>27.0</c:v>
                </c:pt>
                <c:pt idx="4">
                  <c:v>20.0</c:v>
                </c:pt>
                <c:pt idx="5">
                  <c:v>15.0</c:v>
                </c:pt>
                <c:pt idx="6">
                  <c:v>23.0</c:v>
                </c:pt>
                <c:pt idx="7">
                  <c:v>33.0</c:v>
                </c:pt>
                <c:pt idx="8">
                  <c:v>17.0</c:v>
                </c:pt>
                <c:pt idx="9">
                  <c:v>16.0</c:v>
                </c:pt>
                <c:pt idx="10">
                  <c:v>31.0</c:v>
                </c:pt>
                <c:pt idx="11">
                  <c:v>23.0</c:v>
                </c:pt>
                <c:pt idx="12">
                  <c:v>11.0</c:v>
                </c:pt>
                <c:pt idx="13">
                  <c:v>30.0</c:v>
                </c:pt>
                <c:pt idx="14">
                  <c:v>23.0</c:v>
                </c:pt>
                <c:pt idx="15">
                  <c:v>20.0</c:v>
                </c:pt>
                <c:pt idx="16">
                  <c:v>20.0</c:v>
                </c:pt>
                <c:pt idx="17">
                  <c:v>24.0</c:v>
                </c:pt>
                <c:pt idx="18">
                  <c:v>24.0</c:v>
                </c:pt>
                <c:pt idx="19">
                  <c:v>15.0</c:v>
                </c:pt>
                <c:pt idx="20">
                  <c:v>33.0</c:v>
                </c:pt>
                <c:pt idx="21">
                  <c:v>23.0</c:v>
                </c:pt>
                <c:pt idx="22">
                  <c:v>20.0</c:v>
                </c:pt>
                <c:pt idx="23">
                  <c:v>18.0</c:v>
                </c:pt>
                <c:pt idx="24">
                  <c:v>24.0</c:v>
                </c:pt>
                <c:pt idx="25">
                  <c:v>23.0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Mataram</c:v>
                </c:pt>
              </c:strCache>
            </c:strRef>
          </c:tx>
          <c:spPr>
            <a:ln w="31750"/>
          </c:spPr>
          <c:marker>
            <c:size val="6"/>
          </c:marker>
          <c:dLbls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Sheet1!$A$2:$A$27</c:f>
              <c:strCache>
                <c:ptCount val="26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  <c:pt idx="15">
                  <c:v>16 Sep</c:v>
                </c:pt>
                <c:pt idx="16">
                  <c:v>17 Sep</c:v>
                </c:pt>
                <c:pt idx="17">
                  <c:v>18 Sep</c:v>
                </c:pt>
                <c:pt idx="18">
                  <c:v>19 Sep</c:v>
                </c:pt>
                <c:pt idx="19">
                  <c:v>20 Sep</c:v>
                </c:pt>
                <c:pt idx="20">
                  <c:v>21 Sep</c:v>
                </c:pt>
                <c:pt idx="21">
                  <c:v>22 Sep</c:v>
                </c:pt>
                <c:pt idx="22">
                  <c:v>23 Sep</c:v>
                </c:pt>
                <c:pt idx="23">
                  <c:v>24 Sep</c:v>
                </c:pt>
                <c:pt idx="24">
                  <c:v>25 Sep</c:v>
                </c:pt>
                <c:pt idx="25">
                  <c:v>26 Sep</c:v>
                </c:pt>
              </c:strCache>
            </c:strRef>
          </c:cat>
          <c:val>
            <c:numRef>
              <c:f>Sheet1!$B$2:$B$27</c:f>
              <c:numCache>
                <c:formatCode>General</c:formatCode>
                <c:ptCount val="26"/>
                <c:pt idx="0">
                  <c:v>44.0</c:v>
                </c:pt>
                <c:pt idx="1">
                  <c:v>44.0</c:v>
                </c:pt>
                <c:pt idx="2">
                  <c:v>40.0</c:v>
                </c:pt>
                <c:pt idx="3">
                  <c:v>34.0</c:v>
                </c:pt>
                <c:pt idx="4">
                  <c:v>34.0</c:v>
                </c:pt>
                <c:pt idx="5">
                  <c:v>21.0</c:v>
                </c:pt>
                <c:pt idx="6">
                  <c:v>44.0</c:v>
                </c:pt>
                <c:pt idx="7">
                  <c:v>56.0</c:v>
                </c:pt>
                <c:pt idx="8">
                  <c:v>54.0</c:v>
                </c:pt>
                <c:pt idx="9">
                  <c:v>38.0</c:v>
                </c:pt>
                <c:pt idx="10">
                  <c:v>33.0</c:v>
                </c:pt>
                <c:pt idx="11">
                  <c:v>43.0</c:v>
                </c:pt>
                <c:pt idx="12">
                  <c:v>25.0</c:v>
                </c:pt>
                <c:pt idx="13">
                  <c:v>50.0</c:v>
                </c:pt>
                <c:pt idx="14">
                  <c:v>55.0</c:v>
                </c:pt>
                <c:pt idx="15">
                  <c:v>58.0</c:v>
                </c:pt>
                <c:pt idx="16">
                  <c:v>46.0</c:v>
                </c:pt>
                <c:pt idx="17">
                  <c:v>41.0</c:v>
                </c:pt>
                <c:pt idx="18">
                  <c:v>45.0</c:v>
                </c:pt>
                <c:pt idx="19">
                  <c:v>32.0</c:v>
                </c:pt>
                <c:pt idx="20">
                  <c:v>56.0</c:v>
                </c:pt>
                <c:pt idx="21">
                  <c:v>50.0</c:v>
                </c:pt>
                <c:pt idx="22">
                  <c:v>42.0</c:v>
                </c:pt>
                <c:pt idx="23">
                  <c:v>48.0</c:v>
                </c:pt>
                <c:pt idx="24">
                  <c:v>45.0</c:v>
                </c:pt>
                <c:pt idx="25">
                  <c:v>38.0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Lombok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Sheet1!$A$2:$A$27</c:f>
              <c:strCache>
                <c:ptCount val="26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  <c:pt idx="15">
                  <c:v>16 Sep</c:v>
                </c:pt>
                <c:pt idx="16">
                  <c:v>17 Sep</c:v>
                </c:pt>
                <c:pt idx="17">
                  <c:v>18 Sep</c:v>
                </c:pt>
                <c:pt idx="18">
                  <c:v>19 Sep</c:v>
                </c:pt>
                <c:pt idx="19">
                  <c:v>20 Sep</c:v>
                </c:pt>
                <c:pt idx="20">
                  <c:v>21 Sep</c:v>
                </c:pt>
                <c:pt idx="21">
                  <c:v>22 Sep</c:v>
                </c:pt>
                <c:pt idx="22">
                  <c:v>23 Sep</c:v>
                </c:pt>
                <c:pt idx="23">
                  <c:v>24 Sep</c:v>
                </c:pt>
                <c:pt idx="24">
                  <c:v>25 Sep</c:v>
                </c:pt>
                <c:pt idx="25">
                  <c:v>26 Sep</c:v>
                </c:pt>
              </c:strCache>
            </c:strRef>
          </c:cat>
          <c:val>
            <c:numRef>
              <c:f>Sheet1!$C$2:$C$27</c:f>
              <c:numCache>
                <c:formatCode>General</c:formatCode>
                <c:ptCount val="26"/>
                <c:pt idx="0">
                  <c:v>23.0</c:v>
                </c:pt>
                <c:pt idx="1">
                  <c:v>29.0</c:v>
                </c:pt>
                <c:pt idx="2">
                  <c:v>23.0</c:v>
                </c:pt>
                <c:pt idx="3">
                  <c:v>18.0</c:v>
                </c:pt>
                <c:pt idx="4">
                  <c:v>19.0</c:v>
                </c:pt>
                <c:pt idx="5">
                  <c:v>12.0</c:v>
                </c:pt>
                <c:pt idx="6">
                  <c:v>32.0</c:v>
                </c:pt>
                <c:pt idx="7">
                  <c:v>29.0</c:v>
                </c:pt>
                <c:pt idx="8">
                  <c:v>31.0</c:v>
                </c:pt>
                <c:pt idx="9">
                  <c:v>19.0</c:v>
                </c:pt>
                <c:pt idx="10">
                  <c:v>21.0</c:v>
                </c:pt>
                <c:pt idx="11">
                  <c:v>25.0</c:v>
                </c:pt>
                <c:pt idx="12">
                  <c:v>18.0</c:v>
                </c:pt>
                <c:pt idx="13">
                  <c:v>33.0</c:v>
                </c:pt>
                <c:pt idx="14">
                  <c:v>32.0</c:v>
                </c:pt>
                <c:pt idx="15">
                  <c:v>37.0</c:v>
                </c:pt>
                <c:pt idx="16">
                  <c:v>29.0</c:v>
                </c:pt>
                <c:pt idx="17">
                  <c:v>25.0</c:v>
                </c:pt>
                <c:pt idx="18">
                  <c:v>26.0</c:v>
                </c:pt>
                <c:pt idx="19">
                  <c:v>20.0</c:v>
                </c:pt>
                <c:pt idx="20">
                  <c:v>32.0</c:v>
                </c:pt>
                <c:pt idx="21">
                  <c:v>25.0</c:v>
                </c:pt>
                <c:pt idx="22">
                  <c:v>26.0</c:v>
                </c:pt>
                <c:pt idx="23">
                  <c:v>26.0</c:v>
                </c:pt>
                <c:pt idx="24">
                  <c:v>26.0</c:v>
                </c:pt>
                <c:pt idx="25">
                  <c:v>25.0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Sumbawa Barat - Sumbawa Timur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Sheet1!$A$2:$A$27</c:f>
              <c:strCache>
                <c:ptCount val="26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  <c:pt idx="15">
                  <c:v>16 Sep</c:v>
                </c:pt>
                <c:pt idx="16">
                  <c:v>17 Sep</c:v>
                </c:pt>
                <c:pt idx="17">
                  <c:v>18 Sep</c:v>
                </c:pt>
                <c:pt idx="18">
                  <c:v>19 Sep</c:v>
                </c:pt>
                <c:pt idx="19">
                  <c:v>20 Sep</c:v>
                </c:pt>
                <c:pt idx="20">
                  <c:v>21 Sep</c:v>
                </c:pt>
                <c:pt idx="21">
                  <c:v>22 Sep</c:v>
                </c:pt>
                <c:pt idx="22">
                  <c:v>23 Sep</c:v>
                </c:pt>
                <c:pt idx="23">
                  <c:v>24 Sep</c:v>
                </c:pt>
                <c:pt idx="24">
                  <c:v>25 Sep</c:v>
                </c:pt>
                <c:pt idx="25">
                  <c:v>26 Sep</c:v>
                </c:pt>
              </c:strCache>
            </c:strRef>
          </c:cat>
          <c:val>
            <c:numRef>
              <c:f>Sheet1!$D$2:$D$27</c:f>
              <c:numCache>
                <c:formatCode>General</c:formatCode>
                <c:ptCount val="26"/>
                <c:pt idx="0">
                  <c:v>21.0</c:v>
                </c:pt>
                <c:pt idx="1">
                  <c:v>15.0</c:v>
                </c:pt>
                <c:pt idx="2">
                  <c:v>17.0</c:v>
                </c:pt>
                <c:pt idx="3">
                  <c:v>16.0</c:v>
                </c:pt>
                <c:pt idx="4">
                  <c:v>15.0</c:v>
                </c:pt>
                <c:pt idx="5">
                  <c:v>9.0</c:v>
                </c:pt>
                <c:pt idx="6">
                  <c:v>12.0</c:v>
                </c:pt>
                <c:pt idx="7">
                  <c:v>27.0</c:v>
                </c:pt>
                <c:pt idx="8">
                  <c:v>23.0</c:v>
                </c:pt>
                <c:pt idx="9">
                  <c:v>19.0</c:v>
                </c:pt>
                <c:pt idx="10">
                  <c:v>12.0</c:v>
                </c:pt>
                <c:pt idx="11">
                  <c:v>18.0</c:v>
                </c:pt>
                <c:pt idx="12">
                  <c:v>7.0</c:v>
                </c:pt>
                <c:pt idx="13">
                  <c:v>17.0</c:v>
                </c:pt>
                <c:pt idx="14">
                  <c:v>23.0</c:v>
                </c:pt>
                <c:pt idx="15">
                  <c:v>21.0</c:v>
                </c:pt>
                <c:pt idx="16">
                  <c:v>17.0</c:v>
                </c:pt>
                <c:pt idx="17">
                  <c:v>16.0</c:v>
                </c:pt>
                <c:pt idx="18">
                  <c:v>19.0</c:v>
                </c:pt>
                <c:pt idx="19">
                  <c:v>12.0</c:v>
                </c:pt>
                <c:pt idx="20">
                  <c:v>24.0</c:v>
                </c:pt>
                <c:pt idx="21">
                  <c:v>25.0</c:v>
                </c:pt>
                <c:pt idx="22">
                  <c:v>16.0</c:v>
                </c:pt>
                <c:pt idx="23">
                  <c:v>22.0</c:v>
                </c:pt>
                <c:pt idx="24">
                  <c:v>19.0</c:v>
                </c:pt>
                <c:pt idx="25">
                  <c:v>13.0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Area &amp; Product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01–26 Sep 2026 vs MTD-1 01–26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Branch Performance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33271"/>
          <a:ext cx="5394957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1824"/>
                <a:gridCol w="683868"/>
                <a:gridCol w="683868"/>
                <a:gridCol w="683868"/>
                <a:gridCol w="835838"/>
                <a:gridCol w="759853"/>
                <a:gridCol w="835838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Metric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Target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2.348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2.375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2.623,1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90,5%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248,1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1.725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1.776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2.094,1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84,8%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318,1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011680"/>
            <a:ext cx="53949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Target Branch = agregasi target 2 WOK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221992"/>
          <a:ext cx="5394958" cy="301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7331"/>
                <a:gridCol w="1412965"/>
                <a:gridCol w="1412965"/>
                <a:gridCol w="1241697"/>
              </a:tblGrid>
              <a:tr h="3017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to RE Ratio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MTD-1: 73,5%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MTD: 74,8%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+1,3 pp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144768" y="749808"/>
            <a:ext cx="57150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RE &amp; PS Performance by Speed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144768" y="1033271"/>
          <a:ext cx="5714998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6630"/>
                <a:gridCol w="559076"/>
                <a:gridCol w="559076"/>
                <a:gridCol w="559076"/>
                <a:gridCol w="559076"/>
                <a:gridCol w="559076"/>
                <a:gridCol w="559076"/>
                <a:gridCol w="434836"/>
                <a:gridCol w="559076"/>
              </a:tblGrid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Kontrib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-0,9%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390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67,0%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565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+0,2%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73,8%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+25,3%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+19,9%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70,6%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495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309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81,6%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22,7%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79,1%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3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-73,2%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-69,2%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72,7%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3054096"/>
            <a:ext cx="987552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WOK Performance — seluruh WOK Mataram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20040" y="3337560"/>
          <a:ext cx="9646911" cy="9326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5727"/>
                <a:gridCol w="742070"/>
                <a:gridCol w="742070"/>
                <a:gridCol w="742070"/>
                <a:gridCol w="742070"/>
                <a:gridCol w="816277"/>
                <a:gridCol w="742070"/>
                <a:gridCol w="742070"/>
                <a:gridCol w="742070"/>
                <a:gridCol w="742070"/>
                <a:gridCol w="816277"/>
                <a:gridCol w="74207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1.351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1.291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96,2%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50,9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1.019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1.017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-0,2%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94,9%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54,3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78,8%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997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1.084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84,6%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197,2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706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74,2%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263,8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320040" y="4517136"/>
            <a:ext cx="115214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Kabupaten Performance — Top 3 &amp; Bottom 3 by MoM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4800599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37D3F"/>
                </a:solidFill>
                <a:latin typeface="Arial"/>
              </a:rPr>
              <a:t>Top 3 (MoM PS Tertinggi)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4800599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D73527"/>
                </a:solidFill>
                <a:latin typeface="Arial"/>
              </a:rPr>
              <a:t>Bottom 3 (MoM PS Terendah)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20040" y="5010912"/>
          <a:ext cx="5559550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5378"/>
                <a:gridCol w="958543"/>
                <a:gridCol w="958543"/>
                <a:gridCol w="958543"/>
                <a:gridCol w="958543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Bima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197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47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+31,3%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6327648" y="5010912"/>
          <a:ext cx="5541262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702"/>
                <a:gridCol w="955390"/>
                <a:gridCol w="955390"/>
                <a:gridCol w="955390"/>
                <a:gridCol w="955390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-58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-31,9%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Dompu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Sales Force &amp; DJP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01–26 Sep 2026 vs MTD-1 01–26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Sales Force Scorecard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749808"/>
            <a:ext cx="23317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000" b="0" i="1">
                <a:solidFill>
                  <a:srgbClr val="687386"/>
                </a:solidFill>
                <a:latin typeface="Arial"/>
              </a:rPr>
              <a:t>Registered SF: 240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196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+2,1%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192   Δ 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27832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37560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190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28032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+5,6%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180   Δ 10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35624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45352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DJP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45352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193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35824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+12,9%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2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171   Δ 22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43416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53144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Aktivitas DJP — Total Visit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53144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4.608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43616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-12,1%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53144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5.244   Δ -636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2221992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&amp; DJP by WOK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320040" y="2505456"/>
          <a:ext cx="11548867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8708"/>
                <a:gridCol w="661194"/>
                <a:gridCol w="749354"/>
                <a:gridCol w="749354"/>
                <a:gridCol w="749354"/>
                <a:gridCol w="749354"/>
                <a:gridCol w="749354"/>
                <a:gridCol w="749354"/>
                <a:gridCol w="749354"/>
                <a:gridCol w="749354"/>
                <a:gridCol w="749354"/>
                <a:gridCol w="881593"/>
                <a:gridCol w="881593"/>
                <a:gridCol w="881593"/>
              </a:tblGrid>
              <a:tr h="32004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Reg.</a:t>
                      </a:r>
                    </a:p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SF Active 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SF Active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6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DJP Activity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0040">
                <a:tc vMerge="1">
                  <a:txBody>
                    <a:bodyPr/>
                    <a:lstStyle/>
                    <a:p/>
                  </a:txBody>
                  <a:tcPr/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Visit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Visit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148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110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118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+7,3%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107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115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+7,5%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89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106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+19,1%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2.139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2.028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-5,2%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78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-4,9%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+2,7%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87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+6,1%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3.105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2.580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-16,9%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320040" y="4133088"/>
            <a:ext cx="9601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SF Active RE &amp; PS by Speed — Branch Mataram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20040" y="4407408"/>
          <a:ext cx="7680955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1819"/>
                <a:gridCol w="908500"/>
                <a:gridCol w="908500"/>
                <a:gridCol w="743318"/>
                <a:gridCol w="908500"/>
                <a:gridCol w="908500"/>
                <a:gridCol w="743318"/>
                <a:gridCol w="908500"/>
              </a:tblGrid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+13,7%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+23,0%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+17,0%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+11,9%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+11,8%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-46,7%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-36,4%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320040" y="5861304"/>
            <a:ext cx="8229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SF Active dihitung berdasarkan SF Code unik per kelompok; Aktivitas DJP merupakan total visit.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SF Class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01–26 Sep 2026 vs MTD-1 01–26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22376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SF Active PS per Class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987552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15 / 16 (93,8%)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+25,0% | Turun 8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164 / 213 (77,0%)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+3,8% | Turun 74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10 / 10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5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N/A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190 / 240 (79,2%)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+5,6% | Turun 87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10 / 11 (90,9%)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+25,0% | Turun 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99 / 131 (75,6%)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+6,5% | Turun 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 / 5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N/A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115 / 148 (77,7%)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+8,5% | Turun 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 / 5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+25,0%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65 / 82 (79,3%)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 / 5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75 / 92 (81,5%)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+1,4% | Turun 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386584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PS per Class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651760"/>
          <a:ext cx="1154887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788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788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136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+29,5%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1.103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-4,0%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265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-0,4%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47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1.551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+2,0%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788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83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+29,7%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643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-8,8%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140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47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913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-0,7%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788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53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+29,3%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460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+3,6%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125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+7,8%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638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+6,2%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3886200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SF Productive per Class (minimum 10 PS)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151376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5 / 16 (31,2%)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-16,7% | Turun 8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34 / 213 (16,0%)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-10,5% | Turun 74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10 / 10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5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N/A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50 / 240 (20,8%)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-7,4% | Turun 87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 / 11 (36,4%)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+33,3% | Turun 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22 / 131 (16,8%)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-12,0% | Turun 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 / 5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N/A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32 / 148 (21,6%)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-3,0% | Turun 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 / 5 (20,0%)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-66,7%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12 / 82 (14,6%)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-7,7% | Turun 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 / 5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18 / 92 (19,6%)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-14,3% | Turun 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559612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 i="1">
                <a:solidFill>
                  <a:srgbClr val="687386"/>
                </a:solidFill>
                <a:latin typeface="Arial"/>
              </a:rPr>
              <a:t>Active = minimum 1 PS. Turun = jumlah SF dengan PS MTD lebih rendah dibanding MTD-1 pada periode tanggal yang sama.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Daily SF Active Trend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01–26 Sep 2026 vs MTD-1 01–26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SF Active RE Harian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320040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327648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PS Harian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327648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4645152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Ringkasan Produktivitas Harian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956048"/>
          <a:ext cx="7955277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6049"/>
                <a:gridCol w="1735697"/>
                <a:gridCol w="1108917"/>
                <a:gridCol w="1735697"/>
                <a:gridCol w="1108917"/>
              </a:tblGrid>
              <a:tr h="29718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SF Active RE/Hari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per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SF Active PS/Hari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9718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52,2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42,9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9718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29,8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25,4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9718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22,3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623620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Total Branch merupakan SF Code unik per hari; angka WOK tidak dijumlahkan jika satu SF beraktivitas pada lebih dari satu WOK.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Channel &amp; ODP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01–26 Sep 2026 vs MTD-1 01–26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Agency Performance by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207008"/>
          <a:ext cx="554126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601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75,1%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1.209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1.146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-0,8%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79,7%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327648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Grapari Performance by WOK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7648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327648" y="1207008"/>
          <a:ext cx="554126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+29,5%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54,5%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-14,1%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-16,1%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77,0%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2651760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Channel Scorecard — Total Branch Mataram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2944368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AGENCY TOTAL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20040" y="3209544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2.023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1.996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1.521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1.551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6327648" y="2944368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GRAPARI TOTAL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327648" y="3209544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166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184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320040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ODP Occupancy Summary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20040" y="4928616"/>
          <a:ext cx="5413243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0202"/>
                <a:gridCol w="880202"/>
                <a:gridCol w="880202"/>
                <a:gridCol w="880202"/>
                <a:gridCol w="880202"/>
                <a:gridCol w="1012233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ORANGE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YELLOW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GREEN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BLACK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 ODP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2.994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9.044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6.351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1.379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19.784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15,1%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45,7%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32,1%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6327648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E.  DJP pada ODP Khusus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27648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55664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D73527"/>
                </a:solidFill>
                <a:latin typeface="Arial"/>
              </a:rPr>
              <a:t>ODP BLACK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5664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1.379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55664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441 (32,0%)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55664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36408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D73527"/>
                </a:solidFill>
                <a:latin typeface="Arial"/>
              </a:rPr>
              <a:t>1.073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72016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00032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37D3F"/>
                </a:solidFill>
                <a:latin typeface="Arial"/>
              </a:rPr>
              <a:t>ODP GREENFIELD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00032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530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00032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459 (86,6%)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00032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0776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137D3F"/>
                </a:solidFill>
                <a:latin typeface="Arial"/>
              </a:rPr>
              <a:t>1.443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Performance RE &amp; PS per Channel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01–26 Sep 2026 vs MTD-1 01–26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Channel Scorecard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24128"/>
          <a:ext cx="11548867" cy="1572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3834"/>
                <a:gridCol w="1077894"/>
                <a:gridCol w="1077894"/>
                <a:gridCol w="975238"/>
                <a:gridCol w="1077894"/>
                <a:gridCol w="1077894"/>
                <a:gridCol w="975238"/>
                <a:gridCol w="1385864"/>
                <a:gridCol w="1129223"/>
                <a:gridCol w="1077894"/>
              </a:tblGrid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Channel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Rev NS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Rev NS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% Contr.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2.340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2.371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1.723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1.776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454,6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Agency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2.023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1.996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1.521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1.551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394,6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87,3%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Grapari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184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26,6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Web &amp; Apps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+36,1%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+37,7%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27,0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+50,7%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B2B2C &amp; Others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+22,0%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+41,2%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5,6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Sobi Affiliate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-30,8%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720,0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85292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Kontributor Penurunan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3182112"/>
            <a:ext cx="5705856" cy="18470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" y="326440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02C50"/>
                </a:solidFill>
                <a:latin typeface="Arial"/>
              </a:rPr>
              <a:t>Agency SF Class Active (%, MoM)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" y="3602736"/>
            <a:ext cx="2633472" cy="128016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SF ACTIVE TOTAL
RE: 196 | MoM +2,1%
PS: 190 | MoM +5,6%
• Performer
  RE: 1 | Active 100,0% | MoM 0,0%
  PS: 1 | Active 100,0% | MoM 0,0%
• Junior
  RE: 169 | Active 79,3% | MoM +2,4%
  PS: 164 | Active 77,0% | MoM +6,5%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36976" y="3602736"/>
            <a:ext cx="2633472" cy="128016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Greenfield
  RE: 16 | Active 100,0% | MoM 0,0%
  PS: 15 | Active 93,8% | MoM 0,0%
• Junior Plus
  RE: 10 | Active 100,0% | MoM 0,0%
  PS: 10 | Active 100,0% | MoM 0,0%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3182112"/>
            <a:ext cx="5705856" cy="18470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72783" y="326440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02C50"/>
                </a:solidFill>
                <a:latin typeface="Arial"/>
              </a:rPr>
              <a:t>GraPARI Performance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59" y="3621024"/>
            <a:ext cx="2633472" cy="123444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 i="0">
                <a:solidFill>
                  <a:srgbClr val="20252B"/>
                </a:solidFill>
                <a:latin typeface="Arial"/>
              </a:rPr>
              <a:t>• Grapari Bima: PS +2,6%, Gap 1
• Grapari Dompu: PS +12,5%, Gap 1
• Grapari Lombok Timur: PS 0,0%, Gap 0
• Grapari Lombok Utara: PS -50,0%, Gap -1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79992" y="3621024"/>
            <a:ext cx="2633472" cy="123444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 i="0">
                <a:solidFill>
                  <a:srgbClr val="20252B"/>
                </a:solidFill>
                <a:latin typeface="Arial"/>
              </a:rPr>
              <a:t>• Grapari Maluk: PS -66,7%, Gap -2
• Grapari Mataram: PS -17,0%, Gap -9
• Grapari Sumbawa: PS +50,0%, Gap 3
• Grapari Taliwang: PS +28,6%, Gap 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0040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79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Agency per WOK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Lombok: RE -63 (-5,2%), PS -7 (-0,8%)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36976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28416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Web &amp; Apps per WOK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46704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Tidak ada penurunan PS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53912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45351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B2B2C &amp; Others per WOK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Sumbawa Barat - Sumbawa Timur: RE -1 (-3,2%), PS -1 (-9,1%)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70848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62288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SOBI Affiliate per WOK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0576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Lombok: RE -5 (-62,5%), PS -2 (-100,0%)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40" y="6181344"/>
            <a:ext cx="1143000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Gap = perubahan absolut MTD terhadap MTD-1 pada periode tanggal yang sama. Angka dalam kurung menunjukkan MoM.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Appendix — PS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01–26 Sep 2026 vs MTD-1 01–26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PS by Speed — Total Branch &amp; WOK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93192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93192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390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-9,7%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+0,2%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+19,9%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+12,2%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165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+36,6%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-14,9%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35,4%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-0,8%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33,2%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93192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93192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309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+30,7%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22,7%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-69,2%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41,3%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-81,8%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+196,5%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22,3%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1.725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1.776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1.019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1.017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-0,2%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706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Appendix — Revenue New Sales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01–26 Sep 2026 vs MTD-1 01–26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Revenue New Sales by Speed — Total Branch &amp;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777240"/>
            <a:ext cx="420624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850" b="0" i="1">
                <a:solidFill>
                  <a:srgbClr val="687386"/>
                </a:solidFill>
                <a:latin typeface="Arial"/>
              </a:rPr>
              <a:t>Revenue = total price_package dari PS unik per order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93192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93192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71,4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65,0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-9,0%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99,8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99,4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-0,5%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38,8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46,1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+18,9%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13,2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15,3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+16,0%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38,5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39,0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21,3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28,9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+35,5%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58,2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49,6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-14,7%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24,0%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61,4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60,4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29,2%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17,5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17,2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93192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93192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162,5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184,5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+13,6%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40,6%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59,9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57,3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9,1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-74,8%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141,2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107,0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-24,2%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43,1%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59,9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57,3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565,0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-86,4%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21,3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77,6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+263,9%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37,5%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-64,9%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441,5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454,6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278,2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248,0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163,3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206,6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+26,5%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Appendix — Top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01–26 Sep 2026 vs MTD-1 01–26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Ismail Marzuki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11,0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ARIEF RAMADHOAN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8,0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Yudi arman 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8,0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Mita muliati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BQ DEWI NINGRUM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ELISA PUTRI DEWI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ANNISA SYAKIRAH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Wahyu Hidayat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NYOMAN SAPUTRA WIJAYA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DODYK SUPRIADI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Ismail Marzuki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Yudi arman 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Mita muliati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GEORANO INDRIANTO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ARIEF RAMADHOAN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Wahyu Hidayat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Suryani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+280,0%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PUTU LINGGAR GERRY KUSUMA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10,0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ALVIN HIDAYAT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10,0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FIKA AYU PUSPITASARI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+233,3%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137D3F"/>
                </a:solidFill>
                <a:latin typeface="Arial"/>
              </a:rPr>
              <a:t>Top 10 branch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Appendix — Bottom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01–26 Sep 2026 vs MTD-1 01–26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AISA TUKUBRA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 tarmizi taher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Ibadillah Hish Sholihah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 SAIRIN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Erwin Tri Saputra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Riskia nur komalasari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Humairoh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Nadia Arianda Putri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HARYATI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Nizma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YANTI 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 tarmizi taher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Ibadillah Hish Sholihah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BAIQ RIRIN DWI APRILIANTI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MUHAMAD IHSAN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Riskia nur komalasari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Humairoh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Nadia Arianda Putri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HARYATI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Sofyan ali alkodri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D73527"/>
                </a:solidFill>
                <a:latin typeface="Arial"/>
              </a:rPr>
              <a:t>Bottom 10 branch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