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1.530,8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+15,4%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78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+17,1%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76   Δ 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-11,5%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61   Δ -7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991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-21,9%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1.269   Δ -278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 (11,9%)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148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39 (26,0%)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181051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273552"/>
            <a:ext cx="1627632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730752"/>
            <a:ext cx="1627632" cy="15727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9424" y="3182112"/>
            <a:ext cx="181051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40864" y="3273552"/>
            <a:ext cx="1627632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0864" y="3730752"/>
            <a:ext cx="1627632" cy="15727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Junior Plus: Active PS 0,0%
Junior: Active PS +15,9%
Greenfield: Active PS +66,7%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8807" y="3182112"/>
            <a:ext cx="181051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7" y="3273552"/>
            <a:ext cx="1627632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7" y="3730752"/>
            <a:ext cx="1627632" cy="15727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Grapari Kupang: PS -1
Grapari Waikabubak: PS -1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182112"/>
            <a:ext cx="181051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1" y="3273552"/>
            <a:ext cx="1627632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1" y="3730752"/>
            <a:ext cx="1627632" cy="15727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5" y="3182112"/>
            <a:ext cx="181051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9015" y="3273552"/>
            <a:ext cx="1627632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5" y="3730752"/>
            <a:ext cx="1627632" cy="15727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59" y="3182112"/>
            <a:ext cx="181051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399" y="3273552"/>
            <a:ext cx="1627632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399" y="3730752"/>
            <a:ext cx="1627632" cy="15727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715000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menunjukkan perubahan absolut MTD terhadap MTD-1 pada periode tanggal yang sama.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998464"/>
            <a:ext cx="114300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50" b="1" i="0">
                <a:solidFill>
                  <a:srgbClr val="102C50"/>
                </a:solidFill>
                <a:latin typeface="Arial"/>
              </a:rPr>
              <a:t>Insight lapangan: ____________________________________   Event/gangguan: ____________________   Action plan/PIC: ____________________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 Bonita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Fanderio l laure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HARMAN NDAJANG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RAHMAHWATI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RAHMAHWATI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