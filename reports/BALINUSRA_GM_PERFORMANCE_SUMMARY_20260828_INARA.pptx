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15/08</c:v>
                </c:pt>
                <c:pt idx="1">
                  <c:v>16/08</c:v>
                </c:pt>
                <c:pt idx="2">
                  <c:v>17/08</c:v>
                </c:pt>
                <c:pt idx="3">
                  <c:v>18/08</c:v>
                </c:pt>
                <c:pt idx="4">
                  <c:v>19/08</c:v>
                </c:pt>
                <c:pt idx="5">
                  <c:v>20/08</c:v>
                </c:pt>
                <c:pt idx="6">
                  <c:v>21/08</c:v>
                </c:pt>
                <c:pt idx="7">
                  <c:v>22/08</c:v>
                </c:pt>
                <c:pt idx="8">
                  <c:v>23/08</c:v>
                </c:pt>
                <c:pt idx="9">
                  <c:v>24/08</c:v>
                </c:pt>
                <c:pt idx="10">
                  <c:v>25/08</c:v>
                </c:pt>
                <c:pt idx="11">
                  <c:v>26/08</c:v>
                </c:pt>
                <c:pt idx="12">
                  <c:v>27/08</c:v>
                </c:pt>
                <c:pt idx="13">
                  <c:v>28/08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214.0</c:v>
                </c:pt>
                <c:pt idx="1">
                  <c:v>214.0</c:v>
                </c:pt>
                <c:pt idx="2">
                  <c:v>218.0</c:v>
                </c:pt>
                <c:pt idx="3">
                  <c:v>358.0</c:v>
                </c:pt>
                <c:pt idx="4">
                  <c:v>297.0</c:v>
                </c:pt>
                <c:pt idx="5">
                  <c:v>303.0</c:v>
                </c:pt>
                <c:pt idx="6">
                  <c:v>358.0</c:v>
                </c:pt>
                <c:pt idx="7">
                  <c:v>316.0</c:v>
                </c:pt>
                <c:pt idx="8">
                  <c:v>211.0</c:v>
                </c:pt>
                <c:pt idx="9">
                  <c:v>343.0</c:v>
                </c:pt>
                <c:pt idx="10">
                  <c:v>296.0</c:v>
                </c:pt>
                <c:pt idx="11">
                  <c:v>348.0</c:v>
                </c:pt>
                <c:pt idx="12">
                  <c:v>307.0</c:v>
                </c:pt>
                <c:pt idx="13">
                  <c:v>339.0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15/08</c:v>
                </c:pt>
                <c:pt idx="1">
                  <c:v>16/08</c:v>
                </c:pt>
                <c:pt idx="2">
                  <c:v>17/08</c:v>
                </c:pt>
                <c:pt idx="3">
                  <c:v>18/08</c:v>
                </c:pt>
                <c:pt idx="4">
                  <c:v>19/08</c:v>
                </c:pt>
                <c:pt idx="5">
                  <c:v>20/08</c:v>
                </c:pt>
                <c:pt idx="6">
                  <c:v>21/08</c:v>
                </c:pt>
                <c:pt idx="7">
                  <c:v>22/08</c:v>
                </c:pt>
                <c:pt idx="8">
                  <c:v>23/08</c:v>
                </c:pt>
                <c:pt idx="9">
                  <c:v>24/08</c:v>
                </c:pt>
                <c:pt idx="10">
                  <c:v>25/08</c:v>
                </c:pt>
                <c:pt idx="11">
                  <c:v>26/08</c:v>
                </c:pt>
                <c:pt idx="12">
                  <c:v>27/08</c:v>
                </c:pt>
                <c:pt idx="13">
                  <c:v>28/08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162.0</c:v>
                </c:pt>
                <c:pt idx="1">
                  <c:v>151.0</c:v>
                </c:pt>
                <c:pt idx="2">
                  <c:v>149.0</c:v>
                </c:pt>
                <c:pt idx="3">
                  <c:v>278.0</c:v>
                </c:pt>
                <c:pt idx="4">
                  <c:v>268.0</c:v>
                </c:pt>
                <c:pt idx="5">
                  <c:v>231.0</c:v>
                </c:pt>
                <c:pt idx="6">
                  <c:v>271.0</c:v>
                </c:pt>
                <c:pt idx="7">
                  <c:v>256.0</c:v>
                </c:pt>
                <c:pt idx="8">
                  <c:v>197.0</c:v>
                </c:pt>
                <c:pt idx="9">
                  <c:v>266.0</c:v>
                </c:pt>
                <c:pt idx="10">
                  <c:v>228.0</c:v>
                </c:pt>
                <c:pt idx="11">
                  <c:v>230.0</c:v>
                </c:pt>
                <c:pt idx="12">
                  <c:v>298.0</c:v>
                </c:pt>
                <c:pt idx="13">
                  <c:v>255.0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+0,2% &amp; PS 0,0% MoM — Achievement Mencapai 71,7% (RE) / 68,5%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01–28 Agu 2026 vs MTD-1 01–28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11.688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-0,2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Stabil, PS Menguat pada 28 Agustus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01–28 Agu 2026 vs MTD-1 01–28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01–28 Agustus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11.688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 Pendorong Utama PS (+8,0%), Kupang Terdalam (-10,2%)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01–28 Agu 2026 vs MTD-1 01–28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+1,8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+3,4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-3,2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-2,9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+8,0%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-0,5%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-3,3%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-10,2%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78,9%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71,6%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68,2%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52,2%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Lombok Tertinggi (+14,7%), Bali Timur Terdalam (-12,8%) — 10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01–28 Agu 2026 vs MTD-1 01–28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10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1788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Lombok Tengah Penyumbang PS Absolut Terbesar (+98), Lombok Tengah Tumbuh Tertinggi (+90,7%)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01–28 Agu 2026 vs MTD-1 01–28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+265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-216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38 kabupaten: Top 5 menyumbang +265, Bottom 5 -216, dan perubahan PS regional 0.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≥100 Mbps Tumbuh Tertinggi (+53,2%), TSEL One &gt;30 Mbps Turun Terdalam (-24,5%)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01–28 Agu 2026 vs MTD-1 01–28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6.953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5.712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5.836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Naik +8,7%, Aktivitas DJP -5,3% MoM — Registered SF 861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01–28 Agu 2026 vs MTD-1 01–28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Registered 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17.614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16.684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Active &amp; DJP by Branch</a:t>
            </a:r>
            <a:endParaRPr lang="en-US" sz="15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346704"/>
          <a:ext cx="9262872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640080"/>
                <a:gridCol w="621792"/>
                <a:gridCol w="621792"/>
                <a:gridCol w="594360"/>
                <a:gridCol w="621792"/>
                <a:gridCol w="621792"/>
                <a:gridCol w="594360"/>
                <a:gridCol w="621792"/>
                <a:gridCol w="621792"/>
                <a:gridCol w="594360"/>
                <a:gridCol w="685800"/>
                <a:gridCol w="685800"/>
                <a:gridCol w="640080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6.349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4.508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9.738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56.265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7.140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5.439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83.090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5.439
Dikunjungi: 1.215 (22,3%)
Visit DJP: 3.333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1.033
Dikunjungi: 808 (78,2%)
Visit DJP: 2.247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01–28 Agu 2026 vs MTD-1 01–28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01–28 Agu 2026 vs MTD-1 01–28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KADEK RIDAYANI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NURYANTI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INDAH PUSPITA SARI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HERNAWATI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LENI SUMBAYANTI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FERDY ARYANDO JARA JUTALO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Evan elison selan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lukmanul hakim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LULU KARMILA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ALI TOPAN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NURSIAH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INDAH PUSPITA SARI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KADEK RIDAYANI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NURYANTI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Marianus Hilton Raja reda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ZAENUDDIN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HERNAWATI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lukmanul hakim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Balla panja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AGUSTINUS MAPADA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01–28 Agu 2026 vs MTD-1 01–28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ALFANNY KHAIRUNNISA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MOHAMMAD FAISAL ASSEGAF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 PUTU ARIANI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Sri Widiawati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Lalu esa pramudya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FIRMAN HIDAYAT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ABDIL RAHMAN MUSA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BAGUS ANOM PURWA KENITEN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PUTU ARI SAPUTRA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I PUTU BAYU ARYANATA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ALFANNY KHAIRUNNISA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MOHAMMAD FAISAL ASSEGAF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Sri Widiawati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FIRMAN HIDAYAT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ABDIL RAHMAN MUSA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KHADIJAH AHLUSSUFFI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HAIRIL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PRASDIKA FADKUR ROHMAN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PUTU ARI SAPUTRA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I PUTU BAYU ARYANATA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10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01–28 Agu 2026 vs MTD-1 01–28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10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01–28 Agu 2026 vs MTD-1 01–28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