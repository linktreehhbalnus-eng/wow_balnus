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Area &amp; Product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01–05 Sep 2026 vs MTD-1 01–05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Branch Performance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33271"/>
          <a:ext cx="5394957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1824"/>
                <a:gridCol w="683868"/>
                <a:gridCol w="683868"/>
                <a:gridCol w="683868"/>
                <a:gridCol w="835838"/>
                <a:gridCol w="759853"/>
                <a:gridCol w="835838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Metric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Target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789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4.862,2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15,4%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4.112,2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603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609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4.008,9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15,2%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3.399,9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011680"/>
            <a:ext cx="53949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Target Branch = agregasi target 4 WOK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221992"/>
          <a:ext cx="5394958" cy="301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7331"/>
                <a:gridCol w="1412965"/>
                <a:gridCol w="1412965"/>
                <a:gridCol w="1241697"/>
              </a:tblGrid>
              <a:tr h="3017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to RE Ratio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MTD-1: 76,4%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MTD: 81,2%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+4,8 pp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144768" y="749808"/>
            <a:ext cx="57150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RE &amp; PS Performance by Speed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144768" y="1033271"/>
          <a:ext cx="5714998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6630"/>
                <a:gridCol w="559076"/>
                <a:gridCol w="559076"/>
                <a:gridCol w="559076"/>
                <a:gridCol w="559076"/>
                <a:gridCol w="559076"/>
                <a:gridCol w="559076"/>
                <a:gridCol w="434836"/>
                <a:gridCol w="559076"/>
              </a:tblGrid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Kontrib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301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290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91,8%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47,6%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-52,1%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-46,6%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78,5%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+19,6%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+16,9%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72,4%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+21,1%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+25,0%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70,7%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-0,8%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74,0%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3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-71,4%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-83,3%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3054096"/>
            <a:ext cx="987552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WOK Performance — seluruh WOK Denpasar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20040" y="3337560"/>
          <a:ext cx="9646911" cy="13075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5727"/>
                <a:gridCol w="742070"/>
                <a:gridCol w="742070"/>
                <a:gridCol w="742070"/>
                <a:gridCol w="742070"/>
                <a:gridCol w="816277"/>
                <a:gridCol w="742070"/>
                <a:gridCol w="742070"/>
                <a:gridCol w="742070"/>
                <a:gridCol w="742070"/>
                <a:gridCol w="816277"/>
                <a:gridCol w="742070"/>
              </a:tblGrid>
              <a:tr h="26151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6151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19,8%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972,7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208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+26,1%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20,8%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791,8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6151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-14,4%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12,5%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1.173,2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-14,6%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12,1%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971,0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80,2%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6151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206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14,7%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1.190,9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15,1%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977,8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84,5%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615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15,0%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775,4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12,4%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659,3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67,9%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320040" y="4892040"/>
            <a:ext cx="115214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Kabupaten Performance — Top 3 &amp; Bottom 3 by MoM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5175503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37D3F"/>
                </a:solidFill>
                <a:latin typeface="Arial"/>
              </a:rPr>
              <a:t>Top 3 (MoM PS Tertinggi)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5175503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D73527"/>
                </a:solidFill>
                <a:latin typeface="Arial"/>
              </a:rPr>
              <a:t>Bottom 3 (MoM PS Terendah)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20040" y="5385816"/>
          <a:ext cx="5559550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5378"/>
                <a:gridCol w="958543"/>
                <a:gridCol w="958543"/>
                <a:gridCol w="958543"/>
                <a:gridCol w="958543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Buleleng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54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+85,7%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Badung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+16,2%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Gianyar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+13,5%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6327648" y="5385816"/>
          <a:ext cx="5541262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702"/>
                <a:gridCol w="955390"/>
                <a:gridCol w="955390"/>
                <a:gridCol w="955390"/>
                <a:gridCol w="955390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Karang Asem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-76,9%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Bangli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Klungkung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-15,0%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Sales Force &amp; DJP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01–05 Sep 2026 vs MTD-1 01–05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Sales Force Scorecard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749808"/>
            <a:ext cx="23317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000" b="0" i="1">
                <a:solidFill>
                  <a:srgbClr val="687386"/>
                </a:solidFill>
                <a:latin typeface="Arial"/>
              </a:rPr>
              <a:t>Registered SF: 347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139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-5,4%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147   Δ -8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27832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37560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28032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-3,8%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131   Δ -5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35624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45352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DJP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45352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60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35824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+200,0%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20   Δ 40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43416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53144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Aktivitas DJP — Total Visit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53144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728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43616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+522,2%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53144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117   Δ 611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2221992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&amp; DJP by WOK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20040" y="2505456"/>
          <a:ext cx="10378436" cy="17922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6820"/>
                <a:gridCol w="594185"/>
                <a:gridCol w="673410"/>
                <a:gridCol w="673410"/>
                <a:gridCol w="673410"/>
                <a:gridCol w="673410"/>
                <a:gridCol w="673410"/>
                <a:gridCol w="673410"/>
                <a:gridCol w="673410"/>
                <a:gridCol w="673410"/>
                <a:gridCol w="673410"/>
                <a:gridCol w="792247"/>
                <a:gridCol w="792247"/>
                <a:gridCol w="792247"/>
              </a:tblGrid>
              <a:tr h="3584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Reg.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DJP M-1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DJP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DJP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Visit M-1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Visit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Visit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4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-13,3%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+63,6%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+353,8%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4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+320,0%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+584,6%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4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+433,3%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+569,4%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44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320040" y="4645152"/>
            <a:ext cx="9601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SF Active RE &amp; PS by Speed — Branch Denpasar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20040" y="4919472"/>
          <a:ext cx="7680955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1819"/>
                <a:gridCol w="908500"/>
                <a:gridCol w="908500"/>
                <a:gridCol w="743318"/>
                <a:gridCol w="908500"/>
                <a:gridCol w="908500"/>
                <a:gridCol w="743318"/>
                <a:gridCol w="908500"/>
              </a:tblGrid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-32,3%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-31,9%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+27,5%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+48,4%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+14,3%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320040" y="6373368"/>
            <a:ext cx="8229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SF Active dihitung berdasarkan SF Code unik per kelompok; Aktivitas DJP merupakan total visit.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Channel &amp; ODP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01–05 Sep 2026 vs MTD-1 01–05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Agency Performance by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207008"/>
          <a:ext cx="554126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199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+27,6%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88,4%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85,1%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-13,0%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84,4%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-14,0%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69,0%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327648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Grapari Performance by WOK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7648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327648" y="1207008"/>
          <a:ext cx="554126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71,4%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+25,0%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-62,5%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-85,7%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3145536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Channel Scorecard — Total Branch Denpasar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3438144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AGENCY TOTAL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20040" y="3703320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657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6327648" y="3438144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GRAPARI TOTAL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327648" y="3703320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320040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ODP Occupancy Summary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20040" y="4928616"/>
          <a:ext cx="5413243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0202"/>
                <a:gridCol w="880202"/>
                <a:gridCol w="880202"/>
                <a:gridCol w="880202"/>
                <a:gridCol w="880202"/>
                <a:gridCol w="1012233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ORANGE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YELLOW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GREEN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BLACK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 ODP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6327648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E.  DJP pada ODP Khusus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27648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55664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D73527"/>
                </a:solidFill>
                <a:latin typeface="Arial"/>
              </a:rPr>
              <a:t>ODP BLACK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55664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0 (N/A)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55664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36408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D73527"/>
                </a:solidFill>
                <a:latin typeface="Arial"/>
              </a:rPr>
              <a:t>0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72016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00032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37D3F"/>
                </a:solidFill>
                <a:latin typeface="Arial"/>
              </a:rPr>
              <a:t>ODP GREENFIELD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00032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00032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0 (N/A)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00032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0776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137D3F"/>
                </a:solidFill>
                <a:latin typeface="Arial"/>
              </a:rPr>
              <a:t>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Appendix — PS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01–05 Sep 2026 vs MTD-1 01–05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PS by Speed — Total Branch &amp; WOK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280851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80851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290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+15,5%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47,6%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62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-46,6%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97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+16,9%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+50,6%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64,4%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-72,0%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+110,0%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-20,5%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-26,9%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+47,1%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18,7%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78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+21,9%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44,8%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-46,3%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-41,7%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-28,6%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280851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80851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65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94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-83,3%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-28,6%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+28,1%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+4,5%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17,2%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-57,9%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+47,1%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-18,8%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+14,3%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34,4%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1887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1887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603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609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1887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208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+26,1%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1887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-14,6%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1887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1887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Appendix — Revenue New Sales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01–05 Sep 2026 vs MTD-1 01–05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Revenue New Sales by Speed — Total Branch &amp;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777240"/>
            <a:ext cx="420624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850" b="0" i="1">
                <a:solidFill>
                  <a:srgbClr val="687386"/>
                </a:solidFill>
                <a:latin typeface="Arial"/>
              </a:rPr>
              <a:t>Revenue = total price_package dari PS unik per order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280851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80851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37,9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42,4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+12,0%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36,3%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27,1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14,4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-46,9%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21,2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23,6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+11,2%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12,3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16,7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+35,5%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53,1%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-72,8%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+98,8%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11,4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9,7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-15,3%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32,8%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6,0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-27,4%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6,0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+37,0%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10,3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12,8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+24,5%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34,4%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9,5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-47,0%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8,9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8,9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+0,6%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24,0%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-15,1%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17,5%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-40,6%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18,0%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-33,7%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280851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80851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17,6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20,5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17,6%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16,7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15,5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285,0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-84,4%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-29,7%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6,4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+28,7%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650,0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7,4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7,5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25,5%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-57,9%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285,0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6,0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7,8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+30,2%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-18,8%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910,0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+89,1%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+4,9%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26,2%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270,0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1887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1887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122,3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116,7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1887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28,7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31,4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+9,5%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1887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33,0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29,4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1887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38,8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37,2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1887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21,7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18,7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-14,1%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Appendix — Top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01–05 Sep 2026 vs MTD-1 01–05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DJULEHA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MUHAMMAD ANDREYANTO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9,0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NI NYOMAN RAKA TRISNAYANTI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ROBIL ANWAR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Kiki kurniawan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Anak Agung Gde Agung Adhiaksa Pratama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MUHAZAM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DIANA TRI ANGGRAINI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[TECHNICIAN] EMANUEL LAGA TIFAONA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Kadek Linda Ariyani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DJULEHA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ROBIL ANWAR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Siska wulandari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MADE RIVAN ANDIKA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+233,3%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Vira dwi agustin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MUHAZAM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NI WAYAN DESNI WATI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MUHAMMAD ANDREYANTO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Ketut wijana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9,0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KETUT TINA ARYANI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8,0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137D3F"/>
                </a:solidFill>
                <a:latin typeface="Arial"/>
              </a:rPr>
              <a:t>Top 10 branch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Appendix — Bottom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01–05 Sep 2026 vs MTD-1 01–05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DEWI SRI WULAN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GUSTI AGUNG PUTU SANTIKA PARAMITA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GEDE KARTAKA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KAMALUDIN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HERI SUSANTO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Novi Rohmatul hazijah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SYAFII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AI IFA HANIFAH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NI KETUT SUPARIASIH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LUH SURYA PERTIWI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GUSTI AGUNG PUTU SANTIKA PARAMITA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NURSIAH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D. BUDIONO HARSONO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GEDE KARTAKA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KAMALUDIN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HERI SUSANTO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Novi Rohmatul hazijah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SYAFII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Kunzita Lazuardi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AI IFA HANIFAH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D73527"/>
                </a:solidFill>
                <a:latin typeface="Arial"/>
              </a:rPr>
              <a:t>Bottom 10 branch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