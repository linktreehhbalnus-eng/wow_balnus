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01/09</c:v>
                </c:pt>
                <c:pt idx="1">
                  <c:v>02/09</c:v>
                </c:pt>
                <c:pt idx="2">
                  <c:v>03/09</c:v>
                </c:pt>
                <c:pt idx="3">
                  <c:v>04/09</c:v>
                </c:pt>
                <c:pt idx="4">
                  <c:v>05/09</c:v>
                </c:pt>
                <c:pt idx="5">
                  <c:v>06/09</c:v>
                </c:pt>
                <c:pt idx="6">
                  <c:v>07/09</c:v>
                </c:pt>
                <c:pt idx="7">
                  <c:v>08/09</c:v>
                </c:pt>
                <c:pt idx="8">
                  <c:v>09/09</c:v>
                </c:pt>
                <c:pt idx="9">
                  <c:v>10/09</c:v>
                </c:pt>
                <c:pt idx="10">
                  <c:v>11/09</c:v>
                </c:pt>
                <c:pt idx="11">
                  <c:v>12/09</c:v>
                </c:pt>
                <c:pt idx="12">
                  <c:v>13/09</c:v>
                </c:pt>
                <c:pt idx="13">
                  <c:v>14/09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407.0</c:v>
                </c:pt>
                <c:pt idx="1">
                  <c:v>359.0</c:v>
                </c:pt>
                <c:pt idx="2">
                  <c:v>334.0</c:v>
                </c:pt>
                <c:pt idx="3">
                  <c:v>324.0</c:v>
                </c:pt>
                <c:pt idx="4">
                  <c:v>279.0</c:v>
                </c:pt>
                <c:pt idx="5">
                  <c:v>198.0</c:v>
                </c:pt>
                <c:pt idx="6">
                  <c:v>362.0</c:v>
                </c:pt>
                <c:pt idx="7">
                  <c:v>351.0</c:v>
                </c:pt>
                <c:pt idx="8">
                  <c:v>315.0</c:v>
                </c:pt>
                <c:pt idx="9">
                  <c:v>313.0</c:v>
                </c:pt>
                <c:pt idx="10">
                  <c:v>319.0</c:v>
                </c:pt>
                <c:pt idx="11">
                  <c:v>254.0</c:v>
                </c:pt>
                <c:pt idx="12">
                  <c:v>169.0</c:v>
                </c:pt>
                <c:pt idx="13">
                  <c:v>339.0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01/09</c:v>
                </c:pt>
                <c:pt idx="1">
                  <c:v>02/09</c:v>
                </c:pt>
                <c:pt idx="2">
                  <c:v>03/09</c:v>
                </c:pt>
                <c:pt idx="3">
                  <c:v>04/09</c:v>
                </c:pt>
                <c:pt idx="4">
                  <c:v>05/09</c:v>
                </c:pt>
                <c:pt idx="5">
                  <c:v>06/09</c:v>
                </c:pt>
                <c:pt idx="6">
                  <c:v>07/09</c:v>
                </c:pt>
                <c:pt idx="7">
                  <c:v>08/09</c:v>
                </c:pt>
                <c:pt idx="8">
                  <c:v>09/09</c:v>
                </c:pt>
                <c:pt idx="9">
                  <c:v>10/09</c:v>
                </c:pt>
                <c:pt idx="10">
                  <c:v>11/09</c:v>
                </c:pt>
                <c:pt idx="11">
                  <c:v>12/09</c:v>
                </c:pt>
                <c:pt idx="12">
                  <c:v>13/09</c:v>
                </c:pt>
                <c:pt idx="13">
                  <c:v>14/09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271.0</c:v>
                </c:pt>
                <c:pt idx="1">
                  <c:v>315.0</c:v>
                </c:pt>
                <c:pt idx="2">
                  <c:v>270.0</c:v>
                </c:pt>
                <c:pt idx="3">
                  <c:v>255.0</c:v>
                </c:pt>
                <c:pt idx="4">
                  <c:v>185.0</c:v>
                </c:pt>
                <c:pt idx="5">
                  <c:v>159.0</c:v>
                </c:pt>
                <c:pt idx="6">
                  <c:v>256.0</c:v>
                </c:pt>
                <c:pt idx="7">
                  <c:v>285.0</c:v>
                </c:pt>
                <c:pt idx="8">
                  <c:v>266.0</c:v>
                </c:pt>
                <c:pt idx="9">
                  <c:v>237.0</c:v>
                </c:pt>
                <c:pt idx="10">
                  <c:v>258.0</c:v>
                </c:pt>
                <c:pt idx="11">
                  <c:v>191.0</c:v>
                </c:pt>
                <c:pt idx="12">
                  <c:v>151.0</c:v>
                </c:pt>
                <c:pt idx="13">
                  <c:v>266.0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+1,4% &amp; PS -2,0% MoM — Achievement Mencapai 42,4% (RE) / 41,4%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14 September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01–14 September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8.135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 Pendorong Utama PS (+4,1%), Denpasar Terdalam (-4,6%)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+4,1%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-1,6%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-4,6%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-4,6%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43,9%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43,8%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42,5%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31,5%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Sumba Tertinggi (+15,8%), Bali Tengah 1 Terdalam (-12,7%)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Buleleng Penyumbang PS Absolut Terbesar (+110), Bima Tumbuh Tertinggi (+66,1%)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+192, Bottom 5 -200, dan perubahan PS regional -68.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≥100 Mbps Tumbuh Tertinggi (+93,8%), TSEL One &gt;30 Mbps Turun Terdalam (-67,3%)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-2,3%, Aktivitas DJP +2,7% MoM — Registered SF 864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9.457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4.951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9.963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55.889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83.352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5.469
Dikunjungi: 717 (13,1%)
Visit DJP: 1.952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1.258
Dikunjungi: 570 (45,3%)
Visit DJP: 1.711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NISH RINAH HAMIDAH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MARIO MAXIMILIANO AGUSTO WIO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SULASTRI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EFENDI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Indah lestari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Utami muji kristina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NISH RINAH HAMIDAH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FIKA AYU PUSPITASARI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ADRIANI NELSIANA ABUK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Linda Ariyani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DJULEHA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 UTARI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LINGGAR GERRY KUSUMA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AISA TUKUBRA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FERDY ARYANDO JARA JUTALO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HERNAWATI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PUTU SANTIKA PARAMITA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YANTI 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KAMALUDIN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HERI SUSANTO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ERNY JUMRIANTY AGUSTIN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AGUSTINUS MAPADA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Samsul 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GEDE EKA PANDI ASTAWAN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ATI DUA LIRONG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01–14 Sep 2026 vs MTD-1 01–14 Agu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01–14 Sep 2026 vs MTD-1 01–14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1.379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3.433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3.365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1.624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1.550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01–14 Sep 2026 vs MTD-1 01–14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219,3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85,8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330,2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108,0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225,5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01–14 Sep 2026 vs MTD-1 01–14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4.262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4.323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3.433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3.365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743,7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3.550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3.676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2.951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2.942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634,9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201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-13,4%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48,1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48,3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-23,2%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+146,1%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541 | MoM +0,2%
PS: 511 | MoM -2,3%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453 | Active 58,9% | MoM -0,9%
  PS: 425 | Active 55,3% | MoM -3,6%
• Greenfield
  RE: 52 | Active 89,7% | MoM +13,0%
  PS: 50 | Active 86,2% | MoM +11,1%
• Junior Plus
  RE: 19 | Active 95,0% | MoM -5,0%
  PS: 19 | Active 95,0% | MoM -5,0%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+3,8%, Gap +2
• Flores: PS -30,9%, Gap -25
• Kupang: PS 0,0%, Gap 0
• Mataram: PS -8,6%, Gap 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Lombok Utara (Mataram): -100,0%, Gap -1
• Grapari Maluk (Mataram): -100,0%, Gap -1
• Grapari Taliwang (Mataram): -66,7%, Gap -2
• Grapari Larantuka (Flores): -60,0%, Gap -3
• Grapari Gatsu Tengah (Denpasar): -50,0%, Gap 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1: RE -47 (-10,8%), PS -44 (-11,7%)
• Kupang Rote - Malaka Timtim Belu: RE -27 (-7,4%), PS -33 (-10,3%)
• Bali Timur: RE 0 (0,0%), PS -31 (-12,9%)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 2: RE -32 (-45,1%), PS -26 (-46,4%)
• Bali Tengah 1: RE -11 (-20,4%), PS -8 (-19,5%)
• Bali Barat: RE -11 (-37,9%), PS -7 (-41,2%)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Kupang Rote - Malaka Timtim Belu: RE -12 (-50,0%), PS -5 (-45,5%)
• Bali Timur: RE -1 (-10,0%), PS -4 (-57,1%)
• Bali Barat: RE -5 (-50,0%), PS -3 (-75,0%)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Lombok: RE -4 (-80,0%),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01–14 Sep 2026 vs MTD-1 01–14 Agu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20 (85,0%)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+13,3%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135 / 309 (43,7%)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-19,2%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172 / 350 (49,1%)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-13,6% | Turun 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70 / 135 (51,9%)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+7,7%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84 / 149 (56,4%)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+6,3%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85 / 114 (74,6%)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 / 127 (74,8%)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+2,2%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16 (87,5%)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+16,7%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135 / 211 (64,0%)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+2,3%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160 / 238 (67,2%)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+3,9% | Turun 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50 / 58 (86,2%)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+13,6%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425 / 769 (55,3%)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231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-5,0%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512 / 891 (57,5%)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-2,5% | Turun 274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+652,4%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1.371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406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267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1.835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-5,8%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270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184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+776,2%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380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2.937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-0,4%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309 (5,5%)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-26,1% | Turun 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5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38 / 350 (10,9%)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-7,3% | Turun 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13 (38,5%)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135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+28,6%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149 (10,1%)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+15,4%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114 (3,5%)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127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16 (6,2%)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 / 211 (7,1%)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+36,4% | Turun 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238 (9,7%)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+21,1% | Turun 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58 (13,8%)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45 / 769 (5,9%)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-2,2% | Turun 231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20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10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-9,1% | Turun 8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82 / 891 (9,2%)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274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