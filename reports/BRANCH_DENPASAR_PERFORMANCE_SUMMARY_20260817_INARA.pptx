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0" roundtripDataSignature="AMtx7mgFemQU9zyQaUxLqVerdy9qee0D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8936306-5FCC-43BF-BBB7-34F677EAE946}">
  <a:tblStyle styleId="{E8936306-5FCC-43BF-BBB7-34F677EAE94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0" Type="http://customschemas.google.com/relationships/presentationmetadata" Target="metadata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cap="flat" cmpd="sng" w="9525">
            <a:solidFill>
              <a:srgbClr val="ED00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Denpasar Area &amp; Product Performance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MTD 01–17 Aug 2026 vs MTD-1 01–17 Jul 2026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Telkomsel — BALINUSRA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Branch Denpasar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2C50"/>
                </a:solidFill>
                <a:latin typeface="Arial"/>
                <a:ea typeface="Arial"/>
                <a:cs typeface="Arial"/>
                <a:sym typeface="Arial"/>
              </a:rPr>
              <a:t>A.  Branch Performance</a:t>
            </a:r>
            <a:endParaRPr/>
          </a:p>
        </p:txBody>
      </p:sp>
      <p:graphicFrame>
        <p:nvGraphicFramePr>
          <p:cNvPr id="90" name="Google Shape;90;p1"/>
          <p:cNvGraphicFramePr/>
          <p:nvPr/>
        </p:nvGraphicFramePr>
        <p:xfrm>
          <a:off x="320040" y="10332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{E8936306-5FCC-43BF-BBB7-34F677EAE946}</a:tableStyleId>
              </a:tblPr>
              <a:tblGrid>
                <a:gridCol w="911825"/>
                <a:gridCol w="683875"/>
                <a:gridCol w="683875"/>
                <a:gridCol w="683875"/>
                <a:gridCol w="835850"/>
                <a:gridCol w="759850"/>
                <a:gridCol w="835850"/>
              </a:tblGrid>
              <a:tr h="31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Metric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MTD-1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MTD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MoM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Target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Achv%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Gap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</a:tr>
              <a:tr h="31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2.338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2.302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-1,5%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5.284,9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6873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43,6%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2.982,9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1.878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1.875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-0,2%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4.403,8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6873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42,6%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2.528,8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1" name="Google Shape;91;p1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50" u="none" cap="none" strike="noStrike">
                <a:solidFill>
                  <a:srgbClr val="687386"/>
                </a:solidFill>
                <a:latin typeface="Arial"/>
                <a:ea typeface="Arial"/>
                <a:cs typeface="Arial"/>
                <a:sym typeface="Arial"/>
              </a:rPr>
              <a:t>Target Branch = agregasi target 4 WOK</a:t>
            </a:r>
            <a:endParaRPr/>
          </a:p>
        </p:txBody>
      </p:sp>
      <p:graphicFrame>
        <p:nvGraphicFramePr>
          <p:cNvPr id="92" name="Google Shape;92;p1"/>
          <p:cNvGraphicFramePr/>
          <p:nvPr/>
        </p:nvGraphicFramePr>
        <p:xfrm>
          <a:off x="320040" y="22219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{E8936306-5FCC-43BF-BBB7-34F677EAE946}</a:tableStyleId>
              </a:tblPr>
              <a:tblGrid>
                <a:gridCol w="1327325"/>
                <a:gridCol w="1412975"/>
                <a:gridCol w="1412975"/>
                <a:gridCol w="1241700"/>
              </a:tblGrid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 to RE Ratio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94A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MTD-1: 80,3%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MTD: 81,5%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37D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+1,1 pp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3" name="Google Shape;93;p1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2C50"/>
                </a:solidFill>
                <a:latin typeface="Arial"/>
                <a:ea typeface="Arial"/>
                <a:cs typeface="Arial"/>
                <a:sym typeface="Arial"/>
              </a:rPr>
              <a:t>B.  RE &amp; PS Performance by Speed</a:t>
            </a:r>
            <a:endParaRPr/>
          </a:p>
        </p:txBody>
      </p:sp>
      <p:graphicFrame>
        <p:nvGraphicFramePr>
          <p:cNvPr id="94" name="Google Shape;94;p1"/>
          <p:cNvGraphicFramePr/>
          <p:nvPr/>
        </p:nvGraphicFramePr>
        <p:xfrm>
          <a:off x="6144768" y="10332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{E8936306-5FCC-43BF-BBB7-34F677EAE946}</a:tableStyleId>
              </a:tblPr>
              <a:tblGrid>
                <a:gridCol w="1366625"/>
                <a:gridCol w="559075"/>
                <a:gridCol w="559075"/>
                <a:gridCol w="559075"/>
                <a:gridCol w="559075"/>
                <a:gridCol w="559075"/>
                <a:gridCol w="559075"/>
                <a:gridCol w="434825"/>
                <a:gridCol w="559075"/>
              </a:tblGrid>
              <a:tr h="254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Speed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MTD-1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MTD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MoM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MTD-1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MTD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MoM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PS/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Kontrib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</a:tr>
              <a:tr h="254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≤30 Mbps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844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918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37D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+8,8%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668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776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37D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+16,2%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84,5%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41,4%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4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 Mbps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537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455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-15,3%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453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367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-19,0%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80,7%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19,6%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4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75 Mbps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282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356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37D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+26,2%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218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278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37D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+27,5%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78,1%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14,8%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4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≥100 Mbps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255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230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-9,8%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194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175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-9,8%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76,1%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9,3%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4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TSEL One ≤30 Mbps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389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317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-18,5%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317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256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-19,2%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80,8%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13,7%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4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TSEL One &gt;30 Mbps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31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26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-16,1%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28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-17,9%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88,5%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1,2%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5" name="Google Shape;95;p1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2C50"/>
                </a:solidFill>
                <a:latin typeface="Arial"/>
                <a:ea typeface="Arial"/>
                <a:cs typeface="Arial"/>
                <a:sym typeface="Arial"/>
              </a:rPr>
              <a:t>C.  WOK Performance — seluruh WOK Denpasar</a:t>
            </a:r>
            <a:endParaRPr/>
          </a:p>
        </p:txBody>
      </p:sp>
      <p:graphicFrame>
        <p:nvGraphicFramePr>
          <p:cNvPr id="96" name="Google Shape;96;p1"/>
          <p:cNvGraphicFramePr/>
          <p:nvPr/>
        </p:nvGraphicFramePr>
        <p:xfrm>
          <a:off x="320040" y="33375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{E8936306-5FCC-43BF-BBB7-34F677EAE946}</a:tableStyleId>
              </a:tblPr>
              <a:tblGrid>
                <a:gridCol w="1335725"/>
                <a:gridCol w="742075"/>
                <a:gridCol w="742075"/>
                <a:gridCol w="742075"/>
                <a:gridCol w="742075"/>
                <a:gridCol w="816275"/>
                <a:gridCol w="742075"/>
                <a:gridCol w="742075"/>
                <a:gridCol w="742075"/>
                <a:gridCol w="742075"/>
                <a:gridCol w="816275"/>
                <a:gridCol w="742075"/>
              </a:tblGrid>
              <a:tr h="261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WOK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MTD-1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MTD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MoM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Achv%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Gap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MTD-1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MTD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MoM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Achv%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Gap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PS/RE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MTD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</a:tr>
              <a:tr h="261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Bali Barat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596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635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37D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+6,5%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6873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50,2%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629,1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459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508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37D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+10,7%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6873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48,2%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545,4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80,0%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1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Bali Tengah 1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601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600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-0,2%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6873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40,1%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897,9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512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505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-1,4%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6873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40,5%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743,2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84,2%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1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Bali Tengah 2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666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665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-0,2%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6873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43,1%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876,8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543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545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37D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+0,4%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6873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42,4%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739,7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82,0%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1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Bali Timur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475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402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-15,4%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6873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41,0%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579,1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364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317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-12,9%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6873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38,8%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500,5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78,9%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7" name="Google Shape;97;p1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2C50"/>
                </a:solidFill>
                <a:latin typeface="Arial"/>
                <a:ea typeface="Arial"/>
                <a:cs typeface="Arial"/>
                <a:sym typeface="Arial"/>
              </a:rPr>
              <a:t>D.  Kabupaten Performance — Top 3 &amp; Bottom 3 by MoM PS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37D3F"/>
                </a:solidFill>
                <a:latin typeface="Arial"/>
                <a:ea typeface="Arial"/>
                <a:cs typeface="Arial"/>
                <a:sym typeface="Arial"/>
              </a:rPr>
              <a:t>Top 3 (MoM PS Tertinggi)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73527"/>
                </a:solidFill>
                <a:latin typeface="Arial"/>
                <a:ea typeface="Arial"/>
                <a:cs typeface="Arial"/>
                <a:sym typeface="Arial"/>
              </a:rPr>
              <a:t>Bottom 3 (MoM PS Terendah)</a:t>
            </a:r>
            <a:endParaRPr/>
          </a:p>
        </p:txBody>
      </p:sp>
      <p:graphicFrame>
        <p:nvGraphicFramePr>
          <p:cNvPr id="100" name="Google Shape;100;p1"/>
          <p:cNvGraphicFramePr/>
          <p:nvPr/>
        </p:nvGraphicFramePr>
        <p:xfrm>
          <a:off x="320040" y="53858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{E8936306-5FCC-43BF-BBB7-34F677EAE946}</a:tableStyleId>
              </a:tblPr>
              <a:tblGrid>
                <a:gridCol w="1725375"/>
                <a:gridCol w="958550"/>
                <a:gridCol w="958550"/>
                <a:gridCol w="958550"/>
                <a:gridCol w="958550"/>
              </a:tblGrid>
              <a:tr h="224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Kabupaten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MTD-1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MTD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Selisih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MoM PS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Tabanan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187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245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6873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58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37D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+31,0%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4EA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Bangli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46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59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6873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37D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+28,3%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4EA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Badung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247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266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6873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37D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+7,7%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1" name="Google Shape;101;p1"/>
          <p:cNvGraphicFramePr/>
          <p:nvPr/>
        </p:nvGraphicFramePr>
        <p:xfrm>
          <a:off x="6327648" y="53858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{E8936306-5FCC-43BF-BBB7-34F677EAE946}</a:tableStyleId>
              </a:tblPr>
              <a:tblGrid>
                <a:gridCol w="1719700"/>
                <a:gridCol w="955400"/>
                <a:gridCol w="955400"/>
                <a:gridCol w="955400"/>
                <a:gridCol w="955400"/>
              </a:tblGrid>
              <a:tr h="224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Kabupaten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MTD-1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MTD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Selisih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MoM PS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Gianyar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212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157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-55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-25,9%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Karang Asem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42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36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-6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-14,3%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Jembrana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77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68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-9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-11,7%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cap="flat" cmpd="sng" w="9525">
            <a:solidFill>
              <a:srgbClr val="ED00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Denpasar Sales Force &amp; DJP Performance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MTD 01–17 Aug 2026 vs MTD-1 01–17 Jul 2026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Telkomsel — BALINUSRA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Branch Denpasar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2C50"/>
                </a:solidFill>
                <a:latin typeface="Arial"/>
                <a:ea typeface="Arial"/>
                <a:cs typeface="Arial"/>
                <a:sym typeface="Arial"/>
              </a:rPr>
              <a:t>A.  Sales Force Scorecard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687386"/>
                </a:solidFill>
                <a:latin typeface="Arial"/>
                <a:ea typeface="Arial"/>
                <a:cs typeface="Arial"/>
                <a:sym typeface="Arial"/>
              </a:rPr>
              <a:t>Registered SF: 339</a:t>
            </a:r>
            <a:endParaRPr/>
          </a:p>
        </p:txBody>
      </p:sp>
      <p:sp>
        <p:nvSpPr>
          <p:cNvPr id="113" name="Google Shape;113;p2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fmla="val 8000" name="adj"/>
            </a:avLst>
          </a:prstGeom>
          <a:solidFill>
            <a:srgbClr val="F4F6F8"/>
          </a:solidFill>
          <a:ln cap="flat" cmpd="sng" w="9525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02C50"/>
                </a:solidFill>
                <a:latin typeface="Arial"/>
                <a:ea typeface="Arial"/>
                <a:cs typeface="Arial"/>
                <a:sym typeface="Arial"/>
              </a:rPr>
              <a:t>SF Active RE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213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37D3F"/>
                </a:solidFill>
                <a:latin typeface="Arial"/>
                <a:ea typeface="Arial"/>
                <a:cs typeface="Arial"/>
                <a:sym typeface="Arial"/>
              </a:rPr>
              <a:t>+6,5%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87386"/>
                </a:solidFill>
                <a:latin typeface="Arial"/>
                <a:ea typeface="Arial"/>
                <a:cs typeface="Arial"/>
                <a:sym typeface="Arial"/>
              </a:rPr>
              <a:t>MTD-1: 200   Δ 13</a:t>
            </a:r>
            <a:endParaRPr/>
          </a:p>
        </p:txBody>
      </p:sp>
      <p:sp>
        <p:nvSpPr>
          <p:cNvPr id="118" name="Google Shape;118;p2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fmla="val 8000" name="adj"/>
            </a:avLst>
          </a:prstGeom>
          <a:solidFill>
            <a:srgbClr val="F4F6F8"/>
          </a:solidFill>
          <a:ln cap="flat" cmpd="sng" w="9525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02C50"/>
                </a:solidFill>
                <a:latin typeface="Arial"/>
                <a:ea typeface="Arial"/>
                <a:cs typeface="Arial"/>
                <a:sym typeface="Arial"/>
              </a:rPr>
              <a:t>SF Active PS</a:t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204</a:t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37D3F"/>
                </a:solidFill>
                <a:latin typeface="Arial"/>
                <a:ea typeface="Arial"/>
                <a:cs typeface="Arial"/>
                <a:sym typeface="Arial"/>
              </a:rPr>
              <a:t>+4,6%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87386"/>
                </a:solidFill>
                <a:latin typeface="Arial"/>
                <a:ea typeface="Arial"/>
                <a:cs typeface="Arial"/>
                <a:sym typeface="Arial"/>
              </a:rPr>
              <a:t>MTD-1: 195   Δ 9</a:t>
            </a: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fmla="val 8000" name="adj"/>
            </a:avLst>
          </a:prstGeom>
          <a:solidFill>
            <a:srgbClr val="F4F6F8"/>
          </a:solidFill>
          <a:ln cap="flat" cmpd="sng" w="9525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02C50"/>
                </a:solidFill>
                <a:latin typeface="Arial"/>
                <a:ea typeface="Arial"/>
                <a:cs typeface="Arial"/>
                <a:sym typeface="Arial"/>
              </a:rPr>
              <a:t>SF Active DJP</a:t>
            </a:r>
            <a:endParaRPr/>
          </a:p>
        </p:txBody>
      </p:sp>
      <p:sp>
        <p:nvSpPr>
          <p:cNvPr id="125" name="Google Shape;125;p2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126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73527"/>
                </a:solidFill>
                <a:latin typeface="Arial"/>
                <a:ea typeface="Arial"/>
                <a:cs typeface="Arial"/>
                <a:sym typeface="Arial"/>
              </a:rPr>
              <a:t>-3,1%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87386"/>
                </a:solidFill>
                <a:latin typeface="Arial"/>
                <a:ea typeface="Arial"/>
                <a:cs typeface="Arial"/>
                <a:sym typeface="Arial"/>
              </a:rPr>
              <a:t>MTD-1: 130   Δ -4</a:t>
            </a:r>
            <a:endParaRPr/>
          </a:p>
        </p:txBody>
      </p:sp>
      <p:sp>
        <p:nvSpPr>
          <p:cNvPr id="128" name="Google Shape;128;p2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fmla="val 8000" name="adj"/>
            </a:avLst>
          </a:prstGeom>
          <a:solidFill>
            <a:srgbClr val="F4F6F8"/>
          </a:solidFill>
          <a:ln cap="flat" cmpd="sng" w="9525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02C50"/>
                </a:solidFill>
                <a:latin typeface="Arial"/>
                <a:ea typeface="Arial"/>
                <a:cs typeface="Arial"/>
                <a:sym typeface="Arial"/>
              </a:rPr>
              <a:t>Aktivitas DJP — Total Visit</a:t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2.395</a:t>
            </a:r>
            <a:endParaRPr/>
          </a:p>
        </p:txBody>
      </p:sp>
      <p:sp>
        <p:nvSpPr>
          <p:cNvPr id="131" name="Google Shape;131;p2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73527"/>
                </a:solidFill>
                <a:latin typeface="Arial"/>
                <a:ea typeface="Arial"/>
                <a:cs typeface="Arial"/>
                <a:sym typeface="Arial"/>
              </a:rPr>
              <a:t>-4,4%</a:t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87386"/>
                </a:solidFill>
                <a:latin typeface="Arial"/>
                <a:ea typeface="Arial"/>
                <a:cs typeface="Arial"/>
                <a:sym typeface="Arial"/>
              </a:rPr>
              <a:t>MTD-1: 2.504   Δ -109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2C50"/>
                </a:solidFill>
                <a:latin typeface="Arial"/>
                <a:ea typeface="Arial"/>
                <a:cs typeface="Arial"/>
                <a:sym typeface="Arial"/>
              </a:rPr>
              <a:t>B.  SF Active &amp; DJP by WOK</a:t>
            </a:r>
            <a:endParaRPr/>
          </a:p>
        </p:txBody>
      </p:sp>
      <p:graphicFrame>
        <p:nvGraphicFramePr>
          <p:cNvPr id="134" name="Google Shape;134;p2"/>
          <p:cNvGraphicFramePr/>
          <p:nvPr/>
        </p:nvGraphicFramePr>
        <p:xfrm>
          <a:off x="320040" y="250545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{E8936306-5FCC-43BF-BBB7-34F677EAE946}</a:tableStyleId>
              </a:tblPr>
              <a:tblGrid>
                <a:gridCol w="1346825"/>
                <a:gridCol w="594175"/>
                <a:gridCol w="673400"/>
                <a:gridCol w="673400"/>
                <a:gridCol w="673400"/>
                <a:gridCol w="673400"/>
                <a:gridCol w="673400"/>
                <a:gridCol w="673400"/>
                <a:gridCol w="673400"/>
                <a:gridCol w="673400"/>
                <a:gridCol w="673400"/>
                <a:gridCol w="792250"/>
                <a:gridCol w="792250"/>
                <a:gridCol w="792250"/>
              </a:tblGrid>
              <a:tr h="358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WOK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Reg.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SF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 M-1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 MTD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 MoM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 M-1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 MTD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 MoM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DJP M-1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DJP MTD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DJP MoM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Visit M-1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Visit MTD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Visit MoM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</a:tr>
              <a:tr h="358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Bali Barat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76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48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59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37D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+22,9%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46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56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37D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+21,7%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36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44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37D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+22,2%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818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792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-3,2%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</a:tr>
              <a:tr h="358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Bali Tengah 1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90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54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57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37D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+5,6%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55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57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37D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+3,6%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43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41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-4,7%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582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831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37D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+42,8%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4EA"/>
                    </a:solidFill>
                  </a:tcPr>
                </a:tc>
              </a:tr>
              <a:tr h="358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Bali Tengah 2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94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37D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+13,3%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48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37D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+6,7%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28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26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-7,1%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600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513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-14,5%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</a:tr>
              <a:tr h="358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Bali Timur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79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46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-13,2%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49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43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-12,2%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-34,8%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504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259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-48,6%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35" name="Google Shape;135;p2"/>
          <p:cNvSpPr txBox="1"/>
          <p:nvPr/>
        </p:nvSpPr>
        <p:spPr>
          <a:xfrm>
            <a:off x="320040" y="4645152"/>
            <a:ext cx="9601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2C50"/>
                </a:solidFill>
                <a:latin typeface="Arial"/>
                <a:ea typeface="Arial"/>
                <a:cs typeface="Arial"/>
                <a:sym typeface="Arial"/>
              </a:rPr>
              <a:t>C.  SF Active RE &amp; PS by Speed — Branch Denpasar</a:t>
            </a:r>
            <a:endParaRPr/>
          </a:p>
        </p:txBody>
      </p:sp>
      <p:graphicFrame>
        <p:nvGraphicFramePr>
          <p:cNvPr id="136" name="Google Shape;136;p2"/>
          <p:cNvGraphicFramePr/>
          <p:nvPr/>
        </p:nvGraphicFramePr>
        <p:xfrm>
          <a:off x="320040" y="49194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{E8936306-5FCC-43BF-BBB7-34F677EAE946}</a:tableStyleId>
              </a:tblPr>
              <a:tblGrid>
                <a:gridCol w="1651825"/>
                <a:gridCol w="908500"/>
                <a:gridCol w="908500"/>
                <a:gridCol w="743325"/>
                <a:gridCol w="908500"/>
                <a:gridCol w="908500"/>
                <a:gridCol w="743325"/>
                <a:gridCol w="908500"/>
              </a:tblGrid>
              <a:tr h="202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Speed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Active RE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MTD-1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Active RE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MTD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MoM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Active PS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MTD-1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Active PS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MTD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MoM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 per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Active SF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</a:tr>
              <a:tr h="202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≤30 Mbps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150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161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37D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+7,3%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138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152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37D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+10,1%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5,1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2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 Mbps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115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117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37D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+1,7%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112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106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-5,4%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3,5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2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75 Mbps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85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81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-4,7%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73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73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6873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0,0%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3,8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2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≥100 Mbps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61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37D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+4,9%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54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58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37D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+7,4%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3,0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2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TSEL One ≤30 Mbps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89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86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-3,4%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81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75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-7,4%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3,4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2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TSEL One &gt;30 Mbps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-11,8%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37D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+6,7%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1,4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7" name="Google Shape;137;p2"/>
          <p:cNvSpPr txBox="1"/>
          <p:nvPr/>
        </p:nvSpPr>
        <p:spPr>
          <a:xfrm>
            <a:off x="320040" y="6373368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50" u="none" cap="none" strike="noStrike">
                <a:solidFill>
                  <a:srgbClr val="687386"/>
                </a:solidFill>
                <a:latin typeface="Arial"/>
                <a:ea typeface="Arial"/>
                <a:cs typeface="Arial"/>
                <a:sym typeface="Arial"/>
              </a:rPr>
              <a:t>SF Active dihitung berdasarkan SF Code unik per kelompok; Aktivitas DJP merupakan total visit.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cap="flat" cmpd="sng" w="9525">
            <a:solidFill>
              <a:srgbClr val="ED00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Denpasar Channel &amp; ODP Summary</a:t>
            </a:r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MTD 01–17 Aug 2026 vs MTD-1 01–17 Jul 2026</a:t>
            </a:r>
            <a:endParaRPr/>
          </a:p>
        </p:txBody>
      </p:sp>
      <p:sp>
        <p:nvSpPr>
          <p:cNvPr id="145" name="Google Shape;145;p3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Telkomsel — BALINUSRA</a:t>
            </a:r>
            <a:endParaRPr/>
          </a:p>
        </p:txBody>
      </p:sp>
      <p:sp>
        <p:nvSpPr>
          <p:cNvPr id="146" name="Google Shape;146;p3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Branch Denpasar</a:t>
            </a:r>
            <a:endParaRPr/>
          </a:p>
        </p:txBody>
      </p:sp>
      <p:sp>
        <p:nvSpPr>
          <p:cNvPr id="147" name="Google Shape;147;p3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2C50"/>
                </a:solidFill>
                <a:latin typeface="Arial"/>
                <a:ea typeface="Arial"/>
                <a:cs typeface="Arial"/>
                <a:sym typeface="Arial"/>
              </a:rPr>
              <a:t>A.  Agency Performance by WOK</a:t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50" u="none" cap="none" strike="noStrike">
                <a:solidFill>
                  <a:srgbClr val="687386"/>
                </a:solidFill>
                <a:latin typeface="Arial"/>
                <a:ea typeface="Arial"/>
                <a:cs typeface="Arial"/>
                <a:sym typeface="Arial"/>
              </a:rPr>
              <a:t>Diurutkan MoM PS tertinggi → terendah</a:t>
            </a:r>
            <a:endParaRPr/>
          </a:p>
        </p:txBody>
      </p:sp>
      <p:graphicFrame>
        <p:nvGraphicFramePr>
          <p:cNvPr id="149" name="Google Shape;149;p3"/>
          <p:cNvGraphicFramePr/>
          <p:nvPr/>
        </p:nvGraphicFramePr>
        <p:xfrm>
          <a:off x="320040" y="12070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{E8936306-5FCC-43BF-BBB7-34F677EAE946}</a:tableStyleId>
              </a:tblPr>
              <a:tblGrid>
                <a:gridCol w="1134950"/>
                <a:gridCol w="667625"/>
                <a:gridCol w="667625"/>
                <a:gridCol w="600850"/>
                <a:gridCol w="667625"/>
                <a:gridCol w="667625"/>
                <a:gridCol w="600850"/>
                <a:gridCol w="534100"/>
              </a:tblGrid>
              <a:tr h="351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WOK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MTD-1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MTD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MoM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MTD-1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MTD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MoM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PS/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</a:tr>
              <a:tr h="351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Bali Barat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533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576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37D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+8,1%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432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473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37D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+9,5%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82,1%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1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Bali Tengah 1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477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513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37D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+7,5%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405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439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37D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+8,4%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85,6%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1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Bali Tengah 2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544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532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-2,2%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440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443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37D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+0,7%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83,3%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1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Bali Timur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402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337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-16,2%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323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280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-13,3%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83,1%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0" name="Google Shape;150;p3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2C50"/>
                </a:solidFill>
                <a:latin typeface="Arial"/>
                <a:ea typeface="Arial"/>
                <a:cs typeface="Arial"/>
                <a:sym typeface="Arial"/>
              </a:rPr>
              <a:t>B.  Grapari Performance by WOK</a:t>
            </a:r>
            <a:endParaRPr/>
          </a:p>
        </p:txBody>
      </p:sp>
      <p:sp>
        <p:nvSpPr>
          <p:cNvPr id="151" name="Google Shape;151;p3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50" u="none" cap="none" strike="noStrike">
                <a:solidFill>
                  <a:srgbClr val="687386"/>
                </a:solidFill>
                <a:latin typeface="Arial"/>
                <a:ea typeface="Arial"/>
                <a:cs typeface="Arial"/>
                <a:sym typeface="Arial"/>
              </a:rPr>
              <a:t>Diurutkan MoM PS tertinggi → terendah</a:t>
            </a:r>
            <a:endParaRPr/>
          </a:p>
        </p:txBody>
      </p:sp>
      <p:graphicFrame>
        <p:nvGraphicFramePr>
          <p:cNvPr id="152" name="Google Shape;152;p3"/>
          <p:cNvGraphicFramePr/>
          <p:nvPr/>
        </p:nvGraphicFramePr>
        <p:xfrm>
          <a:off x="6327648" y="12070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{E8936306-5FCC-43BF-BBB7-34F677EAE946}</a:tableStyleId>
              </a:tblPr>
              <a:tblGrid>
                <a:gridCol w="1134950"/>
                <a:gridCol w="667625"/>
                <a:gridCol w="667625"/>
                <a:gridCol w="600850"/>
                <a:gridCol w="667625"/>
                <a:gridCol w="667625"/>
                <a:gridCol w="600850"/>
                <a:gridCol w="534100"/>
              </a:tblGrid>
              <a:tr h="351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WOK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MTD-1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MTD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MoM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MTD-1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MTD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MoM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PS/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</a:tr>
              <a:tr h="351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Bali Barat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-38,1%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37D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+44,4%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100,0%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1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Bali Tengah 2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37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-13,5%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29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-3,3%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90,6%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1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Bali Timur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-10,5%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-35,7%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52,9%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1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Bali Tengah 1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-52,0%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-57,1%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75,0%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3" name="Google Shape;153;p3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2C50"/>
                </a:solidFill>
                <a:latin typeface="Arial"/>
                <a:ea typeface="Arial"/>
                <a:cs typeface="Arial"/>
                <a:sym typeface="Arial"/>
              </a:rPr>
              <a:t>C.  Channel Scorecard — Total Branch Denpasar</a:t>
            </a:r>
            <a:endParaRPr/>
          </a:p>
        </p:txBody>
      </p:sp>
      <p:sp>
        <p:nvSpPr>
          <p:cNvPr id="154" name="Google Shape;154;p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02C50"/>
                </a:solidFill>
                <a:latin typeface="Arial"/>
                <a:ea typeface="Arial"/>
                <a:cs typeface="Arial"/>
                <a:sym typeface="Arial"/>
              </a:rPr>
              <a:t>AGENCY TOTAL</a:t>
            </a:r>
            <a:endParaRPr/>
          </a:p>
        </p:txBody>
      </p:sp>
      <p:graphicFrame>
        <p:nvGraphicFramePr>
          <p:cNvPr id="155" name="Google Shape;155;p3"/>
          <p:cNvGraphicFramePr/>
          <p:nvPr/>
        </p:nvGraphicFramePr>
        <p:xfrm>
          <a:off x="320040" y="3703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{E8936306-5FCC-43BF-BBB7-34F677EAE946}</a:tableStyleId>
              </a:tblPr>
              <a:tblGrid>
                <a:gridCol w="899150"/>
                <a:gridCol w="899150"/>
                <a:gridCol w="899150"/>
                <a:gridCol w="899150"/>
                <a:gridCol w="899150"/>
                <a:gridCol w="899150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 MTD-1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 MTD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 MoM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 MTD-1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 MTD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 MoM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1.956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1.958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37D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+0,1%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1.600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1.635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37D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+2,2%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56" name="Google Shape;156;p3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02C50"/>
                </a:solidFill>
                <a:latin typeface="Arial"/>
                <a:ea typeface="Arial"/>
                <a:cs typeface="Arial"/>
                <a:sym typeface="Arial"/>
              </a:rPr>
              <a:t>GRAPARI TOTAL</a:t>
            </a:r>
            <a:endParaRPr/>
          </a:p>
        </p:txBody>
      </p:sp>
      <p:graphicFrame>
        <p:nvGraphicFramePr>
          <p:cNvPr id="157" name="Google Shape;157;p3"/>
          <p:cNvGraphicFramePr/>
          <p:nvPr/>
        </p:nvGraphicFramePr>
        <p:xfrm>
          <a:off x="6327648" y="3703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{E8936306-5FCC-43BF-BBB7-34F677EAE946}</a:tableStyleId>
              </a:tblPr>
              <a:tblGrid>
                <a:gridCol w="899150"/>
                <a:gridCol w="899150"/>
                <a:gridCol w="899150"/>
                <a:gridCol w="899150"/>
                <a:gridCol w="899150"/>
                <a:gridCol w="899150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 MTD-1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 MTD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 MoM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 MTD-1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 MTD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 MoM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102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74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-27,5%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74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D735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-18,9%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58" name="Google Shape;158;p3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2C50"/>
                </a:solidFill>
                <a:latin typeface="Arial"/>
                <a:ea typeface="Arial"/>
                <a:cs typeface="Arial"/>
                <a:sym typeface="Arial"/>
              </a:rPr>
              <a:t>D.  ODP Occupancy Summary</a:t>
            </a:r>
            <a:endParaRPr/>
          </a:p>
        </p:txBody>
      </p:sp>
      <p:graphicFrame>
        <p:nvGraphicFramePr>
          <p:cNvPr id="159" name="Google Shape;159;p3"/>
          <p:cNvGraphicFramePr/>
          <p:nvPr/>
        </p:nvGraphicFramePr>
        <p:xfrm>
          <a:off x="320040" y="49286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{E8936306-5FCC-43BF-BBB7-34F677EAE946}</a:tableStyleId>
              </a:tblPr>
              <a:tblGrid>
                <a:gridCol w="880200"/>
                <a:gridCol w="880200"/>
                <a:gridCol w="880200"/>
                <a:gridCol w="880200"/>
                <a:gridCol w="880200"/>
                <a:gridCol w="1012225"/>
              </a:tblGrid>
              <a:tr h="31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RED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ORANGE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YELLOW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GREEN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BLACK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 ODP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50"/>
                    </a:solidFill>
                  </a:tcPr>
                </a:tc>
              </a:tr>
              <a:tr h="31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8.388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7.638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17.598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10.710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2.404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46.738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17,9%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16,3%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37,7%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22,9%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5,1%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025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100,0%</a:t>
                      </a:r>
                      <a:endParaRPr/>
                    </a:p>
                  </a:txBody>
                  <a:tcPr marT="0" marB="0" marR="27425" marL="27425">
                    <a:lnL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0" name="Google Shape;160;p3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2C50"/>
                </a:solidFill>
                <a:latin typeface="Arial"/>
                <a:ea typeface="Arial"/>
                <a:cs typeface="Arial"/>
                <a:sym typeface="Arial"/>
              </a:rPr>
              <a:t>E.  DJP pada ODP Khusus</a:t>
            </a:r>
            <a:endParaRPr/>
          </a:p>
        </p:txBody>
      </p:sp>
      <p:sp>
        <p:nvSpPr>
          <p:cNvPr id="161" name="Google Shape;161;p3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fmla="val 8000" name="adj"/>
            </a:avLst>
          </a:prstGeom>
          <a:solidFill>
            <a:srgbClr val="F4F6F8"/>
          </a:solidFill>
          <a:ln cap="flat" cmpd="sng" w="9525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73527"/>
                </a:solidFill>
                <a:latin typeface="Arial"/>
                <a:ea typeface="Arial"/>
                <a:cs typeface="Arial"/>
                <a:sym typeface="Arial"/>
              </a:rPr>
              <a:t>ODP BLACK</a:t>
            </a:r>
            <a:endParaRPr/>
          </a:p>
        </p:txBody>
      </p:sp>
      <p:sp>
        <p:nvSpPr>
          <p:cNvPr id="163" name="Google Shape;163;p3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87386"/>
                </a:solidFill>
                <a:latin typeface="Arial"/>
                <a:ea typeface="Arial"/>
                <a:cs typeface="Arial"/>
                <a:sym typeface="Arial"/>
              </a:rPr>
              <a:t>Jumlah ODP  2.404</a:t>
            </a:r>
            <a:endParaRPr/>
          </a:p>
        </p:txBody>
      </p:sp>
      <p:sp>
        <p:nvSpPr>
          <p:cNvPr id="164" name="Google Shape;164;p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ODP dikunjungi  203 (8,4%)</a:t>
            </a:r>
            <a:endParaRPr/>
          </a:p>
        </p:txBody>
      </p:sp>
      <p:sp>
        <p:nvSpPr>
          <p:cNvPr id="165" name="Google Shape;165;p3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87386"/>
                </a:solidFill>
                <a:latin typeface="Arial"/>
                <a:ea typeface="Arial"/>
                <a:cs typeface="Arial"/>
                <a:sym typeface="Arial"/>
              </a:rPr>
              <a:t>Total Visit DJP</a:t>
            </a:r>
            <a:endParaRPr/>
          </a:p>
        </p:txBody>
      </p:sp>
      <p:sp>
        <p:nvSpPr>
          <p:cNvPr id="166" name="Google Shape;166;p3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D73527"/>
                </a:solidFill>
                <a:latin typeface="Arial"/>
                <a:ea typeface="Arial"/>
                <a:cs typeface="Arial"/>
                <a:sym typeface="Arial"/>
              </a:rPr>
              <a:t>507</a:t>
            </a:r>
            <a:endParaRPr/>
          </a:p>
        </p:txBody>
      </p:sp>
      <p:sp>
        <p:nvSpPr>
          <p:cNvPr id="167" name="Google Shape;167;p3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fmla="val 8000" name="adj"/>
            </a:avLst>
          </a:prstGeom>
          <a:solidFill>
            <a:srgbClr val="F4F6F8"/>
          </a:solidFill>
          <a:ln cap="flat" cmpd="sng" w="9525">
            <a:solidFill>
              <a:srgbClr val="D8DE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3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37D3F"/>
                </a:solidFill>
                <a:latin typeface="Arial"/>
                <a:ea typeface="Arial"/>
                <a:cs typeface="Arial"/>
                <a:sym typeface="Arial"/>
              </a:rPr>
              <a:t>ODP GREENFIELD</a:t>
            </a:r>
            <a:endParaRPr/>
          </a:p>
        </p:txBody>
      </p:sp>
      <p:sp>
        <p:nvSpPr>
          <p:cNvPr id="169" name="Google Shape;169;p3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87386"/>
                </a:solidFill>
                <a:latin typeface="Arial"/>
                <a:ea typeface="Arial"/>
                <a:cs typeface="Arial"/>
                <a:sym typeface="Arial"/>
              </a:rPr>
              <a:t>Jumlah ODP  180</a:t>
            </a:r>
            <a:endParaRPr/>
          </a:p>
        </p:txBody>
      </p:sp>
      <p:sp>
        <p:nvSpPr>
          <p:cNvPr id="170" name="Google Shape;170;p3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ODP dikunjungi  60 (33,3%)</a:t>
            </a:r>
            <a:endParaRPr/>
          </a:p>
        </p:txBody>
      </p:sp>
      <p:sp>
        <p:nvSpPr>
          <p:cNvPr id="171" name="Google Shape;171;p3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87386"/>
                </a:solidFill>
                <a:latin typeface="Arial"/>
                <a:ea typeface="Arial"/>
                <a:cs typeface="Arial"/>
                <a:sym typeface="Arial"/>
              </a:rPr>
              <a:t>Total Visit DJP</a:t>
            </a:r>
            <a:endParaRPr/>
          </a:p>
        </p:txBody>
      </p:sp>
      <p:sp>
        <p:nvSpPr>
          <p:cNvPr id="172" name="Google Shape;172;p3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25" spcFirstLastPara="1" rIns="27425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37D3F"/>
                </a:solidFill>
                <a:latin typeface="Arial"/>
                <a:ea typeface="Arial"/>
                <a:cs typeface="Arial"/>
                <a:sym typeface="Arial"/>
              </a:rPr>
              <a:t>142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