
<file path=[Content_Types].xml><?xml version="1.0" encoding="utf-8"?>
<Types xmlns="http://schemas.openxmlformats.org/package/2006/content-types"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</c:v>
                </c:pt>
              </c:strCache>
            </c:strRef>
          </c:tx>
          <c:spPr>
            <a:solidFill>
              <a:srgbClr val="132A4C"/>
            </a:solidFill>
            <a:ln w="31750" cap="flat">
              <a:solidFill>
                <a:srgbClr val="132A4C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85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5"/>
            <c:spPr>
              <a:solidFill>
                <a:srgbClr val="132A4C"/>
              </a:solidFill>
              <a:ln w="9525" cap="flat">
                <a:solidFill>
                  <a:srgbClr val="132A4C"/>
                </a:solidFill>
                <a:prstDash val="solid"/>
                <a:round/>
              </a:ln>
              <a:effectLst/>
            </c:spPr>
          </c:marker>
          <c:cat>
            <c:strRef>
              <c:f>Sheet1!$A$2:$A$15</c:f>
              <c:strCache>
                <c:ptCount val="14"/>
                <c:pt idx="0">
                  <c:v>05/08</c:v>
                </c:pt>
                <c:pt idx="1">
                  <c:v>06/08</c:v>
                </c:pt>
                <c:pt idx="2">
                  <c:v>07/08</c:v>
                </c:pt>
                <c:pt idx="3">
                  <c:v>08/08</c:v>
                </c:pt>
                <c:pt idx="4">
                  <c:v>09/08</c:v>
                </c:pt>
                <c:pt idx="5">
                  <c:v>10/08</c:v>
                </c:pt>
                <c:pt idx="6">
                  <c:v>11/08</c:v>
                </c:pt>
                <c:pt idx="7">
                  <c:v>12/08</c:v>
                </c:pt>
                <c:pt idx="8">
                  <c:v>13/08</c:v>
                </c:pt>
                <c:pt idx="9">
                  <c:v>14/08</c:v>
                </c:pt>
                <c:pt idx="10">
                  <c:v>15/08</c:v>
                </c:pt>
                <c:pt idx="11">
                  <c:v>16/08</c:v>
                </c:pt>
                <c:pt idx="12">
                  <c:v>17/08</c:v>
                </c:pt>
                <c:pt idx="13">
                  <c:v>18/08</c:v>
                </c:pt>
              </c:strCache>
            </c:strRef>
          </c:cat>
          <c:val>
            <c:numRef>
              <c:f>Sheet1!$B$2:$B$15</c:f>
              <c:numCache>
                <c:formatCode>General</c:formatCode>
                <c:ptCount val="14"/>
                <c:pt idx="0">
                  <c:v>348.0</c:v>
                </c:pt>
                <c:pt idx="1">
                  <c:v>348.0</c:v>
                </c:pt>
                <c:pt idx="2">
                  <c:v>296.0</c:v>
                </c:pt>
                <c:pt idx="3">
                  <c:v>235.0</c:v>
                </c:pt>
                <c:pt idx="4">
                  <c:v>209.0</c:v>
                </c:pt>
                <c:pt idx="5">
                  <c:v>341.0</c:v>
                </c:pt>
                <c:pt idx="6">
                  <c:v>320.0</c:v>
                </c:pt>
                <c:pt idx="7">
                  <c:v>325.0</c:v>
                </c:pt>
                <c:pt idx="8">
                  <c:v>270.0</c:v>
                </c:pt>
                <c:pt idx="9">
                  <c:v>263.0</c:v>
                </c:pt>
                <c:pt idx="10">
                  <c:v>214.0</c:v>
                </c:pt>
                <c:pt idx="11">
                  <c:v>214.0</c:v>
                </c:pt>
                <c:pt idx="12">
                  <c:v>218.0</c:v>
                </c:pt>
                <c:pt idx="13">
                  <c:v>358.0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PS</c:v>
                </c:pt>
              </c:strCache>
            </c:strRef>
          </c:tx>
          <c:spPr>
            <a:solidFill>
              <a:srgbClr val="E4022D"/>
            </a:solidFill>
            <a:ln w="31750" cap="flat">
              <a:solidFill>
                <a:srgbClr val="E4022D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85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5"/>
            <c:spPr>
              <a:solidFill>
                <a:srgbClr val="E4022D"/>
              </a:solidFill>
              <a:ln w="9525" cap="flat">
                <a:solidFill>
                  <a:srgbClr val="E4022D"/>
                </a:solidFill>
                <a:prstDash val="solid"/>
                <a:round/>
              </a:ln>
              <a:effectLst/>
            </c:spPr>
          </c:marker>
          <c:cat>
            <c:strRef>
              <c:f>Sheet1!$A$2:$A$15</c:f>
              <c:strCache>
                <c:ptCount val="14"/>
                <c:pt idx="0">
                  <c:v>05/08</c:v>
                </c:pt>
                <c:pt idx="1">
                  <c:v>06/08</c:v>
                </c:pt>
                <c:pt idx="2">
                  <c:v>07/08</c:v>
                </c:pt>
                <c:pt idx="3">
                  <c:v>08/08</c:v>
                </c:pt>
                <c:pt idx="4">
                  <c:v>09/08</c:v>
                </c:pt>
                <c:pt idx="5">
                  <c:v>10/08</c:v>
                </c:pt>
                <c:pt idx="6">
                  <c:v>11/08</c:v>
                </c:pt>
                <c:pt idx="7">
                  <c:v>12/08</c:v>
                </c:pt>
                <c:pt idx="8">
                  <c:v>13/08</c:v>
                </c:pt>
                <c:pt idx="9">
                  <c:v>14/08</c:v>
                </c:pt>
                <c:pt idx="10">
                  <c:v>15/08</c:v>
                </c:pt>
                <c:pt idx="11">
                  <c:v>16/08</c:v>
                </c:pt>
                <c:pt idx="12">
                  <c:v>17/08</c:v>
                </c:pt>
                <c:pt idx="13">
                  <c:v>18/08</c:v>
                </c:pt>
              </c:strCache>
            </c:strRef>
          </c:cat>
          <c:val>
            <c:numRef>
              <c:f>Sheet1!$C$2:$C$15</c:f>
              <c:numCache>
                <c:formatCode>General</c:formatCode>
                <c:ptCount val="14"/>
                <c:pt idx="0">
                  <c:v>282.0</c:v>
                </c:pt>
                <c:pt idx="1">
                  <c:v>292.0</c:v>
                </c:pt>
                <c:pt idx="2">
                  <c:v>227.0</c:v>
                </c:pt>
                <c:pt idx="3">
                  <c:v>243.0</c:v>
                </c:pt>
                <c:pt idx="4">
                  <c:v>150.0</c:v>
                </c:pt>
                <c:pt idx="5">
                  <c:v>272.0</c:v>
                </c:pt>
                <c:pt idx="6">
                  <c:v>275.0</c:v>
                </c:pt>
                <c:pt idx="7">
                  <c:v>235.0</c:v>
                </c:pt>
                <c:pt idx="8">
                  <c:v>263.0</c:v>
                </c:pt>
                <c:pt idx="9">
                  <c:v>217.0</c:v>
                </c:pt>
                <c:pt idx="10">
                  <c:v>162.0</c:v>
                </c:pt>
                <c:pt idx="11">
                  <c:v>151.0</c:v>
                </c:pt>
                <c:pt idx="12">
                  <c:v>149.0</c:v>
                </c:pt>
                <c:pt idx="13">
                  <c:v>278.0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85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5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7E9ED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95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t"/>
      <c:overlay val="0"/>
      <c:txPr>
        <a:bodyPr/>
        <a:lstStyle/>
        <a:p>
          <a:pPr>
            <a:defRPr sz="1050">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chart" Target="..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E4022D"/>
          </a:solidFill>
          <a:ln/>
        </p:spPr>
      </p:sp>
      <p:sp>
        <p:nvSpPr>
          <p:cNvPr id="3" name="Text 1"/>
          <p:cNvSpPr/>
          <p:nvPr/>
        </p:nvSpPr>
        <p:spPr>
          <a:xfrm>
            <a:off x="320040" y="73152"/>
            <a:ext cx="9418320" cy="658368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 -3,9% &amp; PS -4,9% MoM — Achievement Mencapai 45,1% (RE) / 42,8% (PS)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320040" y="749808"/>
            <a:ext cx="9418320" cy="164592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FBD9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MTD 01–18 Agu 2026 vs MTD-1 01–18 Jul 2026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8778240" y="109728"/>
            <a:ext cx="3090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Telkomsel — BALINUSRA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8778240" y="402336"/>
            <a:ext cx="30906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FBD9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GM Regional Performance Review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320040" y="1097280"/>
            <a:ext cx="11548872" cy="256032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32A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A.  Executive Scorecard — BALINUSRA Regional</a:t>
            </a:r>
            <a:endParaRPr lang="en-US" sz="1500" dirty="0"/>
          </a:p>
        </p:txBody>
      </p:sp>
      <p:graphicFrame>
        <p:nvGraphicFramePr>
          <p:cNvPr id="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0040" y="1371600"/>
          <a:ext cx="8641080" cy="914400"/>
        </p:xfrm>
        <a:graphic>
          <a:graphicData uri="http://schemas.openxmlformats.org/drawingml/2006/table">
            <a:tbl>
              <a:tblPr/>
              <a:tblGrid>
                <a:gridCol w="1188720"/>
                <a:gridCol w="1051560"/>
                <a:gridCol w="1051560"/>
                <a:gridCol w="1005840"/>
                <a:gridCol w="914400"/>
                <a:gridCol w="1234440"/>
                <a:gridCol w="960120"/>
                <a:gridCol w="1234440"/>
              </a:tblGrid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Metric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MTD-1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Selisih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MoM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Target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Achv%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Gap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5.481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5.266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-215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-3,9%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11.688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45,1%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6.422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4.386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4.173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-213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-4,9%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9.740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42,8%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5.567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 to RE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80,0%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79,2%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-0,8 pp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—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—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—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—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9" name="Text 6"/>
          <p:cNvSpPr/>
          <p:nvPr/>
        </p:nvSpPr>
        <p:spPr>
          <a:xfrm>
            <a:off x="320040" y="2962656"/>
            <a:ext cx="115488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Target Regional = agregasi target 10 WOK. IO tidak ditampilkan karena MTD-1/target/MoM IO tidak tersedia di JSON (hanya total MTD di audit reconciliation).</a:t>
            </a:r>
            <a:endParaRPr lang="en-US" sz="950" dirty="0"/>
          </a:p>
        </p:txBody>
      </p:sp>
      <p:sp>
        <p:nvSpPr>
          <p:cNvPr id="10" name="Text 7"/>
          <p:cNvSpPr/>
          <p:nvPr/>
        </p:nvSpPr>
        <p:spPr>
          <a:xfrm>
            <a:off x="320040" y="3429000"/>
            <a:ext cx="11548872" cy="256032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32A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B.  Kontribusi Branch terhadap RE &amp; PS Regional</a:t>
            </a:r>
            <a:endParaRPr lang="en-US" sz="1500" dirty="0"/>
          </a:p>
        </p:txBody>
      </p:sp>
      <p:graphicFrame>
        <p:nvGraphicFramePr>
          <p:cNvPr id="3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0040" y="3703320"/>
          <a:ext cx="8823960" cy="914400"/>
        </p:xfrm>
        <a:graphic>
          <a:graphicData uri="http://schemas.openxmlformats.org/drawingml/2006/table">
            <a:tbl>
              <a:tblPr/>
              <a:tblGrid>
                <a:gridCol w="1371600"/>
                <a:gridCol w="1051560"/>
                <a:gridCol w="1234440"/>
                <a:gridCol w="960120"/>
                <a:gridCol w="1051560"/>
                <a:gridCol w="1234440"/>
                <a:gridCol w="960120"/>
                <a:gridCol w="960120"/>
              </a:tblGrid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Branch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 MTD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Kontribusi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MoM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 MTD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Kontribusi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MoM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PS/RE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Denpasar ★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2.441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46,4%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-1,8%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1.995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47,8%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-0,3%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81,7%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Flores ▲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689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13,1%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-4,8%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556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13,3%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+2,6%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80,7%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Kupang ▼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689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13,1%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-10,8%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542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13,0%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-16,0%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78,7%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Mataram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1.447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27,5%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-3,4%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1.080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25,9%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-9,8%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74,6%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2" name="Text 8"/>
          <p:cNvSpPr/>
          <p:nvPr/>
        </p:nvSpPr>
        <p:spPr>
          <a:xfrm>
            <a:off x="320040" y="5696712"/>
            <a:ext cx="115488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★ Kontributor volume PS terbesar     ▲ Pertumbuhan PS terbaik     ▼ Penurunan PS terdalam</a:t>
            </a:r>
            <a:endParaRPr lang="en-US" sz="9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E4022D"/>
          </a:solidFill>
          <a:ln/>
        </p:spPr>
      </p:sp>
      <p:sp>
        <p:nvSpPr>
          <p:cNvPr id="3" name="Text 1"/>
          <p:cNvSpPr/>
          <p:nvPr/>
        </p:nvSpPr>
        <p:spPr>
          <a:xfrm>
            <a:off x="320040" y="73152"/>
            <a:ext cx="9418320" cy="658368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RE–PS Melemah Menjelang 18 Agustus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320040" y="749808"/>
            <a:ext cx="9418320" cy="164592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FBD9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MTD 01–18 Agu 2026 vs MTD-1 01–18 Jul 2026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8778240" y="109728"/>
            <a:ext cx="3090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Telkomsel — BALINUSRA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8778240" y="402336"/>
            <a:ext cx="30906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FBD9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GM Regional Performance Review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320040" y="1097280"/>
            <a:ext cx="11548872" cy="256032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32A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A.  Pola Harian RE &amp; PS — 01–18 Agustus 2026 (MTD)</a:t>
            </a:r>
            <a:endParaRPr lang="en-US" sz="1500" dirty="0"/>
          </a:p>
        </p:txBody>
      </p:sp>
      <p:graphicFrame>
        <p:nvGraphicFramePr>
          <p:cNvPr id="8" name="Chart 0" descr=""/>
          <p:cNvGraphicFramePr/>
          <p:nvPr/>
        </p:nvGraphicFramePr>
        <p:xfrm>
          <a:off x="320040" y="1353312"/>
          <a:ext cx="11548872" cy="23317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9" name="Text 6"/>
          <p:cNvSpPr/>
          <p:nvPr/>
        </p:nvSpPr>
        <p:spPr>
          <a:xfrm>
            <a:off x="320040" y="3730752"/>
            <a:ext cx="115488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*Grafik menunjukkan pola harian MTD yang tersedia di sumber (bukan rekonsiliasi volume regional). Tren MTD-1 harian tidak tersedia — pembanding MTD-1 hanya ada sebagai total periode (lihat tabel run rate).</a:t>
            </a:r>
            <a:endParaRPr lang="en-US" sz="950" dirty="0"/>
          </a:p>
        </p:txBody>
      </p:sp>
      <p:sp>
        <p:nvSpPr>
          <p:cNvPr id="10" name="Text 7"/>
          <p:cNvSpPr/>
          <p:nvPr/>
        </p:nvSpPr>
        <p:spPr>
          <a:xfrm>
            <a:off x="320040" y="4114800"/>
            <a:ext cx="11548872" cy="256032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32A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B.  Run Rate Summary — Regional</a:t>
            </a:r>
            <a:endParaRPr lang="en-US" sz="1500" dirty="0"/>
          </a:p>
        </p:txBody>
      </p:sp>
      <p:graphicFrame>
        <p:nvGraphicFramePr>
          <p:cNvPr id="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0040" y="4389120"/>
          <a:ext cx="8778240" cy="914400"/>
        </p:xfrm>
        <a:graphic>
          <a:graphicData uri="http://schemas.openxmlformats.org/drawingml/2006/table">
            <a:tbl>
              <a:tblPr/>
              <a:tblGrid>
                <a:gridCol w="1463040"/>
                <a:gridCol w="1828800"/>
                <a:gridCol w="1828800"/>
                <a:gridCol w="1828800"/>
                <a:gridCol w="1828800"/>
              </a:tblGrid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Metric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Actual MTD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Target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Achievement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Gap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5.266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11.688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45,1%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6.422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4.173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9.740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42,8%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5.567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2" name="Text 8"/>
          <p:cNvSpPr/>
          <p:nvPr/>
        </p:nvSpPr>
        <p:spPr>
          <a:xfrm>
            <a:off x="320040" y="5779008"/>
            <a:ext cx="115488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*Target dan achievement mengikuti definisi target pada JSON INARA untuk report date.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E4022D"/>
          </a:solidFill>
          <a:ln/>
        </p:spPr>
      </p:sp>
      <p:sp>
        <p:nvSpPr>
          <p:cNvPr id="3" name="Text 1"/>
          <p:cNvSpPr/>
          <p:nvPr/>
        </p:nvSpPr>
        <p:spPr>
          <a:xfrm>
            <a:off x="320040" y="73152"/>
            <a:ext cx="9418320" cy="658368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Flores Pendorong Utama PS (+2,6%), Kupang Terdalam (-16,0%)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320040" y="749808"/>
            <a:ext cx="9418320" cy="164592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FBD9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MTD 01–18 Agu 2026 vs MTD-1 01–18 Jul 2026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8778240" y="109728"/>
            <a:ext cx="3090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Telkomsel — BALINUSRA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8778240" y="402336"/>
            <a:ext cx="30906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FBD9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GM Regional Performance Review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320040" y="1097280"/>
            <a:ext cx="11548872" cy="256032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32A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A.  Branch Performance Detail</a:t>
            </a:r>
            <a:endParaRPr lang="en-US" sz="15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0040" y="1371600"/>
          <a:ext cx="9939528" cy="914400"/>
        </p:xfrm>
        <a:graphic>
          <a:graphicData uri="http://schemas.openxmlformats.org/drawingml/2006/table">
            <a:tbl>
              <a:tblPr/>
              <a:tblGrid>
                <a:gridCol w="1051560"/>
                <a:gridCol w="658368"/>
                <a:gridCol w="658368"/>
                <a:gridCol w="621792"/>
                <a:gridCol w="603504"/>
                <a:gridCol w="603504"/>
                <a:gridCol w="685800"/>
                <a:gridCol w="658368"/>
                <a:gridCol w="658368"/>
                <a:gridCol w="621792"/>
                <a:gridCol w="603504"/>
                <a:gridCol w="603504"/>
                <a:gridCol w="685800"/>
                <a:gridCol w="566928"/>
                <a:gridCol w="658368"/>
              </a:tblGrid>
              <a:tr h="40233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Branch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M-1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Selisih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MoM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Achv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Gap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M-1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Selisih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MoM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Achv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Gap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PS/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ΔPS/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Denpasar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2.487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2.441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-46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-1,8%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46,2%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2.844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2.002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1.995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-7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-0,3%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45,3%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2.409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81,7%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+1,2 pp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Flores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724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689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-35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-4,8%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8A61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49,7%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6E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698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542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556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+14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+2,6%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8A61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48,1%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6E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600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80,7%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+5,8 pp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Kupang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772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689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-83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-10,8%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33,7%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1.357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645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542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-103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-16,0%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31,8%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1.163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78,7%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-4,9 pp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Mataram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1.498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1.447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-51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-3,4%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48,7%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1.524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1.197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1.080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-117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-9,8%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43,6%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1.395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74,6%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-5,3 pp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</a:tr>
            </a:tbl>
          </a:graphicData>
        </a:graphic>
      </p:graphicFrame>
      <p:sp>
        <p:nvSpPr>
          <p:cNvPr id="9" name="Text 6"/>
          <p:cNvSpPr/>
          <p:nvPr/>
        </p:nvSpPr>
        <p:spPr>
          <a:xfrm>
            <a:off x="320040" y="3429000"/>
            <a:ext cx="5486400" cy="256032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32A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B.  Ranking MoM PS</a:t>
            </a:r>
            <a:endParaRPr lang="en-US" sz="1500" dirty="0"/>
          </a:p>
        </p:txBody>
      </p:sp>
      <p:sp>
        <p:nvSpPr>
          <p:cNvPr id="10" name="Text 7"/>
          <p:cNvSpPr/>
          <p:nvPr/>
        </p:nvSpPr>
        <p:spPr>
          <a:xfrm>
            <a:off x="6245352" y="3429000"/>
            <a:ext cx="5486400" cy="256032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32A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C.  Ranking Achievement PS</a:t>
            </a:r>
            <a:endParaRPr lang="en-US" sz="1500" dirty="0"/>
          </a:p>
        </p:txBody>
      </p:sp>
      <p:sp>
        <p:nvSpPr>
          <p:cNvPr id="11" name="Text 8"/>
          <p:cNvSpPr/>
          <p:nvPr/>
        </p:nvSpPr>
        <p:spPr>
          <a:xfrm>
            <a:off x="320040" y="3749040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427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Flores</a:t>
            </a:r>
            <a:endParaRPr lang="en-US" sz="1050" dirty="0"/>
          </a:p>
        </p:txBody>
      </p:sp>
      <p:sp>
        <p:nvSpPr>
          <p:cNvPr id="12" name="Shape 9"/>
          <p:cNvSpPr/>
          <p:nvPr/>
        </p:nvSpPr>
        <p:spPr>
          <a:xfrm>
            <a:off x="1600200" y="3785616"/>
            <a:ext cx="3383280" cy="182880"/>
          </a:xfrm>
          <a:prstGeom prst="rect">
            <a:avLst/>
          </a:prstGeom>
          <a:solidFill>
            <a:srgbClr val="1E7B45"/>
          </a:solidFill>
          <a:ln/>
        </p:spPr>
      </p:sp>
      <p:sp>
        <p:nvSpPr>
          <p:cNvPr id="13" name="Text 10"/>
          <p:cNvSpPr/>
          <p:nvPr/>
        </p:nvSpPr>
        <p:spPr>
          <a:xfrm>
            <a:off x="5056632" y="3749040"/>
            <a:ext cx="777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E7B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+2,6%</a:t>
            </a:r>
            <a:endParaRPr lang="en-US" sz="1050" dirty="0"/>
          </a:p>
        </p:txBody>
      </p:sp>
      <p:sp>
        <p:nvSpPr>
          <p:cNvPr id="14" name="Text 11"/>
          <p:cNvSpPr/>
          <p:nvPr/>
        </p:nvSpPr>
        <p:spPr>
          <a:xfrm>
            <a:off x="320040" y="4059936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427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Denpasar</a:t>
            </a:r>
            <a:endParaRPr lang="en-US" sz="1050" dirty="0"/>
          </a:p>
        </p:txBody>
      </p:sp>
      <p:sp>
        <p:nvSpPr>
          <p:cNvPr id="15" name="Shape 12"/>
          <p:cNvSpPr/>
          <p:nvPr/>
        </p:nvSpPr>
        <p:spPr>
          <a:xfrm>
            <a:off x="1600200" y="4096512"/>
            <a:ext cx="791251" cy="182880"/>
          </a:xfrm>
          <a:prstGeom prst="rect">
            <a:avLst/>
          </a:prstGeom>
          <a:solidFill>
            <a:srgbClr val="1E7B45"/>
          </a:solidFill>
          <a:ln/>
        </p:spPr>
      </p:sp>
      <p:sp>
        <p:nvSpPr>
          <p:cNvPr id="16" name="Text 13"/>
          <p:cNvSpPr/>
          <p:nvPr/>
        </p:nvSpPr>
        <p:spPr>
          <a:xfrm>
            <a:off x="2464603" y="4059936"/>
            <a:ext cx="777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E7B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-0,3%</a:t>
            </a:r>
            <a:endParaRPr lang="en-US" sz="1050" dirty="0"/>
          </a:p>
        </p:txBody>
      </p:sp>
      <p:sp>
        <p:nvSpPr>
          <p:cNvPr id="17" name="Text 14"/>
          <p:cNvSpPr/>
          <p:nvPr/>
        </p:nvSpPr>
        <p:spPr>
          <a:xfrm>
            <a:off x="320040" y="4370832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427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Mataram</a:t>
            </a:r>
            <a:endParaRPr lang="en-US" sz="1050" dirty="0"/>
          </a:p>
        </p:txBody>
      </p:sp>
      <p:sp>
        <p:nvSpPr>
          <p:cNvPr id="18" name="Shape 15"/>
          <p:cNvSpPr/>
          <p:nvPr/>
        </p:nvSpPr>
        <p:spPr>
          <a:xfrm>
            <a:off x="1600200" y="4407408"/>
            <a:ext cx="2864874" cy="182880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19" name="Text 16"/>
          <p:cNvSpPr/>
          <p:nvPr/>
        </p:nvSpPr>
        <p:spPr>
          <a:xfrm>
            <a:off x="4538226" y="4370832"/>
            <a:ext cx="777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C039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-9,8%</a:t>
            </a:r>
            <a:endParaRPr lang="en-US" sz="1050" dirty="0"/>
          </a:p>
        </p:txBody>
      </p:sp>
      <p:sp>
        <p:nvSpPr>
          <p:cNvPr id="20" name="Text 17"/>
          <p:cNvSpPr/>
          <p:nvPr/>
        </p:nvSpPr>
        <p:spPr>
          <a:xfrm>
            <a:off x="320040" y="4681728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427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Kupang</a:t>
            </a:r>
            <a:endParaRPr lang="en-US" sz="1050" dirty="0"/>
          </a:p>
        </p:txBody>
      </p:sp>
      <p:sp>
        <p:nvSpPr>
          <p:cNvPr id="21" name="Shape 18"/>
          <p:cNvSpPr/>
          <p:nvPr/>
        </p:nvSpPr>
        <p:spPr>
          <a:xfrm>
            <a:off x="1600200" y="4718304"/>
            <a:ext cx="3219573" cy="182880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22" name="Text 19"/>
          <p:cNvSpPr/>
          <p:nvPr/>
        </p:nvSpPr>
        <p:spPr>
          <a:xfrm>
            <a:off x="4892925" y="4681728"/>
            <a:ext cx="777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C039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-16,0%</a:t>
            </a:r>
            <a:endParaRPr lang="en-US" sz="1050" dirty="0"/>
          </a:p>
        </p:txBody>
      </p:sp>
      <p:sp>
        <p:nvSpPr>
          <p:cNvPr id="23" name="Text 20"/>
          <p:cNvSpPr/>
          <p:nvPr/>
        </p:nvSpPr>
        <p:spPr>
          <a:xfrm>
            <a:off x="6245352" y="3749040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427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Flores</a:t>
            </a:r>
            <a:endParaRPr lang="en-US" sz="1050" dirty="0"/>
          </a:p>
        </p:txBody>
      </p:sp>
      <p:sp>
        <p:nvSpPr>
          <p:cNvPr id="24" name="Shape 21"/>
          <p:cNvSpPr/>
          <p:nvPr/>
        </p:nvSpPr>
        <p:spPr>
          <a:xfrm>
            <a:off x="7525512" y="3785616"/>
            <a:ext cx="3383280" cy="182880"/>
          </a:xfrm>
          <a:prstGeom prst="rect">
            <a:avLst/>
          </a:prstGeom>
          <a:solidFill>
            <a:srgbClr val="8A6100"/>
          </a:solidFill>
          <a:ln/>
        </p:spPr>
      </p:sp>
      <p:sp>
        <p:nvSpPr>
          <p:cNvPr id="25" name="Text 22"/>
          <p:cNvSpPr/>
          <p:nvPr/>
        </p:nvSpPr>
        <p:spPr>
          <a:xfrm>
            <a:off x="10981944" y="3749040"/>
            <a:ext cx="777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8A61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48,1%</a:t>
            </a:r>
            <a:endParaRPr lang="en-US" sz="1050" dirty="0"/>
          </a:p>
        </p:txBody>
      </p:sp>
      <p:sp>
        <p:nvSpPr>
          <p:cNvPr id="26" name="Text 23"/>
          <p:cNvSpPr/>
          <p:nvPr/>
        </p:nvSpPr>
        <p:spPr>
          <a:xfrm>
            <a:off x="6245352" y="4059936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427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Denpasar</a:t>
            </a:r>
            <a:endParaRPr lang="en-US" sz="1050" dirty="0"/>
          </a:p>
        </p:txBody>
      </p:sp>
      <p:sp>
        <p:nvSpPr>
          <p:cNvPr id="27" name="Shape 24"/>
          <p:cNvSpPr/>
          <p:nvPr/>
        </p:nvSpPr>
        <p:spPr>
          <a:xfrm>
            <a:off x="7525512" y="4096512"/>
            <a:ext cx="3045737" cy="182880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28" name="Text 25"/>
          <p:cNvSpPr/>
          <p:nvPr/>
        </p:nvSpPr>
        <p:spPr>
          <a:xfrm>
            <a:off x="10644401" y="4059936"/>
            <a:ext cx="777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C039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45,3%</a:t>
            </a:r>
            <a:endParaRPr lang="en-US" sz="1050" dirty="0"/>
          </a:p>
        </p:txBody>
      </p:sp>
      <p:sp>
        <p:nvSpPr>
          <p:cNvPr id="29" name="Text 26"/>
          <p:cNvSpPr/>
          <p:nvPr/>
        </p:nvSpPr>
        <p:spPr>
          <a:xfrm>
            <a:off x="6245352" y="4370832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427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Mataram</a:t>
            </a:r>
            <a:endParaRPr lang="en-US" sz="1050" dirty="0"/>
          </a:p>
        </p:txBody>
      </p:sp>
      <p:sp>
        <p:nvSpPr>
          <p:cNvPr id="30" name="Shape 27"/>
          <p:cNvSpPr/>
          <p:nvPr/>
        </p:nvSpPr>
        <p:spPr>
          <a:xfrm>
            <a:off x="7525512" y="4407408"/>
            <a:ext cx="2857341" cy="182880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31" name="Text 28"/>
          <p:cNvSpPr/>
          <p:nvPr/>
        </p:nvSpPr>
        <p:spPr>
          <a:xfrm>
            <a:off x="10456005" y="4370832"/>
            <a:ext cx="777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C039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43,6%</a:t>
            </a:r>
            <a:endParaRPr lang="en-US" sz="1050" dirty="0"/>
          </a:p>
        </p:txBody>
      </p:sp>
      <p:sp>
        <p:nvSpPr>
          <p:cNvPr id="32" name="Text 29"/>
          <p:cNvSpPr/>
          <p:nvPr/>
        </p:nvSpPr>
        <p:spPr>
          <a:xfrm>
            <a:off x="6245352" y="4681728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427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Kupang</a:t>
            </a:r>
            <a:endParaRPr lang="en-US" sz="1050" dirty="0"/>
          </a:p>
        </p:txBody>
      </p:sp>
      <p:sp>
        <p:nvSpPr>
          <p:cNvPr id="33" name="Shape 30"/>
          <p:cNvSpPr/>
          <p:nvPr/>
        </p:nvSpPr>
        <p:spPr>
          <a:xfrm>
            <a:off x="7525512" y="4718304"/>
            <a:ext cx="2237204" cy="182880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34" name="Text 31"/>
          <p:cNvSpPr/>
          <p:nvPr/>
        </p:nvSpPr>
        <p:spPr>
          <a:xfrm>
            <a:off x="9835868" y="4681728"/>
            <a:ext cx="777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C039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31,8%</a:t>
            </a:r>
            <a:endParaRPr lang="en-US" sz="1050" dirty="0"/>
          </a:p>
        </p:txBody>
      </p:sp>
      <p:sp>
        <p:nvSpPr>
          <p:cNvPr id="35" name="Text 32"/>
          <p:cNvSpPr/>
          <p:nvPr/>
        </p:nvSpPr>
        <p:spPr>
          <a:xfrm>
            <a:off x="320040" y="5266944"/>
            <a:ext cx="11548872" cy="256032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32A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D.  Kontribusi Branch terhadap Gap Regional (PS)</a:t>
            </a:r>
            <a:endParaRPr lang="en-US" sz="1500" dirty="0"/>
          </a:p>
        </p:txBody>
      </p:sp>
      <p:graphicFrame>
        <p:nvGraphicFramePr>
          <p:cNvPr id="7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0040" y="5541264"/>
          <a:ext cx="8961120" cy="914400"/>
        </p:xfrm>
        <a:graphic>
          <a:graphicData uri="http://schemas.openxmlformats.org/drawingml/2006/table">
            <a:tbl>
              <a:tblPr/>
              <a:tblGrid>
                <a:gridCol w="1645920"/>
                <a:gridCol w="1828800"/>
                <a:gridCol w="1828800"/>
                <a:gridCol w="1828800"/>
                <a:gridCol w="1828800"/>
              </a:tblGrid>
              <a:tr h="25603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Branch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 Gap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Kontribusi thd Gap Regional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 Gap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Kontribusi thd Gap Regional (RE)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</a:tr>
              <a:tr h="21945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Denpasar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2.409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43,3%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2.844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44,3%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1945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Flores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600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10,8%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698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10,9%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1945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Kupang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1.163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20,9%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1.357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21,1%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1945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Mataram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1.395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25,1%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1.524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23,7%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E4022D"/>
          </a:solidFill>
          <a:ln/>
        </p:spPr>
      </p:sp>
      <p:sp>
        <p:nvSpPr>
          <p:cNvPr id="3" name="Text 1"/>
          <p:cNvSpPr/>
          <p:nvPr/>
        </p:nvSpPr>
        <p:spPr>
          <a:xfrm>
            <a:off x="320040" y="73152"/>
            <a:ext cx="9418320" cy="658368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Manggarai Tertinggi (+12,2%), Sumba Terdalam (-20,0%) — 10 WOK MoM PS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320040" y="749808"/>
            <a:ext cx="9418320" cy="164592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FBD9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MTD 01–18 Agu 2026 vs MTD-1 01–18 Jul 2026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8778240" y="109728"/>
            <a:ext cx="3090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Telkomsel — BALINUSRA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8778240" y="402336"/>
            <a:ext cx="30906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FBD9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GM Regional Performance Review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320040" y="1097280"/>
            <a:ext cx="11548872" cy="256032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32A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A.  WOK Performance — Seluruh 10 WOK (dikelompokkan per Branch)</a:t>
            </a:r>
            <a:endParaRPr lang="en-US" sz="15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0040" y="1371600"/>
          <a:ext cx="10332720" cy="914400"/>
        </p:xfrm>
        <a:graphic>
          <a:graphicData uri="http://schemas.openxmlformats.org/drawingml/2006/table">
            <a:tbl>
              <a:tblPr/>
              <a:tblGrid>
                <a:gridCol w="914400"/>
                <a:gridCol w="2834640"/>
                <a:gridCol w="777240"/>
                <a:gridCol w="713232"/>
                <a:gridCol w="713232"/>
                <a:gridCol w="777240"/>
                <a:gridCol w="777240"/>
                <a:gridCol w="713232"/>
                <a:gridCol w="713232"/>
                <a:gridCol w="777240"/>
                <a:gridCol w="621792"/>
              </a:tblGrid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Branch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WOK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MoM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Achv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Gap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MoM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Achv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Gap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PS/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</a:tr>
              <a:tr h="22402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Denpasar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Bali Barat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674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+4,0%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8A61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53,3%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6E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590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550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+10,7%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8A61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52,2%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6E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503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81,6%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2402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Denpasar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Bali Tengah 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635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-0,2%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42,4%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863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539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-0,6%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43,2%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709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84,9%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2402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Denpasar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Bali Tengah 2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706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-0,1%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45,8%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836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571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-1,4%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44,4%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714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80,9%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2402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Denpasar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Bali Timur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426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-14,1%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43,4%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555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335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-12,8%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41,0%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482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78,6%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2402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Flores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Ende Sikka - Flores Timur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441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-8,5%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8A61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50,8%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6E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428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353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-2,2%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8A61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48,8%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6E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371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80,0%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2402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Flores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Manggarai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248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+2,5%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8A61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47,8%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6E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271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203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+12,2%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8A61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47,0%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6E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229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81,9%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2402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Kupang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Kupang Rote - Malaka Timtim Belu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538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-11,7%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31,6%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1.164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434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-14,9%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30,6%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984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80,7%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2402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Kupang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Sumba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151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-7,4%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43,9%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193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108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-20,0%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37,7%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179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71,5%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2402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Mataram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Lombok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822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+0,1%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8A61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53,8%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6E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707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619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-8,8%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48,6%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655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75,3%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2402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Mataram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Sumbawa Barat - Sumbawa Timur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625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-7,7%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43,3%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817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461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-11,0%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38,4%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740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73,8%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9" name="Text 6"/>
          <p:cNvSpPr/>
          <p:nvPr/>
        </p:nvSpPr>
        <p:spPr>
          <a:xfrm>
            <a:off x="320040" y="4178808"/>
            <a:ext cx="11548872" cy="256032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32A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B.  Ranking WOK — MoM PS &amp; Achievement PS</a:t>
            </a:r>
            <a:endParaRPr lang="en-US" sz="1500" dirty="0"/>
          </a:p>
        </p:txBody>
      </p:sp>
      <p:sp>
        <p:nvSpPr>
          <p:cNvPr id="10" name="Text 7"/>
          <p:cNvSpPr/>
          <p:nvPr/>
        </p:nvSpPr>
        <p:spPr>
          <a:xfrm>
            <a:off x="320040" y="4471416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E7B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 3 — MoM PS</a:t>
            </a:r>
            <a:endParaRPr lang="en-US" sz="1050" dirty="0"/>
          </a:p>
        </p:txBody>
      </p:sp>
      <p:graphicFrame>
        <p:nvGraphicFramePr>
          <p:cNvPr id="9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0040" y="4681728"/>
          <a:ext cx="2743200" cy="914400"/>
        </p:xfrm>
        <a:graphic>
          <a:graphicData uri="http://schemas.openxmlformats.org/drawingml/2006/table">
            <a:tbl>
              <a:tblPr/>
              <a:tblGrid>
                <a:gridCol w="1874520"/>
                <a:gridCol w="868680"/>
              </a:tblGrid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Manggarai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+12,2%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Bali Barat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+10,7%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Bali Tengah 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-0,6%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</a:tr>
            </a:tbl>
          </a:graphicData>
        </a:graphic>
      </p:graphicFrame>
      <p:sp>
        <p:nvSpPr>
          <p:cNvPr id="12" name="Text 8"/>
          <p:cNvSpPr/>
          <p:nvPr/>
        </p:nvSpPr>
        <p:spPr>
          <a:xfrm>
            <a:off x="3242234" y="4471416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C039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Bottom 3 — MoM PS</a:t>
            </a:r>
            <a:endParaRPr lang="en-US" sz="1050" dirty="0"/>
          </a:p>
        </p:txBody>
      </p:sp>
      <p:graphicFrame>
        <p:nvGraphicFramePr>
          <p:cNvPr id="13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42234" y="4681728"/>
          <a:ext cx="2743200" cy="914400"/>
        </p:xfrm>
        <a:graphic>
          <a:graphicData uri="http://schemas.openxmlformats.org/drawingml/2006/table">
            <a:tbl>
              <a:tblPr/>
              <a:tblGrid>
                <a:gridCol w="1874520"/>
                <a:gridCol w="868680"/>
              </a:tblGrid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Sumba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-20,0%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Kupang Rote - Malaka Timtim Belu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-14,9%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Bali Timur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-12,8%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</a:tr>
            </a:tbl>
          </a:graphicData>
        </a:graphic>
      </p:graphicFrame>
      <p:sp>
        <p:nvSpPr>
          <p:cNvPr id="14" name="Text 9"/>
          <p:cNvSpPr/>
          <p:nvPr/>
        </p:nvSpPr>
        <p:spPr>
          <a:xfrm>
            <a:off x="6164428" y="4471416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E7B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 3 — Achievement PS</a:t>
            </a:r>
            <a:endParaRPr lang="en-US" sz="1050" dirty="0"/>
          </a:p>
        </p:txBody>
      </p:sp>
      <p:graphicFrame>
        <p:nvGraphicFramePr>
          <p:cNvPr id="17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164428" y="4681728"/>
          <a:ext cx="2743200" cy="914400"/>
        </p:xfrm>
        <a:graphic>
          <a:graphicData uri="http://schemas.openxmlformats.org/drawingml/2006/table">
            <a:tbl>
              <a:tblPr/>
              <a:tblGrid>
                <a:gridCol w="1874520"/>
                <a:gridCol w="868680"/>
              </a:tblGrid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Bali Barat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8A61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52,2%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6E2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Ende Sikka - Flores Timur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8A61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48,8%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6E2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Lombok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8A61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48,6%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6E2"/>
                    </a:solidFill>
                  </a:tcPr>
                </a:tc>
              </a:tr>
            </a:tbl>
          </a:graphicData>
        </a:graphic>
      </p:graphicFrame>
      <p:sp>
        <p:nvSpPr>
          <p:cNvPr id="16" name="Text 10"/>
          <p:cNvSpPr/>
          <p:nvPr/>
        </p:nvSpPr>
        <p:spPr>
          <a:xfrm>
            <a:off x="9086621" y="4471416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C039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Bottom 3 — Achievement PS</a:t>
            </a:r>
            <a:endParaRPr lang="en-US" sz="1050" dirty="0"/>
          </a:p>
        </p:txBody>
      </p:sp>
      <p:graphicFrame>
        <p:nvGraphicFramePr>
          <p:cNvPr id="21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9086621" y="4681728"/>
          <a:ext cx="2743200" cy="914400"/>
        </p:xfrm>
        <a:graphic>
          <a:graphicData uri="http://schemas.openxmlformats.org/drawingml/2006/table">
            <a:tbl>
              <a:tblPr/>
              <a:tblGrid>
                <a:gridCol w="1874520"/>
                <a:gridCol w="868680"/>
              </a:tblGrid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Kupang Rote - Malaka Timtim Belu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30,6%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CEA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Sumba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37,7%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CEA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Sumbawa Barat - Sumbawa Timur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38,4%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CEA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E4022D"/>
          </a:solidFill>
          <a:ln/>
        </p:spPr>
      </p:sp>
      <p:sp>
        <p:nvSpPr>
          <p:cNvPr id="3" name="Text 1"/>
          <p:cNvSpPr/>
          <p:nvPr/>
        </p:nvSpPr>
        <p:spPr>
          <a:xfrm>
            <a:off x="320040" y="73152"/>
            <a:ext cx="9418320" cy="658368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Tabanan Penyumbang PS Absolut Terbesar (+65), Ngada Tumbuh Tertinggi (+37,5%)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320040" y="749808"/>
            <a:ext cx="9418320" cy="164592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FBD9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MTD 01–18 Agu 2026 vs MTD-1 01–18 Jul 2026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8778240" y="109728"/>
            <a:ext cx="3090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Telkomsel — BALINUSRA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8778240" y="402336"/>
            <a:ext cx="30906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FBD9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GM Regional Performance Review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320040" y="1097280"/>
            <a:ext cx="11548872" cy="256032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32A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A.  Top &amp; Bottom 5 Kabupaten — Pertumbuhan Absolut PS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320040" y="1389888"/>
            <a:ext cx="56052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E7B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 5 (Selisih PS Terbesar)</a:t>
            </a:r>
            <a:endParaRPr lang="en-US" sz="105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0040" y="1609344"/>
          <a:ext cx="5477256" cy="914400"/>
        </p:xfrm>
        <a:graphic>
          <a:graphicData uri="http://schemas.openxmlformats.org/drawingml/2006/table">
            <a:tbl>
              <a:tblPr/>
              <a:tblGrid>
                <a:gridCol w="1234440"/>
                <a:gridCol w="868680"/>
                <a:gridCol w="713232"/>
                <a:gridCol w="713232"/>
                <a:gridCol w="658368"/>
                <a:gridCol w="713232"/>
                <a:gridCol w="576072"/>
              </a:tblGrid>
              <a:tr h="25603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Kabupaten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Branch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M-1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Selisih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MoM 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PS/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Tabanan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Denpasar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202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267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+65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+32,2%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82,9%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Badung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Denpasar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259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280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+21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+8,1%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79,1%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Bangli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Denpasar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48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+13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+27,1%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72,6%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Alor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Flores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73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+13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+21,7%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81,1%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Kota Bima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Mataram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136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149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+13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+9,6%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82,3%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0" name="Text 7"/>
          <p:cNvSpPr/>
          <p:nvPr/>
        </p:nvSpPr>
        <p:spPr>
          <a:xfrm>
            <a:off x="6245352" y="1389888"/>
            <a:ext cx="56052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C039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Bottom 5 (Selisih PS Terkecil)</a:t>
            </a:r>
            <a:endParaRPr lang="en-US" sz="1050" dirty="0"/>
          </a:p>
        </p:txBody>
      </p:sp>
      <p:graphicFrame>
        <p:nvGraphicFramePr>
          <p:cNvPr id="11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245352" y="1609344"/>
          <a:ext cx="5477256" cy="914400"/>
        </p:xfrm>
        <a:graphic>
          <a:graphicData uri="http://schemas.openxmlformats.org/drawingml/2006/table">
            <a:tbl>
              <a:tblPr/>
              <a:tblGrid>
                <a:gridCol w="1234440"/>
                <a:gridCol w="868680"/>
                <a:gridCol w="713232"/>
                <a:gridCol w="713232"/>
                <a:gridCol w="658368"/>
                <a:gridCol w="713232"/>
                <a:gridCol w="576072"/>
              </a:tblGrid>
              <a:tr h="25603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Kabupaten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Branch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M-1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Selisih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MoM 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PS/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Gianyar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Denpasar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225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166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-59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-26,2%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78,7%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Kota Mataram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Mataram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386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343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-43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-11,1%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83,7%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Kota Denpasar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Denpasar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862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830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-32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-3,7%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84,1%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Sumbawa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Mataram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156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125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-31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-19,9%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69,1%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Sumba Timur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Kupang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87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-27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-31,0%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76,9%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2" name="Text 8"/>
          <p:cNvSpPr/>
          <p:nvPr/>
        </p:nvSpPr>
        <p:spPr>
          <a:xfrm>
            <a:off x="320040" y="3264408"/>
            <a:ext cx="11548872" cy="256032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32A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B.  Top &amp; Bottom 5 Kabupaten — MoM PS (%)</a:t>
            </a:r>
            <a:endParaRPr lang="en-US" sz="1500" dirty="0"/>
          </a:p>
        </p:txBody>
      </p:sp>
      <p:sp>
        <p:nvSpPr>
          <p:cNvPr id="13" name="Text 9"/>
          <p:cNvSpPr/>
          <p:nvPr/>
        </p:nvSpPr>
        <p:spPr>
          <a:xfrm>
            <a:off x="320040" y="3557016"/>
            <a:ext cx="56052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E7B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 5 (MoM PS Tertinggi)</a:t>
            </a:r>
            <a:endParaRPr lang="en-US" sz="1050" dirty="0"/>
          </a:p>
        </p:txBody>
      </p:sp>
      <p:graphicFrame>
        <p:nvGraphicFramePr>
          <p:cNvPr id="16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0040" y="3776472"/>
          <a:ext cx="5477256" cy="914400"/>
        </p:xfrm>
        <a:graphic>
          <a:graphicData uri="http://schemas.openxmlformats.org/drawingml/2006/table">
            <a:tbl>
              <a:tblPr/>
              <a:tblGrid>
                <a:gridCol w="1234440"/>
                <a:gridCol w="868680"/>
                <a:gridCol w="713232"/>
                <a:gridCol w="713232"/>
                <a:gridCol w="658368"/>
                <a:gridCol w="713232"/>
                <a:gridCol w="576072"/>
              </a:tblGrid>
              <a:tr h="25603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Kabupaten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Branch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M-1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Selisih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MoM 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PS/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Ngada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Flores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32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44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+12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+37,5%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86,3%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Tabanan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Denpasar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202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267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+65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+32,2%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82,9%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Manggarai Barat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Flores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39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+12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+30,8%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71,8%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Bangli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Denpasar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48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+13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+27,1%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72,6%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Alor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Flores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73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+13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+21,7%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81,1%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5" name="Text 10"/>
          <p:cNvSpPr/>
          <p:nvPr/>
        </p:nvSpPr>
        <p:spPr>
          <a:xfrm>
            <a:off x="6245352" y="3557016"/>
            <a:ext cx="56052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C039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Bottom 5 (MoM PS Terendah)</a:t>
            </a:r>
            <a:endParaRPr lang="en-US" sz="1050" dirty="0"/>
          </a:p>
        </p:txBody>
      </p:sp>
      <p:graphicFrame>
        <p:nvGraphicFramePr>
          <p:cNvPr id="21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245352" y="3776472"/>
          <a:ext cx="5477256" cy="914400"/>
        </p:xfrm>
        <a:graphic>
          <a:graphicData uri="http://schemas.openxmlformats.org/drawingml/2006/table">
            <a:tbl>
              <a:tblPr/>
              <a:tblGrid>
                <a:gridCol w="1234440"/>
                <a:gridCol w="868680"/>
                <a:gridCol w="713232"/>
                <a:gridCol w="713232"/>
                <a:gridCol w="658368"/>
                <a:gridCol w="713232"/>
                <a:gridCol w="576072"/>
              </a:tblGrid>
              <a:tr h="25603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Kabupaten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Branch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M-1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Selisih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MoM 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PS/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Rote Ndao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Kupang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-50,0%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55,6%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Sumba Timur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Kupang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87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-27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-31,0%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76,9%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Gianyar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Denpasar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225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166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-59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-26,2%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78,7%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Belu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Kupang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53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-18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-25,4%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85,5%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Sumbawa Barat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Mataram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46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35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-23,9%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58,3%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7" name="Text 11"/>
          <p:cNvSpPr/>
          <p:nvPr/>
        </p:nvSpPr>
        <p:spPr>
          <a:xfrm>
            <a:off x="320040" y="5431536"/>
            <a:ext cx="11548872" cy="256032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32A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C.  Kontribusi Top/Bottom 5 terhadap Perubahan PS Regional</a:t>
            </a:r>
            <a:endParaRPr lang="en-US" sz="1500" dirty="0"/>
          </a:p>
        </p:txBody>
      </p:sp>
      <p:graphicFrame>
        <p:nvGraphicFramePr>
          <p:cNvPr id="26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0040" y="5705856"/>
          <a:ext cx="11548872" cy="914400"/>
        </p:xfrm>
        <a:graphic>
          <a:graphicData uri="http://schemas.openxmlformats.org/drawingml/2006/table">
            <a:tbl>
              <a:tblPr/>
              <a:tblGrid>
                <a:gridCol w="3849624"/>
                <a:gridCol w="3849624"/>
                <a:gridCol w="3849624"/>
              </a:tblGrid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Total Selisih PS — Top 5 Kabupaten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Total Selisih PS — Bottom 5 Kabupaten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Net Perubahan PS Regional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b="1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+125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b="1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-192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b="1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-213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</a:tr>
            </a:tbl>
          </a:graphicData>
        </a:graphic>
      </p:graphicFrame>
      <p:sp>
        <p:nvSpPr>
          <p:cNvPr id="19" name="Text 12"/>
          <p:cNvSpPr/>
          <p:nvPr/>
        </p:nvSpPr>
        <p:spPr>
          <a:xfrm>
            <a:off x="320040" y="6528816"/>
            <a:ext cx="115488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Dari 38 kabupaten: Top 5 menyumbang +125, Bottom 5 -192, dan perubahan PS regional -213.</a:t>
            </a:r>
            <a:endParaRPr lang="en-US" sz="9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E4022D"/>
          </a:solidFill>
          <a:ln/>
        </p:spPr>
      </p:sp>
      <p:sp>
        <p:nvSpPr>
          <p:cNvPr id="3" name="Text 1"/>
          <p:cNvSpPr/>
          <p:nvPr/>
        </p:nvSpPr>
        <p:spPr>
          <a:xfrm>
            <a:off x="320040" y="73152"/>
            <a:ext cx="9418320" cy="658368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PS 75 Mbps Tumbuh Tertinggi (+22,1%), 50 Mbps Turun Terdalam (-21,0%)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320040" y="749808"/>
            <a:ext cx="9418320" cy="164592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FBD9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MTD 01–18 Agu 2026 vs MTD-1 01–18 Jul 2026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8778240" y="109728"/>
            <a:ext cx="3090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Telkomsel — BALINUSRA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8778240" y="402336"/>
            <a:ext cx="30906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FBD9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GM Regional Performance Review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320040" y="1097280"/>
            <a:ext cx="11548872" cy="256032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32A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A.  RE &amp; PS Performance by Speed — Regional (6 kelompok, tidak digabung)</a:t>
            </a:r>
            <a:endParaRPr lang="en-US" sz="15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0040" y="1371600"/>
          <a:ext cx="7461504" cy="914400"/>
        </p:xfrm>
        <a:graphic>
          <a:graphicData uri="http://schemas.openxmlformats.org/drawingml/2006/table">
            <a:tbl>
              <a:tblPr/>
              <a:tblGrid>
                <a:gridCol w="1417320"/>
                <a:gridCol w="777240"/>
                <a:gridCol w="777240"/>
                <a:gridCol w="713232"/>
                <a:gridCol w="777240"/>
                <a:gridCol w="777240"/>
                <a:gridCol w="713232"/>
                <a:gridCol w="640080"/>
                <a:gridCol w="868680"/>
              </a:tblGrid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Speed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M-1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MoM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M-1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MoM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PS/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Kontribusi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≤30 Mbps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1.982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2.014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+1,6%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1.592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1.659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+4,2%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82,4%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39,8%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50 Mbps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1.661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1.310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-21,1%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1.320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1.043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-21,0%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79,6%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25,0%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75 Mbps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519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662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+27,6%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411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502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+22,1%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75,8%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12,0%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≥100 Mbps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475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494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+4,0%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368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347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-5,7%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70,2%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8,3%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TSEL One ≤30 Mbps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759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703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-7,4%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627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560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-10,7%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79,7%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13,4%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TSEL One &gt;30 Mbps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85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83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-2,4%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68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62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-8,8%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74,7%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1,5%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9" name="Text 6"/>
          <p:cNvSpPr/>
          <p:nvPr/>
        </p:nvSpPr>
        <p:spPr>
          <a:xfrm>
            <a:off x="320040" y="3602736"/>
            <a:ext cx="11548872" cy="256032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32A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B.  High Speed Performance by WOK — PS ≥50 Mbps Reguler (TSEL One dipisah)</a:t>
            </a:r>
            <a:endParaRPr lang="en-US" sz="1500" dirty="0"/>
          </a:p>
        </p:txBody>
      </p:sp>
      <p:graphicFrame>
        <p:nvGraphicFramePr>
          <p:cNvPr id="13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0040" y="3858768"/>
          <a:ext cx="5184648" cy="914400"/>
        </p:xfrm>
        <a:graphic>
          <a:graphicData uri="http://schemas.openxmlformats.org/drawingml/2006/table">
            <a:tbl>
              <a:tblPr/>
              <a:tblGrid>
                <a:gridCol w="2423160"/>
                <a:gridCol w="713232"/>
                <a:gridCol w="713232"/>
                <a:gridCol w="621792"/>
                <a:gridCol w="713232"/>
              </a:tblGrid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WOK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M-1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MoM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Kontribusi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Bali Tengah 2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291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310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+6,5%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16,4%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Kupang Rote - Malaka Timtim Belu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342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288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-15,8%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15,2%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Lombok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285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263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-7,7%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13,9%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Bali Tengah 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272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245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-9,9%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12,9%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Sumbawa Barat - Sumbawa Timur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285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219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-23,2%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11,6%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graphicFrame>
        <p:nvGraphicFramePr>
          <p:cNvPr id="19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245352" y="3858768"/>
          <a:ext cx="5184648" cy="914400"/>
        </p:xfrm>
        <a:graphic>
          <a:graphicData uri="http://schemas.openxmlformats.org/drawingml/2006/table">
            <a:tbl>
              <a:tblPr/>
              <a:tblGrid>
                <a:gridCol w="2423160"/>
                <a:gridCol w="713232"/>
                <a:gridCol w="713232"/>
                <a:gridCol w="621792"/>
                <a:gridCol w="713232"/>
              </a:tblGrid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WOK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M-1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MoM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Kontribusi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Bali Timur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187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164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-12,3%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8,7%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Bali Barat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164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157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-4,3%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8,3%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Manggarai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99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107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+8,1%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5,7%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Ende Sikka - Flores Timur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110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96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-12,7%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5,1%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Sumba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64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43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-32,8%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2,3%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2" name="Text 7"/>
          <p:cNvSpPr/>
          <p:nvPr/>
        </p:nvSpPr>
        <p:spPr>
          <a:xfrm>
            <a:off x="320040" y="5340096"/>
            <a:ext cx="1154887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PS speed reguler 50/75/100 Mbps ke atas; TSEL One dipisahkan</a:t>
            </a:r>
            <a:endParaRPr lang="en-US" sz="900" dirty="0"/>
          </a:p>
        </p:txBody>
      </p:sp>
      <p:sp>
        <p:nvSpPr>
          <p:cNvPr id="13" name="Text 8"/>
          <p:cNvSpPr/>
          <p:nvPr/>
        </p:nvSpPr>
        <p:spPr>
          <a:xfrm>
            <a:off x="320040" y="5541264"/>
            <a:ext cx="11548872" cy="256032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32A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C.  Channel Performance — Agency vs Grapari (Regional)</a:t>
            </a:r>
            <a:endParaRPr lang="en-US" sz="1500" dirty="0"/>
          </a:p>
        </p:txBody>
      </p:sp>
      <p:graphicFrame>
        <p:nvGraphicFramePr>
          <p:cNvPr id="25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0040" y="5797296"/>
          <a:ext cx="10378440" cy="914400"/>
        </p:xfrm>
        <a:graphic>
          <a:graphicData uri="http://schemas.openxmlformats.org/drawingml/2006/table">
            <a:tbl>
              <a:tblPr/>
              <a:tblGrid>
                <a:gridCol w="1280160"/>
                <a:gridCol w="1234440"/>
                <a:gridCol w="1234440"/>
                <a:gridCol w="1005840"/>
                <a:gridCol w="1234440"/>
                <a:gridCol w="1234440"/>
                <a:gridCol w="1005840"/>
                <a:gridCol w="914400"/>
                <a:gridCol w="1234440"/>
              </a:tblGrid>
              <a:tr h="2743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Channel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M-1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MoM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M-1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MoM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PS/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Kontribusi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Agency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4.520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4.419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-2,2%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3.707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3.606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-2,7%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81,6%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93,2%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Grapari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453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363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-19,9%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315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265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-15,9%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73,0%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6,8%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E4022D"/>
          </a:solidFill>
          <a:ln/>
        </p:spPr>
      </p:sp>
      <p:sp>
        <p:nvSpPr>
          <p:cNvPr id="3" name="Text 1"/>
          <p:cNvSpPr/>
          <p:nvPr/>
        </p:nvSpPr>
        <p:spPr>
          <a:xfrm>
            <a:off x="320040" y="73152"/>
            <a:ext cx="9418320" cy="658368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SF Active PS Naik +6,0%, Aktivitas DJP -5,3% MoM — Registered SF 845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320040" y="749808"/>
            <a:ext cx="9418320" cy="164592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FBD9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MTD 01–18 Agu 2026 vs MTD-1 01–18 Jul 2026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8778240" y="109728"/>
            <a:ext cx="3090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Telkomsel — BALINUSRA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8778240" y="402336"/>
            <a:ext cx="30906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FBD9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GM Regional Performance Review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320040" y="1097280"/>
            <a:ext cx="11548872" cy="256032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32A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A.  Sales Force Scorecard — Regional</a:t>
            </a:r>
            <a:endParaRPr lang="en-US" sz="15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0040" y="1371600"/>
          <a:ext cx="7132320" cy="914400"/>
        </p:xfrm>
        <a:graphic>
          <a:graphicData uri="http://schemas.openxmlformats.org/drawingml/2006/table">
            <a:tbl>
              <a:tblPr/>
              <a:tblGrid>
                <a:gridCol w="2011680"/>
                <a:gridCol w="1280160"/>
                <a:gridCol w="1280160"/>
                <a:gridCol w="1280160"/>
                <a:gridCol w="1280160"/>
              </a:tblGrid>
              <a:tr h="2743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Indikator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MTD-1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Selisih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MoM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Registered SF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—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845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—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—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SF Active RE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535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563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+28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+5,2%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SF Active 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514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545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+31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+6,0%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SF Active DJP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439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419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-20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-4,6%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Total Aktivitas DJP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11.690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11.070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-620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-5,3%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</a:tr>
            </a:tbl>
          </a:graphicData>
        </a:graphic>
      </p:graphicFrame>
      <p:sp>
        <p:nvSpPr>
          <p:cNvPr id="9" name="Text 6"/>
          <p:cNvSpPr/>
          <p:nvPr/>
        </p:nvSpPr>
        <p:spPr>
          <a:xfrm>
            <a:off x="320040" y="3108960"/>
            <a:ext cx="11548872" cy="256032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32A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B.  SF Active &amp; DJP by Branch</a:t>
            </a:r>
            <a:endParaRPr lang="en-US" sz="1500" dirty="0"/>
          </a:p>
        </p:txBody>
      </p:sp>
      <p:graphicFrame>
        <p:nvGraphicFramePr>
          <p:cNvPr id="15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0040" y="3346704"/>
          <a:ext cx="9262872" cy="914400"/>
        </p:xfrm>
        <a:graphic>
          <a:graphicData uri="http://schemas.openxmlformats.org/drawingml/2006/table">
            <a:tbl>
              <a:tblPr/>
              <a:tblGrid>
                <a:gridCol w="1097280"/>
                <a:gridCol w="640080"/>
                <a:gridCol w="621792"/>
                <a:gridCol w="621792"/>
                <a:gridCol w="594360"/>
                <a:gridCol w="621792"/>
                <a:gridCol w="621792"/>
                <a:gridCol w="594360"/>
                <a:gridCol w="621792"/>
                <a:gridCol w="621792"/>
                <a:gridCol w="594360"/>
                <a:gridCol w="685800"/>
                <a:gridCol w="685800"/>
                <a:gridCol w="640080"/>
              </a:tblGrid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Branch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Reg.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SF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 gridSpan="3"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Active RE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 hMerge="1">
                  <a:tcPr/>
                </a:tc>
                <a:tc hMerge="1">
                  <a:tcPr/>
                </a:tc>
                <a:tc gridSpan="3"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Active 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 hMerge="1">
                  <a:tcPr/>
                </a:tc>
                <a:tc hMerge="1">
                  <a:tcPr/>
                </a:tc>
                <a:tc gridSpan="3"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Active DJP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 hMerge="1">
                  <a:tcPr/>
                </a:tc>
                <a:tc hMerge="1">
                  <a:tcPr/>
                </a:tc>
                <a:tc gridSpan="3"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Aktivitas DJP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 hMerge="1">
                  <a:tcPr/>
                </a:tc>
                <a:tc hMerge="1">
                  <a:tcPr/>
                </a:tc>
              </a:tr>
              <a:tr h="21945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B457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B457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M-1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MoM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M-1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MoM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M-1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MoM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M-1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MoM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Denpasar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343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203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214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+5,4%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197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208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+5,6%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165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158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-4,2%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3.913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3.558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-9,1%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Flores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142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79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84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+6,3%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75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+8,0%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57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-10,5%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1.713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1.462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-14,7%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Kupang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130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98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-3,0%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98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96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-2,0%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78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+2,6%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3.176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2.739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-13,8%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Mataram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230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152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167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+9,9%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144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160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+11,1%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139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130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-6,5%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2.888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3.311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+14,6%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</a:tr>
            </a:tbl>
          </a:graphicData>
        </a:graphic>
      </p:graphicFrame>
      <p:sp>
        <p:nvSpPr>
          <p:cNvPr id="11" name="Text 7"/>
          <p:cNvSpPr/>
          <p:nvPr/>
        </p:nvSpPr>
        <p:spPr>
          <a:xfrm>
            <a:off x="320040" y="5010912"/>
            <a:ext cx="5486400" cy="256032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32A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C.  ODP Occupancy Summary</a:t>
            </a:r>
            <a:endParaRPr lang="en-US" sz="1500" dirty="0"/>
          </a:p>
        </p:txBody>
      </p:sp>
      <p:sp>
        <p:nvSpPr>
          <p:cNvPr id="12" name="Text 8"/>
          <p:cNvSpPr/>
          <p:nvPr/>
        </p:nvSpPr>
        <p:spPr>
          <a:xfrm>
            <a:off x="6245352" y="5010912"/>
            <a:ext cx="5486400" cy="256032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32A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D.  DJP pada ODP Khusus</a:t>
            </a:r>
            <a:endParaRPr lang="en-US" sz="1500" dirty="0"/>
          </a:p>
        </p:txBody>
      </p:sp>
      <p:graphicFrame>
        <p:nvGraphicFramePr>
          <p:cNvPr id="22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0040" y="5266944"/>
          <a:ext cx="5330952" cy="914400"/>
        </p:xfrm>
        <a:graphic>
          <a:graphicData uri="http://schemas.openxmlformats.org/drawingml/2006/table">
            <a:tbl>
              <a:tblPr/>
              <a:tblGrid>
                <a:gridCol w="868680"/>
                <a:gridCol w="868680"/>
                <a:gridCol w="868680"/>
                <a:gridCol w="868680"/>
                <a:gridCol w="868680"/>
                <a:gridCol w="987552"/>
              </a:tblGrid>
              <a:tr h="25603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RED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ORANGE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YELLOW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GREEN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BLACK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Total ODP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4.070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9.547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56.709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7.209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5.458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82.993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B4570"/>
                    </a:solidFill>
                  </a:tcPr>
                </a:tc>
              </a:tr>
              <a:tr h="20116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4,9%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11,5%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68,3%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8,7%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6,6%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100,0%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4" name="Shape 9"/>
          <p:cNvSpPr/>
          <p:nvPr/>
        </p:nvSpPr>
        <p:spPr>
          <a:xfrm>
            <a:off x="6245352" y="5266944"/>
            <a:ext cx="2819324" cy="960120"/>
          </a:xfrm>
          <a:prstGeom prst="roundRect">
            <a:avLst>
              <a:gd name="adj" fmla="val 2857"/>
            </a:avLst>
          </a:prstGeom>
          <a:solidFill>
            <a:srgbClr val="F5F6F8"/>
          </a:solidFill>
          <a:ln w="12700">
            <a:solidFill>
              <a:srgbClr val="DCE0E6"/>
            </a:solidFill>
            <a:prstDash val="solid"/>
          </a:ln>
        </p:spPr>
      </p:sp>
      <p:sp>
        <p:nvSpPr>
          <p:cNvPr id="15" name="Text 10"/>
          <p:cNvSpPr/>
          <p:nvPr/>
        </p:nvSpPr>
        <p:spPr>
          <a:xfrm>
            <a:off x="6355080" y="5340096"/>
            <a:ext cx="25998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C039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ODP BLACK</a:t>
            </a:r>
            <a:endParaRPr lang="en-US" sz="1050" dirty="0"/>
          </a:p>
        </p:txBody>
      </p:sp>
      <p:sp>
        <p:nvSpPr>
          <p:cNvPr id="16" name="Text 11"/>
          <p:cNvSpPr/>
          <p:nvPr/>
        </p:nvSpPr>
        <p:spPr>
          <a:xfrm>
            <a:off x="6355080" y="5541264"/>
            <a:ext cx="2599868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Jumlah ODP: 5.458
Dikunjungi: 943 (17,3%)
Visit DJP: 2.070</a:t>
            </a:r>
            <a:pPr indent="0" marL="0">
              <a:lnSpc>
                <a:spcPts val="1300"/>
              </a:lnSpc>
              <a:buNone/>
            </a:pPr>
            <a:r>
              <a:rPr lang="en-US" sz="1150" b="1" dirty="0">
                <a:solidFill>
                  <a:srgbClr val="2427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/>
            </a:r>
            <a:pPr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/>
            </a:r>
            <a:pPr indent="0" marL="0">
              <a:lnSpc>
                <a:spcPts val="1300"/>
              </a:lnSpc>
              <a:buNone/>
            </a:pPr>
            <a:r>
              <a:rPr lang="en-US" sz="1150" b="1" dirty="0">
                <a:solidFill>
                  <a:srgbClr val="2427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/>
            </a:r>
            <a:pPr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/>
            </a:r>
            <a:pPr indent="0" marL="0">
              <a:lnSpc>
                <a:spcPts val="1300"/>
              </a:lnSpc>
              <a:buNone/>
            </a:pPr>
            <a:r>
              <a:rPr lang="en-US" sz="1150" b="1" dirty="0">
                <a:solidFill>
                  <a:srgbClr val="C039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/>
            </a:r>
            <a:endParaRPr lang="en-US" sz="1000" dirty="0"/>
          </a:p>
        </p:txBody>
      </p:sp>
      <p:sp>
        <p:nvSpPr>
          <p:cNvPr id="17" name="Shape 12"/>
          <p:cNvSpPr/>
          <p:nvPr/>
        </p:nvSpPr>
        <p:spPr>
          <a:xfrm>
            <a:off x="9201836" y="5266944"/>
            <a:ext cx="2819324" cy="960120"/>
          </a:xfrm>
          <a:prstGeom prst="roundRect">
            <a:avLst>
              <a:gd name="adj" fmla="val 2857"/>
            </a:avLst>
          </a:prstGeom>
          <a:solidFill>
            <a:srgbClr val="F5F6F8"/>
          </a:solidFill>
          <a:ln w="12700">
            <a:solidFill>
              <a:srgbClr val="DCE0E6"/>
            </a:solidFill>
            <a:prstDash val="solid"/>
          </a:ln>
        </p:spPr>
      </p:sp>
      <p:sp>
        <p:nvSpPr>
          <p:cNvPr id="18" name="Text 13"/>
          <p:cNvSpPr/>
          <p:nvPr/>
        </p:nvSpPr>
        <p:spPr>
          <a:xfrm>
            <a:off x="9311564" y="5340096"/>
            <a:ext cx="25998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E7B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ODP GREENFIELD</a:t>
            </a:r>
            <a:endParaRPr lang="en-US" sz="1050" dirty="0"/>
          </a:p>
        </p:txBody>
      </p:sp>
      <p:sp>
        <p:nvSpPr>
          <p:cNvPr id="19" name="Text 14"/>
          <p:cNvSpPr/>
          <p:nvPr/>
        </p:nvSpPr>
        <p:spPr>
          <a:xfrm>
            <a:off x="9311564" y="5541264"/>
            <a:ext cx="2599868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Jumlah ODP: 945
Dikunjungi: 588 (62,2%)
Visit DJP: 1.413</a:t>
            </a:r>
            <a:pPr indent="0" marL="0">
              <a:lnSpc>
                <a:spcPts val="1300"/>
              </a:lnSpc>
              <a:buNone/>
            </a:pPr>
            <a:r>
              <a:rPr lang="en-US" sz="1150" b="1" dirty="0">
                <a:solidFill>
                  <a:srgbClr val="2427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/>
            </a:r>
            <a:pPr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/>
            </a:r>
            <a:pPr indent="0" marL="0">
              <a:lnSpc>
                <a:spcPts val="1300"/>
              </a:lnSpc>
              <a:buNone/>
            </a:pPr>
            <a:r>
              <a:rPr lang="en-US" sz="1150" b="1" dirty="0">
                <a:solidFill>
                  <a:srgbClr val="2427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/>
            </a:r>
            <a:pPr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/>
            </a:r>
            <a:pPr indent="0" marL="0">
              <a:lnSpc>
                <a:spcPts val="1300"/>
              </a:lnSpc>
              <a:buNone/>
            </a:pPr>
            <a:r>
              <a:rPr lang="en-US" sz="1150" b="1" dirty="0">
                <a:solidFill>
                  <a:srgbClr val="1E7B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/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E4022D"/>
          </a:solidFill>
          <a:ln/>
        </p:spPr>
      </p:sp>
      <p:sp>
        <p:nvSpPr>
          <p:cNvPr id="3" name="Text 1"/>
          <p:cNvSpPr/>
          <p:nvPr/>
        </p:nvSpPr>
        <p:spPr>
          <a:xfrm>
            <a:off x="320040" y="73152"/>
            <a:ext cx="9418320" cy="658368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Appendix — SF Segmentation by Class &amp; Matrix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320040" y="749808"/>
            <a:ext cx="9418320" cy="164592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FBD9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MTD 01–18 Agu 2026 vs MTD-1 01–18 Jul 2026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8778240" y="109728"/>
            <a:ext cx="3090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Telkomsel — BALINUSRA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8778240" y="402336"/>
            <a:ext cx="30906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FBD9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GM Regional Performance Review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320040" y="1097280"/>
            <a:ext cx="5486400" cy="256032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32A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A.  SF by Class</a:t>
            </a:r>
            <a:endParaRPr lang="en-US" sz="15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0040" y="1353312"/>
          <a:ext cx="5532120" cy="914400"/>
        </p:xfrm>
        <a:graphic>
          <a:graphicData uri="http://schemas.openxmlformats.org/drawingml/2006/table">
            <a:tbl>
              <a:tblPr/>
              <a:tblGrid>
                <a:gridCol w="1188720"/>
                <a:gridCol w="868680"/>
                <a:gridCol w="868680"/>
                <a:gridCol w="868680"/>
                <a:gridCol w="868680"/>
                <a:gridCol w="868680"/>
              </a:tblGrid>
              <a:tr h="2743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Class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Reg.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SF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Kontribusi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Active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Active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Active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DJP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Elite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1,3%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Performer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0,1%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Junior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757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89,6%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484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466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343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Greenfield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56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6,6%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47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47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52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Junior Plus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2,4%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16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9" name="Text 6"/>
          <p:cNvSpPr/>
          <p:nvPr/>
        </p:nvSpPr>
        <p:spPr>
          <a:xfrm>
            <a:off x="6245352" y="1097280"/>
            <a:ext cx="5486400" cy="256032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32A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B.  SF by Matrix</a:t>
            </a:r>
            <a:endParaRPr lang="en-US" sz="1500" dirty="0"/>
          </a:p>
        </p:txBody>
      </p:sp>
      <p:graphicFrame>
        <p:nvGraphicFramePr>
          <p:cNvPr id="17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245352" y="1353312"/>
          <a:ext cx="5715000" cy="914400"/>
        </p:xfrm>
        <a:graphic>
          <a:graphicData uri="http://schemas.openxmlformats.org/drawingml/2006/table">
            <a:tbl>
              <a:tblPr/>
              <a:tblGrid>
                <a:gridCol w="1371600"/>
                <a:gridCol w="868680"/>
                <a:gridCol w="868680"/>
                <a:gridCol w="868680"/>
                <a:gridCol w="868680"/>
                <a:gridCol w="868680"/>
              </a:tblGrid>
              <a:tr h="2743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Segmen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Reg.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SF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Kontribusi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Active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Active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Active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DJP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Champion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245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29,0%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240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240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189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Efficient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65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7,7%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65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62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34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Explorer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222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26,3%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142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136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131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Need Coaching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313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37,0%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116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107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65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1" name="Text 7"/>
          <p:cNvSpPr/>
          <p:nvPr/>
        </p:nvSpPr>
        <p:spPr>
          <a:xfrm>
            <a:off x="320040" y="2871216"/>
            <a:ext cx="1154887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Catatan: satu SF dapat aktif pada lebih dari satu kelompok speed — jumlah SF Active tidak dijumlahkan lintas kelompok.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E4022D"/>
          </a:solidFill>
          <a:ln/>
        </p:spPr>
      </p:sp>
      <p:sp>
        <p:nvSpPr>
          <p:cNvPr id="3" name="Text 1"/>
          <p:cNvSpPr/>
          <p:nvPr/>
        </p:nvSpPr>
        <p:spPr>
          <a:xfrm>
            <a:off x="320040" y="73152"/>
            <a:ext cx="9418320" cy="658368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Appendix — Top 10 SF berdasarkan Pertumbuhan RE &amp; PS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320040" y="749808"/>
            <a:ext cx="9418320" cy="164592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FBD9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MTD 01–18 Agu 2026 vs MTD-1 01–18 Jul 2026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8778240" y="109728"/>
            <a:ext cx="3090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Telkomsel — BALINUSRA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8778240" y="402336"/>
            <a:ext cx="30906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FBD9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GM Regional Performance Review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320040" y="1115568"/>
            <a:ext cx="56843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7B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 10 — Growth RE</a:t>
            </a:r>
            <a:endParaRPr lang="en-US" sz="11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0040" y="1335024"/>
          <a:ext cx="4946904" cy="914400"/>
        </p:xfrm>
        <a:graphic>
          <a:graphicData uri="http://schemas.openxmlformats.org/drawingml/2006/table">
            <a:tbl>
              <a:tblPr/>
              <a:tblGrid>
                <a:gridCol w="1965960"/>
                <a:gridCol w="658368"/>
                <a:gridCol w="566928"/>
                <a:gridCol w="566928"/>
                <a:gridCol w="566928"/>
                <a:gridCol w="621792"/>
              </a:tblGrid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Nama SF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Branch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MTD-1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Selisih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Growth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Muhammad Khusairi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Denpasar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+1000,0%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NURSIAH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Denpasar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+1000,0%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KADEK RIDAYANI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Denpasar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+9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+900,0%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lukmanul hakim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Mataram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25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+21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+525,0%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ZAENUDDIN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Mataram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+5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+500,0%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GUSTAF RIHI MANGNGI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Kupang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+5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+500,0%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YOHANIS GLORIA INRIJAYA DIRU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Kupang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+9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+450,0%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YOHANES RADJO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Flores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+8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+400,0%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LULU KARMILA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Mataram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+4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+400,0%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NURYANTI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Mataram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+4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+400,0%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</a:tr>
            </a:tbl>
          </a:graphicData>
        </a:graphic>
      </p:graphicFrame>
      <p:sp>
        <p:nvSpPr>
          <p:cNvPr id="9" name="Text 6"/>
          <p:cNvSpPr/>
          <p:nvPr/>
        </p:nvSpPr>
        <p:spPr>
          <a:xfrm>
            <a:off x="6187288" y="1115568"/>
            <a:ext cx="56843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7B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 10 — Growth PS</a:t>
            </a:r>
            <a:endParaRPr lang="en-US" sz="1100" dirty="0"/>
          </a:p>
        </p:txBody>
      </p:sp>
      <p:graphicFrame>
        <p:nvGraphicFramePr>
          <p:cNvPr id="19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187288" y="1335024"/>
          <a:ext cx="4946904" cy="914400"/>
        </p:xfrm>
        <a:graphic>
          <a:graphicData uri="http://schemas.openxmlformats.org/drawingml/2006/table">
            <a:tbl>
              <a:tblPr/>
              <a:tblGrid>
                <a:gridCol w="1965960"/>
                <a:gridCol w="658368"/>
                <a:gridCol w="566928"/>
                <a:gridCol w="566928"/>
                <a:gridCol w="566928"/>
                <a:gridCol w="621792"/>
              </a:tblGrid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Nama SF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Branch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MTD-1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Selisih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Growth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NURSIAH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Denpasar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+7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+700,0%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[TECHNICIAN] VINSENSIUS JEMADA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Flores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+6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+600,0%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KADEK RIDAYANI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Denpasar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+5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+500,0%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Marselinus Supardi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Denpasar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+5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+500,0%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DWI PURNOMO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Denpasar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33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+27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+450,0%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lukmanul hakim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Mataram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+17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+425,0%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Marianus Hilton Raja reda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Flores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+4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+400,0%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GUSTAF RIHI MANGNGI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Kupang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+4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+400,0%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D. BUDIONO HARSONO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Denpasar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+4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+400,0%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YOHANES RADJO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Flores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+4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+400,0%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</a:tr>
            </a:tbl>
          </a:graphicData>
        </a:graphic>
      </p:graphicFrame>
      <p:sp>
        <p:nvSpPr>
          <p:cNvPr id="11" name="Text 7"/>
          <p:cNvSpPr/>
          <p:nvPr/>
        </p:nvSpPr>
        <p:spPr>
          <a:xfrm>
            <a:off x="320040" y="4590288"/>
            <a:ext cx="115488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Growth (%) dihitung dari volume RE/PS periode berjalan terhadap periode sebelumnya per SF Code.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E4022D"/>
          </a:solidFill>
          <a:ln/>
        </p:spPr>
      </p:sp>
      <p:sp>
        <p:nvSpPr>
          <p:cNvPr id="3" name="Text 1"/>
          <p:cNvSpPr/>
          <p:nvPr/>
        </p:nvSpPr>
        <p:spPr>
          <a:xfrm>
            <a:off x="320040" y="73152"/>
            <a:ext cx="9418320" cy="658368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Appendix — Bottom 10 SF berdasarkan Pertumbuhan RE &amp; PS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320040" y="749808"/>
            <a:ext cx="9418320" cy="164592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FBD9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MTD 01–18 Agu 2026 vs MTD-1 01–18 Jul 2026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8778240" y="109728"/>
            <a:ext cx="3090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Telkomsel — BALINUSRA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8778240" y="402336"/>
            <a:ext cx="30906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FBD9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GM Regional Performance Review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320040" y="1115568"/>
            <a:ext cx="56843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039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Bottom 10 — Growth RE</a:t>
            </a:r>
            <a:endParaRPr lang="en-US" sz="11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0040" y="1335024"/>
          <a:ext cx="4946904" cy="914400"/>
        </p:xfrm>
        <a:graphic>
          <a:graphicData uri="http://schemas.openxmlformats.org/drawingml/2006/table">
            <a:tbl>
              <a:tblPr/>
              <a:tblGrid>
                <a:gridCol w="1965960"/>
                <a:gridCol w="658368"/>
                <a:gridCol w="566928"/>
                <a:gridCol w="566928"/>
                <a:gridCol w="566928"/>
                <a:gridCol w="621792"/>
              </a:tblGrid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Nama SF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Branch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MTD-1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Selisih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Growth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Derry Prananda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Denpasar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-7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MARIA STEFANI WEA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Flores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-6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ALFANNY KHAIRUNNISA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Mataram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Anita Welmince ukat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Kupang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-4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MOHAMMAD FAISAL ASSEGAF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Kupang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NI PUTU ARIANI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Denpasar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-3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NIA RAHMAWATI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Mataram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Lalu esa pramudya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Mataram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FIRMAN HIDAYAT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Denpasar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Jerry Aldo Wahjudi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Denpasar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-3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</a:tr>
            </a:tbl>
          </a:graphicData>
        </a:graphic>
      </p:graphicFrame>
      <p:sp>
        <p:nvSpPr>
          <p:cNvPr id="9" name="Text 6"/>
          <p:cNvSpPr/>
          <p:nvPr/>
        </p:nvSpPr>
        <p:spPr>
          <a:xfrm>
            <a:off x="6187288" y="1115568"/>
            <a:ext cx="56843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039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Bottom 10 — Growth PS</a:t>
            </a:r>
            <a:endParaRPr lang="en-US" sz="1100" dirty="0"/>
          </a:p>
        </p:txBody>
      </p:sp>
      <p:graphicFrame>
        <p:nvGraphicFramePr>
          <p:cNvPr id="21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187288" y="1335024"/>
          <a:ext cx="4946904" cy="914400"/>
        </p:xfrm>
        <a:graphic>
          <a:graphicData uri="http://schemas.openxmlformats.org/drawingml/2006/table">
            <a:tbl>
              <a:tblPr/>
              <a:tblGrid>
                <a:gridCol w="1965960"/>
                <a:gridCol w="658368"/>
                <a:gridCol w="566928"/>
                <a:gridCol w="566928"/>
                <a:gridCol w="566928"/>
                <a:gridCol w="621792"/>
              </a:tblGrid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Nama SF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Branch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MTD-1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Selisih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Growth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MARIA STEFANI WEA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Flores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-5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ALFANNY KHAIRUNNISA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Mataram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-7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Anita Welmince ukat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Kupang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-4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MOHAMMAD FAISAL ASSEGAF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Kupang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-8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FANCE AFI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Kupang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-3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DODYK SUPRIADI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Mataram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-4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Hendra Tauhid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Mataram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-3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EKA PUTU WIGUNA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Denpasar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-9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NIA RAHMAWATI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Mataram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FIRMAN HIDAYAT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Denpasar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</a:tr>
            </a:tbl>
          </a:graphicData>
        </a:graphic>
      </p:graphicFrame>
      <p:sp>
        <p:nvSpPr>
          <p:cNvPr id="11" name="Text 7"/>
          <p:cNvSpPr/>
          <p:nvPr/>
        </p:nvSpPr>
        <p:spPr>
          <a:xfrm>
            <a:off x="320040" y="4590288"/>
            <a:ext cx="115488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Growth (%) dihitung dari volume RE/PS periode berjalan terhadap periode sebelumnya per SF Code.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E4022D"/>
          </a:solidFill>
          <a:ln/>
        </p:spPr>
      </p:sp>
      <p:sp>
        <p:nvSpPr>
          <p:cNvPr id="3" name="Text 1"/>
          <p:cNvSpPr/>
          <p:nvPr/>
        </p:nvSpPr>
        <p:spPr>
          <a:xfrm>
            <a:off x="320040" y="73152"/>
            <a:ext cx="9418320" cy="658368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Appendix — Detail Seluruh 10 WOK &amp; Kabupaten Denpasar, Flores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320040" y="749808"/>
            <a:ext cx="9418320" cy="164592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FBD9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MTD 01–18 Agu 2026 vs MTD-1 01–18 Jul 2026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8778240" y="109728"/>
            <a:ext cx="3090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Telkomsel — BALINUSRA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8778240" y="402336"/>
            <a:ext cx="30906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FBD9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GM Regional Performance Review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320040" y="1097280"/>
            <a:ext cx="11548872" cy="256032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32A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A.  Seluruh 10 WOK  (Br. = Branch: DPS Denpasar, FLR Flores, KPG Kupang, MTR Mataram)</a:t>
            </a:r>
            <a:endParaRPr lang="en-US" sz="150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0040" y="1353312"/>
          <a:ext cx="5632704" cy="914400"/>
        </p:xfrm>
        <a:graphic>
          <a:graphicData uri="http://schemas.openxmlformats.org/drawingml/2006/table">
            <a:tbl>
              <a:tblPr/>
              <a:tblGrid>
                <a:gridCol w="2011680"/>
                <a:gridCol w="365760"/>
                <a:gridCol w="365760"/>
                <a:gridCol w="457200"/>
                <a:gridCol w="530352"/>
                <a:gridCol w="365760"/>
                <a:gridCol w="457200"/>
                <a:gridCol w="530352"/>
                <a:gridCol w="548640"/>
              </a:tblGrid>
              <a:tr h="21945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Area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Br.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M-1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MoM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M-1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MoM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PS/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Bali Barat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DPS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648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674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+4,0%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497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550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+10,7%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81,6%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Bali Tengah 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DPS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636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635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-0,2%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542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539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-0,6%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84,9%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Bali Tengah 2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DPS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707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706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-0,1%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579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571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-1,4%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80,9%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Bali Timur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DPS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496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426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-14,1%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384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335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-12,8%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78,6%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Ende Sikka - Flores Timur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FLR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482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441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-8,5%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361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353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-2,2%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graphicFrame>
        <p:nvGraphicFramePr>
          <p:cNvPr id="23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245352" y="1353312"/>
          <a:ext cx="5632704" cy="914400"/>
        </p:xfrm>
        <a:graphic>
          <a:graphicData uri="http://schemas.openxmlformats.org/drawingml/2006/table">
            <a:tbl>
              <a:tblPr/>
              <a:tblGrid>
                <a:gridCol w="2011680"/>
                <a:gridCol w="365760"/>
                <a:gridCol w="365760"/>
                <a:gridCol w="457200"/>
                <a:gridCol w="530352"/>
                <a:gridCol w="365760"/>
                <a:gridCol w="457200"/>
                <a:gridCol w="530352"/>
                <a:gridCol w="548640"/>
              </a:tblGrid>
              <a:tr h="21945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Area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Br.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M-1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MoM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M-1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MoM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PS/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Manggarai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FLR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242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248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+2,5%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181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203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+12,2%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81,9%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Kupang Rote - Malaka Timtim Belu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KPG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609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538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-11,7%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510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434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-14,9%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80,7%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Sumba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KPG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163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151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-7,4%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135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108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-20,0%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71,5%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Lombok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821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822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+0,1%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679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619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-8,8%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75,3%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Sumbawa Barat - Sumbawa Timur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677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625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-7,7%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518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461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-11,0%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73,8%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0" name="Text 6"/>
          <p:cNvSpPr/>
          <p:nvPr/>
        </p:nvSpPr>
        <p:spPr>
          <a:xfrm>
            <a:off x="320040" y="3172968"/>
            <a:ext cx="11548872" cy="256032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32A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B.  Kabupaten Denpasar &amp; Flores (18 dari 38 kabupaten)</a:t>
            </a:r>
            <a:endParaRPr lang="en-US" sz="1500" dirty="0"/>
          </a:p>
        </p:txBody>
      </p:sp>
      <p:graphicFrame>
        <p:nvGraphicFramePr>
          <p:cNvPr id="34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0040" y="3410712"/>
          <a:ext cx="5084064" cy="914400"/>
        </p:xfrm>
        <a:graphic>
          <a:graphicData uri="http://schemas.openxmlformats.org/drawingml/2006/table">
            <a:tbl>
              <a:tblPr/>
              <a:tblGrid>
                <a:gridCol w="1463040"/>
                <a:gridCol w="365760"/>
                <a:gridCol w="365760"/>
                <a:gridCol w="457200"/>
                <a:gridCol w="530352"/>
                <a:gridCol w="365760"/>
                <a:gridCol w="457200"/>
                <a:gridCol w="530352"/>
                <a:gridCol w="548640"/>
              </a:tblGrid>
              <a:tr h="21945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Area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Br.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M-1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MoM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M-1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MoM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PS/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Badung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DPS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324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354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+9,3%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259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280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+8,1%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79,1%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Bangli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DPS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64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84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+31,2%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48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+27,1%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72,6%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Buleleng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DPS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281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262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-6,8%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211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209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-0,9%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79,8%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Gianyar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DPS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298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211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-29,2%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225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166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-26,2%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78,7%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Jembrana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DPS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97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-7,2%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84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74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-11,9%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82,2%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Karang Asem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DPS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54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44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-18,5%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44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38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-13,6%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86,4%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Klungkung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DPS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87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+8,8%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67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+4,5%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80,5%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Kota Denpasar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DPS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1.019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987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-3,1%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862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830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-3,7%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84,1%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Tabanan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DPS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270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322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+19,3%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202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267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+32,2%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82,9%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graphicFrame>
        <p:nvGraphicFramePr>
          <p:cNvPr id="45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245352" y="3410712"/>
          <a:ext cx="5084064" cy="914400"/>
        </p:xfrm>
        <a:graphic>
          <a:graphicData uri="http://schemas.openxmlformats.org/drawingml/2006/table">
            <a:tbl>
              <a:tblPr/>
              <a:tblGrid>
                <a:gridCol w="1463040"/>
                <a:gridCol w="365760"/>
                <a:gridCol w="365760"/>
                <a:gridCol w="457200"/>
                <a:gridCol w="530352"/>
                <a:gridCol w="365760"/>
                <a:gridCol w="457200"/>
                <a:gridCol w="530352"/>
                <a:gridCol w="548640"/>
              </a:tblGrid>
              <a:tr h="21945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Area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Br.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M-1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MoM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M-1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MoM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PS/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Alor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FLR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98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-8,2%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73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+21,7%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81,1%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Ende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FLR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121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125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+3,3%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95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87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-8,4%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69,6%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Flores Timur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FLR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56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49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-12,5%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43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-7,0%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81,6%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Lembata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FLR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45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-11,1%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29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28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-3,4%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Manggarai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FLR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-40,0%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9E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Manggarai Barat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FLR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64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+10,9%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39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+30,8%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71,8%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Manggarai Timur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FLR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130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123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-5,4%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107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105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-1,9%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85,4%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Ngada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FLR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43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+18,6%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32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44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+37,5%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86,3%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Sikka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FLR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162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137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-15,4%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134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125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-6,7%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91,2%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E4022D"/>
          </a:solidFill>
          <a:ln/>
        </p:spPr>
      </p:sp>
      <p:sp>
        <p:nvSpPr>
          <p:cNvPr id="3" name="Text 1"/>
          <p:cNvSpPr/>
          <p:nvPr/>
        </p:nvSpPr>
        <p:spPr>
          <a:xfrm>
            <a:off x="320040" y="73152"/>
            <a:ext cx="9418320" cy="658368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Appendix — Kabupaten Kupang &amp; Mataram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320040" y="749808"/>
            <a:ext cx="9418320" cy="164592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FBD9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MTD 01–18 Agu 2026 vs MTD-1 01–18 Jul 2026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8778240" y="109728"/>
            <a:ext cx="3090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Telkomsel — BALINUSRA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8778240" y="402336"/>
            <a:ext cx="30906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FBD9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GM Regional Performance Review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320040" y="1097280"/>
            <a:ext cx="11548872" cy="256032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32A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A.  Kabupaten Kupang &amp; Mataram</a:t>
            </a:r>
            <a:endParaRPr lang="en-US" sz="150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0040" y="1371600"/>
          <a:ext cx="5084064" cy="914400"/>
        </p:xfrm>
        <a:graphic>
          <a:graphicData uri="http://schemas.openxmlformats.org/drawingml/2006/table">
            <a:tbl>
              <a:tblPr/>
              <a:tblGrid>
                <a:gridCol w="1463040"/>
                <a:gridCol w="365760"/>
                <a:gridCol w="365760"/>
                <a:gridCol w="457200"/>
                <a:gridCol w="530352"/>
                <a:gridCol w="365760"/>
                <a:gridCol w="457200"/>
                <a:gridCol w="530352"/>
                <a:gridCol w="548640"/>
              </a:tblGrid>
              <a:tr h="21945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Area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Br.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M-1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MoM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M-1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MoM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PS/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Belu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KPG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77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62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-19,5%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53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-25,4%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85,5%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Kota Kupang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KPG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114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108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-5,3%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85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-15,0%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78,7%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Kupang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KPG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187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176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-5,9%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166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151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-9,0%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85,8%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Malaka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KPG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54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49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-9,3%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42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38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-9,5%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77,6%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Rote Ndao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KPG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28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18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-35,7%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-50,0%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55,6%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Sabu Raijua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KPG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-37,5%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-14,3%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120,0%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Sumba Barat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KPG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55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68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+23,6%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42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+2,4%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61,8%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Sumba Timur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KPG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78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-22,0%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87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-31,0%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76,9%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Timor Tengah Selatan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KPG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74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65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-12,2%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56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54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-3,6%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83,1%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Timor Tengah Utara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KPG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75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-20,0%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55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43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-21,8%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71,7%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graphicFrame>
        <p:nvGraphicFramePr>
          <p:cNvPr id="25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245352" y="1371600"/>
          <a:ext cx="5084064" cy="914400"/>
        </p:xfrm>
        <a:graphic>
          <a:graphicData uri="http://schemas.openxmlformats.org/drawingml/2006/table">
            <a:tbl>
              <a:tblPr/>
              <a:tblGrid>
                <a:gridCol w="1463040"/>
                <a:gridCol w="365760"/>
                <a:gridCol w="365760"/>
                <a:gridCol w="457200"/>
                <a:gridCol w="530352"/>
                <a:gridCol w="365760"/>
                <a:gridCol w="457200"/>
                <a:gridCol w="530352"/>
                <a:gridCol w="548640"/>
              </a:tblGrid>
              <a:tr h="21945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Area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Br.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M-1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MoM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M-1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MoM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PS/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Bima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126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111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-11,9%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104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87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-16,3%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78,4%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Dompu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92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+2,2%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76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65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-14,5%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70,7%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Kota Bima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187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181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-3,2%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136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149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+9,6%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82,3%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Kota Mataram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441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410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-7,0%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386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343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-11,1%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83,7%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Lombok Barat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144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130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-9,7%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125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102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-18,4%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78,5%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Lombok Tengah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117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136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+16,2%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84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86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+2,4%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63,2%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Lombok Timur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63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74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+17,5%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45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53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+17,8%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71,6%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Lombok Utara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56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72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+28,6%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39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35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-10,3%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48,6%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Sumbawa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216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181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-16,2%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156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125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-19,9%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69,1%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Sumbawa Barat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58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+3,4%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46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35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-23,9%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58,3%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0" name="Text 6"/>
          <p:cNvSpPr/>
          <p:nvPr/>
        </p:nvSpPr>
        <p:spPr>
          <a:xfrm>
            <a:off x="320040" y="4837176"/>
            <a:ext cx="115488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Bersama Slide 11 (Denpasar &amp; Flores), tabel ini mencakup seluruh 38 kabupaten—masing-masing tampil tepat satu kali.</a:t>
            </a:r>
            <a:endParaRPr lang="en-US" sz="9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2026-08-16T22:33:52Z</dcterms:created>
  <dcterms:modified xsi:type="dcterms:W3CDTF">2026-08-16T22:33:52Z</dcterms:modified>
</cp:coreProperties>
</file>