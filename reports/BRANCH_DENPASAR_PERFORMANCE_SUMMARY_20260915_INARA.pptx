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Sheet1!$F$2:$F$16</c:f>
              <c:numCache>
                <c:formatCode>General</c:formatCode>
                <c:ptCount val="15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Sheet1!$F$2:$F$16</c:f>
              <c:numCache>
                <c:formatCode>General</c:formatCode>
                <c:ptCount val="15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1.889,2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204   Δ -7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197   Δ -17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+22,1%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145   Δ 32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3.944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+31,2%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3.005   Δ 939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+13,3%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143 / 310 (46,1%)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-14,4% | Turun 95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180 / 351 (51,3%)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115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 / 80 (52,5%)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 / 85 (50,6%)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 / 93 (54,8%)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80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-8,6%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 / 93 (48,4%)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77 (45,5%)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 / 85 (49,4%)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+659,1%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399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1.458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310 (6,1%)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-20,8% | Turun 95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 / 351 (12,0%)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-2,3% | Turun 115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68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80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85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93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80 (2,5%)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93 (10,8%)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77 (5,2%)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85 (8,2%)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269 (8,1%)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981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138 (29,6%)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561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197 | MoM -3,4%
PS: 180 | MoM -8,6%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159 | Active 51,3% | MoM -4,2%
  PS: 143 | Active 46,1% | MoM -10,6%
• Greenfield
  RE: 18 | Active 90,0% | MoM +5,9%
  PS: 17 | Active 85,0% | MoM +6,2%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-66,7%, Gap -4
• Grapari Jimbaran: PS +33,3%, Gap 3
• Grapari Kuta: PS +500,0%, Gap 5
• Grapari Negara: PS +100,0%,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-21,7%, Gap -5
• Grapari Singaraja: PS -20,0%, Gap -1
• Grapari Tabanan: PS 0,0%, Gap 0
• Grapari Ubud: PS +40,0%,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-40 (-8,8%), PS -36 (-9,1%)
• Bali Timur: RE 1 (+0,3%), PS -30 (-11,8%)
• Bali Tengah 2: RE -32 (-6,6%), PS -18 (-4,5%)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-32 (-42,7%), PS -25 (-41,0%)
• Bali Tengah 1: RE -14 (-23,7%), PS -13 (-28,3%)
• Bali Barat: RE -12 (-40,0%), PS -7 (-41,2%)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-5 (-50,0%), PS -2 (-50,0%)
• Bali Timur: RE -1 (-10,0%), PS -2 (-28,6%)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AYU MADE SUDIASIH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