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  <c:pt idx="7">
                  <c:v>61.0</c:v>
                </c:pt>
                <c:pt idx="8">
                  <c:v>67.0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  <c:pt idx="7">
                  <c:v>15.0</c:v>
                </c:pt>
                <c:pt idx="8">
                  <c:v>17.0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  <c:pt idx="7">
                  <c:v>19.0</c:v>
                </c:pt>
                <c:pt idx="8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  <c:pt idx="7">
                  <c:v>16.0</c:v>
                </c:pt>
                <c:pt idx="8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  <c:pt idx="7">
                  <c:v>11.0</c:v>
                </c:pt>
                <c:pt idx="8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  <c:pt idx="7">
                  <c:v>67.0</c:v>
                </c:pt>
                <c:pt idx="8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  <c:pt idx="7">
                  <c:v>17.0</c:v>
                </c:pt>
                <c:pt idx="8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  <c:pt idx="7">
                  <c:v>18.0</c:v>
                </c:pt>
                <c:pt idx="8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  <c:pt idx="7">
                  <c:v>18.0</c:v>
                </c:pt>
                <c:pt idx="8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3.583,2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187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+37,0%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30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2.133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+83,1%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1.165   Δ 968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152 (4,6%)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580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96 (22,5%)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395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3621024"/>
            <a:ext cx="544982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SF Active Total: RE 167 (-10,7%) | PS 151 (-13,7%)
Elite: RE 10 100,0% (0,0%) | PS 10 100,0% (0,0%)
Performer: RE 6 100,0% (0,0%) | PS 6 100,0% (0,0%)
Junior: RE 130 42,1% (-12,8%) | PS 115 37,2% (-16,7%)
Greenfield: RE 17 85,0% (0,0%) | PS 16 80,0% (0,0%)
Junior Plus: RE 4 80,0% (-20,0%) | PS 4 80,0% (-20,0%)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182112"/>
            <a:ext cx="5705856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1" y="3621024"/>
            <a:ext cx="266090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20" b="0" i="0">
                <a:solidFill>
                  <a:srgbClr val="20252B"/>
                </a:solidFill>
                <a:latin typeface="Arial"/>
              </a:rPr>
              <a:t>Grapari Amlapura: PS N/A, Gap 1
Grapari Gatsu Tengah: PS -100,0%, Gap -4
Grapari Jimbaran: PS +33,3%, Gap 2
Grapari Kuta: PS +300,0%, Gap 3
Grapari Negara: PS +200,0%, Gap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621024"/>
            <a:ext cx="266090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20" b="0" i="0">
                <a:solidFill>
                  <a:srgbClr val="20252B"/>
                </a:solidFill>
                <a:latin typeface="Arial"/>
              </a:rPr>
              <a:t>Grapari Renon: PS -41,2%, Gap -7
Grapari Singaraja: PS -33,3%, Gap -1
Grapari Tabanan: PS 0,0%, Gap 0
Grapari Ubud: PS +33,3%, Gap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Bali Tengah 1: RE -30 (-10,1%), PS -25 (-10,1%)
Bali Timur: RE 4 (+2,1%), PS -17 (-10,6%)
Bali Tengah 2: RE 0 (0,0%), PS -1 (-0,4%)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Bali Tengah 2: RE -24 (-46,2%), PS -21 (-55,3%)
Bali Tengah 1: RE -8 (-21,1%), PS -8 (-26,7%)
Bali Barat: RE -8 (-40,0%), PS -6 (-50,0%)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Bali Timur: RE -1 (-14,3%), PS -3 (-60,0%)
Bali Barat: RE -3 (-42,9%), PS -2 (-66,7%)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FATMAH HADINATA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Elgard Adrian Tirta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WINDU ADI SUPUTRA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AYU DWI APRILIANI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Aditya Adhikara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