
<file path=[Content_Types].xml><?xml version="1.0" encoding="utf-8"?>
<Types xmlns="http://schemas.openxmlformats.org/package/2006/content-types"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71" r:id="rId22"/>
    <p:sldId id="264" r:id="rId10"/>
    <p:sldId id="265" r:id="rId11"/>
    <p:sldId id="266" r:id="rId12"/>
    <p:sldId id="267" r:id="rId13"/>
    <p:sldId id="268" r:id="rId19"/>
    <p:sldId id="269" r:id="rId20"/>
    <p:sldId id="270" r:id="rId21"/>
  </p:sldIdLst>
  <p:notesMasterIdLst>
    <p:notesMasterId r:id="rId14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</c:v>
                </c:pt>
              </c:strCache>
            </c:strRef>
          </c:tx>
          <c:spPr>
            <a:solidFill>
              <a:srgbClr val="132A4C"/>
            </a:solidFill>
            <a:ln w="31750" cap="flat">
              <a:solidFill>
                <a:srgbClr val="132A4C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85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5"/>
            <c:spPr>
              <a:solidFill>
                <a:srgbClr val="132A4C"/>
              </a:solidFill>
              <a:ln w="9525" cap="flat">
                <a:solidFill>
                  <a:srgbClr val="132A4C"/>
                </a:solidFill>
                <a:prstDash val="solid"/>
                <a:round/>
              </a:ln>
              <a:effectLst/>
            </c:spPr>
          </c:marker>
          <c:cat>
            <c:strRef>
              <c:f>Sheet1!$A$2:$A$15</c:f>
              <c:strCache>
                <c:ptCount val="14"/>
                <c:pt idx="0">
                  <c:v>17/09</c:v>
                </c:pt>
                <c:pt idx="1">
                  <c:v>18/09</c:v>
                </c:pt>
                <c:pt idx="2">
                  <c:v>19/09</c:v>
                </c:pt>
                <c:pt idx="3">
                  <c:v>20/09</c:v>
                </c:pt>
                <c:pt idx="4">
                  <c:v>21/09</c:v>
                </c:pt>
                <c:pt idx="5">
                  <c:v>22/09</c:v>
                </c:pt>
                <c:pt idx="6">
                  <c:v>23/09</c:v>
                </c:pt>
                <c:pt idx="7">
                  <c:v>24/09</c:v>
                </c:pt>
                <c:pt idx="8">
                  <c:v>25/09</c:v>
                </c:pt>
                <c:pt idx="9">
                  <c:v>26/09</c:v>
                </c:pt>
                <c:pt idx="10">
                  <c:v>27/09</c:v>
                </c:pt>
                <c:pt idx="11">
                  <c:v>28/09</c:v>
                </c:pt>
                <c:pt idx="12">
                  <c:v>29/09</c:v>
                </c:pt>
                <c:pt idx="13">
                  <c:v>30/09</c:v>
                </c:pt>
              </c:strCache>
            </c:strRef>
          </c:cat>
          <c:val>
            <c:numRef>
              <c:f>Sheet1!$B$2:$B$15</c:f>
              <c:numCache>
                <c:formatCode>General</c:formatCode>
                <c:ptCount val="14"/>
                <c:pt idx="0">
                  <c:v>334.0</c:v>
                </c:pt>
                <c:pt idx="1">
                  <c:v>305.0</c:v>
                </c:pt>
                <c:pt idx="2">
                  <c:v>267.0</c:v>
                </c:pt>
                <c:pt idx="3">
                  <c:v>193.0</c:v>
                </c:pt>
                <c:pt idx="4">
                  <c:v>378.0</c:v>
                </c:pt>
                <c:pt idx="5">
                  <c:v>316.0</c:v>
                </c:pt>
                <c:pt idx="6">
                  <c:v>299.0</c:v>
                </c:pt>
                <c:pt idx="7">
                  <c:v>309.0</c:v>
                </c:pt>
                <c:pt idx="8">
                  <c:v>303.0</c:v>
                </c:pt>
                <c:pt idx="9">
                  <c:v>248.0</c:v>
                </c:pt>
                <c:pt idx="10">
                  <c:v>150.0</c:v>
                </c:pt>
                <c:pt idx="11">
                  <c:v>315.0</c:v>
                </c:pt>
                <c:pt idx="12">
                  <c:v>321.0</c:v>
                </c:pt>
                <c:pt idx="13">
                  <c:v>257.0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PS</c:v>
                </c:pt>
              </c:strCache>
            </c:strRef>
          </c:tx>
          <c:spPr>
            <a:solidFill>
              <a:srgbClr val="E4022D"/>
            </a:solidFill>
            <a:ln w="31750" cap="flat">
              <a:solidFill>
                <a:srgbClr val="E4022D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85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5"/>
            <c:spPr>
              <a:solidFill>
                <a:srgbClr val="E4022D"/>
              </a:solidFill>
              <a:ln w="9525" cap="flat">
                <a:solidFill>
                  <a:srgbClr val="E4022D"/>
                </a:solidFill>
                <a:prstDash val="solid"/>
                <a:round/>
              </a:ln>
              <a:effectLst/>
            </c:spPr>
          </c:marker>
          <c:cat>
            <c:strRef>
              <c:f>Sheet1!$A$2:$A$15</c:f>
              <c:strCache>
                <c:ptCount val="14"/>
                <c:pt idx="0">
                  <c:v>17/09</c:v>
                </c:pt>
                <c:pt idx="1">
                  <c:v>18/09</c:v>
                </c:pt>
                <c:pt idx="2">
                  <c:v>19/09</c:v>
                </c:pt>
                <c:pt idx="3">
                  <c:v>20/09</c:v>
                </c:pt>
                <c:pt idx="4">
                  <c:v>21/09</c:v>
                </c:pt>
                <c:pt idx="5">
                  <c:v>22/09</c:v>
                </c:pt>
                <c:pt idx="6">
                  <c:v>23/09</c:v>
                </c:pt>
                <c:pt idx="7">
                  <c:v>24/09</c:v>
                </c:pt>
                <c:pt idx="8">
                  <c:v>25/09</c:v>
                </c:pt>
                <c:pt idx="9">
                  <c:v>26/09</c:v>
                </c:pt>
                <c:pt idx="10">
                  <c:v>27/09</c:v>
                </c:pt>
                <c:pt idx="11">
                  <c:v>28/09</c:v>
                </c:pt>
                <c:pt idx="12">
                  <c:v>29/09</c:v>
                </c:pt>
                <c:pt idx="13">
                  <c:v>30/09</c:v>
                </c:pt>
              </c:strCache>
            </c:strRef>
          </c:cat>
          <c:val>
            <c:numRef>
              <c:f>Sheet1!$C$2:$C$15</c:f>
              <c:numCache>
                <c:formatCode>General</c:formatCode>
                <c:ptCount val="14"/>
                <c:pt idx="0">
                  <c:v>261.0</c:v>
                </c:pt>
                <c:pt idx="1">
                  <c:v>242.0</c:v>
                </c:pt>
                <c:pt idx="2">
                  <c:v>209.0</c:v>
                </c:pt>
                <c:pt idx="3">
                  <c:v>177.0</c:v>
                </c:pt>
                <c:pt idx="4">
                  <c:v>269.0</c:v>
                </c:pt>
                <c:pt idx="5">
                  <c:v>271.0</c:v>
                </c:pt>
                <c:pt idx="6">
                  <c:v>247.0</c:v>
                </c:pt>
                <c:pt idx="7">
                  <c:v>254.0</c:v>
                </c:pt>
                <c:pt idx="8">
                  <c:v>239.0</c:v>
                </c:pt>
                <c:pt idx="9">
                  <c:v>173.0</c:v>
                </c:pt>
                <c:pt idx="10">
                  <c:v>131.0</c:v>
                </c:pt>
                <c:pt idx="11">
                  <c:v>241.0</c:v>
                </c:pt>
                <c:pt idx="12">
                  <c:v>240.0</c:v>
                </c:pt>
                <c:pt idx="13">
                  <c:v>232.0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85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7E9ED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t"/>
      <c:overlay val="0"/>
      <c:txPr>
        <a:bodyPr/>
        <a:lstStyle/>
        <a:p>
          <a:pPr>
            <a:defRPr sz="1050">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chart" Target="..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 -2,6% &amp; PS -3,0% MoM — Achievement Mencapai 87,9% (RE) / 87,1% (PS)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01–30 Sep 2026 vs MTD-1 01–31 Agu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09728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  Executive Scorecard — BALINUSRA Regional</a:t>
            </a:r>
            <a:endParaRPr lang="en-US" sz="1500" dirty="0"/>
          </a:p>
        </p:txBody>
      </p:sp>
      <p:graphicFrame>
        <p:nvGraphicFramePr>
          <p:cNvPr id="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371600"/>
          <a:ext cx="8641080" cy="914400"/>
        </p:xfrm>
        <a:graphic>
          <a:graphicData uri="http://schemas.openxmlformats.org/drawingml/2006/table">
            <a:tbl>
              <a:tblPr/>
              <a:tblGrid>
                <a:gridCol w="1188720"/>
                <a:gridCol w="1051560"/>
                <a:gridCol w="1051560"/>
                <a:gridCol w="1005840"/>
                <a:gridCol w="914400"/>
                <a:gridCol w="1234440"/>
                <a:gridCol w="960120"/>
                <a:gridCol w="1234440"/>
              </a:tblGrid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Metric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Target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Achv%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Gap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9.203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8.960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-243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10.190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87,9%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1.230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7.310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7.088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-222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8.135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87,1%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1.047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 to 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79,4%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79,1%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-0,3 pp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320040" y="2962656"/>
            <a:ext cx="115488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Target Regional = agregasi target 10 WOK. IO tidak ditampilkan karena MTD-1/target/MoM IO tidak tersedia di JSON (hanya total MTD di audit reconciliation).</a:t>
            </a:r>
            <a:endParaRPr lang="en-US" sz="950" dirty="0"/>
          </a:p>
        </p:txBody>
      </p:sp>
      <p:sp>
        <p:nvSpPr>
          <p:cNvPr id="10" name="Text 7"/>
          <p:cNvSpPr/>
          <p:nvPr/>
        </p:nvSpPr>
        <p:spPr>
          <a:xfrm>
            <a:off x="320040" y="342900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  Kontribusi Branch terhadap RE &amp; PS Regional</a:t>
            </a:r>
            <a:endParaRPr lang="en-US" sz="1500" dirty="0"/>
          </a:p>
        </p:txBody>
      </p:sp>
      <p:graphicFrame>
        <p:nvGraphicFramePr>
          <p:cNvPr id="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3703320"/>
          <a:ext cx="882396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1051560"/>
                <a:gridCol w="1234440"/>
                <a:gridCol w="960120"/>
                <a:gridCol w="1051560"/>
                <a:gridCol w="1234440"/>
                <a:gridCol w="960120"/>
                <a:gridCol w="960120"/>
              </a:tblGrid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 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Kontribusi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 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Kontribusi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 ★ ▼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3.798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42,4%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-6,9%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3.100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43,7%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-6,2%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81,6%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 ▲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1.284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+14,2%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1.010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+12,8%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78,7%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1.158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939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81,1%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2.720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2.039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28,8%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75,0%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2" name="Text 8"/>
          <p:cNvSpPr/>
          <p:nvPr/>
        </p:nvSpPr>
        <p:spPr>
          <a:xfrm>
            <a:off x="320040" y="5696712"/>
            <a:ext cx="115488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★ Kontributor volume PS terbesar     ▲ Pertumbuhan PS terbaik     ▼ Penurunan PS terdalam</a:t>
            </a:r>
            <a:endParaRPr lang="en-US" sz="9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RE–PS Menguat pada 30 September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01–30 Sep 2026 vs MTD-1 01–31 Agu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09728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  Pola Harian RE &amp; PS — 01–30 September 2026 (MTD)</a:t>
            </a:r>
            <a:endParaRPr lang="en-US" sz="1500" dirty="0"/>
          </a:p>
        </p:txBody>
      </p:sp>
      <p:graphicFrame>
        <p:nvGraphicFramePr>
          <p:cNvPr id="8" name="Chart 0" descr=""/>
          <p:cNvGraphicFramePr/>
          <p:nvPr/>
        </p:nvGraphicFramePr>
        <p:xfrm>
          <a:off x="320040" y="1353312"/>
          <a:ext cx="11548872" cy="23317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9" name="Text 6"/>
          <p:cNvSpPr/>
          <p:nvPr/>
        </p:nvSpPr>
        <p:spPr>
          <a:xfrm>
            <a:off x="320040" y="3730752"/>
            <a:ext cx="115488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*Grafik menunjukkan pola harian MTD yang tersedia di sumber (bukan rekonsiliasi volume regional). Tren MTD-1 harian tidak tersedia — pembanding MTD-1 hanya ada sebagai total periode (lihat tabel run rate).</a:t>
            </a:r>
            <a:endParaRPr lang="en-US" sz="950" dirty="0"/>
          </a:p>
        </p:txBody>
      </p:sp>
      <p:sp>
        <p:nvSpPr>
          <p:cNvPr id="10" name="Text 7"/>
          <p:cNvSpPr/>
          <p:nvPr/>
        </p:nvSpPr>
        <p:spPr>
          <a:xfrm>
            <a:off x="320040" y="411480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  Run Rate Summary — Regional</a:t>
            </a:r>
            <a:endParaRPr lang="en-US" sz="150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4389120"/>
          <a:ext cx="8778240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1828800"/>
                <a:gridCol w="1828800"/>
                <a:gridCol w="1828800"/>
                <a:gridCol w="1828800"/>
              </a:tblGrid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Metric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Actual 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Target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Achievement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Gap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8.960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10.190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87,9%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1.230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7.088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8.135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87,1%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1.047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2" name="Text 8"/>
          <p:cNvSpPr/>
          <p:nvPr/>
        </p:nvSpPr>
        <p:spPr>
          <a:xfrm>
            <a:off x="320040" y="5779008"/>
            <a:ext cx="115488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*Target dan achievement mengikuti definisi target pada JSON INARA untuk report date.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Flores Pendorong Utama PS (+12,8%), Denpasar Terdalam (-6,2%)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01–30 Sep 2026 vs MTD-1 01–31 Agu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09728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  Branch Performance Detail</a:t>
            </a:r>
            <a:endParaRPr lang="en-US" sz="15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371600"/>
          <a:ext cx="9939528" cy="914400"/>
        </p:xfrm>
        <a:graphic>
          <a:graphicData uri="http://schemas.openxmlformats.org/drawingml/2006/table">
            <a:tbl>
              <a:tblPr/>
              <a:tblGrid>
                <a:gridCol w="1051560"/>
                <a:gridCol w="658368"/>
                <a:gridCol w="658368"/>
                <a:gridCol w="621792"/>
                <a:gridCol w="603504"/>
                <a:gridCol w="603504"/>
                <a:gridCol w="685800"/>
                <a:gridCol w="658368"/>
                <a:gridCol w="658368"/>
                <a:gridCol w="621792"/>
                <a:gridCol w="603504"/>
                <a:gridCol w="603504"/>
                <a:gridCol w="685800"/>
                <a:gridCol w="566928"/>
                <a:gridCol w="658368"/>
              </a:tblGrid>
              <a:tr h="40233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Achv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Gap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Achv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Gap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ΔPS/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4.080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3.798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-282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-6,9%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85,6%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638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3.306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3.100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-206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-6,2%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87,5%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441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81,6%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+0,6 pp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1.124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1.284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+160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+14,2%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92,3%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895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1.010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+115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+12,8%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90,9%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78,7%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-1,0 pp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1.201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1.158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66,6%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582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953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939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67,6%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450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81,1%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+1,7 pp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2.798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2.720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-78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103,7%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2.156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2.039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-117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97,4%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75,0%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-2,1 pp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320040" y="3429000"/>
            <a:ext cx="5486400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  Ranking MoM PS</a:t>
            </a:r>
            <a:endParaRPr lang="en-US" sz="1500" dirty="0"/>
          </a:p>
        </p:txBody>
      </p:sp>
      <p:sp>
        <p:nvSpPr>
          <p:cNvPr id="10" name="Text 7"/>
          <p:cNvSpPr/>
          <p:nvPr/>
        </p:nvSpPr>
        <p:spPr>
          <a:xfrm>
            <a:off x="6245352" y="3429000"/>
            <a:ext cx="5486400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C.  Ranking Achievement PS</a:t>
            </a:r>
            <a:endParaRPr lang="en-US" sz="1500" dirty="0"/>
          </a:p>
        </p:txBody>
      </p:sp>
      <p:sp>
        <p:nvSpPr>
          <p:cNvPr id="11" name="Text 8"/>
          <p:cNvSpPr/>
          <p:nvPr/>
        </p:nvSpPr>
        <p:spPr>
          <a:xfrm>
            <a:off x="320040" y="3749040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Flores</a:t>
            </a:r>
            <a:endParaRPr lang="en-US" sz="1050" dirty="0"/>
          </a:p>
        </p:txBody>
      </p:sp>
      <p:sp>
        <p:nvSpPr>
          <p:cNvPr id="12" name="Shape 9"/>
          <p:cNvSpPr/>
          <p:nvPr/>
        </p:nvSpPr>
        <p:spPr>
          <a:xfrm>
            <a:off x="1600200" y="3785616"/>
            <a:ext cx="3383280" cy="182880"/>
          </a:xfrm>
          <a:prstGeom prst="rect">
            <a:avLst/>
          </a:prstGeom>
          <a:solidFill>
            <a:srgbClr val="1E7B45"/>
          </a:solidFill>
          <a:ln/>
        </p:spPr>
      </p:sp>
      <p:sp>
        <p:nvSpPr>
          <p:cNvPr id="13" name="Text 10"/>
          <p:cNvSpPr/>
          <p:nvPr/>
        </p:nvSpPr>
        <p:spPr>
          <a:xfrm>
            <a:off x="5056632" y="3749040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7B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+12,8%</a:t>
            </a:r>
            <a:endParaRPr lang="en-US" sz="1050" dirty="0"/>
          </a:p>
        </p:txBody>
      </p:sp>
      <p:sp>
        <p:nvSpPr>
          <p:cNvPr id="14" name="Text 11"/>
          <p:cNvSpPr/>
          <p:nvPr/>
        </p:nvSpPr>
        <p:spPr>
          <a:xfrm>
            <a:off x="320040" y="4059936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Kupang</a:t>
            </a:r>
            <a:endParaRPr lang="en-US" sz="1050" dirty="0"/>
          </a:p>
        </p:txBody>
      </p:sp>
      <p:sp>
        <p:nvSpPr>
          <p:cNvPr id="15" name="Shape 12"/>
          <p:cNvSpPr/>
          <p:nvPr/>
        </p:nvSpPr>
        <p:spPr>
          <a:xfrm>
            <a:off x="1600200" y="4096512"/>
            <a:ext cx="791251" cy="182880"/>
          </a:xfrm>
          <a:prstGeom prst="rect">
            <a:avLst/>
          </a:prstGeom>
          <a:solidFill>
            <a:srgbClr val="1E7B45"/>
          </a:solidFill>
          <a:ln/>
        </p:spPr>
      </p:sp>
      <p:sp>
        <p:nvSpPr>
          <p:cNvPr id="16" name="Text 13"/>
          <p:cNvSpPr/>
          <p:nvPr/>
        </p:nvSpPr>
        <p:spPr>
          <a:xfrm>
            <a:off x="2464603" y="4059936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7B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-1,5%</a:t>
            </a:r>
            <a:endParaRPr lang="en-US" sz="1050" dirty="0"/>
          </a:p>
        </p:txBody>
      </p:sp>
      <p:sp>
        <p:nvSpPr>
          <p:cNvPr id="17" name="Text 14"/>
          <p:cNvSpPr/>
          <p:nvPr/>
        </p:nvSpPr>
        <p:spPr>
          <a:xfrm>
            <a:off x="320040" y="4370832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Mataram</a:t>
            </a:r>
            <a:endParaRPr lang="en-US" sz="1050" dirty="0"/>
          </a:p>
        </p:txBody>
      </p:sp>
      <p:sp>
        <p:nvSpPr>
          <p:cNvPr id="18" name="Shape 15"/>
          <p:cNvSpPr/>
          <p:nvPr/>
        </p:nvSpPr>
        <p:spPr>
          <a:xfrm>
            <a:off x="1600200" y="4407408"/>
            <a:ext cx="2864874" cy="182880"/>
          </a:xfrm>
          <a:prstGeom prst="rect">
            <a:avLst/>
          </a:prstGeom>
          <a:solidFill>
            <a:srgbClr val="C0392B"/>
          </a:solidFill>
          <a:ln/>
        </p:spPr>
      </p:sp>
      <p:sp>
        <p:nvSpPr>
          <p:cNvPr id="19" name="Text 16"/>
          <p:cNvSpPr/>
          <p:nvPr/>
        </p:nvSpPr>
        <p:spPr>
          <a:xfrm>
            <a:off x="4538226" y="4370832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-5,4%</a:t>
            </a:r>
            <a:endParaRPr lang="en-US" sz="1050" dirty="0"/>
          </a:p>
        </p:txBody>
      </p:sp>
      <p:sp>
        <p:nvSpPr>
          <p:cNvPr id="20" name="Text 17"/>
          <p:cNvSpPr/>
          <p:nvPr/>
        </p:nvSpPr>
        <p:spPr>
          <a:xfrm>
            <a:off x="320040" y="4681728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Denpasar</a:t>
            </a:r>
            <a:endParaRPr lang="en-US" sz="1050" dirty="0"/>
          </a:p>
        </p:txBody>
      </p:sp>
      <p:sp>
        <p:nvSpPr>
          <p:cNvPr id="21" name="Shape 18"/>
          <p:cNvSpPr/>
          <p:nvPr/>
        </p:nvSpPr>
        <p:spPr>
          <a:xfrm>
            <a:off x="1600200" y="4718304"/>
            <a:ext cx="3219573" cy="182880"/>
          </a:xfrm>
          <a:prstGeom prst="rect">
            <a:avLst/>
          </a:prstGeom>
          <a:solidFill>
            <a:srgbClr val="C0392B"/>
          </a:solidFill>
          <a:ln/>
        </p:spPr>
      </p:sp>
      <p:sp>
        <p:nvSpPr>
          <p:cNvPr id="22" name="Text 19"/>
          <p:cNvSpPr/>
          <p:nvPr/>
        </p:nvSpPr>
        <p:spPr>
          <a:xfrm>
            <a:off x="4892925" y="4681728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-6,2%</a:t>
            </a:r>
            <a:endParaRPr lang="en-US" sz="1050" dirty="0"/>
          </a:p>
        </p:txBody>
      </p:sp>
      <p:sp>
        <p:nvSpPr>
          <p:cNvPr id="23" name="Text 20"/>
          <p:cNvSpPr/>
          <p:nvPr/>
        </p:nvSpPr>
        <p:spPr>
          <a:xfrm>
            <a:off x="6245352" y="3749040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Mataram</a:t>
            </a:r>
            <a:endParaRPr lang="en-US" sz="1050" dirty="0"/>
          </a:p>
        </p:txBody>
      </p:sp>
      <p:sp>
        <p:nvSpPr>
          <p:cNvPr id="24" name="Shape 21"/>
          <p:cNvSpPr/>
          <p:nvPr/>
        </p:nvSpPr>
        <p:spPr>
          <a:xfrm>
            <a:off x="7525512" y="3785616"/>
            <a:ext cx="3383280" cy="182880"/>
          </a:xfrm>
          <a:prstGeom prst="rect">
            <a:avLst/>
          </a:prstGeom>
          <a:solidFill>
            <a:srgbClr val="8A6100"/>
          </a:solidFill>
          <a:ln/>
        </p:spPr>
      </p:sp>
      <p:sp>
        <p:nvSpPr>
          <p:cNvPr id="25" name="Text 22"/>
          <p:cNvSpPr/>
          <p:nvPr/>
        </p:nvSpPr>
        <p:spPr>
          <a:xfrm>
            <a:off x="10981944" y="3749040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8A61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97,4%</a:t>
            </a:r>
            <a:endParaRPr lang="en-US" sz="1050" dirty="0"/>
          </a:p>
        </p:txBody>
      </p:sp>
      <p:sp>
        <p:nvSpPr>
          <p:cNvPr id="26" name="Text 23"/>
          <p:cNvSpPr/>
          <p:nvPr/>
        </p:nvSpPr>
        <p:spPr>
          <a:xfrm>
            <a:off x="6245352" y="4059936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Flores</a:t>
            </a:r>
            <a:endParaRPr lang="en-US" sz="1050" dirty="0"/>
          </a:p>
        </p:txBody>
      </p:sp>
      <p:sp>
        <p:nvSpPr>
          <p:cNvPr id="27" name="Shape 24"/>
          <p:cNvSpPr/>
          <p:nvPr/>
        </p:nvSpPr>
        <p:spPr>
          <a:xfrm>
            <a:off x="7525512" y="4096512"/>
            <a:ext cx="3045737" cy="182880"/>
          </a:xfrm>
          <a:prstGeom prst="rect">
            <a:avLst/>
          </a:prstGeom>
          <a:solidFill>
            <a:srgbClr val="C0392B"/>
          </a:solidFill>
          <a:ln/>
        </p:spPr>
      </p:sp>
      <p:sp>
        <p:nvSpPr>
          <p:cNvPr id="28" name="Text 25"/>
          <p:cNvSpPr/>
          <p:nvPr/>
        </p:nvSpPr>
        <p:spPr>
          <a:xfrm>
            <a:off x="10644401" y="4059936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90,9%</a:t>
            </a:r>
            <a:endParaRPr lang="en-US" sz="1050" dirty="0"/>
          </a:p>
        </p:txBody>
      </p:sp>
      <p:sp>
        <p:nvSpPr>
          <p:cNvPr id="29" name="Text 26"/>
          <p:cNvSpPr/>
          <p:nvPr/>
        </p:nvSpPr>
        <p:spPr>
          <a:xfrm>
            <a:off x="6245352" y="4370832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Denpasar</a:t>
            </a:r>
            <a:endParaRPr lang="en-US" sz="1050" dirty="0"/>
          </a:p>
        </p:txBody>
      </p:sp>
      <p:sp>
        <p:nvSpPr>
          <p:cNvPr id="30" name="Shape 27"/>
          <p:cNvSpPr/>
          <p:nvPr/>
        </p:nvSpPr>
        <p:spPr>
          <a:xfrm>
            <a:off x="7525512" y="4407408"/>
            <a:ext cx="2857341" cy="182880"/>
          </a:xfrm>
          <a:prstGeom prst="rect">
            <a:avLst/>
          </a:prstGeom>
          <a:solidFill>
            <a:srgbClr val="C0392B"/>
          </a:solidFill>
          <a:ln/>
        </p:spPr>
      </p:sp>
      <p:sp>
        <p:nvSpPr>
          <p:cNvPr id="31" name="Text 28"/>
          <p:cNvSpPr/>
          <p:nvPr/>
        </p:nvSpPr>
        <p:spPr>
          <a:xfrm>
            <a:off x="10456005" y="4370832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87,5%</a:t>
            </a:r>
            <a:endParaRPr lang="en-US" sz="1050" dirty="0"/>
          </a:p>
        </p:txBody>
      </p:sp>
      <p:sp>
        <p:nvSpPr>
          <p:cNvPr id="32" name="Text 29"/>
          <p:cNvSpPr/>
          <p:nvPr/>
        </p:nvSpPr>
        <p:spPr>
          <a:xfrm>
            <a:off x="6245352" y="4681728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Kupang</a:t>
            </a:r>
            <a:endParaRPr lang="en-US" sz="1050" dirty="0"/>
          </a:p>
        </p:txBody>
      </p:sp>
      <p:sp>
        <p:nvSpPr>
          <p:cNvPr id="33" name="Shape 30"/>
          <p:cNvSpPr/>
          <p:nvPr/>
        </p:nvSpPr>
        <p:spPr>
          <a:xfrm>
            <a:off x="7525512" y="4718304"/>
            <a:ext cx="2237204" cy="182880"/>
          </a:xfrm>
          <a:prstGeom prst="rect">
            <a:avLst/>
          </a:prstGeom>
          <a:solidFill>
            <a:srgbClr val="C0392B"/>
          </a:solidFill>
          <a:ln/>
        </p:spPr>
      </p:sp>
      <p:sp>
        <p:nvSpPr>
          <p:cNvPr id="34" name="Text 31"/>
          <p:cNvSpPr/>
          <p:nvPr/>
        </p:nvSpPr>
        <p:spPr>
          <a:xfrm>
            <a:off x="9835868" y="4681728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67,6%</a:t>
            </a:r>
            <a:endParaRPr lang="en-US" sz="1050" dirty="0"/>
          </a:p>
        </p:txBody>
      </p:sp>
      <p:sp>
        <p:nvSpPr>
          <p:cNvPr id="35" name="Text 32"/>
          <p:cNvSpPr/>
          <p:nvPr/>
        </p:nvSpPr>
        <p:spPr>
          <a:xfrm>
            <a:off x="320040" y="5266944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D.  Kontribusi Branch terhadap Gap Regional (PS)</a:t>
            </a:r>
            <a:endParaRPr lang="en-US" sz="1500" dirty="0"/>
          </a:p>
        </p:txBody>
      </p:sp>
      <p:graphicFrame>
        <p:nvGraphicFramePr>
          <p:cNvPr id="7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5541264"/>
          <a:ext cx="8961120" cy="914400"/>
        </p:xfrm>
        <a:graphic>
          <a:graphicData uri="http://schemas.openxmlformats.org/drawingml/2006/table">
            <a:tbl>
              <a:tblPr/>
              <a:tblGrid>
                <a:gridCol w="1645920"/>
                <a:gridCol w="1828800"/>
                <a:gridCol w="1828800"/>
                <a:gridCol w="1828800"/>
                <a:gridCol w="1828800"/>
              </a:tblGrid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 Gap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Kontribusi thd Gap Regional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 Gap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Kontribusi thd Gap Regional (RE)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441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42,1%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638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51,9%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450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43,0%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582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47,3%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Manggarai Tertinggi (+22,3%), Bali Tengah 1 Terdalam (-12,5%) — 10 WOK MoM PS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01–30 Sep 2026 vs MTD-1 01–31 Agu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09728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  WOK Performance — Seluruh 10 WOK (dikelompokkan per Branch)</a:t>
            </a:r>
            <a:endParaRPr lang="en-US" sz="15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371600"/>
          <a:ext cx="10332720" cy="914400"/>
        </p:xfrm>
        <a:graphic>
          <a:graphicData uri="http://schemas.openxmlformats.org/drawingml/2006/table">
            <a:tbl>
              <a:tblPr/>
              <a:tblGrid>
                <a:gridCol w="914400"/>
                <a:gridCol w="2834640"/>
                <a:gridCol w="777240"/>
                <a:gridCol w="713232"/>
                <a:gridCol w="713232"/>
                <a:gridCol w="777240"/>
                <a:gridCol w="777240"/>
                <a:gridCol w="713232"/>
                <a:gridCol w="713232"/>
                <a:gridCol w="777240"/>
                <a:gridCol w="621792"/>
              </a:tblGrid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WOK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Achv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Gap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Achv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Gap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Barat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1.117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101,0%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956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108,2%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85,6%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Tengah 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948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-9,4%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77,5%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275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770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-12,5%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78,9%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81,2%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Tengah 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1.068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83,8%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867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-11,0%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85,2%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81,2%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Timur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665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79,9%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-9,0%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76,3%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76,2%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Ende Sikka - Flores Timur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821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+10,9%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93,1%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642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+8,1%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91,2%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78,2%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Manggarai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463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+20,6%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90,8%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368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+22,3%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90,4%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79,5%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 Rote - Malaka Timtim Belu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879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-6,3%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61,0%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561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712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61,9%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438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81,0%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279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93,2%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+10,7%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94,9%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81,4%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Lombok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1.462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-8,4%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108,9%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1.147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-9,7%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107,1%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78,5%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Sumbawa Barat - Sumbawa Timur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1.258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98,2%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892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+0,7%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87,2%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70,9%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320040" y="4178808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  Ranking WOK — MoM PS &amp; Achievement PS</a:t>
            </a:r>
            <a:endParaRPr lang="en-US" sz="1500" dirty="0"/>
          </a:p>
        </p:txBody>
      </p:sp>
      <p:sp>
        <p:nvSpPr>
          <p:cNvPr id="10" name="Text 7"/>
          <p:cNvSpPr/>
          <p:nvPr/>
        </p:nvSpPr>
        <p:spPr>
          <a:xfrm>
            <a:off x="320040" y="4471416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7B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 3 — MoM PS</a:t>
            </a:r>
            <a:endParaRPr lang="en-US" sz="1050" dirty="0"/>
          </a:p>
        </p:txBody>
      </p:sp>
      <p:graphicFrame>
        <p:nvGraphicFramePr>
          <p:cNvPr id="9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4681728"/>
          <a:ext cx="2743200" cy="914400"/>
        </p:xfrm>
        <a:graphic>
          <a:graphicData uri="http://schemas.openxmlformats.org/drawingml/2006/table">
            <a:tbl>
              <a:tblPr/>
              <a:tblGrid>
                <a:gridCol w="1874520"/>
                <a:gridCol w="868680"/>
              </a:tblGrid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Manggarai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+22,3%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+10,7%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Ende Sikka - Flores Timur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+8,1%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</a:tbl>
          </a:graphicData>
        </a:graphic>
      </p:graphicFrame>
      <p:sp>
        <p:nvSpPr>
          <p:cNvPr id="12" name="Text 8"/>
          <p:cNvSpPr/>
          <p:nvPr/>
        </p:nvSpPr>
        <p:spPr>
          <a:xfrm>
            <a:off x="3242234" y="4471416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Bottom 3 — MoM PS</a:t>
            </a:r>
            <a:endParaRPr lang="en-US" sz="1050" dirty="0"/>
          </a:p>
        </p:txBody>
      </p:sp>
      <p:graphicFrame>
        <p:nvGraphicFramePr>
          <p:cNvPr id="13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42234" y="4681728"/>
          <a:ext cx="2743200" cy="914400"/>
        </p:xfrm>
        <a:graphic>
          <a:graphicData uri="http://schemas.openxmlformats.org/drawingml/2006/table">
            <a:tbl>
              <a:tblPr/>
              <a:tblGrid>
                <a:gridCol w="1874520"/>
                <a:gridCol w="868680"/>
              </a:tblGrid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Tengah 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-12,5%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Tengah 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-11,0%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Lombok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-9,7%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</a:tbl>
          </a:graphicData>
        </a:graphic>
      </p:graphicFrame>
      <p:sp>
        <p:nvSpPr>
          <p:cNvPr id="14" name="Text 9"/>
          <p:cNvSpPr/>
          <p:nvPr/>
        </p:nvSpPr>
        <p:spPr>
          <a:xfrm>
            <a:off x="6164428" y="4471416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7B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 3 — Achievement PS</a:t>
            </a:r>
            <a:endParaRPr lang="en-US" sz="1050" dirty="0"/>
          </a:p>
        </p:txBody>
      </p:sp>
      <p:graphicFrame>
        <p:nvGraphicFramePr>
          <p:cNvPr id="17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164428" y="4681728"/>
          <a:ext cx="2743200" cy="914400"/>
        </p:xfrm>
        <a:graphic>
          <a:graphicData uri="http://schemas.openxmlformats.org/drawingml/2006/table">
            <a:tbl>
              <a:tblPr/>
              <a:tblGrid>
                <a:gridCol w="1874520"/>
                <a:gridCol w="868680"/>
              </a:tblGrid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Barat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108,2%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Lombok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107,1%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94,9%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</a:tr>
            </a:tbl>
          </a:graphicData>
        </a:graphic>
      </p:graphicFrame>
      <p:sp>
        <p:nvSpPr>
          <p:cNvPr id="16" name="Text 10"/>
          <p:cNvSpPr/>
          <p:nvPr/>
        </p:nvSpPr>
        <p:spPr>
          <a:xfrm>
            <a:off x="9086621" y="4471416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Bottom 3 — Achievement PS</a:t>
            </a:r>
            <a:endParaRPr lang="en-US" sz="1050" dirty="0"/>
          </a:p>
        </p:txBody>
      </p:sp>
      <p:graphicFrame>
        <p:nvGraphicFramePr>
          <p:cNvPr id="21" name="Table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9086621" y="4681728"/>
          <a:ext cx="2743200" cy="914400"/>
        </p:xfrm>
        <a:graphic>
          <a:graphicData uri="http://schemas.openxmlformats.org/drawingml/2006/table">
            <a:tbl>
              <a:tblPr/>
              <a:tblGrid>
                <a:gridCol w="1874520"/>
                <a:gridCol w="868680"/>
              </a:tblGrid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 Rote - Malaka Timtim Belu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61,9%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Timur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76,3%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Tengah 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78,9%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Buleleng Penyumbang PS Absolut Terbesar (+148), Ngada Tumbuh Tertinggi (+46,6%)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01–30 Sep 2026 vs MTD-1 01–31 Agu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09728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  Top &amp; Bottom 5 Kabupaten — Pertumbuhan Absolut PS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320040" y="1389888"/>
            <a:ext cx="56052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7B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 5 (Selisih PS Terbesar)</a:t>
            </a:r>
            <a:endParaRPr lang="en-US" sz="105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609344"/>
          <a:ext cx="5477256" cy="914400"/>
        </p:xfrm>
        <a:graphic>
          <a:graphicData uri="http://schemas.openxmlformats.org/drawingml/2006/table">
            <a:tbl>
              <a:tblPr/>
              <a:tblGrid>
                <a:gridCol w="1234440"/>
                <a:gridCol w="868680"/>
                <a:gridCol w="713232"/>
                <a:gridCol w="713232"/>
                <a:gridCol w="658368"/>
                <a:gridCol w="713232"/>
                <a:gridCol w="576072"/>
              </a:tblGrid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Kabupaten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 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Buleleng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362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510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+148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+40,9%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86,9%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Manggarai Timur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+29,8%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82,0%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Ende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+25,2%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81,9%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Bima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+15,4%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77,9%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Ngada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+46,6%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81,0%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0" name="Text 7"/>
          <p:cNvSpPr/>
          <p:nvPr/>
        </p:nvSpPr>
        <p:spPr>
          <a:xfrm>
            <a:off x="6245352" y="1389888"/>
            <a:ext cx="56052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Bottom 5 (Selisih PS Terkecil)</a:t>
            </a:r>
            <a:endParaRPr lang="en-US" sz="1050" dirty="0"/>
          </a:p>
        </p:txBody>
      </p:sp>
      <p:graphicFrame>
        <p:nvGraphicFramePr>
          <p:cNvPr id="11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45352" y="1609344"/>
          <a:ext cx="5477256" cy="914400"/>
        </p:xfrm>
        <a:graphic>
          <a:graphicData uri="http://schemas.openxmlformats.org/drawingml/2006/table">
            <a:tbl>
              <a:tblPr/>
              <a:tblGrid>
                <a:gridCol w="1234440"/>
                <a:gridCol w="868680"/>
                <a:gridCol w="713232"/>
                <a:gridCol w="713232"/>
                <a:gridCol w="658368"/>
                <a:gridCol w="713232"/>
                <a:gridCol w="576072"/>
              </a:tblGrid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Kabupaten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 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Kota 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1.299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1.197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-7,9%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82,8%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Lombok Tengah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-77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-35,5%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67,0%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Tabanan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403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359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82,9%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Badung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481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440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-8,5%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77,1%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Klungkung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-22,3%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78,4%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2" name="Text 8"/>
          <p:cNvSpPr/>
          <p:nvPr/>
        </p:nvSpPr>
        <p:spPr>
          <a:xfrm>
            <a:off x="320040" y="3264408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  Top &amp; Bottom 5 Kabupaten — MoM PS (%)</a:t>
            </a:r>
            <a:endParaRPr lang="en-US" sz="1500" dirty="0"/>
          </a:p>
        </p:txBody>
      </p:sp>
      <p:sp>
        <p:nvSpPr>
          <p:cNvPr id="13" name="Text 9"/>
          <p:cNvSpPr/>
          <p:nvPr/>
        </p:nvSpPr>
        <p:spPr>
          <a:xfrm>
            <a:off x="320040" y="3557016"/>
            <a:ext cx="56052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7B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 5 (MoM PS Tertinggi)</a:t>
            </a:r>
            <a:endParaRPr lang="en-US" sz="1050" dirty="0"/>
          </a:p>
        </p:txBody>
      </p:sp>
      <p:graphicFrame>
        <p:nvGraphicFramePr>
          <p:cNvPr id="16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3776472"/>
          <a:ext cx="5477256" cy="914400"/>
        </p:xfrm>
        <a:graphic>
          <a:graphicData uri="http://schemas.openxmlformats.org/drawingml/2006/table">
            <a:tbl>
              <a:tblPr/>
              <a:tblGrid>
                <a:gridCol w="1234440"/>
                <a:gridCol w="868680"/>
                <a:gridCol w="713232"/>
                <a:gridCol w="713232"/>
                <a:gridCol w="658368"/>
                <a:gridCol w="713232"/>
                <a:gridCol w="576072"/>
              </a:tblGrid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Kabupaten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 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Ngada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+46,6%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81,0%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Buleleng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362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510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+148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+40,9%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86,9%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Manggarai Timur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+29,8%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82,0%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Belu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+28,1%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87,0%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 Barat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+26,8%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71,7%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5" name="Text 10"/>
          <p:cNvSpPr/>
          <p:nvPr/>
        </p:nvSpPr>
        <p:spPr>
          <a:xfrm>
            <a:off x="6245352" y="3557016"/>
            <a:ext cx="56052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Bottom 5 (MoM PS Terendah)</a:t>
            </a:r>
            <a:endParaRPr lang="en-US" sz="1050" dirty="0"/>
          </a:p>
        </p:txBody>
      </p:sp>
      <p:graphicFrame>
        <p:nvGraphicFramePr>
          <p:cNvPr id="21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45352" y="3776472"/>
          <a:ext cx="5477256" cy="914400"/>
        </p:xfrm>
        <a:graphic>
          <a:graphicData uri="http://schemas.openxmlformats.org/drawingml/2006/table">
            <a:tbl>
              <a:tblPr/>
              <a:tblGrid>
                <a:gridCol w="1234440"/>
                <a:gridCol w="868680"/>
                <a:gridCol w="713232"/>
                <a:gridCol w="713232"/>
                <a:gridCol w="658368"/>
                <a:gridCol w="713232"/>
                <a:gridCol w="576072"/>
              </a:tblGrid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Kabupaten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 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Lombok Tengah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-77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-35,5%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67,0%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Klungkung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-22,3%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78,4%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Jembrana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-17,9%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89,7%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Timor Tengah Selatan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-17,9%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71,9%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Lombok Utara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-16,2%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68,6%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7" name="Text 11"/>
          <p:cNvSpPr/>
          <p:nvPr/>
        </p:nvSpPr>
        <p:spPr>
          <a:xfrm>
            <a:off x="320040" y="5431536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C.  Kontribusi Top/Bottom 5 terhadap Perubahan PS Regional</a:t>
            </a:r>
            <a:endParaRPr lang="en-US" sz="1500" dirty="0"/>
          </a:p>
        </p:txBody>
      </p:sp>
      <p:graphicFrame>
        <p:nvGraphicFramePr>
          <p:cNvPr id="26" name="Table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5705856"/>
          <a:ext cx="11548872" cy="914400"/>
        </p:xfrm>
        <a:graphic>
          <a:graphicData uri="http://schemas.openxmlformats.org/drawingml/2006/table">
            <a:tbl>
              <a:tblPr/>
              <a:tblGrid>
                <a:gridCol w="3849624"/>
                <a:gridCol w="3849624"/>
                <a:gridCol w="3849624"/>
              </a:tblGrid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Total Selisih PS — Top 5 Kabupaten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Total Selisih PS — Bottom 5 Kabupaten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Net Perubahan PS Regional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+290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-289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-222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</a:tbl>
          </a:graphicData>
        </a:graphic>
      </p:graphicFrame>
      <p:sp>
        <p:nvSpPr>
          <p:cNvPr id="19" name="Text 12"/>
          <p:cNvSpPr/>
          <p:nvPr/>
        </p:nvSpPr>
        <p:spPr>
          <a:xfrm>
            <a:off x="320040" y="6528816"/>
            <a:ext cx="115488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Dari 38 kabupaten: Top 5 menyumbang +290, Bottom 5 -289, dan perubahan PS regional -222.</a:t>
            </a:r>
            <a:endParaRPr lang="en-US" sz="9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PS 75 Mbps Tumbuh Tertinggi (+27,5%), TSEL One &gt;30 Mbps Turun Terdalam (-52,6%)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01–30 Sep 2026 vs MTD-1 01–31 Agu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09728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  RE &amp; PS Performance by Speed — Regional (6 kelompok, tidak digabung)</a:t>
            </a:r>
            <a:endParaRPr lang="en-US" sz="15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371600"/>
          <a:ext cx="7461504" cy="914400"/>
        </p:xfrm>
        <a:graphic>
          <a:graphicData uri="http://schemas.openxmlformats.org/drawingml/2006/table">
            <a:tbl>
              <a:tblPr/>
              <a:tblGrid>
                <a:gridCol w="1417320"/>
                <a:gridCol w="777240"/>
                <a:gridCol w="777240"/>
                <a:gridCol w="713232"/>
                <a:gridCol w="777240"/>
                <a:gridCol w="777240"/>
                <a:gridCol w="713232"/>
                <a:gridCol w="640080"/>
                <a:gridCol w="868680"/>
              </a:tblGrid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Speed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Kontribusi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≤30 Mbps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3.327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3.081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-7,4%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2.672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2.505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-6,2%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81,3%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35,3%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 Mbps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1.956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1.529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-21,8%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1.584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1.176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-25,8%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76,9%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75 Mbps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1.338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1.739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+30,0%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1.039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1.325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+27,5%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76,2%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≥100 Mbps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1.216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1.322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+8,7%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945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1.046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+10,7%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79,1%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TSEL One ≤30 Mbps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1.258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1.239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992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999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+0,7%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80,6%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TSEL One &gt;30 Mbps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-53,7%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-52,6%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74,0%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320040" y="3602736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  High Speed Performance by WOK — PS ≥50 Mbps Reguler (TSEL One dipisah)</a:t>
            </a:r>
            <a:endParaRPr lang="en-US" sz="1500" dirty="0"/>
          </a:p>
        </p:txBody>
      </p:sp>
      <p:graphicFrame>
        <p:nvGraphicFramePr>
          <p:cNvPr id="1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3858768"/>
          <a:ext cx="5184648" cy="914400"/>
        </p:xfrm>
        <a:graphic>
          <a:graphicData uri="http://schemas.openxmlformats.org/drawingml/2006/table">
            <a:tbl>
              <a:tblPr/>
              <a:tblGrid>
                <a:gridCol w="2423160"/>
                <a:gridCol w="713232"/>
                <a:gridCol w="713232"/>
                <a:gridCol w="621792"/>
                <a:gridCol w="713232"/>
              </a:tblGrid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WOK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Kontribusi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Lombok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654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577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-11,8%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Sumbawa Barat - Sumbawa Timur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483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570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+18,0%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 Rote - Malaka Timtim Belu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511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-0,4%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Tengah 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526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467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-11,2%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Tengah 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433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373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-13,9%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graphicFrame>
        <p:nvGraphicFramePr>
          <p:cNvPr id="19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45352" y="3858768"/>
          <a:ext cx="5184648" cy="914400"/>
        </p:xfrm>
        <a:graphic>
          <a:graphicData uri="http://schemas.openxmlformats.org/drawingml/2006/table">
            <a:tbl>
              <a:tblPr/>
              <a:tblGrid>
                <a:gridCol w="2423160"/>
                <a:gridCol w="713232"/>
                <a:gridCol w="713232"/>
                <a:gridCol w="621792"/>
                <a:gridCol w="713232"/>
              </a:tblGrid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WOK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Kontribusi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Ende Sikka - Flores Timur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+39,0%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Timur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270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-9,3%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Barat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-7,1%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Manggarai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+23,1%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+26,0%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2" name="Text 7"/>
          <p:cNvSpPr/>
          <p:nvPr/>
        </p:nvSpPr>
        <p:spPr>
          <a:xfrm>
            <a:off x="320040" y="5340096"/>
            <a:ext cx="1154887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PS speed reguler 50/75/100 Mbps ke atas; TSEL One dipisahkan</a:t>
            </a:r>
            <a:endParaRPr lang="en-US" sz="900" dirty="0"/>
          </a:p>
        </p:txBody>
      </p:sp>
      <p:sp>
        <p:nvSpPr>
          <p:cNvPr id="13" name="Text 8"/>
          <p:cNvSpPr/>
          <p:nvPr/>
        </p:nvSpPr>
        <p:spPr>
          <a:xfrm>
            <a:off x="320040" y="5541264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C.  Channel Performance — Agency vs Grapari (Regional)</a:t>
            </a:r>
            <a:endParaRPr lang="en-US" sz="1500" dirty="0"/>
          </a:p>
        </p:txBody>
      </p:sp>
      <p:graphicFrame>
        <p:nvGraphicFramePr>
          <p:cNvPr id="25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5797296"/>
          <a:ext cx="10378440" cy="914400"/>
        </p:xfrm>
        <a:graphic>
          <a:graphicData uri="http://schemas.openxmlformats.org/drawingml/2006/table">
            <a:tbl>
              <a:tblPr/>
              <a:tblGrid>
                <a:gridCol w="1280160"/>
                <a:gridCol w="1234440"/>
                <a:gridCol w="1234440"/>
                <a:gridCol w="1005840"/>
                <a:gridCol w="1234440"/>
                <a:gridCol w="1234440"/>
                <a:gridCol w="1005840"/>
                <a:gridCol w="914400"/>
                <a:gridCol w="1234440"/>
              </a:tblGrid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Channel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Kontribusi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Agency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7.859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7.507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6.410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6.132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81,7%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86,5%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Grapari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561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675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+20,3%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413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466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+12,8%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69,0%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SF Active PS Naik +0,2%, Aktivitas DJP -2,8% MoM — Registered SF 893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01–30 Sep 2026 vs MTD-1 01–31 Agu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09728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  Sales Force Scorecard — Regional</a:t>
            </a:r>
            <a:endParaRPr lang="en-US" sz="15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371600"/>
          <a:ext cx="7132320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1280160"/>
                <a:gridCol w="1280160"/>
                <a:gridCol w="1280160"/>
                <a:gridCol w="1280160"/>
              </a:tblGrid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Indikator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Registered SF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893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SF Active 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648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645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-0,5%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SF Active 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627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628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+0,2%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SF Active DJP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537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568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Total Aktivitas DJP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17.365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16.873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-492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320040" y="310896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  SF Active &amp; DJP by Branch</a:t>
            </a:r>
            <a:endParaRPr lang="en-US" sz="1500" dirty="0"/>
          </a:p>
        </p:txBody>
      </p:sp>
      <p:graphicFrame>
        <p:nvGraphicFramePr>
          <p:cNvPr id="15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3346704"/>
          <a:ext cx="9262872" cy="914400"/>
        </p:xfrm>
        <a:graphic>
          <a:graphicData uri="http://schemas.openxmlformats.org/drawingml/2006/table">
            <a:tbl>
              <a:tblPr/>
              <a:tblGrid>
                <a:gridCol w="1097280"/>
                <a:gridCol w="640080"/>
                <a:gridCol w="621792"/>
                <a:gridCol w="621792"/>
                <a:gridCol w="594360"/>
                <a:gridCol w="621792"/>
                <a:gridCol w="621792"/>
                <a:gridCol w="594360"/>
                <a:gridCol w="621792"/>
                <a:gridCol w="621792"/>
                <a:gridCol w="594360"/>
                <a:gridCol w="685800"/>
                <a:gridCol w="685800"/>
                <a:gridCol w="640080"/>
              </a:tblGrid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Reg.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SF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 gridSpan="3"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Active 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 hMerge="1">
                  <a:tcPr/>
                </a:tc>
                <a:tc hMerge="1">
                  <a:tcPr/>
                </a:tc>
                <a:tc gridSpan="3"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Active 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 hMerge="1">
                  <a:tcPr/>
                </a:tc>
                <a:tc hMerge="1">
                  <a:tcPr/>
                </a:tc>
                <a:tc gridSpan="3"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Active DJP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 hMerge="1">
                  <a:tcPr/>
                </a:tc>
                <a:tc hMerge="1">
                  <a:tcPr/>
                </a:tc>
                <a:tc gridSpan="3"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Aktivitas DJP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 hMerge="1">
                  <a:tcPr/>
                </a:tc>
                <a:tc hMerge="1"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7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7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351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-7,5%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-8,5%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6.258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6.963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+11,3%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+9,1%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+9,3%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+31,5%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1.942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2.521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+29,8%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+8,3%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+10,6%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-12,6%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3.475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2.469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-28,9%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-0,5%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+8,3%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5.690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4.920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-13,5%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</a:tbl>
          </a:graphicData>
        </a:graphic>
      </p:graphicFrame>
      <p:sp>
        <p:nvSpPr>
          <p:cNvPr id="11" name="Text 7"/>
          <p:cNvSpPr/>
          <p:nvPr/>
        </p:nvSpPr>
        <p:spPr>
          <a:xfrm>
            <a:off x="320040" y="5010912"/>
            <a:ext cx="5486400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C.  ODP Occupancy Summary</a:t>
            </a:r>
            <a:endParaRPr lang="en-US" sz="1500" dirty="0"/>
          </a:p>
        </p:txBody>
      </p:sp>
      <p:sp>
        <p:nvSpPr>
          <p:cNvPr id="12" name="Text 8"/>
          <p:cNvSpPr/>
          <p:nvPr/>
        </p:nvSpPr>
        <p:spPr>
          <a:xfrm>
            <a:off x="6245352" y="5010912"/>
            <a:ext cx="5486400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D.  DJP pada ODP Khusus</a:t>
            </a:r>
            <a:endParaRPr lang="en-US" sz="1500" dirty="0"/>
          </a:p>
        </p:txBody>
      </p:sp>
      <p:graphicFrame>
        <p:nvGraphicFramePr>
          <p:cNvPr id="22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5266944"/>
          <a:ext cx="5330952" cy="914400"/>
        </p:xfrm>
        <a:graphic>
          <a:graphicData uri="http://schemas.openxmlformats.org/drawingml/2006/table">
            <a:tbl>
              <a:tblPr/>
              <a:tblGrid>
                <a:gridCol w="868680"/>
                <a:gridCol w="868680"/>
                <a:gridCol w="868680"/>
                <a:gridCol w="868680"/>
                <a:gridCol w="868680"/>
                <a:gridCol w="987552"/>
              </a:tblGrid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ORANGE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YELLOW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GREEN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BLACK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Total ODP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15.159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37.886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24.741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5.255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83.105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70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45,6%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29,8%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4" name="Shape 9"/>
          <p:cNvSpPr/>
          <p:nvPr/>
        </p:nvSpPr>
        <p:spPr>
          <a:xfrm>
            <a:off x="6245352" y="5266944"/>
            <a:ext cx="2819324" cy="960120"/>
          </a:xfrm>
          <a:prstGeom prst="roundRect">
            <a:avLst>
              <a:gd name="adj" fmla="val 2857"/>
            </a:avLst>
          </a:prstGeom>
          <a:solidFill>
            <a:srgbClr val="F5F6F8"/>
          </a:solidFill>
          <a:ln w="12700">
            <a:solidFill>
              <a:srgbClr val="DCE0E6"/>
            </a:solidFill>
            <a:prstDash val="solid"/>
          </a:ln>
        </p:spPr>
      </p:sp>
      <p:sp>
        <p:nvSpPr>
          <p:cNvPr id="15" name="Text 10"/>
          <p:cNvSpPr/>
          <p:nvPr/>
        </p:nvSpPr>
        <p:spPr>
          <a:xfrm>
            <a:off x="6355080" y="5340096"/>
            <a:ext cx="25998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ODP BLACK</a:t>
            </a:r>
            <a:endParaRPr lang="en-US" sz="1050" dirty="0"/>
          </a:p>
        </p:txBody>
      </p:sp>
      <p:sp>
        <p:nvSpPr>
          <p:cNvPr id="16" name="Text 11"/>
          <p:cNvSpPr/>
          <p:nvPr/>
        </p:nvSpPr>
        <p:spPr>
          <a:xfrm>
            <a:off x="6355080" y="5541264"/>
            <a:ext cx="2599868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Jumlah ODP: 5.255
Dikunjungi: 1.393 (26,5%)
Visit DJP: 3.771</a:t>
            </a:r>
            <a:pPr indent="0" marL="0">
              <a:lnSpc>
                <a:spcPts val="1300"/>
              </a:lnSpc>
              <a:buNone/>
            </a:pPr>
            <a:r>
              <a:rPr lang="en-US" sz="11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pPr indent="0" marL="0">
              <a:lnSpc>
                <a:spcPts val="1300"/>
              </a:lnSpc>
              <a:buNone/>
            </a:pPr>
            <a:r>
              <a:rPr lang="en-US" sz="11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pPr indent="0" marL="0">
              <a:lnSpc>
                <a:spcPts val="1300"/>
              </a:lnSpc>
              <a:buNone/>
            </a:pPr>
            <a:r>
              <a:rPr lang="en-US" sz="11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endParaRPr lang="en-US" sz="1000" dirty="0"/>
          </a:p>
        </p:txBody>
      </p:sp>
      <p:sp>
        <p:nvSpPr>
          <p:cNvPr id="17" name="Shape 12"/>
          <p:cNvSpPr/>
          <p:nvPr/>
        </p:nvSpPr>
        <p:spPr>
          <a:xfrm>
            <a:off x="9201836" y="5266944"/>
            <a:ext cx="2819324" cy="960120"/>
          </a:xfrm>
          <a:prstGeom prst="roundRect">
            <a:avLst>
              <a:gd name="adj" fmla="val 2857"/>
            </a:avLst>
          </a:prstGeom>
          <a:solidFill>
            <a:srgbClr val="F5F6F8"/>
          </a:solidFill>
          <a:ln w="12700">
            <a:solidFill>
              <a:srgbClr val="DCE0E6"/>
            </a:solidFill>
            <a:prstDash val="solid"/>
          </a:ln>
        </p:spPr>
      </p:sp>
      <p:sp>
        <p:nvSpPr>
          <p:cNvPr id="18" name="Text 13"/>
          <p:cNvSpPr/>
          <p:nvPr/>
        </p:nvSpPr>
        <p:spPr>
          <a:xfrm>
            <a:off x="9311564" y="5340096"/>
            <a:ext cx="25998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7B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ODP GREENFIELD</a:t>
            </a:r>
            <a:endParaRPr lang="en-US" sz="1050" dirty="0"/>
          </a:p>
        </p:txBody>
      </p:sp>
      <p:sp>
        <p:nvSpPr>
          <p:cNvPr id="19" name="Text 14"/>
          <p:cNvSpPr/>
          <p:nvPr/>
        </p:nvSpPr>
        <p:spPr>
          <a:xfrm>
            <a:off x="9311564" y="5541264"/>
            <a:ext cx="2599868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Jumlah ODP: 1.375
Dikunjungi: 1.169 (85,0%)
Visit DJP: 3.515</a:t>
            </a:r>
            <a:pPr indent="0" marL="0">
              <a:lnSpc>
                <a:spcPts val="1300"/>
              </a:lnSpc>
              <a:buNone/>
            </a:pPr>
            <a:r>
              <a:rPr lang="en-US" sz="11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pPr indent="0" marL="0">
              <a:lnSpc>
                <a:spcPts val="1300"/>
              </a:lnSpc>
              <a:buNone/>
            </a:pPr>
            <a:r>
              <a:rPr lang="en-US" sz="11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pPr indent="0" marL="0">
              <a:lnSpc>
                <a:spcPts val="1300"/>
              </a:lnSpc>
              <a:buNone/>
            </a:pPr>
            <a:r>
              <a:rPr lang="en-US" sz="1150" b="1" dirty="0">
                <a:solidFill>
                  <a:srgbClr val="1E7B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Appendix — SF Segmentation by Class &amp; Matrix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01–30 Sep 2026 vs MTD-1 01–31 Agu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097280"/>
            <a:ext cx="5486400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  SF by Class</a:t>
            </a:r>
            <a:endParaRPr lang="en-US" sz="15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353312"/>
          <a:ext cx="5532120" cy="914400"/>
        </p:xfrm>
        <a:graphic>
          <a:graphicData uri="http://schemas.openxmlformats.org/drawingml/2006/table">
            <a:tbl>
              <a:tblPr/>
              <a:tblGrid>
                <a:gridCol w="1188720"/>
                <a:gridCol w="868680"/>
                <a:gridCol w="868680"/>
                <a:gridCol w="868680"/>
                <a:gridCol w="868680"/>
                <a:gridCol w="868680"/>
              </a:tblGrid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Class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Reg.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SF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Kontribusi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Active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Active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Active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DJP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Elite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Performer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Junior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798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89,4%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553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536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475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Greenfield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Junior Plus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6245352" y="1097280"/>
            <a:ext cx="5486400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  SF by Matrix</a:t>
            </a:r>
            <a:endParaRPr lang="en-US" sz="1500" dirty="0"/>
          </a:p>
        </p:txBody>
      </p:sp>
      <p:graphicFrame>
        <p:nvGraphicFramePr>
          <p:cNvPr id="17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45352" y="1353312"/>
          <a:ext cx="571500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868680"/>
                <a:gridCol w="868680"/>
                <a:gridCol w="868680"/>
                <a:gridCol w="868680"/>
                <a:gridCol w="868680"/>
              </a:tblGrid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Segmen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Reg.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SF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Kontribusi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Active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Active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Active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DJP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Champion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26,2%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Efficient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Explorer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Need Coaching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339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38,0%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1" name="Text 7"/>
          <p:cNvSpPr/>
          <p:nvPr/>
        </p:nvSpPr>
        <p:spPr>
          <a:xfrm>
            <a:off x="320040" y="2871216"/>
            <a:ext cx="1154887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Catatan: satu SF dapat aktif pada lebih dari satu kelompok speed — jumlah SF Active tidak dijumlahkan lintas kelompok.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Appendix — Top 10 SF berdasarkan Pertumbuhan RE &amp; PS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01–30 Sep 2026 vs MTD-1 01–31 Agu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115568"/>
            <a:ext cx="56843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7B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 10 — Growth RE</a:t>
            </a:r>
            <a:endParaRPr lang="en-US" sz="11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335024"/>
          <a:ext cx="4946904" cy="914400"/>
        </p:xfrm>
        <a:graphic>
          <a:graphicData uri="http://schemas.openxmlformats.org/drawingml/2006/table">
            <a:tbl>
              <a:tblPr/>
              <a:tblGrid>
                <a:gridCol w="1965960"/>
                <a:gridCol w="658368"/>
                <a:gridCol w="566928"/>
                <a:gridCol w="566928"/>
                <a:gridCol w="566928"/>
                <a:gridCol w="621792"/>
              </a:tblGrid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Nama SF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Growth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RIZKI MUSTAQIM K LONGSO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+1250,0%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Ismail Marzuki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Yudi arman 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+1000,0%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[TECHNICIAN] Riko Simanjuntak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+900,0%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NI PUTU ARIANI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 NYOMAN SAPUTRA WIJAYA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Wahyu Hidayat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Stefanus jefri kantur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+350,0%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ARIEF RAMADHOAN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+350,0%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ALVIN HIDAYAT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+320,0%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6187288" y="1115568"/>
            <a:ext cx="56843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7B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 10 — Growth PS</a:t>
            </a:r>
            <a:endParaRPr lang="en-US" sz="1100" dirty="0"/>
          </a:p>
        </p:txBody>
      </p:sp>
      <p:graphicFrame>
        <p:nvGraphicFramePr>
          <p:cNvPr id="19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187288" y="1335024"/>
          <a:ext cx="4946904" cy="914400"/>
        </p:xfrm>
        <a:graphic>
          <a:graphicData uri="http://schemas.openxmlformats.org/drawingml/2006/table">
            <a:tbl>
              <a:tblPr/>
              <a:tblGrid>
                <a:gridCol w="1965960"/>
                <a:gridCol w="658368"/>
                <a:gridCol w="566928"/>
                <a:gridCol w="566928"/>
                <a:gridCol w="566928"/>
                <a:gridCol w="621792"/>
              </a:tblGrid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Nama SF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Growth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RIZKI MUSTAQIM K LONGSO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+1200,0%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Ismail Marzuki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+700,0%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[TECHNICIAN] Riko Simanjuntak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+700,0%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MARIA FILIA REGINA DOLOROSA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+700,0%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Stefanus jefri kantur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Anita Welmince ukat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Yudi arman 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ALVIN HIDAYAT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+325,0%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GEORANO INDRIANTO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INLY OLIFA PABALA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</a:tbl>
          </a:graphicData>
        </a:graphic>
      </p:graphicFrame>
      <p:sp>
        <p:nvSpPr>
          <p:cNvPr id="11" name="Text 7"/>
          <p:cNvSpPr/>
          <p:nvPr/>
        </p:nvSpPr>
        <p:spPr>
          <a:xfrm>
            <a:off x="320040" y="4590288"/>
            <a:ext cx="115488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Growth (%) dihitung dari volume RE/PS periode berjalan terhadap periode sebelumnya per SF Code.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Appendix — Bottom 10 SF berdasarkan Pertumbuhan RE &amp; PS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01–30 Sep 2026 vs MTD-1 01–31 Agu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115568"/>
            <a:ext cx="56843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Bottom 10 — Growth RE</a:t>
            </a:r>
            <a:endParaRPr lang="en-US" sz="11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335024"/>
          <a:ext cx="4946904" cy="914400"/>
        </p:xfrm>
        <a:graphic>
          <a:graphicData uri="http://schemas.openxmlformats.org/drawingml/2006/table">
            <a:tbl>
              <a:tblPr/>
              <a:tblGrid>
                <a:gridCol w="1965960"/>
                <a:gridCol w="658368"/>
                <a:gridCol w="566928"/>
                <a:gridCol w="566928"/>
                <a:gridCol w="566928"/>
                <a:gridCol w="621792"/>
              </a:tblGrid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Nama SF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Growth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AISA TUKUBRA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 GUSTI AGUNG PUTU SANTIKA PARAMITA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HERI SUSANTO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Andi Setiawan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AI IFA HANIFAH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FERI ANDI SEMBIRING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 tarmizi taher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Ibadillah Hish Sholihah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Barthlomeus Mario Jeriko Pareira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Santiar roti saputri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6187288" y="1115568"/>
            <a:ext cx="56843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Bottom 10 — Growth PS</a:t>
            </a:r>
            <a:endParaRPr lang="en-US" sz="1100" dirty="0"/>
          </a:p>
        </p:txBody>
      </p:sp>
      <p:graphicFrame>
        <p:nvGraphicFramePr>
          <p:cNvPr id="21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187288" y="1335024"/>
          <a:ext cx="4946904" cy="914400"/>
        </p:xfrm>
        <a:graphic>
          <a:graphicData uri="http://schemas.openxmlformats.org/drawingml/2006/table">
            <a:tbl>
              <a:tblPr/>
              <a:tblGrid>
                <a:gridCol w="1965960"/>
                <a:gridCol w="658368"/>
                <a:gridCol w="566928"/>
                <a:gridCol w="566928"/>
                <a:gridCol w="566928"/>
                <a:gridCol w="621792"/>
              </a:tblGrid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Nama SF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Growth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 GUSTI AGUNG PUTU SANTIKA PARAMITA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YANTI 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HERI SUSANTO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Andi Setiawan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AI IFA HANIFAH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FERI ANDI SEMBIRING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 tarmizi taher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Ibadillah Hish Sholihah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Barthlomeus Mario Jeriko Pareira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Santiar roti saputri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</a:tbl>
          </a:graphicData>
        </a:graphic>
      </p:graphicFrame>
      <p:sp>
        <p:nvSpPr>
          <p:cNvPr id="11" name="Text 7"/>
          <p:cNvSpPr/>
          <p:nvPr/>
        </p:nvSpPr>
        <p:spPr>
          <a:xfrm>
            <a:off x="320040" y="4590288"/>
            <a:ext cx="115488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Growth (%) dihitung dari volume RE/PS periode berjalan terhadap periode sebelumnya per SF Code.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Appendix — Detail Seluruh 10 WOK &amp; Kabupaten Denpasar, Flores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01–30 Sep 2026 vs MTD-1 01–31 Agu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09728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  Seluruh 10 WOK  (Br. = Branch: DPS Denpasar, FLR Flores, KPG Kupang, MTR Mataram)</a:t>
            </a:r>
            <a:endParaRPr lang="en-US" sz="15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353312"/>
          <a:ext cx="5632704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365760"/>
                <a:gridCol w="365760"/>
                <a:gridCol w="457200"/>
                <a:gridCol w="530352"/>
                <a:gridCol w="365760"/>
                <a:gridCol w="457200"/>
                <a:gridCol w="530352"/>
                <a:gridCol w="548640"/>
              </a:tblGrid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Area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Br.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Barat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1.143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1.117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895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956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85,6%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Tengah 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1.046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948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-9,4%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880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770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-12,5%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81,2%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Tengah 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1.198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1.068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974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867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-11,0%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81,2%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Timur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693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665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557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-9,0%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76,2%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Ende Sikka - Flores Timur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740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821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+10,9%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594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642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+8,1%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78,2%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graphicFrame>
        <p:nvGraphicFramePr>
          <p:cNvPr id="2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45352" y="1353312"/>
          <a:ext cx="5632704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365760"/>
                <a:gridCol w="365760"/>
                <a:gridCol w="457200"/>
                <a:gridCol w="530352"/>
                <a:gridCol w="365760"/>
                <a:gridCol w="457200"/>
                <a:gridCol w="530352"/>
                <a:gridCol w="548640"/>
              </a:tblGrid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Area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Br.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Manggarai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384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463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+20,6%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368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+22,3%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79,5%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 Rote - Malaka Timtim Belu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938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879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-6,3%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748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712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81,0%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263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279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+10,7%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81,4%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Lombok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1.596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1.462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-8,4%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1.270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1.147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-9,7%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78,5%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Sumbawa Barat - Sumbawa Timur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1.202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1.258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886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892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+0,7%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70,9%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0" name="Text 6"/>
          <p:cNvSpPr/>
          <p:nvPr/>
        </p:nvSpPr>
        <p:spPr>
          <a:xfrm>
            <a:off x="320040" y="3172968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  Kabupaten Denpasar &amp; Flores (18 dari 38 kabupaten)</a:t>
            </a:r>
            <a:endParaRPr lang="en-US" sz="1500" dirty="0"/>
          </a:p>
        </p:txBody>
      </p:sp>
      <p:graphicFrame>
        <p:nvGraphicFramePr>
          <p:cNvPr id="34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3410712"/>
          <a:ext cx="5084064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365760"/>
                <a:gridCol w="365760"/>
                <a:gridCol w="457200"/>
                <a:gridCol w="530352"/>
                <a:gridCol w="365760"/>
                <a:gridCol w="457200"/>
                <a:gridCol w="530352"/>
                <a:gridCol w="548640"/>
              </a:tblGrid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Area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Br.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Badung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610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571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-6,4%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481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440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-8,5%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77,1%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Bangli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73,1%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Buleleng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472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587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+24,4%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362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510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+40,9%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86,9%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Gianyar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340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359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270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281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78,3%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Jembrana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-23,0%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-17,9%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89,7%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Karang Asem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-13,3%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68,4%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Klungkung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-15,9%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-22,3%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78,4%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Kota 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1.551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1.445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-6,8%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1.299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1.197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-7,9%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82,8%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Tabanan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493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433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-12,2%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403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359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82,9%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graphicFrame>
        <p:nvGraphicFramePr>
          <p:cNvPr id="45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45352" y="3410712"/>
          <a:ext cx="5084064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365760"/>
                <a:gridCol w="365760"/>
                <a:gridCol w="457200"/>
                <a:gridCol w="530352"/>
                <a:gridCol w="365760"/>
                <a:gridCol w="457200"/>
                <a:gridCol w="530352"/>
                <a:gridCol w="548640"/>
              </a:tblGrid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Area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Br.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Alor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-7,6%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72,8%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Ende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+19,1%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+25,2%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81,9%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 Timur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+24,6%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81,7%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Lembata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+23,3%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+22,0%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67,6%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Manggarai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+133,3%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+25,0%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71,4%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Manggarai Barat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-0,9%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73,2%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Manggarai Timur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+32,8%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+29,8%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82,0%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Ngada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+46,6%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81,0%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Sikka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266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+23,1%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+11,0%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79,7%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Appendix — Kabupaten Kupang &amp; Mataram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01–30 Sep 2026 vs MTD-1 01–31 Agu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09728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  Kabupaten Kupang &amp; Mataram</a:t>
            </a:r>
            <a:endParaRPr lang="en-US" sz="15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371600"/>
          <a:ext cx="5084064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365760"/>
                <a:gridCol w="365760"/>
                <a:gridCol w="457200"/>
                <a:gridCol w="530352"/>
                <a:gridCol w="365760"/>
                <a:gridCol w="457200"/>
                <a:gridCol w="530352"/>
                <a:gridCol w="548640"/>
              </a:tblGrid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Area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Br.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Belu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+28,4%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+28,1%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87,0%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Kota 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-14,9%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-6,8%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85,3%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287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-6,7%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81,9%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Malaka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-16,2%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-12,7%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84,2%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Rote Ndao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65,5%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Sabu Raijua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+15,4%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+25,0%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 Barat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+27,2%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+26,8%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71,7%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 Timur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90,8%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Timor Tengah Selatan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-17,9%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71,9%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Timor Tengah Utara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+9,7%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+7,0%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74,5%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graphicFrame>
        <p:nvGraphicFramePr>
          <p:cNvPr id="25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45352" y="1371600"/>
          <a:ext cx="5084064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365760"/>
                <a:gridCol w="365760"/>
                <a:gridCol w="457200"/>
                <a:gridCol w="530352"/>
                <a:gridCol w="365760"/>
                <a:gridCol w="457200"/>
                <a:gridCol w="530352"/>
                <a:gridCol w="548640"/>
              </a:tblGrid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Area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Br.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Bima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268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298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+11,2%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+15,4%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77,9%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Dompu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-16,1%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60,5%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Kota Bima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293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82,1%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Kota 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739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742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+0,4%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614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625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84,2%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Lombok Barat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262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+0,5%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77,3%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Lombok Tengah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276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-24,3%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-35,5%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67,0%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Lombok Timur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75,4%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Lombok Utara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-16,6%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-16,2%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68,6%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Sumbawa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317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354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+11,7%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65,8%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Sumbawa Barat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+12,4%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55,9%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0" name="Text 6"/>
          <p:cNvSpPr/>
          <p:nvPr/>
        </p:nvSpPr>
        <p:spPr>
          <a:xfrm>
            <a:off x="320040" y="4837176"/>
            <a:ext cx="115488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Bersama Slide 11 (Denpasar &amp; Flores), tabel ini mencakup seluruh 38 kabupaten—masing-masing tampil tepat satu kali.</a:t>
            </a:r>
            <a:endParaRPr lang="en-US" sz="9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686800" cy="310896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900" b="1">
                <a:solidFill>
                  <a:srgbClr val="FFFFFF"/>
                </a:solidFill>
                <a:latin typeface="Arial"/>
              </a:rPr>
              <a:t>Appendix — PS by Speed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>
                <a:solidFill>
                  <a:srgbClr val="FFFFFF"/>
                </a:solidFill>
                <a:latin typeface="Arial"/>
              </a:rPr>
              <a:t>MTD 01–30 Sep 2026 vs MTD-1 01–31 Agu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109728"/>
            <a:ext cx="269748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384048"/>
            <a:ext cx="26974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>
                <a:solidFill>
                  <a:srgbClr val="FFFFFF"/>
                </a:solidFill>
                <a:latin typeface="Arial"/>
              </a:rPr>
              <a:t>GM Regional Performance Review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58952"/>
            <a:ext cx="65836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>
                <a:solidFill>
                  <a:srgbClr val="102C50"/>
                </a:solidFill>
                <a:latin typeface="Arial"/>
              </a:rPr>
              <a:t>A.  PS by Speed — Region &amp; Branch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78992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280851">
                <a:tc rowSpan="2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80851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Balinusra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2.672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2.505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-6,2%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35,3%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1.584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1.176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-25,8%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16,6%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1.039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1.325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+27,5%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18,7%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1.325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1.250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40,3%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583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415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-28,8%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13,4%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507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521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16,8%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551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555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+0,7%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55,0%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175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89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-49,1%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127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271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+113,4%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26,8%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326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295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-9,5%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31,4%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328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187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-43,0%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19,9%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218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336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+54,1%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35,8%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4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470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405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-13,8%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19,9%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498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485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23,8%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187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197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+5,3%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3273552"/>
            <a:ext cx="65836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>
                <a:solidFill>
                  <a:srgbClr val="102C50"/>
                </a:solidFill>
                <a:latin typeface="Arial"/>
              </a:rPr>
              <a:t>B.  Kelompok Speed Lanjutan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3584448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280851">
                <a:tc rowSpan="2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80851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Balinusra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945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1.046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+10,7%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14,8%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992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999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+0,7%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14,1%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78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-52,6%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392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384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12,4%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473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522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+10,4%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16,8%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-69,2%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85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+136,1%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+66,7%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65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112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+72,3%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11,9%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-43,8%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4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452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465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22,8%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519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477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-8,1%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23,4%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-66,7%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0040" y="5760720"/>
          <a:ext cx="7315197" cy="7132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77138"/>
                <a:gridCol w="1405179"/>
                <a:gridCol w="1405179"/>
                <a:gridCol w="1239864"/>
                <a:gridCol w="1487837"/>
              </a:tblGrid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</a:tr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Balinusra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7.310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7.088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3.306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3.100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-6,2%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895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1.010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+12,8%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953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939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2.156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2.039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686800" cy="310896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900" b="1">
                <a:solidFill>
                  <a:srgbClr val="FFFFFF"/>
                </a:solidFill>
                <a:latin typeface="Arial"/>
              </a:rPr>
              <a:t>Appendix — Revenue New Sales by Speed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>
                <a:solidFill>
                  <a:srgbClr val="FFFFFF"/>
                </a:solidFill>
                <a:latin typeface="Arial"/>
              </a:rPr>
              <a:t>MTD 01–30 Sep 2026 vs MTD-1 01–31 Agu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109728"/>
            <a:ext cx="269748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384048"/>
            <a:ext cx="26974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>
                <a:solidFill>
                  <a:srgbClr val="FFFFFF"/>
                </a:solidFill>
                <a:latin typeface="Arial"/>
              </a:rPr>
              <a:t>GM Regional Performance Review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58952"/>
            <a:ext cx="65836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>
                <a:solidFill>
                  <a:srgbClr val="102C50"/>
                </a:solidFill>
                <a:latin typeface="Arial"/>
              </a:rPr>
              <a:t>A.  Revenue New Sales by Speed — Region &amp; Branch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498079" y="777240"/>
            <a:ext cx="434340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850" b="0">
                <a:solidFill>
                  <a:srgbClr val="687386"/>
                </a:solidFill>
                <a:latin typeface="Arial"/>
              </a:rPr>
              <a:t>Revenue = total price_package dari PS unik per order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078992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280851">
                <a:tc rowSpan="2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80851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Balinusra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451,2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422,7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-6,3%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26,5%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379,6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275,8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-27,4%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17,3%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266,8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334,9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+25,5%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21,0%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199,8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188,0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30,1%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135,5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94,2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-30,4%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15,1%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126,9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128,5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20,6%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104,1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104,7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+0,6%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46,3%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44,4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21,2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-52,4%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33,9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70,6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+108,2%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31,2%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61,2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55,4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-9,5%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25,1%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80,3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44,9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-44,1%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20,4%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56,3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83,9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+49,0%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38,1%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4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86,0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74,7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-13,2%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14,3%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119,4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115,5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22,1%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49,6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51,9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+4,6%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320040" y="3273552"/>
            <a:ext cx="65836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>
                <a:solidFill>
                  <a:srgbClr val="102C50"/>
                </a:solidFill>
                <a:latin typeface="Arial"/>
              </a:rPr>
              <a:t>B.  Kelompok Speed Lanjutan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0040" y="3584448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280851">
                <a:tc rowSpan="2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80851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Balinusra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392,1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395,5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+0,9%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24,8%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152,2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152,7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+0,4%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25,2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10,8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-57,1%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126,3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123,2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19,8%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81,3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87,7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+7,8%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14,1%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7,7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2,2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-71,4%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12,4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26,6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+115,0%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11,8%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1,8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3,1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+70,3%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20,5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33,6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+64,1%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15,3%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5,4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2,6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-51,3%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4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232,9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212,1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-8,9%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40,6%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70,9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65,1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-8,2%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12,5%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10,3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2,9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-72,1%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5760720"/>
          <a:ext cx="7315197" cy="7132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77138"/>
                <a:gridCol w="1405179"/>
                <a:gridCol w="1405179"/>
                <a:gridCol w="1239864"/>
                <a:gridCol w="1487837"/>
              </a:tblGrid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</a:tr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Balinusra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1,7 M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1,6 M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677,6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623,8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-7,9%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196,6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226,2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+15,0%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223,7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220,4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569,2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522,1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-8,3%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686800" cy="310896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900" b="1">
                <a:solidFill>
                  <a:srgbClr val="FFFFFF"/>
                </a:solidFill>
                <a:latin typeface="Arial"/>
              </a:rPr>
              <a:t>Performance RE &amp; PS per Channel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>
                <a:solidFill>
                  <a:srgbClr val="FFFFFF"/>
                </a:solidFill>
                <a:latin typeface="Arial"/>
              </a:rPr>
              <a:t>MTD 01–30 Sep 2026 vs MTD-1 01–31 Agu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109728"/>
            <a:ext cx="269748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384048"/>
            <a:ext cx="26974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>
                <a:solidFill>
                  <a:srgbClr val="FFFFFF"/>
                </a:solidFill>
                <a:latin typeface="Arial"/>
              </a:rPr>
              <a:t>GM Regional Performance Review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320040" y="941832"/>
          <a:ext cx="11548867" cy="15727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56280"/>
                <a:gridCol w="1064412"/>
                <a:gridCol w="1064412"/>
                <a:gridCol w="957970"/>
                <a:gridCol w="1064412"/>
                <a:gridCol w="1064412"/>
                <a:gridCol w="957970"/>
                <a:gridCol w="1383735"/>
                <a:gridCol w="1117632"/>
                <a:gridCol w="1117632"/>
              </a:tblGrid>
              <a:tr h="224681"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Channel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Rev NS MTD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Rev NS MoM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% Contr. 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</a:tr>
              <a:tr h="224681"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9.203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8.960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D73527"/>
                          </a:solidFill>
                          <a:latin typeface="Arial"/>
                        </a:rPr>
                        <a:t>-2,6%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7.310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7.088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D73527"/>
                          </a:solidFill>
                          <a:latin typeface="Arial"/>
                        </a:rPr>
                        <a:t>-3,0%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Rp 1,6 M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D73527"/>
                          </a:solidFill>
                          <a:latin typeface="Arial"/>
                        </a:rPr>
                        <a:t>-4,5%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</a:tr>
              <a:tr h="224681"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Agency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7.859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7.507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-4,5%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6.410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6.132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-4,3%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Rp 1,3 M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-6,5%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86,5%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24681"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Grapari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561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675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137D3F"/>
                          </a:solidFill>
                          <a:latin typeface="Arial"/>
                        </a:rPr>
                        <a:t>+20,3%</a:t>
                      </a:r>
                    </a:p>
                  </a:txBody>
                  <a:tcPr marL="18288" marR="18288" marT="0" marB="0">
                    <a:solidFill>
                      <a:srgbClr val="E5F4EA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413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466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137D3F"/>
                          </a:solidFill>
                          <a:latin typeface="Arial"/>
                        </a:rPr>
                        <a:t>+12,8%</a:t>
                      </a:r>
                    </a:p>
                  </a:txBody>
                  <a:tcPr marL="18288" marR="18288" marT="0" marB="0">
                    <a:solidFill>
                      <a:srgbClr val="E5F4EA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Rp 115,2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137D3F"/>
                          </a:solidFill>
                          <a:latin typeface="Arial"/>
                        </a:rPr>
                        <a:t>+16,1%</a:t>
                      </a:r>
                    </a:p>
                  </a:txBody>
                  <a:tcPr marL="18288" marR="18288" marT="0" marB="0">
                    <a:solidFill>
                      <a:srgbClr val="E5F4EA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6,6%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24681"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Web &amp; Apps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551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545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-1,1%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372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358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-3,8%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Rp 103,2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-0,7%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5,1%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24681"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B2B2C &amp; Others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198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195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-1,5%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99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105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137D3F"/>
                          </a:solidFill>
                          <a:latin typeface="Arial"/>
                        </a:rPr>
                        <a:t>+6,1%</a:t>
                      </a:r>
                    </a:p>
                  </a:txBody>
                  <a:tcPr marL="18288" marR="18288" marT="0" marB="0">
                    <a:solidFill>
                      <a:srgbClr val="E5F4EA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Rp 23,1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137D3F"/>
                          </a:solidFill>
                          <a:latin typeface="Arial"/>
                        </a:rPr>
                        <a:t>+1,6%</a:t>
                      </a:r>
                    </a:p>
                  </a:txBody>
                  <a:tcPr marL="18288" marR="18288" marT="0" marB="0">
                    <a:solidFill>
                      <a:srgbClr val="E5F4EA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1,5%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24682"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Sobi Affiliate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34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38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137D3F"/>
                          </a:solidFill>
                          <a:latin typeface="Arial"/>
                        </a:rPr>
                        <a:t>+11,8%</a:t>
                      </a:r>
                    </a:p>
                  </a:txBody>
                  <a:tcPr marL="18288" marR="18288" marT="0" marB="0">
                    <a:solidFill>
                      <a:srgbClr val="E5F4EA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16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27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137D3F"/>
                          </a:solidFill>
                          <a:latin typeface="Arial"/>
                        </a:rPr>
                        <a:t>+68,8%</a:t>
                      </a:r>
                    </a:p>
                  </a:txBody>
                  <a:tcPr marL="18288" marR="18288" marT="0" marB="0">
                    <a:solidFill>
                      <a:srgbClr val="E5F4EA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Rp 6,6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137D3F"/>
                          </a:solidFill>
                          <a:latin typeface="Arial"/>
                        </a:rPr>
                        <a:t>+61,7%</a:t>
                      </a:r>
                    </a:p>
                  </a:txBody>
                  <a:tcPr marL="18288" marR="18288" marT="0" marB="0">
                    <a:solidFill>
                      <a:srgbClr val="E5F4EA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0,4%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320040" y="2761488"/>
            <a:ext cx="4572000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>
                <a:solidFill>
                  <a:srgbClr val="102C50"/>
                </a:solidFill>
                <a:latin typeface="Arial"/>
              </a:rPr>
              <a:t>Kontributor Penurunan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0040" y="3090672"/>
            <a:ext cx="5705856" cy="1847088"/>
          </a:xfrm>
          <a:prstGeom prst="roundRect">
            <a:avLst/>
          </a:prstGeom>
          <a:solidFill>
            <a:srgbClr val="F4F6F8"/>
          </a:solidFill>
          <a:ln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29768" y="3172968"/>
            <a:ext cx="54864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50" b="1">
                <a:solidFill>
                  <a:srgbClr val="102C50"/>
                </a:solidFill>
                <a:latin typeface="Arial"/>
              </a:rPr>
              <a:t>Agency SF Class Active (%, MoM)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6344" y="3575304"/>
            <a:ext cx="2633472" cy="1307592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>
                <a:solidFill>
                  <a:srgbClr val="20252B"/>
                </a:solidFill>
                <a:latin typeface="Arial"/>
              </a:rPr>
              <a:t>• SF ACTIVE TOTAL
RE: 645 | MoM -0,5%
PS: 628 | MoM +0,2%
• Elite
  RE: 10 | Active 100,0% | MoM 0,0%
  PS: 10 | Active 100,0% | MoM 0,0%
• Performer
  RE: 7 | Active 100,0% | MoM 0,0%
  PS: 7 | Active 100,0% | MoM 0,0%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36976" y="3575304"/>
            <a:ext cx="2633472" cy="1307592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>
                <a:solidFill>
                  <a:srgbClr val="20252B"/>
                </a:solidFill>
                <a:latin typeface="Arial"/>
              </a:rPr>
              <a:t>• Junior
  RE: 553 | Active 69,3% | MoM -0,7%
  PS: 536 | Active 67,2% | MoM 0,0%
• Greenfield
  RE: 56 | Active 96,6% | MoM +3,7%
  PS: 56 | Active 96,6% | MoM +3,7%
• Junior Plus
  RE: 19 | Active 95,0% | MoM -5,0%
  PS: 19 | Active 95,0% | MoM -5,0%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63055" y="3090672"/>
            <a:ext cx="5705856" cy="1847088"/>
          </a:xfrm>
          <a:prstGeom prst="roundRect">
            <a:avLst/>
          </a:prstGeom>
          <a:solidFill>
            <a:srgbClr val="F4F6F8"/>
          </a:solidFill>
          <a:ln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272783" y="3172968"/>
            <a:ext cx="54864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50" b="1">
                <a:solidFill>
                  <a:srgbClr val="102C50"/>
                </a:solidFill>
                <a:latin typeface="Arial"/>
              </a:rPr>
              <a:t>GraPARI Performance per Branch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09359" y="3547872"/>
            <a:ext cx="2633472" cy="133502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50" b="0">
                <a:solidFill>
                  <a:srgbClr val="20252B"/>
                </a:solidFill>
                <a:latin typeface="Arial"/>
              </a:rPr>
              <a:t>PER BRANCH
• Denpasar: PS +15,2%, Gap +16
• Flores: PS +22,8%, Gap +28
• Kupang: PS +29,3%, Gap +12
• Mataram: PS -6,5%, Gap -9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079992" y="3547872"/>
            <a:ext cx="2633472" cy="133502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50" b="0">
                <a:solidFill>
                  <a:srgbClr val="20252B"/>
                </a:solidFill>
                <a:latin typeface="Arial"/>
              </a:rPr>
              <a:t>BOTTOM 5 PS MoM
• Grapari Singaraja (Denpasar): -50,0%, Gap -5
• Grapari Lombok Timur (Mataram): -50,0%, Gap -2
• Grapari Lombok Utara (Mataram): -50,0%, Gap -1
• Grapari Tabanan (Denpasar): -40,0%, Gap -4
• Grapari Mataram (Mataram): -28,6%, Gap -18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20040" y="5074920"/>
            <a:ext cx="2788920" cy="1005840"/>
          </a:xfrm>
          <a:prstGeom prst="roundRect">
            <a:avLst/>
          </a:prstGeom>
          <a:solidFill>
            <a:srgbClr val="F4F6F8"/>
          </a:solidFill>
          <a:ln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11479" y="514807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>
                <a:solidFill>
                  <a:srgbClr val="102C50"/>
                </a:solidFill>
                <a:latin typeface="Arial"/>
              </a:rPr>
              <a:t>Agency per WOK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29768" y="546811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>
                <a:solidFill>
                  <a:srgbClr val="20252B"/>
                </a:solidFill>
                <a:latin typeface="Arial"/>
              </a:rPr>
              <a:t>• Lombok: RE -127 (-8,9%), PS -114 (-9,9%)
• Bali Tengah 1: RE -88 (-9,8%), PS -98 (-12,7%)
• Bali Tengah 2: RE -129 (-13,2%), PS -94 (-11,8%)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236976" y="5074920"/>
            <a:ext cx="2788920" cy="1005840"/>
          </a:xfrm>
          <a:prstGeom prst="roundRect">
            <a:avLst/>
          </a:prstGeom>
          <a:solidFill>
            <a:srgbClr val="F4F6F8"/>
          </a:solidFill>
          <a:ln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328416" y="514807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>
                <a:solidFill>
                  <a:srgbClr val="102C50"/>
                </a:solidFill>
                <a:latin typeface="Arial"/>
              </a:rPr>
              <a:t>Web &amp; Apps per WOK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346704" y="546811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>
                <a:solidFill>
                  <a:srgbClr val="20252B"/>
                </a:solidFill>
                <a:latin typeface="Arial"/>
              </a:rPr>
              <a:t>• Bali Tengah 2: RE -40 (-29,0%), PS -37 (-34,3%)
• Bali Tengah 1: RE -12 (-12,0%), PS -9 (-12,2%)
• Kupang Rote - Malaka Timtim Belu: RE 0 (0,0%), PS -5 (-16,7%)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153912" y="5074920"/>
            <a:ext cx="2788920" cy="1005840"/>
          </a:xfrm>
          <a:prstGeom prst="roundRect">
            <a:avLst/>
          </a:prstGeom>
          <a:solidFill>
            <a:srgbClr val="F4F6F8"/>
          </a:solidFill>
          <a:ln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245351" y="514807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>
                <a:solidFill>
                  <a:srgbClr val="102C50"/>
                </a:solidFill>
                <a:latin typeface="Arial"/>
              </a:rPr>
              <a:t>B2B2C &amp; Others per WOK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263640" y="546811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>
                <a:solidFill>
                  <a:srgbClr val="20252B"/>
                </a:solidFill>
                <a:latin typeface="Arial"/>
              </a:rPr>
              <a:t>• Kupang Rote - Malaka Timtim Belu: RE -16 (-30,2%), PS -9 (-39,1%)
• Bali Timur: RE 0 (0,0%), PS -5 (-50,0%)
• Sumbawa Barat - Sumbawa Timur: RE -5 (-13,2%), PS -4 (-23,5%)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9070848" y="5074920"/>
            <a:ext cx="2788920" cy="1005840"/>
          </a:xfrm>
          <a:prstGeom prst="roundRect">
            <a:avLst/>
          </a:prstGeom>
          <a:solidFill>
            <a:srgbClr val="F4F6F8"/>
          </a:solidFill>
          <a:ln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162288" y="514807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>
                <a:solidFill>
                  <a:srgbClr val="102C50"/>
                </a:solidFill>
                <a:latin typeface="Arial"/>
              </a:rPr>
              <a:t>SOBI Affiliate per WOK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80576" y="546811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>
                <a:solidFill>
                  <a:srgbClr val="20252B"/>
                </a:solidFill>
                <a:latin typeface="Arial"/>
              </a:rPr>
              <a:t>• Lombok: RE -5 (-62,5%), PS -3 (-100,0%)
• Bali Tengah 1: RE -3 (-75,0%), PS -2 (-66,7%)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20040" y="6181344"/>
            <a:ext cx="1143000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>
                <a:solidFill>
                  <a:srgbClr val="687386"/>
                </a:solidFill>
                <a:latin typeface="Arial"/>
              </a:rPr>
              <a:t>Gap = perubahan absolut MTD terhadap MTD-1 pada periode tanggal yang sama. Angka dalam kurung menunjukkan MoM.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686800" cy="310896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900" b="1">
                <a:solidFill>
                  <a:srgbClr val="FFFFFF"/>
                </a:solidFill>
                <a:latin typeface="Arial"/>
              </a:rPr>
              <a:t>SF Class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>
                <a:solidFill>
                  <a:srgbClr val="FFFFFF"/>
                </a:solidFill>
                <a:latin typeface="Arial"/>
              </a:rPr>
              <a:t>MTD 01–30 Sep 2026 vs MTD-1 01–31 Agu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109728"/>
            <a:ext cx="269748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384048"/>
            <a:ext cx="26974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>
                <a:solidFill>
                  <a:srgbClr val="FFFFFF"/>
                </a:solidFill>
                <a:latin typeface="Arial"/>
              </a:rPr>
              <a:t>GM Regional Performance Review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22376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400" b="1">
                <a:solidFill>
                  <a:srgbClr val="102C50"/>
                </a:solidFill>
                <a:latin typeface="Arial"/>
              </a:rPr>
              <a:t>A. SF Active PS per Class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987552"/>
          <a:ext cx="11548870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213360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</a:tr>
              <a:tr h="213360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19 / 20 (95,0%)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+5,6% | Turun 11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186 / 310 (60,0%)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-12,3% | Turun 121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4 / 5 (80,0%)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-20,0% | Turun 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6 / 6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+500,0% | Turun 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10 / 10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-9,1% | Turun 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225 / 351 (64,1%)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-8,9% | Turun 144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13360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13 / 13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80 / 136 (58,8%)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+14,3% | Turun 36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(—)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(—)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94 / 150 (62,7%)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+11,9% | Turun 40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13360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8 / 9 (88,9%)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-11,1% | Turun 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103 / 139 (74,1%)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+13,2% | Turun 36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4 / 4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(—)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(—)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115 / 152 (75,7%)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+10,6% | Turun 42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13360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16 / 16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+23,1% | Turun 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167 / 213 (78,4%)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80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10 / 10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— | Turun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(—)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194 / 240 (80,8%)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+2,1% | Turun 93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13360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Balinusra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56 / 58 (96,6%)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+5,7% | Turun 27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536 / 798 (67,2%)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-0,7% | Turun 273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19 / 20 (95,0%)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-5,0% | Turun 8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7 / 7 (100,0%)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+600,0% | Turun 3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10 / 10 (100,0%)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-9,1% | Turun 8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629 / 924 (68,1%)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+0,3% | Turun 323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386584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400" b="1">
                <a:solidFill>
                  <a:srgbClr val="102C50"/>
                </a:solidFill>
                <a:latin typeface="Arial"/>
              </a:rPr>
              <a:t>B. PS per Class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2651760"/>
          <a:ext cx="11548870" cy="11155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185928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</a:tr>
              <a:tr h="185928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224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-0,4%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1.292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-14,8%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161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+34,2%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288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+364,5%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744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-14,6%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2.709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-3,0%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185928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198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+31,1%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582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+10,4%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29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+20,8%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809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+15,2%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185928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23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-4,2%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702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+1,3%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100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-10,7%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825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-0,5%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185928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163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+27,3%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1.275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-8,8%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288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-9,1%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53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—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1.779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-3,5%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185928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Balinusra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608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+15,2%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3.851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-6,8%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578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+0,9%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341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+450,0%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744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-14,6%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6.123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-0,8%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3886200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400" b="1">
                <a:solidFill>
                  <a:srgbClr val="102C50"/>
                </a:solidFill>
                <a:latin typeface="Arial"/>
              </a:rPr>
              <a:t>C. SF Productive per Class (minimum 10 PS)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4151376"/>
          <a:ext cx="11548870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213360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</a:tr>
              <a:tr h="213360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11 / 20 (55,0%)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+10,0% | Turun 11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42 / 310 (13,5%)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-12,5% | Turun 121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4 / 5 (80,0%)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6 / 6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+500,0% | Turun 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10 / 10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-9,1% | Turun 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73 / 351 (20,8%)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-1,4% | Turun 144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13360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12 / 13 (92,3%)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+50,0% | Turun 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22 / 136 (16,2%)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+15,8% | Turun 36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(—)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(—)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35 / 150 (23,3%)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+25,0% | Turun 40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13360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9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27 / 139 (19,4%)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-6,9% | Turun 36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4 / 4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(—)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(—)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31 / 152 (20,4%)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-6,1% | Turun 42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13360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8 / 16 (50,0%)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+33,3% | Turun 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41 / 213 (19,2%)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-19,6% | Turun 80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10 / 10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— | Turun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(—)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60 / 240 (25,0%)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-10,4% | Turun 93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13360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Balinusra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31 / 58 (53,4%)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+29,2% | Turun 27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132 / 798 (16,5%)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-10,2% | Turun 273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19 / 20 (95,0%)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8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7 / 7 (100,0%)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+600,0% | Turun 3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10 / 10 (100,0%)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-9,1% | Turun 8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199 / 924 (21,5%)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-1,5% | Turun 323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5596128"/>
            <a:ext cx="1133856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19" b="0">
                <a:solidFill>
                  <a:srgbClr val="687386"/>
                </a:solidFill>
                <a:latin typeface="Arial"/>
              </a:rPr>
              <a:t>Active = minimum 1 PS. Turun = jumlah SF dengan PS MTD lebih rendah dibanding MTD-1 pada periode tanggal yang sama.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2026-08-16T22:33:52Z</dcterms:created>
  <dcterms:modified xsi:type="dcterms:W3CDTF">2026-08-16T22:33:52Z</dcterms:modified>
</cp:coreProperties>
</file>