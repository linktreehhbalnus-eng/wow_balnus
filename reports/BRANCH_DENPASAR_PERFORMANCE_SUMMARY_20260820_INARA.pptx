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Area &amp; Product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39496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Branch Performance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33271"/>
          <a:ext cx="5394957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1824"/>
                <a:gridCol w="683868"/>
                <a:gridCol w="683868"/>
                <a:gridCol w="683868"/>
                <a:gridCol w="835838"/>
                <a:gridCol w="759853"/>
                <a:gridCol w="835838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2.771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2.678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5.284,9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2.606,9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4.403,8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2.206,8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011680"/>
            <a:ext cx="53949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Target Branch = agregasi target 4 WOK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221992"/>
          <a:ext cx="5394958" cy="301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7331"/>
                <a:gridCol w="1412965"/>
                <a:gridCol w="1412965"/>
                <a:gridCol w="1241697"/>
              </a:tblGrid>
              <a:tr h="30175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to RE Ratio</a:t>
                      </a:r>
                    </a:p>
                  </a:txBody>
                  <a:tcPr marL="27432" marR="27432" marT="0" marB="0">
                    <a:solidFill>
                      <a:srgbClr val="294A7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MTD-1: 80,5%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MTD: 82,0%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+1,6 pp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144768" y="749808"/>
            <a:ext cx="57150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RE &amp; PS Performance by Speed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44768" y="1033271"/>
          <a:ext cx="5714998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6630"/>
                <a:gridCol w="559076"/>
                <a:gridCol w="559076"/>
                <a:gridCol w="559076"/>
                <a:gridCol w="559076"/>
                <a:gridCol w="559076"/>
                <a:gridCol w="559076"/>
                <a:gridCol w="434836"/>
                <a:gridCol w="559076"/>
              </a:tblGrid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Kontrib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1.062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+8,7%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41,5%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624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+26,8%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+25,9%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77,4%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25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-17,6%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79,9%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5473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82,1%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054096"/>
            <a:ext cx="987552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WOK Performance — seluruh WOK Denpasar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20040" y="3337560"/>
          <a:ext cx="9646911" cy="1307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5727"/>
                <a:gridCol w="742070"/>
                <a:gridCol w="742070"/>
                <a:gridCol w="742070"/>
                <a:gridCol w="742070"/>
                <a:gridCol w="816277"/>
                <a:gridCol w="742070"/>
                <a:gridCol w="742070"/>
                <a:gridCol w="742070"/>
                <a:gridCol w="742070"/>
                <a:gridCol w="816277"/>
                <a:gridCol w="742070"/>
              </a:tblGrid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Achv%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Gap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748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59,2%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516,1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57,5%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447,4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701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46,7%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797,9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47,1%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660,2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84,0%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1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50,6%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761,8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49,6%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647,7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61520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531,1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-14,3%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44,8%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451,5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20040" y="4892040"/>
            <a:ext cx="115214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Kabupaten Performance — Top 3 &amp; Bottom 3 by MoM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37D3F"/>
                </a:solidFill>
                <a:latin typeface="Arial"/>
              </a:rPr>
              <a:t>Top 3 (MoM PS Tertinggi)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5175503"/>
            <a:ext cx="539496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D73527"/>
                </a:solidFill>
                <a:latin typeface="Arial"/>
              </a:rPr>
              <a:t>Bottom 3 (MoM PS Terendah)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5385816"/>
          <a:ext cx="5559550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78"/>
                <a:gridCol w="958543"/>
                <a:gridCol w="958543"/>
                <a:gridCol w="958543"/>
                <a:gridCol w="958543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Tabanan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233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+23,6%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Badung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Bangli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687386"/>
                          </a:solidFill>
                          <a:latin typeface="Arial"/>
                        </a:rPr>
                        <a:t>6</a:t>
                      </a:r>
                    </a:p>
                  </a:txBody>
                  <a:tcPr marL="27432" marR="27432" marT="0" marB="0">
                    <a:solidFill>
                      <a:srgbClr val="E9EDF2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+9,8%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6327648" y="5385816"/>
          <a:ext cx="5541262" cy="8961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702"/>
                <a:gridCol w="955390"/>
                <a:gridCol w="955390"/>
                <a:gridCol w="955390"/>
                <a:gridCol w="955390"/>
              </a:tblGrid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Kabupaten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Selisih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 PS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Gianyar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-63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-26,0%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Jembrana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2402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Karang Asem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-8,7%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Sales Force &amp; DJP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Sales Force Scorecard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749808"/>
            <a:ext cx="23317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000" b="0" i="1">
                <a:solidFill>
                  <a:srgbClr val="687386"/>
                </a:solidFill>
                <a:latin typeface="Arial"/>
              </a:rPr>
              <a:t>Registered SF: 343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221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+6,8%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207   Δ 14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27832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212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2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137D3F"/>
                </a:solidFill>
                <a:latin typeface="Arial"/>
              </a:rPr>
              <a:t>+5,0%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202   Δ 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45352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SF Active DJP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45352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158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35824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-4,2%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5352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165   Δ -7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43416" y="1014984"/>
            <a:ext cx="2770632" cy="987552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1115568"/>
            <a:ext cx="256032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00" b="1" i="0">
                <a:solidFill>
                  <a:srgbClr val="102C50"/>
                </a:solidFill>
                <a:latin typeface="Arial"/>
              </a:rPr>
              <a:t>Aktivitas DJP — Total Visit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4" y="1344168"/>
            <a:ext cx="1508760" cy="34747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2400" b="1" i="0">
                <a:solidFill>
                  <a:srgbClr val="20252B"/>
                </a:solidFill>
                <a:latin typeface="Arial"/>
              </a:rPr>
              <a:t>3.558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43616" y="1362456"/>
            <a:ext cx="1024128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200" b="1" i="0">
                <a:solidFill>
                  <a:srgbClr val="D73527"/>
                </a:solidFill>
                <a:latin typeface="Arial"/>
              </a:rPr>
              <a:t>-9,1%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53144" y="1728216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MTD-1: 3.913   Δ -355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2221992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SF Active &amp; DJP by WOK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320040" y="2505456"/>
          <a:ext cx="10378436" cy="1792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820"/>
                <a:gridCol w="594185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673410"/>
                <a:gridCol w="792247"/>
                <a:gridCol w="792247"/>
                <a:gridCol w="792247"/>
              </a:tblGrid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Reg.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DJP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Visit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+20,0%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+19,1%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+15,0%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1.239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1.040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1.088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+4,6%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+8,5%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+6,4%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-15,7%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8448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-9,6%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+11,1%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1" name="TextBox 30"/>
          <p:cNvSpPr txBox="1"/>
          <p:nvPr/>
        </p:nvSpPr>
        <p:spPr>
          <a:xfrm>
            <a:off x="320040" y="4645152"/>
            <a:ext cx="9601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SF Active RE &amp; PS by Speed — Branch Denpasar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320040" y="4919472"/>
          <a:ext cx="7680955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1819"/>
                <a:gridCol w="908500"/>
                <a:gridCol w="908500"/>
                <a:gridCol w="743318"/>
                <a:gridCol w="908500"/>
                <a:gridCol w="908500"/>
                <a:gridCol w="743318"/>
                <a:gridCol w="908500"/>
              </a:tblGrid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Speed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per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Active SF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151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+5,3%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5,7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4,2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3,6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20247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-21,1%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1,4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320040" y="6373368"/>
            <a:ext cx="8229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SF Active dihitung berdasarkan SF Code unik per kelompok; Aktivitas DJP merupakan total visit.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 w="7620"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732520" cy="32004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750" b="1" i="0">
                <a:solidFill>
                  <a:srgbClr val="FFFFFF"/>
                </a:solidFill>
                <a:latin typeface="Arial"/>
              </a:rPr>
              <a:t>Denpasar Channel &amp; ODP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Arial"/>
              </a:rPr>
              <a:t>MTD 01–20 Aug 2026 vs MTD-1 01–20 Jul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109728"/>
            <a:ext cx="260604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 i="0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18320" y="384048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 i="0">
                <a:solidFill>
                  <a:srgbClr val="FFFFFF"/>
                </a:solidFill>
                <a:latin typeface="Arial"/>
              </a:rPr>
              <a:t>Branch Denpasar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A.  Agency Performance by WOK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560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602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+7,5%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661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+3,2%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569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+5,4%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83,4%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638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616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512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510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-0,4%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82,8%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471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-13,5%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85,2%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327648" y="7498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B.  Grapari Performance by WOK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7648" y="987552"/>
            <a:ext cx="530352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1">
                <a:solidFill>
                  <a:srgbClr val="687386"/>
                </a:solidFill>
                <a:latin typeface="Arial"/>
              </a:rPr>
              <a:t>Diurutkan MoM PS tertinggi → terendah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327648" y="1207008"/>
          <a:ext cx="5541260" cy="1755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4957"/>
                <a:gridCol w="667622"/>
                <a:gridCol w="667622"/>
                <a:gridCol w="600859"/>
                <a:gridCol w="667622"/>
                <a:gridCol w="667622"/>
                <a:gridCol w="600859"/>
                <a:gridCol w="534097"/>
              </a:tblGrid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WOK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PS/</a:t>
                      </a:r>
                    </a:p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Barat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-40,9%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+30,0%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2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+12,5%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81,8%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29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Timur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55,6%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51132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Bali Tengah 1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-48,1%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-59,1%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64,3%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3145536"/>
            <a:ext cx="10058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C.  Channel Scorecard — Total Branch Denpasar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AGENCY TOTAL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2.330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2.284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-2,0%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1.908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1.920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137D3F"/>
                          </a:solidFill>
                          <a:latin typeface="Arial"/>
                        </a:rPr>
                        <a:t>+0,6%</a:t>
                      </a:r>
                    </a:p>
                  </a:txBody>
                  <a:tcPr marL="27432" marR="27432" marT="0" marB="0">
                    <a:solidFill>
                      <a:srgbClr val="E5F4EA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6327648" y="3438144"/>
            <a:ext cx="530352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02C50"/>
                </a:solidFill>
                <a:latin typeface="Arial"/>
              </a:rPr>
              <a:t>GRAPARI TOTAL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27648" y="3703320"/>
          <a:ext cx="5394960" cy="621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0896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109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89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-18,3%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27432" marR="27432" marT="0" marB="0">
                    <a:solidFill>
                      <a:srgbClr val="FBE9E7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320040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D.  ODP Occupancy Summary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4928616"/>
          <a:ext cx="5413243" cy="941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80202"/>
                <a:gridCol w="880202"/>
                <a:gridCol w="880202"/>
                <a:gridCol w="880202"/>
                <a:gridCol w="880202"/>
                <a:gridCol w="1012233"/>
              </a:tblGrid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RED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ORANGE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YELLOW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GREEN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BLACK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Arial"/>
                        </a:rPr>
                        <a:t>Total ODP</a:t>
                      </a:r>
                    </a:p>
                  </a:txBody>
                  <a:tcPr marL="27432" marR="27432" marT="0" marB="0">
                    <a:solidFill>
                      <a:srgbClr val="102C50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2.133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5.026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32.234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4.584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3.300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47.277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  <a:tr h="313944"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1">
                          <a:solidFill>
                            <a:srgbClr val="20252B"/>
                          </a:solidFill>
                          <a:latin typeface="Arial"/>
                        </a:rPr>
                        <a:t>4,5%</a:t>
                      </a:r>
                    </a:p>
                  </a:txBody>
                  <a:tcPr marL="27432" marR="27432" marT="0" marB="0">
                    <a:solidFill>
                      <a:srgbClr val="F4F6F8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10,6%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68,2%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7,0%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  <a:tc>
                  <a:txBody>
                    <a:bodyPr lIns="27432" rIns="27432" tIns="0" bIns="0" anchor="ctr"/>
                    <a:lstStyle/>
                    <a:p>
                      <a:pPr algn="ctr"/>
                      <a:r>
                        <a:rPr sz="10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27432" marR="27432" marT="0" marB="0">
                    <a:solidFill>
                      <a:srgbClr val="FFFFFF"/>
                    </a:solidFill>
                    <a:lnL w="9000" cap="flat" cmpd="sng" algn="ctr">
                      <a:solidFill>
                        <a:srgbClr val="D8DEE7"/>
                      </a:solidFill>
                      <a:prstDash val="solid"/>
                    </a:lnL>
                    <a:lnR w="9000" cap="flat" cmpd="sng" algn="ctr">
                      <a:solidFill>
                        <a:srgbClr val="D8DEE7"/>
                      </a:solidFill>
                      <a:prstDash val="solid"/>
                    </a:lnR>
                    <a:lnT w="9000" cap="flat" cmpd="sng" algn="ctr">
                      <a:solidFill>
                        <a:srgbClr val="D8DEE7"/>
                      </a:solidFill>
                      <a:prstDash val="solid"/>
                    </a:lnT>
                    <a:lnB w="9000" cap="flat" cmpd="sng" algn="ctr">
                      <a:solidFill>
                        <a:srgbClr val="D8DEE7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6327648" y="4636008"/>
            <a:ext cx="54864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 i="0">
                <a:solidFill>
                  <a:srgbClr val="102C50"/>
                </a:solidFill>
                <a:latin typeface="Arial"/>
              </a:rPr>
              <a:t>E.  DJP pada ODP Khusus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27648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D73527"/>
                </a:solidFill>
                <a:latin typeface="Arial"/>
              </a:rPr>
              <a:t>ODP BLACK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3.300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403 (12,2%)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36408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D73527"/>
                </a:solidFill>
                <a:latin typeface="Arial"/>
              </a:rPr>
              <a:t>881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72016" y="4928616"/>
            <a:ext cx="2779776" cy="1435608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7620"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00032" y="5056632"/>
            <a:ext cx="246888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100" b="1" i="0">
                <a:solidFill>
                  <a:srgbClr val="137D3F"/>
                </a:solidFill>
                <a:latin typeface="Arial"/>
              </a:rPr>
              <a:t>ODP GREENFIELD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00032" y="5404104"/>
            <a:ext cx="24688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687386"/>
                </a:solidFill>
                <a:latin typeface="Arial"/>
              </a:rPr>
              <a:t>Jumlah ODP  275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00032" y="5669280"/>
            <a:ext cx="25146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900" b="0" i="0">
                <a:solidFill>
                  <a:srgbClr val="20252B"/>
                </a:solidFill>
                <a:latin typeface="Arial"/>
              </a:rPr>
              <a:t>ODP dikunjungi  124 (45,1%)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00032" y="5916168"/>
            <a:ext cx="128016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 i="0">
                <a:solidFill>
                  <a:srgbClr val="687386"/>
                </a:solidFill>
                <a:latin typeface="Arial"/>
              </a:rPr>
              <a:t>Total Visit DJP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0776" y="5870448"/>
            <a:ext cx="10972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400" b="1" i="0">
                <a:solidFill>
                  <a:srgbClr val="137D3F"/>
                </a:solidFill>
                <a:latin typeface="Arial"/>
              </a:rPr>
              <a:t>253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