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</c:v>
                </c:pt>
              </c:strCache>
            </c:strRef>
          </c:tx>
          <c:spPr>
            <a:solidFill>
              <a:srgbClr val="132A4C"/>
            </a:solidFill>
            <a:ln w="31750" cap="flat">
              <a:solidFill>
                <a:srgbClr val="132A4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32A4C"/>
              </a:solidFill>
              <a:ln w="9525" cap="flat">
                <a:solidFill>
                  <a:srgbClr val="132A4C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09/08</c:v>
                </c:pt>
                <c:pt idx="1">
                  <c:v>10/08</c:v>
                </c:pt>
                <c:pt idx="2">
                  <c:v>11/08</c:v>
                </c:pt>
                <c:pt idx="3">
                  <c:v>12/08</c:v>
                </c:pt>
                <c:pt idx="4">
                  <c:v>13/08</c:v>
                </c:pt>
                <c:pt idx="5">
                  <c:v>14/08</c:v>
                </c:pt>
                <c:pt idx="6">
                  <c:v>15/08</c:v>
                </c:pt>
                <c:pt idx="7">
                  <c:v>16/08</c:v>
                </c:pt>
                <c:pt idx="8">
                  <c:v>17/08</c:v>
                </c:pt>
                <c:pt idx="9">
                  <c:v>18/08</c:v>
                </c:pt>
                <c:pt idx="10">
                  <c:v>19/08</c:v>
                </c:pt>
                <c:pt idx="11">
                  <c:v>20/08</c:v>
                </c:pt>
                <c:pt idx="12">
                  <c:v>21/08</c:v>
                </c:pt>
                <c:pt idx="13">
                  <c:v>22/08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209.0</c:v>
                </c:pt>
                <c:pt idx="1">
                  <c:v>341.0</c:v>
                </c:pt>
                <c:pt idx="2">
                  <c:v>320.0</c:v>
                </c:pt>
                <c:pt idx="3">
                  <c:v>325.0</c:v>
                </c:pt>
                <c:pt idx="4">
                  <c:v>270.0</c:v>
                </c:pt>
                <c:pt idx="5">
                  <c:v>263.0</c:v>
                </c:pt>
                <c:pt idx="6">
                  <c:v>214.0</c:v>
                </c:pt>
                <c:pt idx="7">
                  <c:v>214.0</c:v>
                </c:pt>
                <c:pt idx="8">
                  <c:v>218.0</c:v>
                </c:pt>
                <c:pt idx="9">
                  <c:v>358.0</c:v>
                </c:pt>
                <c:pt idx="10">
                  <c:v>297.0</c:v>
                </c:pt>
                <c:pt idx="11">
                  <c:v>303.0</c:v>
                </c:pt>
                <c:pt idx="12">
                  <c:v>356.0</c:v>
                </c:pt>
                <c:pt idx="13">
                  <c:v>315.0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PS</c:v>
                </c:pt>
              </c:strCache>
            </c:strRef>
          </c:tx>
          <c:spPr>
            <a:solidFill>
              <a:srgbClr val="E4022D"/>
            </a:solidFill>
            <a:ln w="31750" cap="flat">
              <a:solidFill>
                <a:srgbClr val="E4022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E4022D"/>
              </a:solidFill>
              <a:ln w="9525" cap="flat">
                <a:solidFill>
                  <a:srgbClr val="E4022D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09/08</c:v>
                </c:pt>
                <c:pt idx="1">
                  <c:v>10/08</c:v>
                </c:pt>
                <c:pt idx="2">
                  <c:v>11/08</c:v>
                </c:pt>
                <c:pt idx="3">
                  <c:v>12/08</c:v>
                </c:pt>
                <c:pt idx="4">
                  <c:v>13/08</c:v>
                </c:pt>
                <c:pt idx="5">
                  <c:v>14/08</c:v>
                </c:pt>
                <c:pt idx="6">
                  <c:v>15/08</c:v>
                </c:pt>
                <c:pt idx="7">
                  <c:v>16/08</c:v>
                </c:pt>
                <c:pt idx="8">
                  <c:v>17/08</c:v>
                </c:pt>
                <c:pt idx="9">
                  <c:v>18/08</c:v>
                </c:pt>
                <c:pt idx="10">
                  <c:v>19/08</c:v>
                </c:pt>
                <c:pt idx="11">
                  <c:v>20/08</c:v>
                </c:pt>
                <c:pt idx="12">
                  <c:v>21/08</c:v>
                </c:pt>
                <c:pt idx="13">
                  <c:v>22/08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150.0</c:v>
                </c:pt>
                <c:pt idx="1">
                  <c:v>272.0</c:v>
                </c:pt>
                <c:pt idx="2">
                  <c:v>275.0</c:v>
                </c:pt>
                <c:pt idx="3">
                  <c:v>235.0</c:v>
                </c:pt>
                <c:pt idx="4">
                  <c:v>263.0</c:v>
                </c:pt>
                <c:pt idx="5">
                  <c:v>217.0</c:v>
                </c:pt>
                <c:pt idx="6">
                  <c:v>162.0</c:v>
                </c:pt>
                <c:pt idx="7">
                  <c:v>151.0</c:v>
                </c:pt>
                <c:pt idx="8">
                  <c:v>149.0</c:v>
                </c:pt>
                <c:pt idx="9">
                  <c:v>278.0</c:v>
                </c:pt>
                <c:pt idx="10">
                  <c:v>268.0</c:v>
                </c:pt>
                <c:pt idx="11">
                  <c:v>231.0</c:v>
                </c:pt>
                <c:pt idx="12">
                  <c:v>271.0</c:v>
                </c:pt>
                <c:pt idx="13">
                  <c:v>256.0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7E9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 -3,1% &amp; PS -3,3% MoM — Achievement Mencapai 55,9% (RE) / 53,4% (PS)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01–22 Agu 2026 vs MTD-1 01–22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Executive Scorecard — BALINUSRA Regional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864108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051560"/>
                <a:gridCol w="1051560"/>
                <a:gridCol w="1005840"/>
                <a:gridCol w="914400"/>
                <a:gridCol w="1234440"/>
                <a:gridCol w="960120"/>
                <a:gridCol w="12344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6.748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6.537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11.688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5.151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5.379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5.199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9.740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4.541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to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-0,2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2962656"/>
            <a:ext cx="1154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Regional = agregasi target 10 WOK. IO tidak ditampilkan karena MTD-1/target/MoM IO tidak tersedia di JSON (hanya total MTD di audit reconciliation).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0040" y="342900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Kontribusi Branch terhadap RE &amp; PS Regional</a:t>
            </a:r>
            <a:endParaRPr lang="en-US" sz="15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03320"/>
          <a:ext cx="88239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51560"/>
                <a:gridCol w="1234440"/>
                <a:gridCol w="960120"/>
                <a:gridCol w="1051560"/>
                <a:gridCol w="1234440"/>
                <a:gridCol w="960120"/>
                <a:gridCol w="9601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 ★ ▲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2.967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2.426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▼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5696712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Kontributor volume PS terbesar     ▲ Pertumbuhan PS terbaik     ▼ Penurunan PS terdalam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RE–PS Melemah Menjelang 22 Agustus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01–22 Agu 2026 vs MTD-1 01–22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Pola Harian RE &amp; PS — 01–22 Agustus 2026 (MTD)</a:t>
            </a:r>
            <a:endParaRPr lang="en-US" sz="15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20040" y="1353312"/>
          <a:ext cx="11548872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730752"/>
            <a:ext cx="11548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*Grafik menunjukkan pola harian MTD yang tersedia di sumber (bukan rekonsiliasi volume regional). Tren MTD-1 harian tidak tersedia — pembanding MTD-1 hanya ada sebagai total periode (lihat tabel run rate).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0040" y="411480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Run Rate Summary — Regional</a:t>
            </a:r>
            <a:endParaRPr lang="en-US" sz="15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389120"/>
          <a:ext cx="8778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828800"/>
                <a:gridCol w="1828800"/>
                <a:gridCol w="182880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Actual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Achievement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6.537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11.688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5.151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5.199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9.740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4.541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5779008"/>
            <a:ext cx="11548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*Target dan achievement mengikuti definisi target pada JSON INARA untuk report date.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Denpasar Pendorong Utama PS (-1,3%), Kupang Terdalam (-12,2%)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01–22 Agu 2026 vs MTD-1 01–22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Branch Performance Detail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9939528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658368"/>
                <a:gridCol w="658368"/>
                <a:gridCol w="621792"/>
                <a:gridCol w="603504"/>
                <a:gridCol w="603504"/>
                <a:gridCol w="685800"/>
                <a:gridCol w="658368"/>
                <a:gridCol w="658368"/>
                <a:gridCol w="621792"/>
                <a:gridCol w="603504"/>
                <a:gridCol w="603504"/>
                <a:gridCol w="685800"/>
                <a:gridCol w="566928"/>
                <a:gridCol w="658368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ΔPS/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2.967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2.458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2.426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+1,3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+4,2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-2,9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-3,1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429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Ranking MoM PS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245352" y="3429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Ranking Achievement PS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20040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Denpasar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1600200" y="3785616"/>
            <a:ext cx="3383280" cy="182880"/>
          </a:xfrm>
          <a:prstGeom prst="rect">
            <a:avLst/>
          </a:prstGeom>
          <a:solidFill>
            <a:srgbClr val="1E7B45"/>
          </a:solidFill>
          <a:ln/>
        </p:spPr>
      </p:sp>
      <p:sp>
        <p:nvSpPr>
          <p:cNvPr id="13" name="Text 10"/>
          <p:cNvSpPr/>
          <p:nvPr/>
        </p:nvSpPr>
        <p:spPr>
          <a:xfrm>
            <a:off x="5056632" y="3749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-1,3%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20040" y="40599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1600200" y="4096512"/>
            <a:ext cx="791251" cy="182880"/>
          </a:xfrm>
          <a:prstGeom prst="rect">
            <a:avLst/>
          </a:prstGeom>
          <a:solidFill>
            <a:srgbClr val="1E7B45"/>
          </a:solidFill>
          <a:ln/>
        </p:spPr>
      </p:sp>
      <p:sp>
        <p:nvSpPr>
          <p:cNvPr id="16" name="Text 13"/>
          <p:cNvSpPr/>
          <p:nvPr/>
        </p:nvSpPr>
        <p:spPr>
          <a:xfrm>
            <a:off x="2464603" y="40599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-2,4%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320040" y="4370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1600200" y="4407408"/>
            <a:ext cx="2864874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9" name="Text 16"/>
          <p:cNvSpPr/>
          <p:nvPr/>
        </p:nvSpPr>
        <p:spPr>
          <a:xfrm>
            <a:off x="4538226" y="43708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-2,4%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320040" y="46817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Kupang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1600200" y="4718304"/>
            <a:ext cx="3219573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2" name="Text 19"/>
          <p:cNvSpPr/>
          <p:nvPr/>
        </p:nvSpPr>
        <p:spPr>
          <a:xfrm>
            <a:off x="4892925" y="4681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-12,2%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245352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7525512" y="3785616"/>
            <a:ext cx="3383280" cy="182880"/>
          </a:xfrm>
          <a:prstGeom prst="rect">
            <a:avLst/>
          </a:prstGeom>
          <a:solidFill>
            <a:srgbClr val="8A6100"/>
          </a:solidFill>
          <a:ln/>
        </p:spPr>
      </p:sp>
      <p:sp>
        <p:nvSpPr>
          <p:cNvPr id="25" name="Text 22"/>
          <p:cNvSpPr/>
          <p:nvPr/>
        </p:nvSpPr>
        <p:spPr>
          <a:xfrm>
            <a:off x="10981944" y="3749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6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57,4%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6245352" y="40599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525512" y="4096512"/>
            <a:ext cx="3045737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8" name="Text 25"/>
          <p:cNvSpPr/>
          <p:nvPr/>
        </p:nvSpPr>
        <p:spPr>
          <a:xfrm>
            <a:off x="10644401" y="40599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56,7%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6245352" y="4370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Denpasar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7525512" y="4407408"/>
            <a:ext cx="2857341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1" name="Text 28"/>
          <p:cNvSpPr/>
          <p:nvPr/>
        </p:nvSpPr>
        <p:spPr>
          <a:xfrm>
            <a:off x="10456005" y="43708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55,1%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6245352" y="46817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Kupang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7525512" y="4718304"/>
            <a:ext cx="2237204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4" name="Text 31"/>
          <p:cNvSpPr/>
          <p:nvPr/>
        </p:nvSpPr>
        <p:spPr>
          <a:xfrm>
            <a:off x="9835868" y="4681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40,9%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320040" y="5266944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Kontribusi Branch terhadap Gap Regional (PS)</a:t>
            </a:r>
            <a:endParaRPr lang="en-US" sz="15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541264"/>
          <a:ext cx="89611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828800"/>
                <a:gridCol w="1828800"/>
                <a:gridCol w="1828800"/>
                <a:gridCol w="182880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 thd Gap Regional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 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 thd Gap Regional (RE)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Bali Barat Tertinggi (+4,7%), Bali Timur Terdalam (-15,1%) — 10 WOK MoM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01–22 Agu 2026 vs MTD-1 01–22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WOK Performance — Seluruh 10 WOK (dikelompokkan per Branch)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103327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834640"/>
                <a:gridCol w="777240"/>
                <a:gridCol w="713232"/>
                <a:gridCol w="713232"/>
                <a:gridCol w="777240"/>
                <a:gridCol w="777240"/>
                <a:gridCol w="713232"/>
                <a:gridCol w="713232"/>
                <a:gridCol w="777240"/>
                <a:gridCol w="621792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417880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Ranking WOK — MoM PS &amp; Achievement PS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20040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— MoM PS</a:t>
            </a:r>
            <a:endParaRPr lang="en-US" sz="105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42234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3 — MoM PS</a:t>
            </a:r>
            <a:endParaRPr lang="en-US" sz="1050" dirty="0"/>
          </a:p>
        </p:txBody>
      </p:sp>
      <p:graphicFrame>
        <p:nvGraphicFramePr>
          <p:cNvPr id="1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42234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4" name="Text 9"/>
          <p:cNvSpPr/>
          <p:nvPr/>
        </p:nvSpPr>
        <p:spPr>
          <a:xfrm>
            <a:off x="6164428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— Achievement PS</a:t>
            </a:r>
            <a:endParaRPr lang="en-US" sz="1050" dirty="0"/>
          </a:p>
        </p:txBody>
      </p:sp>
      <p:graphicFrame>
        <p:nvGraphicFramePr>
          <p:cNvPr id="17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64428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</a:tbl>
          </a:graphicData>
        </a:graphic>
      </p:graphicFrame>
      <p:sp>
        <p:nvSpPr>
          <p:cNvPr id="16" name="Text 10"/>
          <p:cNvSpPr/>
          <p:nvPr/>
        </p:nvSpPr>
        <p:spPr>
          <a:xfrm>
            <a:off x="9086621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3 — Achievement PS</a:t>
            </a:r>
            <a:endParaRPr lang="en-US" sz="1050" dirty="0"/>
          </a:p>
        </p:txBody>
      </p:sp>
      <p:graphicFrame>
        <p:nvGraphicFramePr>
          <p:cNvPr id="21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086621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Lombok Tengah Penyumbang PS Absolut Terbesar (+52), Lombok Tengah Tumbuh Tertinggi (+57,1%)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01–22 Agu 2026 vs MTD-1 01–22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Top &amp; Bottom 5 Kabupaten — Pertumbuhan Absolut PS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0040" y="1389888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(Selisih PS Terbesar)</a:t>
            </a:r>
            <a:endParaRPr lang="en-US" sz="10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609344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Tabanan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+19,0%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Badung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6245352" y="1389888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5 (Selisih PS Terkecil)</a:t>
            </a:r>
            <a:endParaRPr lang="en-US" sz="105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609344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Gianyar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-28,9%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-28,6%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326440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Top &amp; Bottom 5 Kabupaten — MoM PS (%)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20040" y="3557016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(MoM PS Tertinggi)</a:t>
            </a:r>
            <a:endParaRPr lang="en-US" sz="1050" dirty="0"/>
          </a:p>
        </p:txBody>
      </p:sp>
      <p:graphicFrame>
        <p:nvGraphicFramePr>
          <p:cNvPr id="1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76472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Ngada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+28,9%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10"/>
          <p:cNvSpPr/>
          <p:nvPr/>
        </p:nvSpPr>
        <p:spPr>
          <a:xfrm>
            <a:off x="6245352" y="3557016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5 (MoM PS Terendah)</a:t>
            </a:r>
            <a:endParaRPr lang="en-US" sz="1050" dirty="0"/>
          </a:p>
        </p:txBody>
      </p:sp>
      <p:graphicFrame>
        <p:nvGraphicFramePr>
          <p:cNvPr id="21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776472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Rote Ndao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-37,5%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Lembata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Gianyar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-28,9%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-28,6%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Text 11"/>
          <p:cNvSpPr/>
          <p:nvPr/>
        </p:nvSpPr>
        <p:spPr>
          <a:xfrm>
            <a:off x="320040" y="5431536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Kontribusi Top/Bottom 5 terhadap Perubahan PS Regional</a:t>
            </a:r>
            <a:endParaRPr lang="en-US" sz="1500" dirty="0"/>
          </a:p>
        </p:txBody>
      </p:sp>
      <p:graphicFrame>
        <p:nvGraphicFramePr>
          <p:cNvPr id="2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705856"/>
          <a:ext cx="11548872" cy="914400"/>
        </p:xfrm>
        <a:graphic>
          <a:graphicData uri="http://schemas.openxmlformats.org/drawingml/2006/table">
            <a:tbl>
              <a:tblPr/>
              <a:tblGrid>
                <a:gridCol w="3849624"/>
                <a:gridCol w="3849624"/>
                <a:gridCol w="3849624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Selisih PS — Top 5 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Selisih PS — Bottom 5 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 Perubahan PS Regional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+192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-218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-180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9" name="Text 12"/>
          <p:cNvSpPr/>
          <p:nvPr/>
        </p:nvSpPr>
        <p:spPr>
          <a:xfrm>
            <a:off x="320040" y="6528816"/>
            <a:ext cx="1154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Dari 38 kabupaten: Top 5 menyumbang +192, Bottom 5 -218, dan perubahan PS regional -180.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75 Mbps Tumbuh Tertinggi (+37,9%), 50 Mbps Turun Terdalam (-22,2%)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01–22 Agu 2026 vs MTD-1 01–22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RE &amp; PS Performance by Speed — Regional (6 kelompok, tidak digabung)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7461504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777240"/>
                <a:gridCol w="713232"/>
                <a:gridCol w="777240"/>
                <a:gridCol w="777240"/>
                <a:gridCol w="713232"/>
                <a:gridCol w="64008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2.498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2.441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1.591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+37,9%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≥100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+26,8%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TSEL One ≤30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TSEL One &gt;30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602736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High Speed Performance by WOK — PS ≥50 Mbps Reguler (TSEL One dipisah)</a:t>
            </a:r>
            <a:endParaRPr lang="en-US" sz="15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858768"/>
          <a:ext cx="5184648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713232"/>
                <a:gridCol w="713232"/>
                <a:gridCol w="621792"/>
                <a:gridCol w="71323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858768"/>
          <a:ext cx="5184648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713232"/>
                <a:gridCol w="713232"/>
                <a:gridCol w="621792"/>
                <a:gridCol w="71323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7"/>
          <p:cNvSpPr/>
          <p:nvPr/>
        </p:nvSpPr>
        <p:spPr>
          <a:xfrm>
            <a:off x="320040" y="5340096"/>
            <a:ext cx="1154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speed reguler 50/75/100 Mbps ke atas; TSEL One dipisahkan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320040" y="5541264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Channel Performance — Agency vs Grapari (Regional)</a:t>
            </a:r>
            <a:endParaRPr lang="en-US" sz="1500" dirty="0"/>
          </a:p>
        </p:txBody>
      </p:sp>
      <p:graphicFrame>
        <p:nvGraphicFramePr>
          <p:cNvPr id="2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797296"/>
          <a:ext cx="103784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234440"/>
                <a:gridCol w="1234440"/>
                <a:gridCol w="1005840"/>
                <a:gridCol w="1234440"/>
                <a:gridCol w="1234440"/>
                <a:gridCol w="1005840"/>
                <a:gridCol w="914400"/>
                <a:gridCol w="123444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Channel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Agency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5.600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5.532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4.597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4.525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Grapari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 Active PS Naik +7,1%, Aktivitas DJP -2,7% MoM — Registered SF 845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01–22 Agu 2026 vs MTD-1 01–22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Sales Force Scorecard — Regional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71323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280160"/>
                <a:gridCol w="1280160"/>
                <a:gridCol w="1280160"/>
                <a:gridCol w="128016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Indikator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Registered 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Aktivitas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14.353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13.970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10896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SF Active &amp; DJP by Branch</a:t>
            </a:r>
            <a:endParaRPr lang="en-US" sz="15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346704"/>
          <a:ext cx="9262872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640080"/>
                <a:gridCol w="621792"/>
                <a:gridCol w="621792"/>
                <a:gridCol w="594360"/>
                <a:gridCol w="621792"/>
                <a:gridCol w="621792"/>
                <a:gridCol w="594360"/>
                <a:gridCol w="621792"/>
                <a:gridCol w="621792"/>
                <a:gridCol w="594360"/>
                <a:gridCol w="685800"/>
                <a:gridCol w="685800"/>
                <a:gridCol w="640080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Aktivitas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5.132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4.884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3.922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2.997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3.382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4.490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+32,8%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50109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ODP Occupancy Summary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245352" y="50109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DJP pada ODP Khusus</a:t>
            </a:r>
            <a:endParaRPr lang="en-US" sz="1500" dirty="0"/>
          </a:p>
        </p:txBody>
      </p:sp>
      <p:graphicFrame>
        <p:nvGraphicFramePr>
          <p:cNvPr id="2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266944"/>
          <a:ext cx="5330952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868680"/>
                <a:gridCol w="868680"/>
                <a:gridCol w="868680"/>
                <a:gridCol w="868680"/>
                <a:gridCol w="98755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ORANGE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YELLOW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BLACK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ODP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4.201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9.614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56.569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7.185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5.458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83.027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Shape 9"/>
          <p:cNvSpPr/>
          <p:nvPr/>
        </p:nvSpPr>
        <p:spPr>
          <a:xfrm>
            <a:off x="6245352" y="5266944"/>
            <a:ext cx="2819324" cy="960120"/>
          </a:xfrm>
          <a:prstGeom prst="roundRect">
            <a:avLst>
              <a:gd name="adj" fmla="val 2857"/>
            </a:avLst>
          </a:prstGeom>
          <a:solidFill>
            <a:srgbClr val="F5F6F8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6355080" y="5340096"/>
            <a:ext cx="25998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 BLACK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6355080" y="5541264"/>
            <a:ext cx="25998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ODP: 5.458
Dikunjungi: 1.075 (19,7%)
Visit DJP: 2.664</a:t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9201836" y="5266944"/>
            <a:ext cx="2819324" cy="960120"/>
          </a:xfrm>
          <a:prstGeom prst="roundRect">
            <a:avLst>
              <a:gd name="adj" fmla="val 2857"/>
            </a:avLst>
          </a:prstGeom>
          <a:solidFill>
            <a:srgbClr val="F5F6F8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9311564" y="5340096"/>
            <a:ext cx="25998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 GREENFIELD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9311564" y="5541264"/>
            <a:ext cx="25998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ODP: 947
Dikunjungi: 668 (70,5%)
Visit DJP: 1.685</a:t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SF Segmentation by Class &amp; Matrix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01–22 Agu 2026 vs MTD-1 01–22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SF by Class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53312"/>
          <a:ext cx="55321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868680"/>
                <a:gridCol w="868680"/>
                <a:gridCol w="868680"/>
                <a:gridCol w="868680"/>
                <a:gridCol w="868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Elite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Performer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Junior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Greenfield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Junior Plus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245352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SF by Matrix</a:t>
            </a:r>
            <a:endParaRPr lang="en-US" sz="15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53312"/>
          <a:ext cx="57150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868680"/>
                <a:gridCol w="868680"/>
                <a:gridCol w="868680"/>
                <a:gridCol w="868680"/>
                <a:gridCol w="868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Segmen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Champion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Efficient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Explorer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Need Coaching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2871216"/>
            <a:ext cx="1154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Catatan: satu SF dapat aktif pada lebih dari satu kelompok speed — jumlah SF Active tidak dijumlahkan lintas kelompok.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Top 10 SF berdasarkan Pertumbuhan RE &amp;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01–22 Agu 2026 vs MTD-1 01–22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— Growth RE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Kunzita Lazuardi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Muhammad Khusairi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KADEK RIDAYANI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NURYANTI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INDAH PUSPITA SARI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Zaharani Mustika Sonjaya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lukmanul hakim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+480,0%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YOHANIS GLORIA INRIJAYA DIRU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YOHANES RADJO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ALI TOPAN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187288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— Growth PS</a:t>
            </a:r>
            <a:endParaRPr lang="en-US" sz="11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87288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NURSIAH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GUSTAF RIHI MANGNGI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KADEK RIDAYANI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Marselinus Supardi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Balla panja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ZAENUDDIN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YOHANES RADJO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Marianus Hilton Raja reda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D. BUDIONO HARSONO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NURYANTI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4590288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(%) dihitung dari volume RE/PS periode berjalan terhadap periode sebelumnya per SF Code.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Bottom 10 SF berdasarkan Pertumbuhan RE &amp;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01–22 Agu 2026 vs MTD-1 01–22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10 — Growth RE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ALFANNY KHAIRUNNISA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MOHAMMAD FAISAL ASSEGAF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 PUTU ARIANI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Lalu esa pramudya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FIRMAN HIDAYAT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Jerry Aldo Wahjudi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Sri Widiawati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HAIRIL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ABDIL RAHMAN MUSA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KHADIJAH AHLUSSUFFI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187288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10 — Growth PS</a:t>
            </a:r>
            <a:endParaRPr lang="en-US" sz="11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87288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ALFANNY KHAIRUNNISA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MOHAMMAD FAISAL ASSEGAF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DODYK SUPRIADI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FIRMAN HIDAYAT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GUSTI AGUNG PUTRA SANJAYA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Jerry Aldo Wahjudi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Sri Widiawati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HAIRIL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KOMANG ARY YULIANTARI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ABDIL RAHMAN MUSA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4590288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(%) dihitung dari volume RE/PS periode berjalan terhadap periode sebelumnya per SF Code.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Detail Seluruh 10 WOK &amp; Kabupaten Denpasar, Flores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01–22 Agu 2026 vs MTD-1 01–22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Seluruh 10 WOK  (Br. = Branch: DPS Denpasar, FLR Flores, KPG Kupang, MTR Mataram)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53312"/>
          <a:ext cx="5632704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53312"/>
          <a:ext cx="5632704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1.077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320040" y="317296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Kabupaten Denpasar &amp; Flores (18 dari 38 kabupaten)</a:t>
            </a:r>
            <a:endParaRPr lang="en-US" sz="1500" dirty="0"/>
          </a:p>
        </p:txBody>
      </p:sp>
      <p:graphicFrame>
        <p:nvGraphicFramePr>
          <p:cNvPr id="3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410712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Badung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Bangli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Gianyar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-32,4%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-28,9%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Jembrana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Karang Asem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Klungkung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1.203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Tabanan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+19,0%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410712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-24,6%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Lembata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-31,8%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Ngada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+28,9%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Kabupaten Kupang &amp; Mataram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01–22 Agu 2026 vs MTD-1 01–22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Kabupaten Kupang &amp; Mataram</a:t>
            </a:r>
            <a:endParaRPr lang="en-US" sz="1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-24,5%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-28,6%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Rote Ndao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-24,2%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-37,5%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Sabu Raijua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Selatan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71600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Dompu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+42,6%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+27,0%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+35,8%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+38,9%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320040" y="4837176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Bersama Slide 11 (Denpasar &amp; Flores), tabel ini mencakup seluruh 38 kabupaten—masing-masing tampil tepat satu kali.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2026-08-16T22:33:52Z</dcterms:created>
  <dcterms:modified xsi:type="dcterms:W3CDTF">2026-08-16T22:33:52Z</dcterms:modified>
</cp:coreProperties>
</file>